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d89028-1b57-54da-d1b8-994b80af0d75}">
          <p14:sldIdLst>
            <p14:sldId id="256"/>
          </p14:sldIdLst>
        </p14:section>
        <p14:section name="Warm-up" id="{af7e2294-d784-aa72-f6f3-c86a333fa021}">
          <p14:sldIdLst>
            <p14:sldId id="257"/>
            <p14:sldId id="258"/>
            <p14:sldId id="259"/>
            <p14:sldId id="260"/>
            <p14:sldId id="261"/>
          </p14:sldIdLst>
        </p14:section>
        <p14:section name="The big picture" id="{09adcc29-d66e-8885-950a-d0681d9722d0}">
          <p14:sldIdLst>
            <p14:sldId id="262"/>
          </p14:sldIdLst>
        </p14:section>
        <p14:section name="Inputs" id="{1e13917d-51dc-2ec8-5994-cce9162de2a4}">
          <p14:sldIdLst>
            <p14:sldId id="263"/>
          </p14:sldIdLst>
        </p14:section>
        <p14:section name="The decoder block" id="{5359eaf3-6f3e-4383-ac41-fb8fb0a5a253}">
          <p14:sldIdLst>
            <p14:sldId id="264"/>
            <p14:sldId id="265"/>
            <p14:sldId id="266"/>
            <p14:sldId id="267"/>
            <p14:sldId id="268"/>
            <p14:sldId id="269"/>
            <p14:sldId id="270"/>
          </p14:sldIdLst>
        </p14:section>
        <p14:section name="Output and generation" id="{e288f235-b076-3eac-fb96-84503c7f137f}">
          <p14:sldIdLst>
            <p14:sldId id="271"/>
            <p14:sldId id="272"/>
            <p14:sldId id="273"/>
            <p14:sldId id="274"/>
          </p14:sldIdLst>
        </p14:section>
        <p14:section name="Summary" id="{06b7c008-b975-4a5d-be95-5eb7d73660be}">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open up the engine inside every GPT-style model: the transformer decoder.
We'll follow ONE sentence through the whole talk: “The cat sat on the mat.” Every slide uses it, so you always have something concrete to hold on to.
[CLICK] Here's our starting point: the model has already seen “The cat sat on the”.
[CLICK] Those words go into the decoder — a stack of identical blocks we'll open up one by one.
[CLICK] Out comes a single prediction: “mat”.
[CLICK] And that's the core question for today: given the words so far, how does the model decide what comes next?
Spoiler: everything an LLM does — chatting, coding, summarising — is this one trick repeated: predict the next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one picture to carry through the whole talk: weights are dials.
Here is a toy model that answers one question: "will the cat sit here?" It looks at three facts about a spot — is it soft, is it warm, is it wet — and each fact has its own dial. The dial says how much that fact matters. Turned to plus, it pushes the answer toward yes; turned to minus, toward no; near zero, the fact is ignored. The model adds up the inputs, each weighted by its dial, and that sum becomes its guess.
At the start the dials are set randomly. Notice "warm" is even slightly negative and "wet" slightly positive — this model knows nothing about cats.
[CLICK] Example 1: a mat — soft, warm, dry — and the cat sat on it. The model only said 30%. Too low. So we turn the dials that were "on" for this example — soft and warm — up. Watch them turn.
[CLICK] Example 2: a puddle. Wet and cold, and the cat left. The model said 55% — too high. The wet dial was pushing toward yes, so we turn it way down.
[CLICK] Example 3: a sofa. The model now says 85% and the cat did sit. Small error, so only small nudges.
[CLICK] After training: soft +2.0, warm +1.5, wet −2.5. Nobody typed in "cats like soft, warm, dry places". That knowledge lives entirely in where the dials ended up.
That is all learning is: show an example, measure the error, turn every dial a little in the direction that shrinks it. The maths that tells each dial which way to turn is called backpropagation.
An LLM is exactly this — just with billions of dials instead of three, and instead of "will the cat sit here?" the question is "what's the next word?". Next slide: that full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dial idea, applied to language. A language model is a function with a huge number of dials — GPT-2 small has 124 million; frontier models have hundreds of billions. Nobody sets them by hand; training does, exactly like the cat example.
[CLICK] Training step 1: show the model an example. Here, the text “The cat sat on the”. With random dials, its guess is poor: floor 30%, mat only 5%.
[CLICK] Step 2: compare with the real answer from the text, “mat”. The gap is measured by a single number, the loss. Here it's big.
[CLICK] Step 3: backpropagation works out, for every single dial, which direction would have reduced the error, and nudges each one a tiny bit. Watch the dials move.
[CLICK] Step 4: repeat over billions of examples. The error curve drops. After a million steps, P(mat) is 41%. Nobody programmed "cats sit on mats" — it emerged from nudging dials.
[CLICK] Inference is the other mode: the dials are frozen. We feed in text, do one pass forward, read off the answer. No answer key, no error, no learning. Every time you chat with an LLM, this is what's running.
[CLICK] The economics: training is enormously expensive but happens once; inference is cheap per call but happens billions of times.
Keep these two modes in mind — we'll come back to them at the end, specifically for the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warm-up: non-linearity. It sounds scary; the idea is simple.
[CLICK] A neural network layer, at its core, multiplies and adds. Multiply by 2, then multiply by 3 and add 1 — and you get... multiply by 6 and add 1. Still a straight line. Stack a hundred such layers and you still get one straight line. All that depth would buy you nothing.
[CLICK] The fix is a bend after each layer. The simplest is ReLU: negative numbers become 0, positive numbers pass through unchanged. GPT models use GELU, a smooth version (the dashed curve). Think of it as an on/off switch on each neuron: it stays quiet unless its input is positive.
[CLICK] Why does that matter? A real example: when is a banana good to eat? Too early, it's hard; a few days in, it's perfect; too late, it's mush. The data makes a hump.
[CLICK] A straight line can't fit a hump — the best it can do is a near-flat line that's wrong everywhere.
[CLICK] Add a few bends and you can follow the shape: up, flat, down. With enough bends you can approximate almost any curve.
[CLICK] In an LLM, the bends are what let a neuron implement a rule like "fire only if the verb is sat AND the subject is an animal". We'll see exactly this inside the MLP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warm-up: the dot product. It is the single most common operation inside an LLM, and it's simple.
To make it concrete, imagine describing words with just three numbers: how animal-like, how surface-like, how action-like. (Real models use hundreds of numbers, learned rather than hand-picked, but the idea is identical.)
[CLICK] Here's a "question" vector — think of it as "who could be sitting?" It cares mostly about animal-ness. And here's the word “cat”.
[CLICK] The dot product: multiply matching positions. Animal times animal: 1.0 × 0.9 = 0.90. Surface: 0. Action: 0.02.
[CLICK] Add them up: 0.92. That one number is the match score.
[CLICK] Do the same with other words: “sat” scores 0.28, “mat” 0.09. Highest score wins: “cat” is the best answer to "who could be sitting?". This is exactly what attention does with queries and keys a few slides from now.
[CLICK] Geometric intuition: picture each vector as an arrow. The dot product is big when arrows point the same way, near zero at right angles, and negative when they point in opposite directions.
[CLICK] You'll see this everywhere: attention compares a query with each key, every MLP neuron is a dot product with its detector, and the final layer computes a dot product with all 50,257 token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warm-up: softmax. The model produces scores; we want probabilities. Softmax is the bridge.
[CLICK] Raw scores, sometimes called logits, can be any number — even negative. Here: mat 3.0, floor 2.0, sofa 1.5, banana −1.0. You can't say "banana has a −1 chance".
[CLICK] Step one: raise e (about 2.718) to the power of each score. Two things happen. Everything becomes positive — banana's −1 becomes 0.37. And big scores grow much bigger: mat's 3 becomes 20.1.
[CLICK] Step two: divide each by the total, 32.3. Now we have shares that add up to 100%: mat 62%, floor 23%, sofa 14%, banana 1%. That's softmax.
[CLICK] Three things to remember, because they come back later:
- Gaps get amplified: one point more in score means roughly 2.7 times more likely.
- Temperature: divide the scores by a number T before softmax. Below 1, the favourite wins bigger; above 1, the odds flatten out. This is the "temperature" setting in LLM APIs.
- Masking: if you set a score to minus infinity, e to the minus infinity is zero, so that option gets exactly 0%. Attention uses this to hide future tokens.
That's the four warm-ups. Now, the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has exactly one job: look at the text so far and guess the next token.
[CLICK] Step 1: it sees “The cat sat on the” and predicts “mat”.
[CLICK] Step 2: “mat” is glued onto the end — notice it's now pink, meaning the model wrote it — and the whole thing goes back in. Now it predicts a full stop.
[CLICK] Step 3: same again, and this time it predicts a special end-of-text token, so we stop.
[CLICK] This pattern has a name: autoregressive. Auto means self; regressive means predicting from earlier values. The model feeds on its own output.
The phone keyboard analogy works well: tap the middle suggestion over and over and you get a (bad) sentence. An LLM is the same loop, just with a vastly better model of language.
Quick vocabulary: a token is a word or a piece of a word. Common words are one token; rare words get split. For our sentence, every word happens to be one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networks can't read letters. They multiply and add numbers. So step one is turning text into numbers.
[CLICK] Tokenize: split the text into known pieces and swap each for its ID in the vocabulary. These are GPT-2's real IDs — “The” is 464, “ cat” is 3797. (Fun detail: GPT-2 tokens usually include the leading space.)
[CLICK] Embedding: an ID is just a label — 3797 isn't "bigger" than 464 in any meaningful way. So we use the ID to look up a row in a big learned table. That row, the embedding, is a list of numbers that captures what the token tends to mean. Each coloured cell here is one number; GPT-2 uses 768 per token. Words used in similar ways — cat, kitten, dog — end up with similar rows. Nobody writes these by hand; they're learned during training.
[CLICK] Position: here's a surprise — the attention mechanism we'll meet next has no built-in sense of order. Without help, “cat sat on mat” and “mat sat on cat” look identical. So we add a position vector that encodes "I'm word 0, word 1, word 2…".
[CLICK] Adding them gives the input vector for each token: what it is, plus where it is. These five vectors are what enter the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open one decoder block. It's a small pipeline that every token's vector flows through.
[CLICK] First: LayerNorm then masked self-attention. Attention is where tokens talk to each other — “sat” can pull in information from “cat”.
[CLICK] Then a residual, or skip, connection. We add the block's input back to the attention output. Think of it as: "keep what you had, plus the update". This makes deep networks much easier to train — the original signal always has a clean highway through the model.
[CLICK] Second half: another LayerNorm, then the feed-forward network. Where attention mixes information BETWEEN tokens, the feed-forward network transforms each token's vector on its own.
[CLICK] And another residual add. Out come vectors with the same shape as what went in — just richer. Because input and output shapes match, we can stack these blocks as many times as we like. Hold that thought.
LayerNorm just rescales each vector so the numbers don't drift to huge or tiny values as they pass through dozens of blocks.
Remember the slogan: attention mixes, feed-forward transforms.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the heart of the decoder. Rows are the token doing the looking; columns are what it's allowed to look at.
[CLICK] First, the mask. Everything above the diagonal is the future. “The” can't see “cat”; “cat” can't see “sat”. Those cells are blocked.
[CLICK] Now the attention weights fill in, row by row. Each row is a budget of 100% that the token spreads over itself and earlier words. “The” has nothing before it, so it spends 100% on itself.
[CLICK] Look at “sat”. It puts 86% of its attention on “cat”. Intuitively: a verb wants to know its subject — who sat? The cat.
[CLICK] How is the blocking enforced? Before turning scores into percentages with softmax, we set future scores to minus infinity. e to the minus infinity is zero, so those tokens get exactly zero attention.
Why bother? When the model generates text, the future literally doesn't exist yet. We'll see on the training slide that the mask also stops the model from cheating while it learns.
Analogy: reading a mystery novel with a card sliding down the page. You can use everything above the card, never what's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how attention actually decides who to listen to. We'll follow the token “sat”.
[CLICK] Every token produces a Query: "what am I looking for?" It's just the token's vector multiplied by a learned matrix W_Q. For “sat”, intuitively the query is "who performed this action?"
[CLICK] Every token also produces a Key: "what do I offer?" We compare the query with each key using a dot product — a similarity score. “cat”'s key, roughly "I'm a noun, a likely subject", matches best: score 4.2.
[CLICK] Softmax turns those scores into percentages that add up to 100: 4%, 86%, 10%. Small differences in score become big differences in weight.
[CLICK] Finally, every token also has a Value — the information it actually hands over. The new vector for “sat” is the weighted mix: mostly cat's value. So “sat” now knows its subject.
[CLICK] The library analogy: the query is your search, keys are the labels on book spines, values are the books' contents. You match on labels, then read the contents of the best matches.
The formula in the corner is the whole thing. The √d just keeps scores from getting too large. Important caveat: the descriptions in quotes are our interpretation — the real Q, K, V are vectors of learned numbers, not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attention pattern can only capture one kind of relationship at a time. So the decoder runs several attention "heads" side by side, each with its own Q, K and V matrices.
Think of a team of specialists reading the same sentence, each with a different highlighter.
[CLICK] Head 1 tracks the subject: almost every word looks at “cat”. You can see a bright column.
[CLICK] Head 2 looks at the previous word: a bright line just below the diagonal. Simple, but very useful for phrases.
[CLICK] Head 3 spreads attention evenly — a rough summary of everything so far.
[CLICK] Head 4 is long-range: the second “the” finds the first “The”. Heads like this help models copy and repeat patterns, which matters a lot in long documents.
[CLICK] Each head produces its own small output vector. We glue them side by side (concatenate) and multiply by one more learned matrix, W_O, which blends the perspectives into one vector per token.
Important honesty point: nobody assigns these roles. They emerge from training, and real heads are often messier than these clean examples. Researchers do find heads very much like these in real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every block is the feed-forward network, also called the MLP.
The key contrast: attention is a group meeting — tokens exchange information. The feed-forward network is desk work — each token goes back to its own desk and processes what it heard, on its own.
[CLICK] Here's the vector for the last “the”, after attention has told it about the cat and the sitting.
[CLICK] Step one: expand it into a much bigger layer — four times wider. In GPT-2, 768 numbers become 3,072.
[CLICK] Step two: a non-linear function, GELU, acts like a set of switches. Most neurons stay quiet; a few light up. Those lit neurons are features — loosely, things like "a surface comes next" or "household objects are likely". (Illustrative labels — real features are messier.)
[CLICK] Step three: compress back down to 768 numbers. Same shape as before, but refined.
[CLICK] The exact same network, with the same weights, is applied to every token separately — in parallel.
Fun fact: about two-thirds of the weights inside the blocks live in these layers, and interpretability research suggests a lot of factual knowledge — "Paris is the capital of France" — is stored here.
Slogan to remember: attention mixes, feed-forward transforms. Next slide: a worked example of what the MLP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slide said what the MLP is. This one shows what it does, with our sentence. The MLP, multi-layer perceptron, is the same thing as the feed-forward network.
A useful mental model: the MLP is a huge set of rules, each saying "if I see this pattern, add that meaning". Each hidden neuron is one rule. Its row of the first weight matrix, W1, is the detector: the pattern it looks for. Its column of the second matrix, W2, is the writer: what it adds to the vector when it fires.
[CLICK] Take the vector for the last “the” in “The cat sat on the”. Attention has already mixed in information about the cat and the sitting.
[CLICK] Neuron 1's detector looks for "a sitting verb just before". It matches strongly, score 2.6. GELU lets it through: it fires. Its writer adds "a surface or piece of furniture comes next".
[CLICK] Neuron 2 looks for "an animal or pet is the subject". It also fires and adds "cosy pet spots: mat, rug, sofa, bed".
[CLICK] Neuron 3 looks for "talk about money". The score is negative, so GELU squashes it to about zero. It stays silent and adds nothing. That is the job of the non-linearity: rules switch ON only when their pattern is present.
[CLICK] The MLP's output is added back to the original vector through the residual path. The vector now leans toward mat, rug, sofa and floor, and away from bank. The final prediction still happens at the very top, but this block nudged it in the right direction.
[CLICK] Every block has its own MLP with its own rules, and their jobs shift with depth. Early blocks tidy up the token itself. Middle blocks combine context into ideas like "this is a location". Late blocks recall facts and push up the likely answers.
[CLICK] The formula: W1 holds the detectors, GELU is the on/off switch, W2 holds what each detector writes. GPT-2 small has 3,072 detectors in each of its 12 blocks.
Honesty point: these neat labels are illustrative. Real neurons often respond to several unrelated things, and meaning is usually spread across many neurons at once. The "detector and writer" picture is still the most useful way to think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block's output has the same shape as its input, we can stack them. GPT-2 small has 12 blocks; GPT-3 has 96. Each block has its own weights, but the same design.
[CLICK] Our five token vectors enter at the bottom.
[CLICK] And flow up through the stack, block after block.
What happens along the way? Researchers who probe these models find a rough division of labour:
[CLICK] Lower layers handle surface patterns — word pieces, nearby words, basic grammar. For “the”: "I'm a determiner; a noun is probably next."
[CLICK] Middle layers capture structure — who did what to whom. “cat” is the one sitting; “on the” is opening a location.
[CLICK] Higher layers build meaning that's directly useful for prediction: "something a cat sits on". The vector at the top is what goes to the output layer.
On the left, you can see the vector for the last “the” getting richer as it rises. Same token, same position — but by the top it "knows" a lot about the whole sentence.
This is a tendency, not a strict rule. Layers overlap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reached the top of the stack. Now: how do we turn a vector into a word?
[CLICK] Key detail many people miss: to predict the NEXT token, we only use the final vector of the LAST token — here the last “the”. Thanks to attention, that vector already contains information from the whole sentence. The other positions also have outputs; during training they're used to predict their own next tokens, but for this prediction we ignore them.
[CLICK] That vector goes through one more linear layer, called the LM head. It maps 768 numbers to 50,257 numbers — one score for every token in GPT-2's vocabulary.
[CLICK] These raw scores are called logits. Higher means "more likely". “mat” scores 7.1, “floor” 6.0, “banana” −3.2. They aren't probabilities yet — they can be negative and don't add up to anything in particular.
[CLICK] Softmax fixes that: raise e to the power of each score, so everything becomes positive, then divide by the total. Now we have a probability distribution: mat 41%, floor 14%, sofa 11%… and a long tail of tens of thousands of unlikely tokens.
[CLICK] That's the formula. Notice how the exponential stretches differences: a score gap of about 1.1 between mat and floor becomes a 3× difference in probability.
These numbers are illustrative but realistic in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hands us probabilities. Something still has to pick ONE token. That's the decoding strategy, and it has a huge effect on how the model "feels".
Start on the left with temperature. Temperature reshapes the distribution before we sample.
[CLICK] T = 1 is the distribution as trained: mat 41%, a long tail of others. Sampling from this — rolling a weighted die — usually gives “mat”, sometimes “sofa”.
[CLICK] Low temperature, like 0.3, sharpens it: mat jumps to 96%. Very focused, very predictable.
[CLICK] High temperature, like 1.8, flattens it: now the weird tail gets 45% of the probability — and you get “the cat sat on the keyboard and refused to move”. Creative, sometimes nonsense.
On the right, ways to choose:
[CLICK] Greedy: always take the top token. Deterministic — same answer every time — but it can fall into loops like "the the the".
[CLICK] Top-k: keep only the k most likely tokens — here 3 — rescale them to 100%, then sample. Cuts off the bizarre tail.
[CLICK] Top-p, or nucleus sampling: keep the smallest set whose probabilities add up to p, here 80%. That's five tokens here. When the model is confident the set is tiny; when unsure it grows. That adaptiveness is why top-p is so popular.
In practice, chat models typically combine a temperature with top-p. When you set "temperature" in an API, this is exactly the knob you're turning.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put the output side into a loop. This is what's happening every time you watch a chatbot "type".
[CLICK] Four steps: run the decoder on the whole sequence; get probabilities for the next token; pick one with your decoding strategy; append it to the sequence. Then go round again.
[CLICK] Lap 1: “The cat sat on the” → “mat”, 41%.
[CLICK] Lap 2: the input now includes “mat” — pink, because the model wrote it — and it predicts a full stop.
[CLICK] Lap 3: it predicts the special end-of-text token. We stop.
[CLICK] Two ways to stop: the model produces an end token, or we hit a length limit you set — that's the max_tokens parameter in an API.
And a practical note: naively, each lap re-processes the whole sequence. Real systems cache each token's keys and values — the KV cache — so each lap only computes the newest token. That's why generation is fast, and also why long conversations use a lot of GPU memory.
This loop is also why LLMs can't "go back and edit": each token is final once it's 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model, two modes.
Training first. We take real text from the internet and ask the model to predict every next token.
[CLICK] The input is the true sentence: “The cat sat on the mat”.
[CLICK] The targets are the same sentence shifted one to the left. Position 1 should predict “cat”, position 2 “sat”, and so on. All six predictions happen in ONE forward pass, in parallel — which is why transformers train so efficiently on GPUs. The errors are averaged into one loss, and gradient descent nudges every weight to reduce it.
This is called teacher forcing: even if the model would have guessed “floor”, the next position still receives the true word “mat”.
[CLICK] Inference is different: we don't have the future text, so we must generate one token per pass, feeding each prediction back in. Inherently sequential.
[CLICK] And here's why the mask is essential in training: the answer is literally in the input. When predicting what follows “on the”, “mat” is one position to the right. Without the mask, attention would just look at it and copy — perfect training score, useless model. The mask forces honest prediction and makes training match what happens at generation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machine on one slide. Let's walk it once more, end to end.
[CLICK]
- Text: “The cat sat on the”.
- Tokenizer: split into pieces and look up five IDs.
- Embedding plus position: five vectors of 768 numbers — what each token is and where it sits.
- Decoder blocks, N times: masked attention lets each token gather context from earlier tokens; feed-forward refines each token. Same shape in, same shape out.
- Final norm and linear layer: take the last token's vector and score every word in the vocabulary — 50,257 logits.
- Softmax: turn scores into probabilities.
- Pick: choose one token with greedy or sampling. We get “mat”.
[CLICK] Then append “mat” and run the whole thing again. That loop is how every chatbot answer is written.
[CLICK] If you remember one sentence from today, make it this: an LLM is context-aware next-token prediction, repeated. Every component we saw exists to make that one prediction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[CLICK] One: the decoder is causal. Each token can only see the past. The mask enforces it — in training to stop cheating, and in generation because the future doesn't exist yet.
[CLICK] Two: self-attention builds context. Queries and keys decide who listens to whom; values carry the information. “sat” learns about “cat”.
[CLICK] Three: feed-forward layers refine. Attention mixes across tokens; the feed-forward network transforms each token on its own.
[CLICK] Four: repeated blocks build power. The same simple block, stacked dozens of times, goes from spelling to grammar to meaning.
[CLICK] Five: generation is one token at a time. Predict, pick, append, repeat.
[CLICK] The cat sat on the mat — one token at a time.
Suggested discussion questions: Why can't an LLM "take back" a word it already wrote? What would happen if we removed the mask during training? Why might a high temperature help for brainstorming but hurt for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502920"/>
          </a:xfrm>
          <a:prstGeom prst="rect">
            <a:avLst/>
          </a:prstGeom>
          <a:noFill/>
          <a:ln/>
        </p:spPr>
        <p:txBody>
          <a:bodyPr wrap="square" rtlCol="0"/>
          <a:lstStyle>
            <a:lvl1pPr algn="l" indent="0" marL="0">
              <a:buNone/>
              <a:defRPr lang="en-US" sz="2600" b="1" dirty="0">
                <a:solidFill>
                  <a:srgbClr val="0F172A"/>
                </a:solidFill>
                <a:latin typeface="Inter" pitchFamily="34" charset="0"/>
                <a:ea typeface="Inter" pitchFamily="34" charset="-122"/>
                <a:cs typeface="Inter" pitchFamily="34" charset="-120"/>
              </a:defRPr>
            </a:lvl1pPr>
          </a:lstStyle>
          <a:p>
            <a:pPr algn="l" indent="0" marL="0">
              <a:buNone/>
            </a:pPr>
            <a:endParaRPr lang="en-US" sz="2600" dirty="0"/>
          </a:p>
        </p:txBody>
      </p:sp>
      <p:sp>
        <p:nvSpPr>
          <p:cNvPr id="3"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The Transformer Decoder, Explained</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02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8229600" cy="274320"/>
          </a:xfrm>
          <a:prstGeom prst="rect">
            <a:avLst/>
          </a:prstGeom>
          <a:noFill/>
          <a:ln/>
        </p:spPr>
        <p:txBody>
          <a:bodyPr wrap="square" lIns="0" tIns="0" rIns="0" bIns="0" rtlCol="0" anchor="t"/>
          <a:lstStyle/>
          <a:p>
            <a:pPr indent="0" marL="0">
              <a:buNone/>
            </a:pPr>
            <a:r>
              <a:rPr lang="en-US" sz="1100" b="1" spc="300" kern="0" dirty="0">
                <a:solidFill>
                  <a:srgbClr val="FBBF24"/>
                </a:solidFill>
                <a:latin typeface="Inter" pitchFamily="34" charset="0"/>
                <a:ea typeface="Inter" pitchFamily="34" charset="-122"/>
                <a:cs typeface="Inter" pitchFamily="34" charset="-120"/>
              </a:rPr>
              <a:t>HOW LARGE LANGUAGE MODELS WRITE</a:t>
            </a:r>
            <a:endParaRPr lang="en-US" sz="1100" dirty="0"/>
          </a:p>
        </p:txBody>
      </p:sp>
      <p:sp>
        <p:nvSpPr>
          <p:cNvPr id="3" name="Text 1"/>
          <p:cNvSpPr txBox="1"/>
          <p:nvPr/>
        </p:nvSpPr>
        <p:spPr>
          <a:xfrm>
            <a:off x="731520" y="1097280"/>
            <a:ext cx="10515600" cy="731520"/>
          </a:xfrm>
          <a:prstGeom prst="rect">
            <a:avLst/>
          </a:prstGeom>
          <a:noFill/>
          <a:ln/>
        </p:spPr>
        <p:txBody>
          <a:bodyPr wrap="square" lIns="0" tIns="0" rIns="0" bIns="0" rtlCol="0" anchor="ctr"/>
          <a:lstStyle/>
          <a:p>
            <a:pPr indent="0" marL="0">
              <a:buNone/>
            </a:pPr>
            <a:r>
              <a:rPr lang="en-US" sz="3800" b="1" dirty="0">
                <a:solidFill>
                  <a:srgbClr val="FFFFFF"/>
                </a:solidFill>
                <a:latin typeface="Inter" pitchFamily="34" charset="0"/>
                <a:ea typeface="Inter" pitchFamily="34" charset="-122"/>
                <a:cs typeface="Inter" pitchFamily="34" charset="-120"/>
              </a:rPr>
              <a:t>The Transformer Decoder, Explained</a:t>
            </a:r>
            <a:endParaRPr lang="en-US" sz="3800" dirty="0"/>
          </a:p>
        </p:txBody>
      </p:sp>
      <p:sp>
        <p:nvSpPr>
          <p:cNvPr id="4" name="Text 2"/>
          <p:cNvSpPr txBox="1"/>
          <p:nvPr/>
        </p:nvSpPr>
        <p:spPr>
          <a:xfrm>
            <a:off x="731520" y="1874520"/>
            <a:ext cx="10515600" cy="365760"/>
          </a:xfrm>
          <a:prstGeom prst="rect">
            <a:avLst/>
          </a:prstGeom>
          <a:noFill/>
          <a:ln/>
        </p:spPr>
        <p:txBody>
          <a:bodyPr wrap="square" lIns="0" tIns="0" rIns="0" bIns="0" rtlCol="0" anchor="t"/>
          <a:lstStyle/>
          <a:p>
            <a:pPr indent="0" marL="0">
              <a:buNone/>
            </a:pPr>
            <a:r>
              <a:rPr lang="en-US" sz="1500" dirty="0">
                <a:solidFill>
                  <a:srgbClr val="C7D2FE"/>
                </a:solidFill>
                <a:latin typeface="Inter" pitchFamily="34" charset="0"/>
                <a:ea typeface="Inter" pitchFamily="34" charset="-122"/>
                <a:cs typeface="Inter" pitchFamily="34" charset="-120"/>
              </a:rPr>
              <a:t>How a model like GPT turns “The cat sat on the” into “mat” — one token at a time</a:t>
            </a:r>
            <a:endParaRPr lang="en-US" sz="1500" dirty="0"/>
          </a:p>
        </p:txBody>
      </p:sp>
      <p:sp>
        <p:nvSpPr>
          <p:cNvPr id="5" name="anim-1-rise-0-0"/>
          <p:cNvSpPr/>
          <p:nvPr/>
        </p:nvSpPr>
        <p:spPr>
          <a:xfrm>
            <a:off x="731520" y="3611880"/>
            <a:ext cx="841248" cy="566928"/>
          </a:xfrm>
          <a:prstGeom prst="roundRect">
            <a:avLst>
              <a:gd name="adj" fmla="val 11290"/>
            </a:avLst>
          </a:prstGeom>
          <a:solidFill>
            <a:srgbClr val="1E1B4B"/>
          </a:solidFill>
          <a:ln w="12700">
            <a:solidFill>
              <a:srgbClr val="4338CA"/>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The</a:t>
            </a:r>
            <a:endParaRPr lang="en-US" sz="1600" dirty="0"/>
          </a:p>
        </p:txBody>
      </p:sp>
      <p:sp>
        <p:nvSpPr>
          <p:cNvPr id="6" name="anim-1-rise-120-1"/>
          <p:cNvSpPr/>
          <p:nvPr/>
        </p:nvSpPr>
        <p:spPr>
          <a:xfrm>
            <a:off x="1682496" y="3611880"/>
            <a:ext cx="841248" cy="566928"/>
          </a:xfrm>
          <a:prstGeom prst="roundRect">
            <a:avLst>
              <a:gd name="adj" fmla="val 11290"/>
            </a:avLst>
          </a:prstGeom>
          <a:solidFill>
            <a:srgbClr val="1E1B4B"/>
          </a:solidFill>
          <a:ln w="12700">
            <a:solidFill>
              <a:srgbClr val="4338CA"/>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cat</a:t>
            </a:r>
            <a:endParaRPr lang="en-US" sz="1600" dirty="0"/>
          </a:p>
        </p:txBody>
      </p:sp>
      <p:sp>
        <p:nvSpPr>
          <p:cNvPr id="7" name="anim-1-rise-240-2"/>
          <p:cNvSpPr/>
          <p:nvPr/>
        </p:nvSpPr>
        <p:spPr>
          <a:xfrm>
            <a:off x="2633472" y="3611880"/>
            <a:ext cx="841248" cy="566928"/>
          </a:xfrm>
          <a:prstGeom prst="roundRect">
            <a:avLst>
              <a:gd name="adj" fmla="val 11290"/>
            </a:avLst>
          </a:prstGeom>
          <a:solidFill>
            <a:srgbClr val="1E1B4B"/>
          </a:solidFill>
          <a:ln w="12700">
            <a:solidFill>
              <a:srgbClr val="4338CA"/>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sat</a:t>
            </a:r>
            <a:endParaRPr lang="en-US" sz="1600" dirty="0"/>
          </a:p>
        </p:txBody>
      </p:sp>
      <p:sp>
        <p:nvSpPr>
          <p:cNvPr id="8" name="anim-1-rise-360-3"/>
          <p:cNvSpPr/>
          <p:nvPr/>
        </p:nvSpPr>
        <p:spPr>
          <a:xfrm>
            <a:off x="3584448" y="3611880"/>
            <a:ext cx="841248" cy="566928"/>
          </a:xfrm>
          <a:prstGeom prst="roundRect">
            <a:avLst>
              <a:gd name="adj" fmla="val 11290"/>
            </a:avLst>
          </a:prstGeom>
          <a:solidFill>
            <a:srgbClr val="1E1B4B"/>
          </a:solidFill>
          <a:ln w="12700">
            <a:solidFill>
              <a:srgbClr val="4338CA"/>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on</a:t>
            </a:r>
            <a:endParaRPr lang="en-US" sz="1600" dirty="0"/>
          </a:p>
        </p:txBody>
      </p:sp>
      <p:sp>
        <p:nvSpPr>
          <p:cNvPr id="9" name="anim-1-rise-480-4"/>
          <p:cNvSpPr/>
          <p:nvPr/>
        </p:nvSpPr>
        <p:spPr>
          <a:xfrm>
            <a:off x="4535424" y="3611880"/>
            <a:ext cx="841248" cy="566928"/>
          </a:xfrm>
          <a:prstGeom prst="roundRect">
            <a:avLst>
              <a:gd name="adj" fmla="val 11290"/>
            </a:avLst>
          </a:prstGeom>
          <a:solidFill>
            <a:srgbClr val="1E1B4B"/>
          </a:solidFill>
          <a:ln w="12700">
            <a:solidFill>
              <a:srgbClr val="4338CA"/>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the</a:t>
            </a:r>
            <a:endParaRPr lang="en-US" sz="1600" dirty="0"/>
          </a:p>
        </p:txBody>
      </p:sp>
      <p:sp>
        <p:nvSpPr>
          <p:cNvPr id="10" name="anim-2-wipe-0-5"/>
          <p:cNvSpPr/>
          <p:nvPr/>
        </p:nvSpPr>
        <p:spPr>
          <a:xfrm>
            <a:off x="5486400" y="3895344"/>
            <a:ext cx="685800" cy="0"/>
          </a:xfrm>
          <a:prstGeom prst="line">
            <a:avLst/>
          </a:prstGeom>
          <a:noFill/>
          <a:ln w="31750">
            <a:solidFill>
              <a:srgbClr val="A78BFA"/>
            </a:solidFill>
            <a:prstDash val="solid"/>
            <a:tailEnd type="triangle"/>
          </a:ln>
        </p:spPr>
      </p:sp>
      <p:sp>
        <p:nvSpPr>
          <p:cNvPr id="11" name="anim-2-fade-100-6"/>
          <p:cNvSpPr/>
          <p:nvPr/>
        </p:nvSpPr>
        <p:spPr>
          <a:xfrm>
            <a:off x="6547104" y="2999232"/>
            <a:ext cx="2468880" cy="1417320"/>
          </a:xfrm>
          <a:prstGeom prst="roundRect">
            <a:avLst>
              <a:gd name="adj" fmla="val 7742"/>
            </a:avLst>
          </a:prstGeom>
          <a:solidFill>
            <a:srgbClr val="3B2A86"/>
          </a:solidFill>
          <a:ln/>
        </p:spPr>
      </p:sp>
      <p:sp>
        <p:nvSpPr>
          <p:cNvPr id="12" name="anim-2-fade-200-7"/>
          <p:cNvSpPr/>
          <p:nvPr/>
        </p:nvSpPr>
        <p:spPr>
          <a:xfrm>
            <a:off x="6400800" y="3136392"/>
            <a:ext cx="2468880" cy="1417320"/>
          </a:xfrm>
          <a:prstGeom prst="roundRect">
            <a:avLst>
              <a:gd name="adj" fmla="val 7742"/>
            </a:avLst>
          </a:prstGeom>
          <a:solidFill>
            <a:srgbClr val="5B3FC4"/>
          </a:solidFill>
          <a:ln/>
        </p:spPr>
      </p:sp>
      <p:sp>
        <p:nvSpPr>
          <p:cNvPr id="13" name="anim-2-fade-300-8"/>
          <p:cNvSpPr/>
          <p:nvPr/>
        </p:nvSpPr>
        <p:spPr>
          <a:xfrm>
            <a:off x="6254496" y="3273552"/>
            <a:ext cx="2468880" cy="1417320"/>
          </a:xfrm>
          <a:prstGeom prst="roundRect">
            <a:avLst>
              <a:gd name="adj" fmla="val 7742"/>
            </a:avLst>
          </a:prstGeom>
          <a:solidFill>
            <a:srgbClr val="7C3AED"/>
          </a:solid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Decoder</a:t>
            </a:r>
            <a:endParaRPr lang="en-US" sz="2000" dirty="0"/>
          </a:p>
          <a:p>
            <a:pPr algn="ctr" indent="0" marL="0">
              <a:buNone/>
            </a:pPr>
            <a:r>
              <a:rPr lang="en-US" sz="1100" dirty="0">
                <a:solidFill>
                  <a:srgbClr val="E9E5FF"/>
                </a:solidFill>
                <a:latin typeface="Inter" pitchFamily="34" charset="0"/>
                <a:ea typeface="Inter" pitchFamily="34" charset="-122"/>
                <a:cs typeface="Inter" pitchFamily="34" charset="-120"/>
              </a:rPr>
              <a:t>a stack of identical blocks</a:t>
            </a:r>
            <a:endParaRPr lang="en-US" sz="2000" dirty="0"/>
          </a:p>
        </p:txBody>
      </p:sp>
      <p:sp>
        <p:nvSpPr>
          <p:cNvPr id="14" name="anim-3-wipe-0-9"/>
          <p:cNvSpPr/>
          <p:nvPr/>
        </p:nvSpPr>
        <p:spPr>
          <a:xfrm>
            <a:off x="8915400" y="3895344"/>
            <a:ext cx="685800" cy="0"/>
          </a:xfrm>
          <a:prstGeom prst="line">
            <a:avLst/>
          </a:prstGeom>
          <a:noFill/>
          <a:ln w="31750">
            <a:solidFill>
              <a:srgbClr val="E11D48"/>
            </a:solidFill>
            <a:prstDash val="solid"/>
            <a:tailEnd type="triangle"/>
          </a:ln>
        </p:spPr>
      </p:sp>
      <p:sp>
        <p:nvSpPr>
          <p:cNvPr id="15" name="anim-3-zoom-300-10"/>
          <p:cNvSpPr/>
          <p:nvPr/>
        </p:nvSpPr>
        <p:spPr>
          <a:xfrm>
            <a:off x="9738360" y="3611880"/>
            <a:ext cx="1188720" cy="566928"/>
          </a:xfrm>
          <a:prstGeom prst="roundRect">
            <a:avLst>
              <a:gd name="adj" fmla="val 11290"/>
            </a:avLst>
          </a:prstGeom>
          <a:solidFill>
            <a:srgbClr val="E11D48"/>
          </a:solidFill>
          <a:ln w="25400">
            <a:solidFill>
              <a:srgbClr val="FB7185"/>
            </a:solid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mat</a:t>
            </a:r>
            <a:endParaRPr lang="en-US" sz="1800" dirty="0"/>
          </a:p>
        </p:txBody>
      </p:sp>
      <p:sp>
        <p:nvSpPr>
          <p:cNvPr id="16" name="anim-3-fade-500-11"/>
          <p:cNvSpPr txBox="1"/>
          <p:nvPr/>
        </p:nvSpPr>
        <p:spPr>
          <a:xfrm>
            <a:off x="9738360" y="4251960"/>
            <a:ext cx="1188720" cy="274320"/>
          </a:xfrm>
          <a:prstGeom prst="rect">
            <a:avLst/>
          </a:prstGeom>
          <a:noFill/>
          <a:ln/>
        </p:spPr>
        <p:txBody>
          <a:bodyPr wrap="square" lIns="0" tIns="0" rIns="0" bIns="0" rtlCol="0" anchor="t"/>
          <a:lstStyle/>
          <a:p>
            <a:pPr algn="ctr" indent="0" marL="0">
              <a:buNone/>
            </a:pPr>
            <a:r>
              <a:rPr lang="en-US" sz="1000" dirty="0">
                <a:solidFill>
                  <a:srgbClr val="FDA4AF"/>
                </a:solidFill>
                <a:latin typeface="Inter" pitchFamily="34" charset="0"/>
                <a:ea typeface="Inter" pitchFamily="34" charset="-122"/>
                <a:cs typeface="Inter" pitchFamily="34" charset="-120"/>
              </a:rPr>
              <a:t>next token</a:t>
            </a:r>
            <a:endParaRPr lang="en-US" sz="1000" dirty="0"/>
          </a:p>
        </p:txBody>
      </p:sp>
      <p:sp>
        <p:nvSpPr>
          <p:cNvPr id="17" name="anim-1-fade-600-12"/>
          <p:cNvSpPr txBox="1"/>
          <p:nvPr/>
        </p:nvSpPr>
        <p:spPr>
          <a:xfrm>
            <a:off x="731520" y="4251960"/>
            <a:ext cx="4663440" cy="274320"/>
          </a:xfrm>
          <a:prstGeom prst="rect">
            <a:avLst/>
          </a:prstGeom>
          <a:noFill/>
          <a:ln/>
        </p:spPr>
        <p:txBody>
          <a:bodyPr wrap="square" lIns="0" tIns="0" rIns="0" bIns="0" rtlCol="0" anchor="t"/>
          <a:lstStyle/>
          <a:p>
            <a:pPr algn="ctr" indent="0" marL="0">
              <a:buNone/>
            </a:pPr>
            <a:r>
              <a:rPr lang="en-US" sz="1000" dirty="0">
                <a:solidFill>
                  <a:srgbClr val="C7D2FE"/>
                </a:solidFill>
                <a:latin typeface="Inter" pitchFamily="34" charset="0"/>
                <a:ea typeface="Inter" pitchFamily="34" charset="-122"/>
                <a:cs typeface="Inter" pitchFamily="34" charset="-120"/>
              </a:rPr>
              <a:t>input so far</a:t>
            </a:r>
            <a:endParaRPr lang="en-US" sz="1000" dirty="0"/>
          </a:p>
        </p:txBody>
      </p:sp>
      <p:sp>
        <p:nvSpPr>
          <p:cNvPr id="18" name="anim-4-rise-0-13"/>
          <p:cNvSpPr/>
          <p:nvPr/>
        </p:nvSpPr>
        <p:spPr>
          <a:xfrm>
            <a:off x="731520" y="5257800"/>
            <a:ext cx="10195560" cy="566928"/>
          </a:xfrm>
          <a:prstGeom prst="roundRect">
            <a:avLst>
              <a:gd name="adj" fmla="val 16129"/>
            </a:avLst>
          </a:prstGeom>
          <a:solidFill>
            <a:srgbClr val="1E1B4B"/>
          </a:solidFill>
          <a:ln/>
        </p:spPr>
        <p:txBody>
          <a:bodyPr wrap="square" lIns="0" tIns="203200" rIns="203200" bIns="0" rtlCol="0" anchor="ctr"/>
          <a:lstStyle/>
          <a:p>
            <a:pPr algn="l" indent="0" marL="0">
              <a:buNone/>
            </a:pPr>
            <a:r>
              <a:rPr lang="en-US" sz="1400" b="1" dirty="0">
                <a:solidFill>
                  <a:srgbClr val="FBBF24"/>
                </a:solidFill>
                <a:latin typeface="Inter" pitchFamily="34" charset="0"/>
                <a:ea typeface="Inter" pitchFamily="34" charset="-122"/>
                <a:cs typeface="Inter" pitchFamily="34" charset="-120"/>
              </a:rPr>
              <a:t>Core question  </a:t>
            </a:r>
            <a:pPr algn="l" indent="0" marL="0">
              <a:buNone/>
            </a:pPr>
            <a:r>
              <a:rPr lang="en-US" sz="1400" dirty="0">
                <a:solidFill>
                  <a:srgbClr val="FFFFFF"/>
                </a:solidFill>
                <a:latin typeface="Inter" pitchFamily="34" charset="0"/>
                <a:ea typeface="Inter" pitchFamily="34" charset="-122"/>
                <a:cs typeface="Inter" pitchFamily="34" charset="-120"/>
              </a:rPr>
              <a:t>Given the words so far, how does the model decide what comes next?</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0.06"/>
                                          </p:val>
                                        </p:tav>
                                        <p:tav tm="100000">
                                          <p:val>
                                            <p:strVal val="#ppt_y"/>
                                          </p:val>
                                        </p:tav>
                                      </p:tavLst>
                                    </p:anim>
                                  </p:childTnLst>
                                </p:cTn>
                              </p:par>
                              <p:par>
                                <p:cTn id="11" presetID="42" presetClass="entr" presetSubtype="0" fill="hold" grpId="0" nodeType="withEffect">
                                  <p:stCondLst>
                                    <p:cond delay="120"/>
                                  </p:stCondLst>
                                  <p:childTnLst>
                                    <p:set>
                                      <p:cBhvr>
                                        <p:cTn id="10"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0.06"/>
                                          </p:val>
                                        </p:tav>
                                        <p:tav tm="100000">
                                          <p:val>
                                            <p:strVal val="#ppt_y"/>
                                          </p:val>
                                        </p:tav>
                                      </p:tavLst>
                                    </p:anim>
                                  </p:childTnLst>
                                </p:cTn>
                              </p:par>
                              <p:par>
                                <p:cTn id="16" presetID="42" presetClass="entr" presetSubtype="0" fill="hold" grpId="0" nodeType="withEffect">
                                  <p:stCondLst>
                                    <p:cond delay="240"/>
                                  </p:stCondLst>
                                  <p:childTnLst>
                                    <p:set>
                                      <p:cBhvr>
                                        <p:cTn id="15"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0.06"/>
                                          </p:val>
                                        </p:tav>
                                        <p:tav tm="100000">
                                          <p:val>
                                            <p:strVal val="#ppt_y"/>
                                          </p:val>
                                        </p:tav>
                                      </p:tavLst>
                                    </p:anim>
                                  </p:childTnLst>
                                </p:cTn>
                              </p:par>
                              <p:par>
                                <p:cTn id="21" presetID="42" presetClass="entr" presetSubtype="0" fill="hold" grpId="0" nodeType="withEffect">
                                  <p:stCondLst>
                                    <p:cond delay="360"/>
                                  </p:stCondLst>
                                  <p:childTnLst>
                                    <p:set>
                                      <p:cBhvr>
                                        <p:cTn id="20"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p:cTn id="23" dur="500" fill="hold"/>
                                        <p:tgtEl>
                                          <p:spTgt spid="8"/>
                                        </p:tgtEl>
                                        <p:attrNameLst>
                                          <p:attrName>ppt_x</p:attrName>
                                        </p:attrNameLst>
                                      </p:cBhvr>
                                      <p:tavLst>
                                        <p:tav tm="0">
                                          <p:val>
                                            <p:strVal val="#ppt_x"/>
                                          </p:val>
                                        </p:tav>
                                        <p:tav tm="100000">
                                          <p:val>
                                            <p:strVal val="#ppt_x"/>
                                          </p:val>
                                        </p:tav>
                                      </p:tavLst>
                                    </p:anim>
                                    <p:anim calcmode="lin" valueType="num">
                                      <p:cBhvr>
                                        <p:cTn id="24" dur="500" fill="hold"/>
                                        <p:tgtEl>
                                          <p:spTgt spid="8"/>
                                        </p:tgtEl>
                                        <p:attrNameLst>
                                          <p:attrName>ppt_y</p:attrName>
                                        </p:attrNameLst>
                                      </p:cBhvr>
                                      <p:tavLst>
                                        <p:tav tm="0">
                                          <p:val>
                                            <p:strVal val="#ppt_y+0.06"/>
                                          </p:val>
                                        </p:tav>
                                        <p:tav tm="100000">
                                          <p:val>
                                            <p:strVal val="#ppt_y"/>
                                          </p:val>
                                        </p:tav>
                                      </p:tavLst>
                                    </p:anim>
                                  </p:childTnLst>
                                </p:cTn>
                              </p:par>
                              <p:par>
                                <p:cTn id="26" presetID="42" presetClass="entr" presetSubtype="0" fill="hold" grpId="0" nodeType="withEffect">
                                  <p:stCondLst>
                                    <p:cond delay="480"/>
                                  </p:stCondLst>
                                  <p:childTnLst>
                                    <p:set>
                                      <p:cBhvr>
                                        <p:cTn id="25"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0.06"/>
                                          </p:val>
                                        </p:tav>
                                        <p:tav tm="100000">
                                          <p:val>
                                            <p:strVal val="#ppt_y"/>
                                          </p:val>
                                        </p:tav>
                                      </p:tavLst>
                                    </p:anim>
                                  </p:childTnLst>
                                </p:cTn>
                              </p:par>
                              <p:par>
                                <p:cTn id="31" presetID="10" presetClass="entr" presetSubtype="0" fill="hold" grpId="0" nodeType="withEffect">
                                  <p:stCondLst>
                                    <p:cond delay="600"/>
                                  </p:stCondLst>
                                  <p:childTnLst>
                                    <p:set>
                                      <p:cBhvr>
                                        <p:cTn id="30"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6" presetID="22" presetClass="entr" presetSubtype="8"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7" dur="450"/>
                                        <p:tgtEl>
                                          <p:spTgt spid="10"/>
                                        </p:tgtEl>
                                      </p:cBhvr>
                                    </p:animEffect>
                                  </p:childTnLst>
                                </p:cTn>
                              </p:par>
                              <p:par>
                                <p:cTn id="39" presetID="10" presetClass="entr" presetSubtype="0" fill="hold" grpId="0" nodeType="withEffect">
                                  <p:stCondLst>
                                    <p:cond delay="100"/>
                                  </p:stCondLst>
                                  <p:childTnLst>
                                    <p:set>
                                      <p:cBhvr>
                                        <p:cTn id="38"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2" presetID="10" presetClass="entr" presetSubtype="0" fill="hold" grpId="0" nodeType="withEffect">
                                  <p:stCondLst>
                                    <p:cond delay="200"/>
                                  </p:stCondLst>
                                  <p:childTnLst>
                                    <p:set>
                                      <p:cBhvr>
                                        <p:cTn id="41"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par>
                                <p:cTn id="45" presetID="10" presetClass="entr" presetSubtype="0" fill="hold" grpId="0" nodeType="withEffect">
                                  <p:stCondLst>
                                    <p:cond delay="3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50" presetID="22" presetClass="entr" presetSubtype="8"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1" dur="450"/>
                                        <p:tgtEl>
                                          <p:spTgt spid="14"/>
                                        </p:tgtEl>
                                      </p:cBhvr>
                                    </p:animEffect>
                                  </p:childTnLst>
                                </p:cTn>
                              </p:par>
                              <p:par>
                                <p:cTn id="53" presetID="53" presetClass="entr" presetSubtype="16" fill="hold" grpId="0" nodeType="withEffect">
                                  <p:stCondLst>
                                    <p:cond delay="300"/>
                                  </p:stCondLst>
                                  <p:childTnLst>
                                    <p:set>
                                      <p:cBhvr>
                                        <p:cTn id="52" dur="1" fill="hold">
                                          <p:stCondLst>
                                            <p:cond delay="0"/>
                                          </p:stCondLst>
                                        </p:cTn>
                                        <p:tgtEl>
                                          <p:spTgt spid="15"/>
                                        </p:tgtEl>
                                        <p:attrNameLst>
                                          <p:attrName>style.visibility</p:attrName>
                                        </p:attrNameLst>
                                      </p:cBhvr>
                                      <p:to>
                                        <p:strVal val="visible"/>
                                      </p:to>
                                    </p:set>
                                    <p:anim calcmode="lin" valueType="num">
                                      <p:cBhvr>
                                        <p:cTn id="54" dur="500" fill="hold"/>
                                        <p:tgtEl>
                                          <p:spTgt spid="15"/>
                                        </p:tgtEl>
                                        <p:attrNameLst>
                                          <p:attrName>ppt_w</p:attrName>
                                        </p:attrNameLst>
                                      </p:cBhvr>
                                      <p:tavLst>
                                        <p:tav tm="0">
                                          <p:val>
                                            <p:fltVal val="0"/>
                                          </p:val>
                                        </p:tav>
                                        <p:tav tm="100000">
                                          <p:val>
                                            <p:strVal val="#ppt_w"/>
                                          </p:val>
                                        </p:tav>
                                      </p:tavLst>
                                    </p:anim>
                                    <p:anim calcmode="lin" valueType="num">
                                      <p:cBhvr>
                                        <p:cTn id="55" dur="500" fill="hold"/>
                                        <p:tgtEl>
                                          <p:spTgt spid="15"/>
                                        </p:tgtEl>
                                        <p:attrNameLst>
                                          <p:attrName>ppt_h</p:attrName>
                                        </p:attrNameLst>
                                      </p:cBhvr>
                                      <p:tavLst>
                                        <p:tav tm="0">
                                          <p:val>
                                            <p:fltVal val="0"/>
                                          </p:val>
                                        </p:tav>
                                        <p:tav tm="100000">
                                          <p:val>
                                            <p:strVal val="#ppt_h"/>
                                          </p:val>
                                        </p:tav>
                                      </p:tavLst>
                                    </p:anim>
                                    <p:animEffect transition="in" filter="fade">
                                      <p:cBhvr>
                                        <p:cTn id="56" dur="500"/>
                                        <p:tgtEl>
                                          <p:spTgt spid="15"/>
                                        </p:tgtEl>
                                      </p:cBhvr>
                                    </p:animEffect>
                                  </p:childTnLst>
                                </p:cTn>
                              </p:par>
                              <p:par>
                                <p:cTn id="58" presetID="10" presetClass="entr" presetSubtype="0" fill="hold" grpId="0" nodeType="withEffect">
                                  <p:stCondLst>
                                    <p:cond delay="500"/>
                                  </p:stCondLst>
                                  <p:childTnLst>
                                    <p:set>
                                      <p:cBhvr>
                                        <p:cTn id="57"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3" presetID="42"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anim calcmode="lin" valueType="num">
                                      <p:cBhvr>
                                        <p:cTn id="65" dur="500" fill="hold"/>
                                        <p:tgtEl>
                                          <p:spTgt spid="18"/>
                                        </p:tgtEl>
                                        <p:attrNameLst>
                                          <p:attrName>ppt_x</p:attrName>
                                        </p:attrNameLst>
                                      </p:cBhvr>
                                      <p:tavLst>
                                        <p:tav tm="0">
                                          <p:val>
                                            <p:strVal val="#ppt_x"/>
                                          </p:val>
                                        </p:tav>
                                        <p:tav tm="100000">
                                          <p:val>
                                            <p:strVal val="#ppt_x"/>
                                          </p:val>
                                        </p:tav>
                                      </p:tavLst>
                                    </p:anim>
                                    <p:anim calcmode="lin" valueType="num">
                                      <p:cBhvr>
                                        <p:cTn id="66" dur="500" fill="hold"/>
                                        <p:tgtEl>
                                          <p:spTgt spid="18"/>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2563EB"/>
                </a:solidFill>
                <a:latin typeface="Inter" pitchFamily="34" charset="0"/>
                <a:ea typeface="Inter" pitchFamily="34" charset="-122"/>
                <a:cs typeface="Inter" pitchFamily="34" charset="-120"/>
              </a:rPr>
              <a:t>02 · WARM-UP · WEIGHTS ARE DIALS</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Weights are dials that learn</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A model’s knowledge is nothing more than where its dials are set. Learning = turning the dials, a little at a time.</a:t>
            </a:r>
            <a:endParaRPr lang="en-US" sz="1300" dirty="0"/>
          </a:p>
        </p:txBody>
      </p:sp>
      <p:sp>
        <p:nvSpPr>
          <p:cNvPr id="5" name="Text 3"/>
          <p:cNvSpPr txBox="1"/>
          <p:nvPr/>
        </p:nvSpPr>
        <p:spPr>
          <a:xfrm>
            <a:off x="548640" y="1645920"/>
            <a:ext cx="6766560" cy="256032"/>
          </a:xfrm>
          <a:prstGeom prst="rect">
            <a:avLst/>
          </a:prstGeom>
          <a:noFill/>
          <a:ln/>
        </p:spPr>
        <p:txBody>
          <a:bodyPr wrap="square" lIns="0" tIns="0" rIns="0" bIns="0" rtlCol="0" anchor="t"/>
          <a:lstStyle/>
          <a:p>
            <a:pPr indent="0" marL="0">
              <a:buNone/>
            </a:pPr>
            <a:r>
              <a:rPr lang="en-US" sz="1200" b="1" dirty="0">
                <a:solidFill>
                  <a:srgbClr val="0F172A"/>
                </a:solidFill>
                <a:latin typeface="Inter" pitchFamily="34" charset="0"/>
                <a:ea typeface="Inter" pitchFamily="34" charset="-122"/>
                <a:cs typeface="Inter" pitchFamily="34" charset="-120"/>
              </a:rPr>
              <a:t>Toy model: “Will the cat sit here?”  3 inputs, 3 dials</a:t>
            </a:r>
            <a:endParaRPr lang="en-US" sz="1200" dirty="0"/>
          </a:p>
        </p:txBody>
      </p:sp>
      <p:sp>
        <p:nvSpPr>
          <p:cNvPr id="6" name="Shape 4"/>
          <p:cNvSpPr/>
          <p:nvPr/>
        </p:nvSpPr>
        <p:spPr>
          <a:xfrm>
            <a:off x="1234440" y="2697480"/>
            <a:ext cx="4114800" cy="0"/>
          </a:xfrm>
          <a:prstGeom prst="line">
            <a:avLst/>
          </a:prstGeom>
          <a:noFill/>
          <a:ln w="15875">
            <a:solidFill>
              <a:srgbClr val="CBD5E1"/>
            </a:solidFill>
            <a:prstDash val="solid"/>
            <a:tailEnd type="triangle"/>
          </a:ln>
        </p:spPr>
      </p:sp>
      <p:sp>
        <p:nvSpPr>
          <p:cNvPr id="7" name="Shape 5"/>
          <p:cNvSpPr/>
          <p:nvPr/>
        </p:nvSpPr>
        <p:spPr>
          <a:xfrm>
            <a:off x="2788920" y="2697480"/>
            <a:ext cx="2560320" cy="0"/>
          </a:xfrm>
          <a:prstGeom prst="line">
            <a:avLst/>
          </a:prstGeom>
          <a:noFill/>
          <a:ln w="15875">
            <a:solidFill>
              <a:srgbClr val="CBD5E1"/>
            </a:solidFill>
            <a:prstDash val="solid"/>
            <a:tailEnd type="triangle"/>
          </a:ln>
        </p:spPr>
      </p:sp>
      <p:sp>
        <p:nvSpPr>
          <p:cNvPr id="8" name="Shape 6"/>
          <p:cNvSpPr/>
          <p:nvPr/>
        </p:nvSpPr>
        <p:spPr>
          <a:xfrm>
            <a:off x="4343400" y="2697480"/>
            <a:ext cx="1005840" cy="0"/>
          </a:xfrm>
          <a:prstGeom prst="line">
            <a:avLst/>
          </a:prstGeom>
          <a:noFill/>
          <a:ln w="15875">
            <a:solidFill>
              <a:srgbClr val="CBD5E1"/>
            </a:solidFill>
            <a:prstDash val="solid"/>
            <a:tailEnd type="triangle"/>
          </a:ln>
        </p:spPr>
      </p:sp>
      <p:sp>
        <p:nvSpPr>
          <p:cNvPr id="9" name="Text 7"/>
          <p:cNvSpPr txBox="1"/>
          <p:nvPr/>
        </p:nvSpPr>
        <p:spPr>
          <a:xfrm>
            <a:off x="4892040" y="2130552"/>
            <a:ext cx="1554480" cy="201168"/>
          </a:xfrm>
          <a:prstGeom prst="rect">
            <a:avLst/>
          </a:prstGeom>
          <a:noFill/>
          <a:ln/>
        </p:spPr>
        <p:txBody>
          <a:bodyPr wrap="square" lIns="0" tIns="0" rIns="0" bIns="0" rtlCol="0" anchor="t"/>
          <a:lstStyle/>
          <a:p>
            <a:pPr algn="ctr" indent="0" marL="0">
              <a:buNone/>
            </a:pPr>
            <a:r>
              <a:rPr lang="en-US" sz="900" i="1" dirty="0">
                <a:solidFill>
                  <a:srgbClr val="64748B"/>
                </a:solidFill>
                <a:latin typeface="Inter" pitchFamily="34" charset="0"/>
                <a:ea typeface="Inter" pitchFamily="34" charset="-122"/>
                <a:cs typeface="Inter" pitchFamily="34" charset="-120"/>
              </a:rPr>
              <a:t>input × dial, all added up</a:t>
            </a:r>
            <a:endParaRPr lang="en-US" sz="900" dirty="0"/>
          </a:p>
        </p:txBody>
      </p:sp>
      <p:sp>
        <p:nvSpPr>
          <p:cNvPr id="10" name="Shape 8"/>
          <p:cNvSpPr/>
          <p:nvPr/>
        </p:nvSpPr>
        <p:spPr>
          <a:xfrm>
            <a:off x="731520" y="2194560"/>
            <a:ext cx="1005840" cy="1005840"/>
          </a:xfrm>
          <a:prstGeom prst="ellipse">
            <a:avLst/>
          </a:prstGeom>
          <a:solidFill>
            <a:srgbClr val="FFFFFF"/>
          </a:solidFill>
          <a:ln w="31750">
            <a:solidFill>
              <a:srgbClr val="A78BFA"/>
            </a:solidFill>
            <a:prstDash val="solid"/>
          </a:ln>
        </p:spPr>
      </p:sp>
      <p:sp>
        <p:nvSpPr>
          <p:cNvPr id="11" name="Shape 9"/>
          <p:cNvSpPr/>
          <p:nvPr/>
        </p:nvSpPr>
        <p:spPr>
          <a:xfrm>
            <a:off x="771907" y="3114293"/>
            <a:ext cx="45720" cy="45720"/>
          </a:xfrm>
          <a:prstGeom prst="ellipse">
            <a:avLst/>
          </a:prstGeom>
          <a:solidFill>
            <a:srgbClr val="CBD5E1"/>
          </a:solidFill>
          <a:ln/>
        </p:spPr>
      </p:sp>
      <p:sp>
        <p:nvSpPr>
          <p:cNvPr id="12" name="Shape 10"/>
          <p:cNvSpPr/>
          <p:nvPr/>
        </p:nvSpPr>
        <p:spPr>
          <a:xfrm>
            <a:off x="589788" y="2674620"/>
            <a:ext cx="45720" cy="45720"/>
          </a:xfrm>
          <a:prstGeom prst="ellipse">
            <a:avLst/>
          </a:prstGeom>
          <a:solidFill>
            <a:srgbClr val="CBD5E1"/>
          </a:solidFill>
          <a:ln/>
        </p:spPr>
      </p:sp>
      <p:sp>
        <p:nvSpPr>
          <p:cNvPr id="13" name="Shape 11"/>
          <p:cNvSpPr/>
          <p:nvPr/>
        </p:nvSpPr>
        <p:spPr>
          <a:xfrm>
            <a:off x="771907" y="2234947"/>
            <a:ext cx="45720" cy="45720"/>
          </a:xfrm>
          <a:prstGeom prst="ellipse">
            <a:avLst/>
          </a:prstGeom>
          <a:solidFill>
            <a:srgbClr val="CBD5E1"/>
          </a:solidFill>
          <a:ln/>
        </p:spPr>
      </p:sp>
      <p:sp>
        <p:nvSpPr>
          <p:cNvPr id="14" name="Shape 12"/>
          <p:cNvSpPr/>
          <p:nvPr/>
        </p:nvSpPr>
        <p:spPr>
          <a:xfrm>
            <a:off x="1202436" y="2043684"/>
            <a:ext cx="64008" cy="64008"/>
          </a:xfrm>
          <a:prstGeom prst="ellipse">
            <a:avLst/>
          </a:prstGeom>
          <a:solidFill>
            <a:srgbClr val="64748B"/>
          </a:solidFill>
          <a:ln/>
        </p:spPr>
      </p:sp>
      <p:sp>
        <p:nvSpPr>
          <p:cNvPr id="15" name="Shape 13"/>
          <p:cNvSpPr/>
          <p:nvPr/>
        </p:nvSpPr>
        <p:spPr>
          <a:xfrm>
            <a:off x="1651253" y="2234947"/>
            <a:ext cx="45720" cy="45720"/>
          </a:xfrm>
          <a:prstGeom prst="ellipse">
            <a:avLst/>
          </a:prstGeom>
          <a:solidFill>
            <a:srgbClr val="CBD5E1"/>
          </a:solidFill>
          <a:ln/>
        </p:spPr>
      </p:sp>
      <p:sp>
        <p:nvSpPr>
          <p:cNvPr id="16" name="Shape 14"/>
          <p:cNvSpPr/>
          <p:nvPr/>
        </p:nvSpPr>
        <p:spPr>
          <a:xfrm>
            <a:off x="1833372" y="2674620"/>
            <a:ext cx="45720" cy="45720"/>
          </a:xfrm>
          <a:prstGeom prst="ellipse">
            <a:avLst/>
          </a:prstGeom>
          <a:solidFill>
            <a:srgbClr val="CBD5E1"/>
          </a:solidFill>
          <a:ln/>
        </p:spPr>
      </p:sp>
      <p:sp>
        <p:nvSpPr>
          <p:cNvPr id="17" name="Shape 15"/>
          <p:cNvSpPr/>
          <p:nvPr/>
        </p:nvSpPr>
        <p:spPr>
          <a:xfrm>
            <a:off x="1651253" y="3114293"/>
            <a:ext cx="45720" cy="45720"/>
          </a:xfrm>
          <a:prstGeom prst="ellipse">
            <a:avLst/>
          </a:prstGeom>
          <a:solidFill>
            <a:srgbClr val="CBD5E1"/>
          </a:solidFill>
          <a:ln/>
        </p:spPr>
      </p:sp>
      <p:sp>
        <p:nvSpPr>
          <p:cNvPr id="18" name="Text 16"/>
          <p:cNvSpPr txBox="1"/>
          <p:nvPr/>
        </p:nvSpPr>
        <p:spPr>
          <a:xfrm>
            <a:off x="457200" y="3099816"/>
            <a:ext cx="274320" cy="274320"/>
          </a:xfrm>
          <a:prstGeom prst="rect">
            <a:avLst/>
          </a:prstGeom>
          <a:noFill/>
          <a:ln/>
        </p:spPr>
        <p:txBody>
          <a:bodyPr wrap="square" lIns="0" tIns="0" rIns="0" bIns="0" rtlCol="0" anchor="t"/>
          <a:lstStyle/>
          <a:p>
            <a:pPr algn="ctr" indent="0" marL="0">
              <a:buNone/>
            </a:pPr>
            <a:r>
              <a:rPr lang="en-US" sz="1400" b="1" dirty="0">
                <a:solidFill>
                  <a:srgbClr val="E11D48"/>
                </a:solidFill>
                <a:latin typeface="Inter" pitchFamily="34" charset="0"/>
                <a:ea typeface="Inter" pitchFamily="34" charset="-122"/>
                <a:cs typeface="Inter" pitchFamily="34" charset="-120"/>
              </a:rPr>
              <a:t>−</a:t>
            </a:r>
            <a:endParaRPr lang="en-US" sz="1400" dirty="0"/>
          </a:p>
        </p:txBody>
      </p:sp>
      <p:sp>
        <p:nvSpPr>
          <p:cNvPr id="19" name="Text 17"/>
          <p:cNvSpPr txBox="1"/>
          <p:nvPr/>
        </p:nvSpPr>
        <p:spPr>
          <a:xfrm>
            <a:off x="1737360" y="3099816"/>
            <a:ext cx="274320" cy="274320"/>
          </a:xfrm>
          <a:prstGeom prst="rect">
            <a:avLst/>
          </a:prstGeom>
          <a:noFill/>
          <a:ln/>
        </p:spPr>
        <p:txBody>
          <a:bodyPr wrap="square" lIns="0" tIns="0" rIns="0" bIns="0" rtlCol="0" anchor="t"/>
          <a:lstStyle/>
          <a:p>
            <a:pPr algn="ctr" indent="0" marL="0">
              <a:buNone/>
            </a:pPr>
            <a:r>
              <a:rPr lang="en-US" sz="1400" b="1" dirty="0">
                <a:solidFill>
                  <a:srgbClr val="0D9488"/>
                </a:solidFill>
                <a:latin typeface="Inter" pitchFamily="34" charset="0"/>
                <a:ea typeface="Inter" pitchFamily="34" charset="-122"/>
                <a:cs typeface="Inter" pitchFamily="34" charset="-120"/>
              </a:rPr>
              <a:t>+</a:t>
            </a:r>
            <a:endParaRPr lang="en-US" sz="1400" dirty="0"/>
          </a:p>
        </p:txBody>
      </p:sp>
      <p:sp>
        <p:nvSpPr>
          <p:cNvPr id="20" name="anim-1-spp45-300-14~anim-3-spp36-300-15"/>
          <p:cNvSpPr/>
          <p:nvPr/>
        </p:nvSpPr>
        <p:spPr>
          <a:xfrm rot="540000">
            <a:off x="791870" y="2254910"/>
            <a:ext cx="885139" cy="885139"/>
          </a:xfrm>
          <a:prstGeom prst="pie">
            <a:avLst>
              <a:gd name="adj1" fmla="val 15780000"/>
              <a:gd name="adj2" fmla="val 16620000"/>
            </a:avLst>
          </a:prstGeom>
          <a:solidFill>
            <a:srgbClr val="7C3AED"/>
          </a:solidFill>
          <a:ln/>
        </p:spPr>
      </p:sp>
      <p:sp>
        <p:nvSpPr>
          <p:cNvPr id="21" name="Shape 19"/>
          <p:cNvSpPr/>
          <p:nvPr/>
        </p:nvSpPr>
        <p:spPr>
          <a:xfrm>
            <a:off x="1143000" y="2606040"/>
            <a:ext cx="182880" cy="182880"/>
          </a:xfrm>
          <a:prstGeom prst="ellipse">
            <a:avLst/>
          </a:prstGeom>
          <a:solidFill>
            <a:srgbClr val="0F172A"/>
          </a:solidFill>
          <a:ln/>
        </p:spPr>
      </p:sp>
      <p:sp>
        <p:nvSpPr>
          <p:cNvPr id="22" name="Text 20"/>
          <p:cNvSpPr txBox="1"/>
          <p:nvPr/>
        </p:nvSpPr>
        <p:spPr>
          <a:xfrm>
            <a:off x="685800" y="3401568"/>
            <a:ext cx="1097280" cy="237744"/>
          </a:xfrm>
          <a:prstGeom prst="rect">
            <a:avLst/>
          </a:prstGeom>
          <a:noFill/>
          <a:ln/>
        </p:spPr>
        <p:txBody>
          <a:bodyPr wrap="square" lIns="0" tIns="0" rIns="0" bIns="0" rtlCol="0" anchor="t"/>
          <a:lstStyle/>
          <a:p>
            <a:pPr algn="ctr" indent="0" marL="0">
              <a:buNone/>
            </a:pPr>
            <a:r>
              <a:rPr lang="en-US" sz="1200" b="1" dirty="0">
                <a:solidFill>
                  <a:srgbClr val="0F172A"/>
                </a:solidFill>
                <a:latin typeface="Inter" pitchFamily="34" charset="0"/>
                <a:ea typeface="Inter" pitchFamily="34" charset="-122"/>
                <a:cs typeface="Inter" pitchFamily="34" charset="-120"/>
              </a:rPr>
              <a:t>soft?</a:t>
            </a:r>
            <a:endParaRPr lang="en-US" sz="1200" dirty="0"/>
          </a:p>
        </p:txBody>
      </p:sp>
      <p:sp>
        <p:nvSpPr>
          <p:cNvPr id="23" name="Text 21"/>
          <p:cNvSpPr txBox="1"/>
          <p:nvPr/>
        </p:nvSpPr>
        <p:spPr>
          <a:xfrm>
            <a:off x="685800" y="3639312"/>
            <a:ext cx="1097280" cy="201168"/>
          </a:xfrm>
          <a:prstGeom prst="rect">
            <a:avLst/>
          </a:prstGeom>
          <a:noFill/>
          <a:ln/>
        </p:spPr>
        <p:txBody>
          <a:bodyPr wrap="square" lIns="0" tIns="0" rIns="0" bIns="0" rtlCol="0" anchor="t"/>
          <a:lstStyle/>
          <a:p>
            <a:pPr algn="ctr" indent="0" marL="0">
              <a:buNone/>
            </a:pPr>
            <a:r>
              <a:rPr lang="en-US" sz="950" dirty="0">
                <a:solidFill>
                  <a:srgbClr val="64748B"/>
                </a:solidFill>
                <a:latin typeface="Inter" pitchFamily="34" charset="0"/>
                <a:ea typeface="Inter" pitchFamily="34" charset="-122"/>
                <a:cs typeface="Inter" pitchFamily="34" charset="-120"/>
              </a:rPr>
              <a:t>start +0.2</a:t>
            </a:r>
            <a:endParaRPr lang="en-US" sz="950" dirty="0"/>
          </a:p>
        </p:txBody>
      </p:sp>
      <p:sp>
        <p:nvSpPr>
          <p:cNvPr id="24" name="Shape 22"/>
          <p:cNvSpPr/>
          <p:nvPr/>
        </p:nvSpPr>
        <p:spPr>
          <a:xfrm>
            <a:off x="2286000" y="2194560"/>
            <a:ext cx="1005840" cy="1005840"/>
          </a:xfrm>
          <a:prstGeom prst="ellipse">
            <a:avLst/>
          </a:prstGeom>
          <a:solidFill>
            <a:srgbClr val="FFFFFF"/>
          </a:solidFill>
          <a:ln w="31750">
            <a:solidFill>
              <a:srgbClr val="A78BFA"/>
            </a:solidFill>
            <a:prstDash val="solid"/>
          </a:ln>
        </p:spPr>
      </p:sp>
      <p:sp>
        <p:nvSpPr>
          <p:cNvPr id="25" name="Shape 23"/>
          <p:cNvSpPr/>
          <p:nvPr/>
        </p:nvSpPr>
        <p:spPr>
          <a:xfrm>
            <a:off x="2326387" y="3114293"/>
            <a:ext cx="45720" cy="45720"/>
          </a:xfrm>
          <a:prstGeom prst="ellipse">
            <a:avLst/>
          </a:prstGeom>
          <a:solidFill>
            <a:srgbClr val="CBD5E1"/>
          </a:solidFill>
          <a:ln/>
        </p:spPr>
      </p:sp>
      <p:sp>
        <p:nvSpPr>
          <p:cNvPr id="26" name="Shape 24"/>
          <p:cNvSpPr/>
          <p:nvPr/>
        </p:nvSpPr>
        <p:spPr>
          <a:xfrm>
            <a:off x="2144268" y="2674620"/>
            <a:ext cx="45720" cy="45720"/>
          </a:xfrm>
          <a:prstGeom prst="ellipse">
            <a:avLst/>
          </a:prstGeom>
          <a:solidFill>
            <a:srgbClr val="CBD5E1"/>
          </a:solidFill>
          <a:ln/>
        </p:spPr>
      </p:sp>
      <p:sp>
        <p:nvSpPr>
          <p:cNvPr id="27" name="Shape 25"/>
          <p:cNvSpPr/>
          <p:nvPr/>
        </p:nvSpPr>
        <p:spPr>
          <a:xfrm>
            <a:off x="2326387" y="2234947"/>
            <a:ext cx="45720" cy="45720"/>
          </a:xfrm>
          <a:prstGeom prst="ellipse">
            <a:avLst/>
          </a:prstGeom>
          <a:solidFill>
            <a:srgbClr val="CBD5E1"/>
          </a:solidFill>
          <a:ln/>
        </p:spPr>
      </p:sp>
      <p:sp>
        <p:nvSpPr>
          <p:cNvPr id="28" name="Shape 26"/>
          <p:cNvSpPr/>
          <p:nvPr/>
        </p:nvSpPr>
        <p:spPr>
          <a:xfrm>
            <a:off x="2756916" y="2043684"/>
            <a:ext cx="64008" cy="64008"/>
          </a:xfrm>
          <a:prstGeom prst="ellipse">
            <a:avLst/>
          </a:prstGeom>
          <a:solidFill>
            <a:srgbClr val="64748B"/>
          </a:solidFill>
          <a:ln/>
        </p:spPr>
      </p:sp>
      <p:sp>
        <p:nvSpPr>
          <p:cNvPr id="29" name="Shape 27"/>
          <p:cNvSpPr/>
          <p:nvPr/>
        </p:nvSpPr>
        <p:spPr>
          <a:xfrm>
            <a:off x="3205733" y="2234947"/>
            <a:ext cx="45720" cy="45720"/>
          </a:xfrm>
          <a:prstGeom prst="ellipse">
            <a:avLst/>
          </a:prstGeom>
          <a:solidFill>
            <a:srgbClr val="CBD5E1"/>
          </a:solidFill>
          <a:ln/>
        </p:spPr>
      </p:sp>
      <p:sp>
        <p:nvSpPr>
          <p:cNvPr id="30" name="Shape 28"/>
          <p:cNvSpPr/>
          <p:nvPr/>
        </p:nvSpPr>
        <p:spPr>
          <a:xfrm>
            <a:off x="3387852" y="2674620"/>
            <a:ext cx="45720" cy="45720"/>
          </a:xfrm>
          <a:prstGeom prst="ellipse">
            <a:avLst/>
          </a:prstGeom>
          <a:solidFill>
            <a:srgbClr val="CBD5E1"/>
          </a:solidFill>
          <a:ln/>
        </p:spPr>
      </p:sp>
      <p:sp>
        <p:nvSpPr>
          <p:cNvPr id="31" name="Shape 29"/>
          <p:cNvSpPr/>
          <p:nvPr/>
        </p:nvSpPr>
        <p:spPr>
          <a:xfrm>
            <a:off x="3205733" y="3114293"/>
            <a:ext cx="45720" cy="45720"/>
          </a:xfrm>
          <a:prstGeom prst="ellipse">
            <a:avLst/>
          </a:prstGeom>
          <a:solidFill>
            <a:srgbClr val="CBD5E1"/>
          </a:solidFill>
          <a:ln/>
        </p:spPr>
      </p:sp>
      <p:sp>
        <p:nvSpPr>
          <p:cNvPr id="32" name="Text 30"/>
          <p:cNvSpPr txBox="1"/>
          <p:nvPr/>
        </p:nvSpPr>
        <p:spPr>
          <a:xfrm>
            <a:off x="2011680" y="3099816"/>
            <a:ext cx="274320" cy="274320"/>
          </a:xfrm>
          <a:prstGeom prst="rect">
            <a:avLst/>
          </a:prstGeom>
          <a:noFill/>
          <a:ln/>
        </p:spPr>
        <p:txBody>
          <a:bodyPr wrap="square" lIns="0" tIns="0" rIns="0" bIns="0" rtlCol="0" anchor="t"/>
          <a:lstStyle/>
          <a:p>
            <a:pPr algn="ctr" indent="0" marL="0">
              <a:buNone/>
            </a:pPr>
            <a:r>
              <a:rPr lang="en-US" sz="1400" b="1" dirty="0">
                <a:solidFill>
                  <a:srgbClr val="E11D48"/>
                </a:solidFill>
                <a:latin typeface="Inter" pitchFamily="34" charset="0"/>
                <a:ea typeface="Inter" pitchFamily="34" charset="-122"/>
                <a:cs typeface="Inter" pitchFamily="34" charset="-120"/>
              </a:rPr>
              <a:t>−</a:t>
            </a:r>
            <a:endParaRPr lang="en-US" sz="1400" dirty="0"/>
          </a:p>
        </p:txBody>
      </p:sp>
      <p:sp>
        <p:nvSpPr>
          <p:cNvPr id="33" name="Text 31"/>
          <p:cNvSpPr txBox="1"/>
          <p:nvPr/>
        </p:nvSpPr>
        <p:spPr>
          <a:xfrm>
            <a:off x="3291840" y="3099816"/>
            <a:ext cx="274320" cy="274320"/>
          </a:xfrm>
          <a:prstGeom prst="rect">
            <a:avLst/>
          </a:prstGeom>
          <a:noFill/>
          <a:ln/>
        </p:spPr>
        <p:txBody>
          <a:bodyPr wrap="square" lIns="0" tIns="0" rIns="0" bIns="0" rtlCol="0" anchor="t"/>
          <a:lstStyle/>
          <a:p>
            <a:pPr algn="ctr" indent="0" marL="0">
              <a:buNone/>
            </a:pPr>
            <a:r>
              <a:rPr lang="en-US" sz="1400" b="1" dirty="0">
                <a:solidFill>
                  <a:srgbClr val="0D9488"/>
                </a:solidFill>
                <a:latin typeface="Inter" pitchFamily="34" charset="0"/>
                <a:ea typeface="Inter" pitchFamily="34" charset="-122"/>
                <a:cs typeface="Inter" pitchFamily="34" charset="-120"/>
              </a:rPr>
              <a:t>+</a:t>
            </a:r>
            <a:endParaRPr lang="en-US" sz="1400" dirty="0"/>
          </a:p>
        </p:txBody>
      </p:sp>
      <p:sp>
        <p:nvSpPr>
          <p:cNvPr id="34" name="anim-1-spp54-450-16~anim-3-spp36-450-17"/>
          <p:cNvSpPr/>
          <p:nvPr/>
        </p:nvSpPr>
        <p:spPr>
          <a:xfrm rot="-1350000">
            <a:off x="2346350" y="2254910"/>
            <a:ext cx="885139" cy="885139"/>
          </a:xfrm>
          <a:prstGeom prst="pie">
            <a:avLst>
              <a:gd name="adj1" fmla="val 15780000"/>
              <a:gd name="adj2" fmla="val 16620000"/>
            </a:avLst>
          </a:prstGeom>
          <a:solidFill>
            <a:srgbClr val="7C3AED"/>
          </a:solidFill>
          <a:ln/>
        </p:spPr>
      </p:sp>
      <p:sp>
        <p:nvSpPr>
          <p:cNvPr id="35" name="Shape 33"/>
          <p:cNvSpPr/>
          <p:nvPr/>
        </p:nvSpPr>
        <p:spPr>
          <a:xfrm>
            <a:off x="2697480" y="2606040"/>
            <a:ext cx="182880" cy="182880"/>
          </a:xfrm>
          <a:prstGeom prst="ellipse">
            <a:avLst/>
          </a:prstGeom>
          <a:solidFill>
            <a:srgbClr val="0F172A"/>
          </a:solidFill>
          <a:ln/>
        </p:spPr>
      </p:sp>
      <p:sp>
        <p:nvSpPr>
          <p:cNvPr id="36" name="Text 34"/>
          <p:cNvSpPr txBox="1"/>
          <p:nvPr/>
        </p:nvSpPr>
        <p:spPr>
          <a:xfrm>
            <a:off x="2240280" y="3401568"/>
            <a:ext cx="1097280" cy="237744"/>
          </a:xfrm>
          <a:prstGeom prst="rect">
            <a:avLst/>
          </a:prstGeom>
          <a:noFill/>
          <a:ln/>
        </p:spPr>
        <p:txBody>
          <a:bodyPr wrap="square" lIns="0" tIns="0" rIns="0" bIns="0" rtlCol="0" anchor="t"/>
          <a:lstStyle/>
          <a:p>
            <a:pPr algn="ctr" indent="0" marL="0">
              <a:buNone/>
            </a:pPr>
            <a:r>
              <a:rPr lang="en-US" sz="1200" b="1" dirty="0">
                <a:solidFill>
                  <a:srgbClr val="0F172A"/>
                </a:solidFill>
                <a:latin typeface="Inter" pitchFamily="34" charset="0"/>
                <a:ea typeface="Inter" pitchFamily="34" charset="-122"/>
                <a:cs typeface="Inter" pitchFamily="34" charset="-120"/>
              </a:rPr>
              <a:t>warm?</a:t>
            </a:r>
            <a:endParaRPr lang="en-US" sz="1200" dirty="0"/>
          </a:p>
        </p:txBody>
      </p:sp>
      <p:sp>
        <p:nvSpPr>
          <p:cNvPr id="37" name="Text 35"/>
          <p:cNvSpPr txBox="1"/>
          <p:nvPr/>
        </p:nvSpPr>
        <p:spPr>
          <a:xfrm>
            <a:off x="2240280" y="3639312"/>
            <a:ext cx="1097280" cy="201168"/>
          </a:xfrm>
          <a:prstGeom prst="rect">
            <a:avLst/>
          </a:prstGeom>
          <a:noFill/>
          <a:ln/>
        </p:spPr>
        <p:txBody>
          <a:bodyPr wrap="square" lIns="0" tIns="0" rIns="0" bIns="0" rtlCol="0" anchor="t"/>
          <a:lstStyle/>
          <a:p>
            <a:pPr algn="ctr" indent="0" marL="0">
              <a:buNone/>
            </a:pPr>
            <a:r>
              <a:rPr lang="en-US" sz="950" dirty="0">
                <a:solidFill>
                  <a:srgbClr val="64748B"/>
                </a:solidFill>
                <a:latin typeface="Inter" pitchFamily="34" charset="0"/>
                <a:ea typeface="Inter" pitchFamily="34" charset="-122"/>
                <a:cs typeface="Inter" pitchFamily="34" charset="-120"/>
              </a:rPr>
              <a:t>start −0.5</a:t>
            </a:r>
            <a:endParaRPr lang="en-US" sz="950" dirty="0"/>
          </a:p>
        </p:txBody>
      </p:sp>
      <p:sp>
        <p:nvSpPr>
          <p:cNvPr id="38" name="Shape 36"/>
          <p:cNvSpPr/>
          <p:nvPr/>
        </p:nvSpPr>
        <p:spPr>
          <a:xfrm>
            <a:off x="3840480" y="2194560"/>
            <a:ext cx="1005840" cy="1005840"/>
          </a:xfrm>
          <a:prstGeom prst="ellipse">
            <a:avLst/>
          </a:prstGeom>
          <a:solidFill>
            <a:srgbClr val="FFFFFF"/>
          </a:solidFill>
          <a:ln w="31750">
            <a:solidFill>
              <a:srgbClr val="A78BFA"/>
            </a:solidFill>
            <a:prstDash val="solid"/>
          </a:ln>
        </p:spPr>
      </p:sp>
      <p:sp>
        <p:nvSpPr>
          <p:cNvPr id="39" name="Shape 37"/>
          <p:cNvSpPr/>
          <p:nvPr/>
        </p:nvSpPr>
        <p:spPr>
          <a:xfrm>
            <a:off x="3880867" y="3114293"/>
            <a:ext cx="45720" cy="45720"/>
          </a:xfrm>
          <a:prstGeom prst="ellipse">
            <a:avLst/>
          </a:prstGeom>
          <a:solidFill>
            <a:srgbClr val="CBD5E1"/>
          </a:solidFill>
          <a:ln/>
        </p:spPr>
      </p:sp>
      <p:sp>
        <p:nvSpPr>
          <p:cNvPr id="40" name="Shape 38"/>
          <p:cNvSpPr/>
          <p:nvPr/>
        </p:nvSpPr>
        <p:spPr>
          <a:xfrm>
            <a:off x="3698748" y="2674620"/>
            <a:ext cx="45720" cy="45720"/>
          </a:xfrm>
          <a:prstGeom prst="ellipse">
            <a:avLst/>
          </a:prstGeom>
          <a:solidFill>
            <a:srgbClr val="CBD5E1"/>
          </a:solidFill>
          <a:ln/>
        </p:spPr>
      </p:sp>
      <p:sp>
        <p:nvSpPr>
          <p:cNvPr id="41" name="Shape 39"/>
          <p:cNvSpPr/>
          <p:nvPr/>
        </p:nvSpPr>
        <p:spPr>
          <a:xfrm>
            <a:off x="3880867" y="2234947"/>
            <a:ext cx="45720" cy="45720"/>
          </a:xfrm>
          <a:prstGeom prst="ellipse">
            <a:avLst/>
          </a:prstGeom>
          <a:solidFill>
            <a:srgbClr val="CBD5E1"/>
          </a:solidFill>
          <a:ln/>
        </p:spPr>
      </p:sp>
      <p:sp>
        <p:nvSpPr>
          <p:cNvPr id="42" name="Shape 40"/>
          <p:cNvSpPr/>
          <p:nvPr/>
        </p:nvSpPr>
        <p:spPr>
          <a:xfrm>
            <a:off x="4311396" y="2043684"/>
            <a:ext cx="64008" cy="64008"/>
          </a:xfrm>
          <a:prstGeom prst="ellipse">
            <a:avLst/>
          </a:prstGeom>
          <a:solidFill>
            <a:srgbClr val="64748B"/>
          </a:solidFill>
          <a:ln/>
        </p:spPr>
      </p:sp>
      <p:sp>
        <p:nvSpPr>
          <p:cNvPr id="43" name="Shape 41"/>
          <p:cNvSpPr/>
          <p:nvPr/>
        </p:nvSpPr>
        <p:spPr>
          <a:xfrm>
            <a:off x="4760213" y="2234947"/>
            <a:ext cx="45720" cy="45720"/>
          </a:xfrm>
          <a:prstGeom prst="ellipse">
            <a:avLst/>
          </a:prstGeom>
          <a:solidFill>
            <a:srgbClr val="CBD5E1"/>
          </a:solidFill>
          <a:ln/>
        </p:spPr>
      </p:sp>
      <p:sp>
        <p:nvSpPr>
          <p:cNvPr id="44" name="Shape 42"/>
          <p:cNvSpPr/>
          <p:nvPr/>
        </p:nvSpPr>
        <p:spPr>
          <a:xfrm>
            <a:off x="4942332" y="2674620"/>
            <a:ext cx="45720" cy="45720"/>
          </a:xfrm>
          <a:prstGeom prst="ellipse">
            <a:avLst/>
          </a:prstGeom>
          <a:solidFill>
            <a:srgbClr val="CBD5E1"/>
          </a:solidFill>
          <a:ln/>
        </p:spPr>
      </p:sp>
      <p:sp>
        <p:nvSpPr>
          <p:cNvPr id="45" name="Shape 43"/>
          <p:cNvSpPr/>
          <p:nvPr/>
        </p:nvSpPr>
        <p:spPr>
          <a:xfrm>
            <a:off x="4760213" y="3114293"/>
            <a:ext cx="45720" cy="45720"/>
          </a:xfrm>
          <a:prstGeom prst="ellipse">
            <a:avLst/>
          </a:prstGeom>
          <a:solidFill>
            <a:srgbClr val="CBD5E1"/>
          </a:solidFill>
          <a:ln/>
        </p:spPr>
      </p:sp>
      <p:sp>
        <p:nvSpPr>
          <p:cNvPr id="46" name="Text 44"/>
          <p:cNvSpPr txBox="1"/>
          <p:nvPr/>
        </p:nvSpPr>
        <p:spPr>
          <a:xfrm>
            <a:off x="3566160" y="3099816"/>
            <a:ext cx="274320" cy="274320"/>
          </a:xfrm>
          <a:prstGeom prst="rect">
            <a:avLst/>
          </a:prstGeom>
          <a:noFill/>
          <a:ln/>
        </p:spPr>
        <p:txBody>
          <a:bodyPr wrap="square" lIns="0" tIns="0" rIns="0" bIns="0" rtlCol="0" anchor="t"/>
          <a:lstStyle/>
          <a:p>
            <a:pPr algn="ctr" indent="0" marL="0">
              <a:buNone/>
            </a:pPr>
            <a:r>
              <a:rPr lang="en-US" sz="1400" b="1" dirty="0">
                <a:solidFill>
                  <a:srgbClr val="E11D48"/>
                </a:solidFill>
                <a:latin typeface="Inter" pitchFamily="34" charset="0"/>
                <a:ea typeface="Inter" pitchFamily="34" charset="-122"/>
                <a:cs typeface="Inter" pitchFamily="34" charset="-120"/>
              </a:rPr>
              <a:t>−</a:t>
            </a:r>
            <a:endParaRPr lang="en-US" sz="1400" dirty="0"/>
          </a:p>
        </p:txBody>
      </p:sp>
      <p:sp>
        <p:nvSpPr>
          <p:cNvPr id="47" name="Text 45"/>
          <p:cNvSpPr txBox="1"/>
          <p:nvPr/>
        </p:nvSpPr>
        <p:spPr>
          <a:xfrm>
            <a:off x="4846320" y="3099816"/>
            <a:ext cx="274320" cy="274320"/>
          </a:xfrm>
          <a:prstGeom prst="rect">
            <a:avLst/>
          </a:prstGeom>
          <a:noFill/>
          <a:ln/>
        </p:spPr>
        <p:txBody>
          <a:bodyPr wrap="square" lIns="0" tIns="0" rIns="0" bIns="0" rtlCol="0" anchor="t"/>
          <a:lstStyle/>
          <a:p>
            <a:pPr algn="ctr" indent="0" marL="0">
              <a:buNone/>
            </a:pPr>
            <a:r>
              <a:rPr lang="en-US" sz="1400" b="1" dirty="0">
                <a:solidFill>
                  <a:srgbClr val="0D9488"/>
                </a:solidFill>
                <a:latin typeface="Inter" pitchFamily="34" charset="0"/>
                <a:ea typeface="Inter" pitchFamily="34" charset="-122"/>
                <a:cs typeface="Inter" pitchFamily="34" charset="-120"/>
              </a:rPr>
              <a:t>+</a:t>
            </a:r>
            <a:endParaRPr lang="en-US" sz="1400" dirty="0"/>
          </a:p>
        </p:txBody>
      </p:sp>
      <p:sp>
        <p:nvSpPr>
          <p:cNvPr id="48" name="anim-2-spn117-600-18~anim-3-spn23-600-19"/>
          <p:cNvSpPr/>
          <p:nvPr/>
        </p:nvSpPr>
        <p:spPr>
          <a:xfrm rot="1620000">
            <a:off x="3900830" y="2254910"/>
            <a:ext cx="885139" cy="885139"/>
          </a:xfrm>
          <a:prstGeom prst="pie">
            <a:avLst>
              <a:gd name="adj1" fmla="val 15780000"/>
              <a:gd name="adj2" fmla="val 16620000"/>
            </a:avLst>
          </a:prstGeom>
          <a:solidFill>
            <a:srgbClr val="7C3AED"/>
          </a:solidFill>
          <a:ln/>
        </p:spPr>
      </p:sp>
      <p:sp>
        <p:nvSpPr>
          <p:cNvPr id="49" name="Shape 47"/>
          <p:cNvSpPr/>
          <p:nvPr/>
        </p:nvSpPr>
        <p:spPr>
          <a:xfrm>
            <a:off x="4251960" y="2606040"/>
            <a:ext cx="182880" cy="182880"/>
          </a:xfrm>
          <a:prstGeom prst="ellipse">
            <a:avLst/>
          </a:prstGeom>
          <a:solidFill>
            <a:srgbClr val="0F172A"/>
          </a:solidFill>
          <a:ln/>
        </p:spPr>
      </p:sp>
      <p:sp>
        <p:nvSpPr>
          <p:cNvPr id="50" name="Text 48"/>
          <p:cNvSpPr txBox="1"/>
          <p:nvPr/>
        </p:nvSpPr>
        <p:spPr>
          <a:xfrm>
            <a:off x="3794760" y="3401568"/>
            <a:ext cx="1097280" cy="237744"/>
          </a:xfrm>
          <a:prstGeom prst="rect">
            <a:avLst/>
          </a:prstGeom>
          <a:noFill/>
          <a:ln/>
        </p:spPr>
        <p:txBody>
          <a:bodyPr wrap="square" lIns="0" tIns="0" rIns="0" bIns="0" rtlCol="0" anchor="t"/>
          <a:lstStyle/>
          <a:p>
            <a:pPr algn="ctr" indent="0" marL="0">
              <a:buNone/>
            </a:pPr>
            <a:r>
              <a:rPr lang="en-US" sz="1200" b="1" dirty="0">
                <a:solidFill>
                  <a:srgbClr val="0F172A"/>
                </a:solidFill>
                <a:latin typeface="Inter" pitchFamily="34" charset="0"/>
                <a:ea typeface="Inter" pitchFamily="34" charset="-122"/>
                <a:cs typeface="Inter" pitchFamily="34" charset="-120"/>
              </a:rPr>
              <a:t>wet?</a:t>
            </a:r>
            <a:endParaRPr lang="en-US" sz="1200" dirty="0"/>
          </a:p>
        </p:txBody>
      </p:sp>
      <p:sp>
        <p:nvSpPr>
          <p:cNvPr id="51" name="Text 49"/>
          <p:cNvSpPr txBox="1"/>
          <p:nvPr/>
        </p:nvSpPr>
        <p:spPr>
          <a:xfrm>
            <a:off x="3794760" y="3639312"/>
            <a:ext cx="1097280" cy="201168"/>
          </a:xfrm>
          <a:prstGeom prst="rect">
            <a:avLst/>
          </a:prstGeom>
          <a:noFill/>
          <a:ln/>
        </p:spPr>
        <p:txBody>
          <a:bodyPr wrap="square" lIns="0" tIns="0" rIns="0" bIns="0" rtlCol="0" anchor="t"/>
          <a:lstStyle/>
          <a:p>
            <a:pPr algn="ctr" indent="0" marL="0">
              <a:buNone/>
            </a:pPr>
            <a:r>
              <a:rPr lang="en-US" sz="950" dirty="0">
                <a:solidFill>
                  <a:srgbClr val="64748B"/>
                </a:solidFill>
                <a:latin typeface="Inter" pitchFamily="34" charset="0"/>
                <a:ea typeface="Inter" pitchFamily="34" charset="-122"/>
                <a:cs typeface="Inter" pitchFamily="34" charset="-120"/>
              </a:rPr>
              <a:t>start +0.6</a:t>
            </a:r>
            <a:endParaRPr lang="en-US" sz="950" dirty="0"/>
          </a:p>
        </p:txBody>
      </p:sp>
      <p:sp>
        <p:nvSpPr>
          <p:cNvPr id="52" name="Text 50"/>
          <p:cNvSpPr/>
          <p:nvPr/>
        </p:nvSpPr>
        <p:spPr>
          <a:xfrm>
            <a:off x="5394960" y="2423160"/>
            <a:ext cx="548640" cy="548640"/>
          </a:xfrm>
          <a:prstGeom prst="ellipse">
            <a:avLst>
              <a:gd name="adj" fmla="val 16667"/>
            </a:avLst>
          </a:prstGeom>
          <a:solidFill>
            <a:srgbClr val="7C3AED"/>
          </a:solid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Σ</a:t>
            </a:r>
            <a:endParaRPr lang="en-US" sz="1600" dirty="0"/>
          </a:p>
        </p:txBody>
      </p:sp>
      <p:sp>
        <p:nvSpPr>
          <p:cNvPr id="53" name="Shape 51"/>
          <p:cNvSpPr/>
          <p:nvPr/>
        </p:nvSpPr>
        <p:spPr>
          <a:xfrm>
            <a:off x="5971032" y="2697480"/>
            <a:ext cx="246888" cy="0"/>
          </a:xfrm>
          <a:prstGeom prst="line">
            <a:avLst/>
          </a:prstGeom>
          <a:noFill/>
          <a:ln w="19050">
            <a:solidFill>
              <a:srgbClr val="94A3B8"/>
            </a:solidFill>
            <a:prstDash val="solid"/>
            <a:tailEnd type="triangle"/>
          </a:ln>
        </p:spPr>
      </p:sp>
      <p:sp>
        <p:nvSpPr>
          <p:cNvPr id="54" name="Text 52"/>
          <p:cNvSpPr/>
          <p:nvPr/>
        </p:nvSpPr>
        <p:spPr>
          <a:xfrm>
            <a:off x="6263640" y="2331720"/>
            <a:ext cx="1188720" cy="731520"/>
          </a:xfrm>
          <a:prstGeom prst="roundRect">
            <a:avLst>
              <a:gd name="adj" fmla="val 12500"/>
            </a:avLst>
          </a:prstGeom>
          <a:solidFill>
            <a:srgbClr val="FFFFFF"/>
          </a:solidFill>
          <a:ln w="12700">
            <a:solidFill>
              <a:srgbClr val="CBD5E1"/>
            </a:solidFill>
          </a:ln>
        </p:spPr>
        <p:txBody>
          <a:bodyPr wrap="square" lIns="1016" tIns="1016" rIns="1016" bIns="1016" rtlCol="0" anchor="ctr"/>
          <a:lstStyle/>
          <a:p>
            <a:pPr algn="ctr" indent="0" marL="0">
              <a:buNone/>
            </a:pPr>
            <a:r>
              <a:rPr lang="en-US" sz="900" dirty="0">
                <a:solidFill>
                  <a:srgbClr val="64748B"/>
                </a:solidFill>
                <a:latin typeface="Inter" pitchFamily="34" charset="0"/>
                <a:ea typeface="Inter" pitchFamily="34" charset="-122"/>
                <a:cs typeface="Inter" pitchFamily="34" charset="-120"/>
              </a:rPr>
              <a:t>will sit?</a:t>
            </a:r>
            <a:endParaRPr lang="en-US" sz="1200" dirty="0"/>
          </a:p>
          <a:p>
            <a:pPr algn="ctr" indent="0" marL="0">
              <a:buNone/>
            </a:pPr>
            <a:r>
              <a:rPr lang="en-US" sz="1050" b="1" dirty="0">
                <a:solidFill>
                  <a:srgbClr val="0F172A"/>
                </a:solidFill>
                <a:latin typeface="Inter" pitchFamily="34" charset="0"/>
                <a:ea typeface="Inter" pitchFamily="34" charset="-122"/>
                <a:cs typeface="Inter" pitchFamily="34" charset="-120"/>
              </a:rPr>
              <a:t>a yes / no guess</a:t>
            </a:r>
            <a:endParaRPr lang="en-US" sz="1200" dirty="0"/>
          </a:p>
        </p:txBody>
      </p:sp>
      <p:sp>
        <p:nvSpPr>
          <p:cNvPr id="55" name="anim-1-rise-0-20"/>
          <p:cNvSpPr/>
          <p:nvPr/>
        </p:nvSpPr>
        <p:spPr>
          <a:xfrm>
            <a:off x="548640" y="3794760"/>
            <a:ext cx="6903720" cy="457200"/>
          </a:xfrm>
          <a:prstGeom prst="roundRect">
            <a:avLst>
              <a:gd name="adj" fmla="val 16000"/>
            </a:avLst>
          </a:prstGeom>
          <a:solidFill>
            <a:srgbClr val="F8FAFC"/>
          </a:solidFill>
          <a:ln w="12700">
            <a:solidFill>
              <a:srgbClr val="CBD5E1"/>
            </a:solidFill>
          </a:ln>
        </p:spPr>
        <p:txBody>
          <a:bodyPr wrap="square" lIns="127000" tIns="0" rIns="101600" bIns="0" rtlCol="0" anchor="ctr"/>
          <a:lstStyle/>
          <a:p>
            <a:pPr indent="0" marL="0">
              <a:buNone/>
            </a:pPr>
            <a:r>
              <a:rPr lang="en-US" sz="1050" b="1" dirty="0">
                <a:solidFill>
                  <a:srgbClr val="0F172A"/>
                </a:solidFill>
                <a:latin typeface="Inter" pitchFamily="34" charset="0"/>
                <a:ea typeface="Inter" pitchFamily="34" charset="-122"/>
                <a:cs typeface="Inter" pitchFamily="34" charset="-120"/>
              </a:rPr>
              <a:t>Example 1: Mat  </a:t>
            </a:r>
            <a:pPr indent="0" marL="0">
              <a:buNone/>
            </a:pPr>
            <a:r>
              <a:rPr lang="en-US" sz="1050" dirty="0">
                <a:solidFill>
                  <a:srgbClr val="64748B"/>
                </a:solidFill>
                <a:latin typeface="Inter" pitchFamily="34" charset="0"/>
                <a:ea typeface="Inter" pitchFamily="34" charset="-122"/>
                <a:cs typeface="Inter" pitchFamily="34" charset="-120"/>
              </a:rPr>
              <a:t>soft · warm · dry  ·  </a:t>
            </a:r>
            <a:pPr indent="0" marL="0">
              <a:buNone/>
            </a:pPr>
            <a:r>
              <a:rPr lang="en-US" sz="1050" b="1" dirty="0">
                <a:solidFill>
                  <a:srgbClr val="0D9488"/>
                </a:solidFill>
                <a:latin typeface="Inter" pitchFamily="34" charset="0"/>
                <a:ea typeface="Inter" pitchFamily="34" charset="-122"/>
                <a:cs typeface="Inter" pitchFamily="34" charset="-120"/>
              </a:rPr>
              <a:t>cat sat ✓  ·  </a:t>
            </a:r>
            <a:pPr indent="0" marL="0">
              <a:buNone/>
            </a:pPr>
            <a:r>
              <a:rPr lang="en-US" sz="1050" dirty="0">
                <a:solidFill>
                  <a:srgbClr val="334155"/>
                </a:solidFill>
                <a:latin typeface="Inter" pitchFamily="34" charset="0"/>
                <a:ea typeface="Inter" pitchFamily="34" charset="-122"/>
                <a:cs typeface="Inter" pitchFamily="34" charset="-120"/>
              </a:rPr>
              <a:t>model said 30%  </a:t>
            </a:r>
            <a:pPr indent="0" marL="0">
              <a:buNone/>
            </a:pPr>
            <a:r>
              <a:rPr lang="en-US" sz="1050" b="1" dirty="0">
                <a:solidFill>
                  <a:srgbClr val="7C3AED"/>
                </a:solidFill>
                <a:latin typeface="Inter" pitchFamily="34" charset="0"/>
                <a:ea typeface="Inter" pitchFamily="34" charset="-122"/>
                <a:cs typeface="Inter" pitchFamily="34" charset="-120"/>
              </a:rPr>
              <a:t>→ turn soft and warm up</a:t>
            </a:r>
            <a:endParaRPr lang="en-US" sz="1050" dirty="0"/>
          </a:p>
        </p:txBody>
      </p:sp>
      <p:sp>
        <p:nvSpPr>
          <p:cNvPr id="56" name="anim-2-rise-0-21"/>
          <p:cNvSpPr/>
          <p:nvPr/>
        </p:nvSpPr>
        <p:spPr>
          <a:xfrm>
            <a:off x="548640" y="4361688"/>
            <a:ext cx="6903720" cy="457200"/>
          </a:xfrm>
          <a:prstGeom prst="roundRect">
            <a:avLst>
              <a:gd name="adj" fmla="val 16000"/>
            </a:avLst>
          </a:prstGeom>
          <a:solidFill>
            <a:srgbClr val="F8FAFC"/>
          </a:solidFill>
          <a:ln w="12700">
            <a:solidFill>
              <a:srgbClr val="CBD5E1"/>
            </a:solidFill>
          </a:ln>
        </p:spPr>
        <p:txBody>
          <a:bodyPr wrap="square" lIns="127000" tIns="0" rIns="101600" bIns="0" rtlCol="0" anchor="ctr"/>
          <a:lstStyle/>
          <a:p>
            <a:pPr indent="0" marL="0">
              <a:buNone/>
            </a:pPr>
            <a:r>
              <a:rPr lang="en-US" sz="1050" b="1" dirty="0">
                <a:solidFill>
                  <a:srgbClr val="0F172A"/>
                </a:solidFill>
                <a:latin typeface="Inter" pitchFamily="34" charset="0"/>
                <a:ea typeface="Inter" pitchFamily="34" charset="-122"/>
                <a:cs typeface="Inter" pitchFamily="34" charset="-120"/>
              </a:rPr>
              <a:t>Example 2: Puddle  </a:t>
            </a:r>
            <a:pPr indent="0" marL="0">
              <a:buNone/>
            </a:pPr>
            <a:r>
              <a:rPr lang="en-US" sz="1050" dirty="0">
                <a:solidFill>
                  <a:srgbClr val="64748B"/>
                </a:solidFill>
                <a:latin typeface="Inter" pitchFamily="34" charset="0"/>
                <a:ea typeface="Inter" pitchFamily="34" charset="-122"/>
                <a:cs typeface="Inter" pitchFamily="34" charset="-120"/>
              </a:rPr>
              <a:t>wet · cold  ·  </a:t>
            </a:r>
            <a:pPr indent="0" marL="0">
              <a:buNone/>
            </a:pPr>
            <a:r>
              <a:rPr lang="en-US" sz="1050" b="1" dirty="0">
                <a:solidFill>
                  <a:srgbClr val="E11D48"/>
                </a:solidFill>
                <a:latin typeface="Inter" pitchFamily="34" charset="0"/>
                <a:ea typeface="Inter" pitchFamily="34" charset="-122"/>
                <a:cs typeface="Inter" pitchFamily="34" charset="-120"/>
              </a:rPr>
              <a:t>cat left ✗  ·  </a:t>
            </a:r>
            <a:pPr indent="0" marL="0">
              <a:buNone/>
            </a:pPr>
            <a:r>
              <a:rPr lang="en-US" sz="1050" dirty="0">
                <a:solidFill>
                  <a:srgbClr val="334155"/>
                </a:solidFill>
                <a:latin typeface="Inter" pitchFamily="34" charset="0"/>
                <a:ea typeface="Inter" pitchFamily="34" charset="-122"/>
                <a:cs typeface="Inter" pitchFamily="34" charset="-120"/>
              </a:rPr>
              <a:t>model said 55%  </a:t>
            </a:r>
            <a:pPr indent="0" marL="0">
              <a:buNone/>
            </a:pPr>
            <a:r>
              <a:rPr lang="en-US" sz="1050" b="1" dirty="0">
                <a:solidFill>
                  <a:srgbClr val="7C3AED"/>
                </a:solidFill>
                <a:latin typeface="Inter" pitchFamily="34" charset="0"/>
                <a:ea typeface="Inter" pitchFamily="34" charset="-122"/>
                <a:cs typeface="Inter" pitchFamily="34" charset="-120"/>
              </a:rPr>
              <a:t>→ turn wet way down</a:t>
            </a:r>
            <a:endParaRPr lang="en-US" sz="1050" dirty="0"/>
          </a:p>
        </p:txBody>
      </p:sp>
      <p:sp>
        <p:nvSpPr>
          <p:cNvPr id="57" name="anim-3-rise-0-22"/>
          <p:cNvSpPr/>
          <p:nvPr/>
        </p:nvSpPr>
        <p:spPr>
          <a:xfrm>
            <a:off x="548640" y="4928616"/>
            <a:ext cx="6903720" cy="457200"/>
          </a:xfrm>
          <a:prstGeom prst="roundRect">
            <a:avLst>
              <a:gd name="adj" fmla="val 16000"/>
            </a:avLst>
          </a:prstGeom>
          <a:solidFill>
            <a:srgbClr val="F8FAFC"/>
          </a:solidFill>
          <a:ln w="12700">
            <a:solidFill>
              <a:srgbClr val="CBD5E1"/>
            </a:solidFill>
          </a:ln>
        </p:spPr>
        <p:txBody>
          <a:bodyPr wrap="square" lIns="127000" tIns="0" rIns="101600" bIns="0" rtlCol="0" anchor="ctr"/>
          <a:lstStyle/>
          <a:p>
            <a:pPr indent="0" marL="0">
              <a:buNone/>
            </a:pPr>
            <a:r>
              <a:rPr lang="en-US" sz="1050" b="1" dirty="0">
                <a:solidFill>
                  <a:srgbClr val="0F172A"/>
                </a:solidFill>
                <a:latin typeface="Inter" pitchFamily="34" charset="0"/>
                <a:ea typeface="Inter" pitchFamily="34" charset="-122"/>
                <a:cs typeface="Inter" pitchFamily="34" charset="-120"/>
              </a:rPr>
              <a:t>Example 3: Sofa  </a:t>
            </a:r>
            <a:pPr indent="0" marL="0">
              <a:buNone/>
            </a:pPr>
            <a:r>
              <a:rPr lang="en-US" sz="1050" dirty="0">
                <a:solidFill>
                  <a:srgbClr val="64748B"/>
                </a:solidFill>
                <a:latin typeface="Inter" pitchFamily="34" charset="0"/>
                <a:ea typeface="Inter" pitchFamily="34" charset="-122"/>
                <a:cs typeface="Inter" pitchFamily="34" charset="-120"/>
              </a:rPr>
              <a:t>soft · warm · dry  ·  </a:t>
            </a:r>
            <a:pPr indent="0" marL="0">
              <a:buNone/>
            </a:pPr>
            <a:r>
              <a:rPr lang="en-US" sz="1050" b="1" dirty="0">
                <a:solidFill>
                  <a:srgbClr val="0D9488"/>
                </a:solidFill>
                <a:latin typeface="Inter" pitchFamily="34" charset="0"/>
                <a:ea typeface="Inter" pitchFamily="34" charset="-122"/>
                <a:cs typeface="Inter" pitchFamily="34" charset="-120"/>
              </a:rPr>
              <a:t>cat sat ✓  ·  </a:t>
            </a:r>
            <a:pPr indent="0" marL="0">
              <a:buNone/>
            </a:pPr>
            <a:r>
              <a:rPr lang="en-US" sz="1050" dirty="0">
                <a:solidFill>
                  <a:srgbClr val="334155"/>
                </a:solidFill>
                <a:latin typeface="Inter" pitchFamily="34" charset="0"/>
                <a:ea typeface="Inter" pitchFamily="34" charset="-122"/>
                <a:cs typeface="Inter" pitchFamily="34" charset="-120"/>
              </a:rPr>
              <a:t>model said 85%  </a:t>
            </a:r>
            <a:pPr indent="0" marL="0">
              <a:buNone/>
            </a:pPr>
            <a:r>
              <a:rPr lang="en-US" sz="1050" b="1" dirty="0">
                <a:solidFill>
                  <a:srgbClr val="7C3AED"/>
                </a:solidFill>
                <a:latin typeface="Inter" pitchFamily="34" charset="0"/>
                <a:ea typeface="Inter" pitchFamily="34" charset="-122"/>
                <a:cs typeface="Inter" pitchFamily="34" charset="-120"/>
              </a:rPr>
              <a:t>→ small nudges; nearly right</a:t>
            </a:r>
            <a:endParaRPr lang="en-US" sz="1050" dirty="0"/>
          </a:p>
        </p:txBody>
      </p:sp>
      <p:sp>
        <p:nvSpPr>
          <p:cNvPr id="58" name="anim-4-rise-0-23"/>
          <p:cNvSpPr/>
          <p:nvPr/>
        </p:nvSpPr>
        <p:spPr>
          <a:xfrm>
            <a:off x="548640" y="5532120"/>
            <a:ext cx="6903720" cy="621792"/>
          </a:xfrm>
          <a:prstGeom prst="roundRect">
            <a:avLst>
              <a:gd name="adj" fmla="val 11765"/>
            </a:avLst>
          </a:prstGeom>
          <a:solidFill>
            <a:srgbClr val="EDE9FE"/>
          </a:solidFill>
          <a:ln/>
        </p:spPr>
        <p:txBody>
          <a:bodyPr wrap="square" lIns="152400" tIns="0" rIns="101600" bIns="0" rtlCol="0" anchor="ctr"/>
          <a:lstStyle/>
          <a:p>
            <a:pPr indent="0" marL="0">
              <a:buNone/>
            </a:pPr>
            <a:r>
              <a:rPr lang="en-US" sz="1150" b="1" dirty="0">
                <a:solidFill>
                  <a:srgbClr val="7C3AED"/>
                </a:solidFill>
                <a:latin typeface="Inter" pitchFamily="34" charset="0"/>
                <a:ea typeface="Inter" pitchFamily="34" charset="-122"/>
                <a:cs typeface="Inter" pitchFamily="34" charset="-120"/>
              </a:rPr>
              <a:t>After training:  soft +2.0 · warm +1.5 · wet −2.5</a:t>
            </a:r>
            <a:endParaRPr lang="en-US" sz="1150" dirty="0"/>
          </a:p>
          <a:p>
            <a:pPr indent="0" marL="0">
              <a:buNone/>
            </a:pPr>
            <a:r>
              <a:rPr lang="en-US" sz="1050" dirty="0">
                <a:solidFill>
                  <a:srgbClr val="334155"/>
                </a:solidFill>
                <a:latin typeface="Inter" pitchFamily="34" charset="0"/>
                <a:ea typeface="Inter" pitchFamily="34" charset="-122"/>
                <a:cs typeface="Inter" pitchFamily="34" charset="-120"/>
              </a:rPr>
              <a:t>Nobody wrote “cats like soft, warm, dry places”. It is stored in where the dials ended up.</a:t>
            </a:r>
            <a:endParaRPr lang="en-US" sz="1150" dirty="0"/>
          </a:p>
        </p:txBody>
      </p:sp>
      <p:sp>
        <p:nvSpPr>
          <p:cNvPr id="59" name="Text 57"/>
          <p:cNvSpPr/>
          <p:nvPr/>
        </p:nvSpPr>
        <p:spPr>
          <a:xfrm>
            <a:off x="7726680" y="1645920"/>
            <a:ext cx="3886200" cy="1280160"/>
          </a:xfrm>
          <a:prstGeom prst="roundRect">
            <a:avLst>
              <a:gd name="adj" fmla="val 7143"/>
            </a:avLst>
          </a:prstGeom>
          <a:solidFill>
            <a:srgbClr val="EDE9FE"/>
          </a:solidFill>
          <a:ln/>
        </p:spPr>
        <p:txBody>
          <a:bodyPr wrap="square" lIns="127000" tIns="152400" rIns="152400" bIns="127000" rtlCol="0" anchor="t"/>
          <a:lstStyle/>
          <a:p>
            <a:pPr indent="0" marL="0">
              <a:buNone/>
            </a:pPr>
            <a:r>
              <a:rPr lang="en-US" sz="1200" b="1" dirty="0">
                <a:solidFill>
                  <a:srgbClr val="7C3AED"/>
                </a:solidFill>
                <a:latin typeface="Inter" pitchFamily="34" charset="0"/>
                <a:ea typeface="Inter" pitchFamily="34" charset="-122"/>
                <a:cs typeface="Inter" pitchFamily="34" charset="-120"/>
              </a:rPr>
              <a:t>A weight = how much an input matters</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Turned to + : pushes the answer toward yes.</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Turned to − : pushes toward no.   Near 0 : ignored.</a:t>
            </a:r>
            <a:endParaRPr lang="en-US" sz="1200" dirty="0"/>
          </a:p>
        </p:txBody>
      </p:sp>
      <p:sp>
        <p:nvSpPr>
          <p:cNvPr id="60" name="anim-1-rise-900-24"/>
          <p:cNvSpPr/>
          <p:nvPr/>
        </p:nvSpPr>
        <p:spPr>
          <a:xfrm>
            <a:off x="7726680" y="3063240"/>
            <a:ext cx="3886200" cy="1417320"/>
          </a:xfrm>
          <a:prstGeom prst="roundRect">
            <a:avLst>
              <a:gd name="adj" fmla="val 6452"/>
            </a:avLst>
          </a:prstGeom>
          <a:solidFill>
            <a:srgbClr val="DBEAFE"/>
          </a:solidFill>
          <a:ln/>
        </p:spPr>
        <p:txBody>
          <a:bodyPr wrap="square" lIns="127000" tIns="152400" rIns="152400" bIns="127000" rtlCol="0" anchor="t"/>
          <a:lstStyle/>
          <a:p>
            <a:pPr indent="0" marL="0">
              <a:buNone/>
            </a:pPr>
            <a:r>
              <a:rPr lang="en-US" sz="1200" b="1" dirty="0">
                <a:solidFill>
                  <a:srgbClr val="2563EB"/>
                </a:solidFill>
                <a:latin typeface="Inter" pitchFamily="34" charset="0"/>
                <a:ea typeface="Inter" pitchFamily="34" charset="-122"/>
                <a:cs typeface="Inter" pitchFamily="34" charset="-120"/>
              </a:rPr>
              <a:t>Learning = turning dials</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After each example, every dial turns a little in the direction that would have shrunk the error.</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Bigger mistake → bigger turn.</a:t>
            </a:r>
            <a:endParaRPr lang="en-US" sz="1200" dirty="0"/>
          </a:p>
        </p:txBody>
      </p:sp>
      <p:sp>
        <p:nvSpPr>
          <p:cNvPr id="61" name="anim-4-rise-300-25"/>
          <p:cNvSpPr/>
          <p:nvPr/>
        </p:nvSpPr>
        <p:spPr>
          <a:xfrm>
            <a:off x="7726680" y="4617720"/>
            <a:ext cx="3886200" cy="1536192"/>
          </a:xfrm>
          <a:prstGeom prst="roundRect">
            <a:avLst>
              <a:gd name="adj" fmla="val 5952"/>
            </a:avLst>
          </a:prstGeom>
          <a:solidFill>
            <a:srgbClr val="F1F5F9"/>
          </a:solidFill>
          <a:ln/>
        </p:spPr>
        <p:txBody>
          <a:bodyPr wrap="square" lIns="127000" tIns="152400" rIns="152400" bIns="127000" rtlCol="0" anchor="t"/>
          <a:lstStyle/>
          <a:p>
            <a:pPr indent="0" marL="0">
              <a:buNone/>
            </a:pPr>
            <a:r>
              <a:rPr lang="en-US" sz="1200" b="1" dirty="0">
                <a:solidFill>
                  <a:srgbClr val="0F172A"/>
                </a:solidFill>
                <a:latin typeface="Inter" pitchFamily="34" charset="0"/>
                <a:ea typeface="Inter" pitchFamily="34" charset="-122"/>
                <a:cs typeface="Inter" pitchFamily="34" charset="-120"/>
              </a:rPr>
              <a:t>Same idea, enormous scale</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This toy has 3 dials. GPT-2 small has 124 million. Frontier LLMs have hundreds of billions.</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The calculus that says which way to turn each dial is called backpropagation.</a:t>
            </a:r>
            <a:endParaRPr lang="en-US" sz="12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anim calcmode="lin" valueType="num">
                                      <p:cBhvr>
                                        <p:cTn id="8" dur="500" fill="hold"/>
                                        <p:tgtEl>
                                          <p:spTgt spid="55"/>
                                        </p:tgtEl>
                                        <p:attrNameLst>
                                          <p:attrName>ppt_x</p:attrName>
                                        </p:attrNameLst>
                                      </p:cBhvr>
                                      <p:tavLst>
                                        <p:tav tm="0">
                                          <p:val>
                                            <p:strVal val="#ppt_x"/>
                                          </p:val>
                                        </p:tav>
                                        <p:tav tm="100000">
                                          <p:val>
                                            <p:strVal val="#ppt_x"/>
                                          </p:val>
                                        </p:tav>
                                      </p:tavLst>
                                    </p:anim>
                                    <p:anim calcmode="lin" valueType="num">
                                      <p:cBhvr>
                                        <p:cTn id="9" dur="500" fill="hold"/>
                                        <p:tgtEl>
                                          <p:spTgt spid="55"/>
                                        </p:tgtEl>
                                        <p:attrNameLst>
                                          <p:attrName>ppt_y</p:attrName>
                                        </p:attrNameLst>
                                      </p:cBhvr>
                                      <p:tavLst>
                                        <p:tav tm="0">
                                          <p:val>
                                            <p:strVal val="#ppt_y+0.06"/>
                                          </p:val>
                                        </p:tav>
                                        <p:tav tm="100000">
                                          <p:val>
                                            <p:strVal val="#ppt_y"/>
                                          </p:val>
                                        </p:tav>
                                      </p:tavLst>
                                    </p:anim>
                                  </p:childTnLst>
                                </p:cTn>
                              </p:par>
                              <p:par>
                                <p:cTn id="10" presetID="8" presetClass="emph" presetSubtype="0" accel="30000" decel="30000" fill="hold" grpId="0" nodeType="withEffect">
                                  <p:stCondLst>
                                    <p:cond delay="300"/>
                                  </p:stCondLst>
                                  <p:childTnLst>
                                    <p:animRot by="2700000">
                                      <p:cBhvr>
                                        <p:cTn id="11" dur="1000" fill="hold"/>
                                        <p:tgtEl>
                                          <p:spTgt spid="20"/>
                                        </p:tgtEl>
                                        <p:attrNameLst>
                                          <p:attrName>r</p:attrName>
                                        </p:attrNameLst>
                                      </p:cBhvr>
                                    </p:animRot>
                                  </p:childTnLst>
                                </p:cTn>
                              </p:par>
                              <p:par>
                                <p:cTn id="12" presetID="8" presetClass="emph" presetSubtype="0" accel="30000" decel="30000" fill="hold" grpId="0" nodeType="withEffect">
                                  <p:stCondLst>
                                    <p:cond delay="450"/>
                                  </p:stCondLst>
                                  <p:childTnLst>
                                    <p:animRot by="3240000">
                                      <p:cBhvr>
                                        <p:cTn id="13" dur="1000" fill="hold"/>
                                        <p:tgtEl>
                                          <p:spTgt spid="34"/>
                                        </p:tgtEl>
                                        <p:attrNameLst>
                                          <p:attrName>r</p:attrName>
                                        </p:attrNameLst>
                                      </p:cBhvr>
                                    </p:animRot>
                                  </p:childTnLst>
                                </p:cTn>
                              </p:par>
                              <p:par>
                                <p:cTn id="15" presetID="42" presetClass="entr" presetSubtype="0" fill="hold" grpId="0" nodeType="withEffect">
                                  <p:stCondLst>
                                    <p:cond delay="900"/>
                                  </p:stCondLst>
                                  <p:childTnLst>
                                    <p:set>
                                      <p:cBhvr>
                                        <p:cTn id="14" dur="1" fill="hold">
                                          <p:stCondLst>
                                            <p:cond delay="0"/>
                                          </p:stCondLst>
                                        </p:cTn>
                                        <p:tgtEl>
                                          <p:spTgt spid="60"/>
                                        </p:tgtEl>
                                        <p:attrNameLst>
                                          <p:attrName>style.visibility</p:attrName>
                                        </p:attrNameLst>
                                      </p:cBhvr>
                                      <p:to>
                                        <p:strVal val="visible"/>
                                      </p:to>
                                    </p:set>
                                    <p:animEffect transition="in" filter="fade">
                                      <p:cBhvr>
                                        <p:cTn id="16" dur="500"/>
                                        <p:tgtEl>
                                          <p:spTgt spid="60"/>
                                        </p:tgtEl>
                                      </p:cBhvr>
                                    </p:animEffect>
                                    <p:anim calcmode="lin" valueType="num">
                                      <p:cBhvr>
                                        <p:cTn id="17" dur="500" fill="hold"/>
                                        <p:tgtEl>
                                          <p:spTgt spid="60"/>
                                        </p:tgtEl>
                                        <p:attrNameLst>
                                          <p:attrName>ppt_x</p:attrName>
                                        </p:attrNameLst>
                                      </p:cBhvr>
                                      <p:tavLst>
                                        <p:tav tm="0">
                                          <p:val>
                                            <p:strVal val="#ppt_x"/>
                                          </p:val>
                                        </p:tav>
                                        <p:tav tm="100000">
                                          <p:val>
                                            <p:strVal val="#ppt_x"/>
                                          </p:val>
                                        </p:tav>
                                      </p:tavLst>
                                    </p:anim>
                                    <p:anim calcmode="lin" valueType="num">
                                      <p:cBhvr>
                                        <p:cTn id="18" dur="500" fill="hold"/>
                                        <p:tgtEl>
                                          <p:spTgt spid="60"/>
                                        </p:tgtEl>
                                        <p:attrNameLst>
                                          <p:attrName>ppt_y</p:attrName>
                                        </p:attrNameLst>
                                      </p:cBhvr>
                                      <p:tavLst>
                                        <p:tav tm="0">
                                          <p:val>
                                            <p:strVal val="#ppt_y+0.06"/>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2" presetID="42"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anim calcmode="lin" valueType="num">
                                      <p:cBhvr>
                                        <p:cTn id="24" dur="500" fill="hold"/>
                                        <p:tgtEl>
                                          <p:spTgt spid="56"/>
                                        </p:tgtEl>
                                        <p:attrNameLst>
                                          <p:attrName>ppt_x</p:attrName>
                                        </p:attrNameLst>
                                      </p:cBhvr>
                                      <p:tavLst>
                                        <p:tav tm="0">
                                          <p:val>
                                            <p:strVal val="#ppt_x"/>
                                          </p:val>
                                        </p:tav>
                                        <p:tav tm="100000">
                                          <p:val>
                                            <p:strVal val="#ppt_x"/>
                                          </p:val>
                                        </p:tav>
                                      </p:tavLst>
                                    </p:anim>
                                    <p:anim calcmode="lin" valueType="num">
                                      <p:cBhvr>
                                        <p:cTn id="25" dur="500" fill="hold"/>
                                        <p:tgtEl>
                                          <p:spTgt spid="56"/>
                                        </p:tgtEl>
                                        <p:attrNameLst>
                                          <p:attrName>ppt_y</p:attrName>
                                        </p:attrNameLst>
                                      </p:cBhvr>
                                      <p:tavLst>
                                        <p:tav tm="0">
                                          <p:val>
                                            <p:strVal val="#ppt_y+0.06"/>
                                          </p:val>
                                        </p:tav>
                                        <p:tav tm="100000">
                                          <p:val>
                                            <p:strVal val="#ppt_y"/>
                                          </p:val>
                                        </p:tav>
                                      </p:tavLst>
                                    </p:anim>
                                  </p:childTnLst>
                                </p:cTn>
                              </p:par>
                              <p:par>
                                <p:cTn id="26" presetID="8" presetClass="emph" presetSubtype="0" accel="30000" decel="30000" fill="hold" grpId="0" nodeType="withEffect">
                                  <p:stCondLst>
                                    <p:cond delay="600"/>
                                  </p:stCondLst>
                                  <p:childTnLst>
                                    <p:animRot by="-7020000">
                                      <p:cBhvr>
                                        <p:cTn id="27" dur="1000" fill="hold"/>
                                        <p:tgtEl>
                                          <p:spTgt spid="48"/>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1" presetID="42" presetClass="entr" presetSubtype="0"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anim calcmode="lin" valueType="num">
                                      <p:cBhvr>
                                        <p:cTn id="33" dur="500" fill="hold"/>
                                        <p:tgtEl>
                                          <p:spTgt spid="57"/>
                                        </p:tgtEl>
                                        <p:attrNameLst>
                                          <p:attrName>ppt_x</p:attrName>
                                        </p:attrNameLst>
                                      </p:cBhvr>
                                      <p:tavLst>
                                        <p:tav tm="0">
                                          <p:val>
                                            <p:strVal val="#ppt_x"/>
                                          </p:val>
                                        </p:tav>
                                        <p:tav tm="100000">
                                          <p:val>
                                            <p:strVal val="#ppt_x"/>
                                          </p:val>
                                        </p:tav>
                                      </p:tavLst>
                                    </p:anim>
                                    <p:anim calcmode="lin" valueType="num">
                                      <p:cBhvr>
                                        <p:cTn id="34" dur="500" fill="hold"/>
                                        <p:tgtEl>
                                          <p:spTgt spid="57"/>
                                        </p:tgtEl>
                                        <p:attrNameLst>
                                          <p:attrName>ppt_y</p:attrName>
                                        </p:attrNameLst>
                                      </p:cBhvr>
                                      <p:tavLst>
                                        <p:tav tm="0">
                                          <p:val>
                                            <p:strVal val="#ppt_y+0.06"/>
                                          </p:val>
                                        </p:tav>
                                        <p:tav tm="100000">
                                          <p:val>
                                            <p:strVal val="#ppt_y"/>
                                          </p:val>
                                        </p:tav>
                                      </p:tavLst>
                                    </p:anim>
                                  </p:childTnLst>
                                </p:cTn>
                              </p:par>
                              <p:par>
                                <p:cTn id="35" presetID="8" presetClass="emph" presetSubtype="0" accel="30000" decel="30000" fill="hold" grpId="0" nodeType="withEffect">
                                  <p:stCondLst>
                                    <p:cond delay="300"/>
                                  </p:stCondLst>
                                  <p:childTnLst>
                                    <p:animRot by="2160000">
                                      <p:cBhvr>
                                        <p:cTn id="36" dur="1000" fill="hold"/>
                                        <p:tgtEl>
                                          <p:spTgt spid="20"/>
                                        </p:tgtEl>
                                        <p:attrNameLst>
                                          <p:attrName>r</p:attrName>
                                        </p:attrNameLst>
                                      </p:cBhvr>
                                    </p:animRot>
                                  </p:childTnLst>
                                </p:cTn>
                              </p:par>
                              <p:par>
                                <p:cTn id="37" presetID="8" presetClass="emph" presetSubtype="0" accel="30000" decel="30000" fill="hold" grpId="0" nodeType="withEffect">
                                  <p:stCondLst>
                                    <p:cond delay="450"/>
                                  </p:stCondLst>
                                  <p:childTnLst>
                                    <p:animRot by="2160000">
                                      <p:cBhvr>
                                        <p:cTn id="38" dur="1000" fill="hold"/>
                                        <p:tgtEl>
                                          <p:spTgt spid="34"/>
                                        </p:tgtEl>
                                        <p:attrNameLst>
                                          <p:attrName>r</p:attrName>
                                        </p:attrNameLst>
                                      </p:cBhvr>
                                    </p:animRot>
                                  </p:childTnLst>
                                </p:cTn>
                              </p:par>
                              <p:par>
                                <p:cTn id="39" presetID="8" presetClass="emph" presetSubtype="0" accel="30000" decel="30000" fill="hold" grpId="0" nodeType="withEffect">
                                  <p:stCondLst>
                                    <p:cond delay="600"/>
                                  </p:stCondLst>
                                  <p:childTnLst>
                                    <p:animRot by="-1380000">
                                      <p:cBhvr>
                                        <p:cTn id="40" dur="1000" fill="hold"/>
                                        <p:tgtEl>
                                          <p:spTgt spid="48"/>
                                        </p:tgtEl>
                                        <p:attrNameLst>
                                          <p:attrName>r</p:attrName>
                                        </p:attrNameLst>
                                      </p:cBhvr>
                                    </p:animRot>
                                  </p:childTnLst>
                                </p:cTn>
                              </p:par>
                            </p:childTnLst>
                          </p:cTn>
                        </p:par>
                      </p:childTnLst>
                    </p:cTn>
                  </p:par>
                  <p:par>
                    <p:cTn id="41" fill="hold">
                      <p:stCondLst>
                        <p:cond delay="indefinite"/>
                      </p:stCondLst>
                      <p:childTnLst>
                        <p:par>
                          <p:cTn id="42" fill="hold">
                            <p:stCondLst>
                              <p:cond delay="0"/>
                            </p:stCondLst>
                            <p:childTnLst>
                              <p:par>
                                <p:cTn id="44" presetID="42" presetClass="entr" presetSubtype="0" fill="hold" grpId="0" nodeType="click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fade">
                                      <p:cBhvr>
                                        <p:cTn id="45" dur="500"/>
                                        <p:tgtEl>
                                          <p:spTgt spid="58"/>
                                        </p:tgtEl>
                                      </p:cBhvr>
                                    </p:animEffect>
                                    <p:anim calcmode="lin" valueType="num">
                                      <p:cBhvr>
                                        <p:cTn id="46" dur="500" fill="hold"/>
                                        <p:tgtEl>
                                          <p:spTgt spid="58"/>
                                        </p:tgtEl>
                                        <p:attrNameLst>
                                          <p:attrName>ppt_x</p:attrName>
                                        </p:attrNameLst>
                                      </p:cBhvr>
                                      <p:tavLst>
                                        <p:tav tm="0">
                                          <p:val>
                                            <p:strVal val="#ppt_x"/>
                                          </p:val>
                                        </p:tav>
                                        <p:tav tm="100000">
                                          <p:val>
                                            <p:strVal val="#ppt_x"/>
                                          </p:val>
                                        </p:tav>
                                      </p:tavLst>
                                    </p:anim>
                                    <p:anim calcmode="lin" valueType="num">
                                      <p:cBhvr>
                                        <p:cTn id="47" dur="500" fill="hold"/>
                                        <p:tgtEl>
                                          <p:spTgt spid="58"/>
                                        </p:tgtEl>
                                        <p:attrNameLst>
                                          <p:attrName>ppt_y</p:attrName>
                                        </p:attrNameLst>
                                      </p:cBhvr>
                                      <p:tavLst>
                                        <p:tav tm="0">
                                          <p:val>
                                            <p:strVal val="#ppt_y+0.06"/>
                                          </p:val>
                                        </p:tav>
                                        <p:tav tm="100000">
                                          <p:val>
                                            <p:strVal val="#ppt_y"/>
                                          </p:val>
                                        </p:tav>
                                      </p:tavLst>
                                    </p:anim>
                                  </p:childTnLst>
                                </p:cTn>
                              </p:par>
                              <p:par>
                                <p:cTn id="49" presetID="42" presetClass="entr" presetSubtype="0" fill="hold" grpId="0" nodeType="withEffect">
                                  <p:stCondLst>
                                    <p:cond delay="300"/>
                                  </p:stCondLst>
                                  <p:childTnLst>
                                    <p:set>
                                      <p:cBhvr>
                                        <p:cTn id="48" dur="1" fill="hold">
                                          <p:stCondLst>
                                            <p:cond delay="0"/>
                                          </p:stCondLst>
                                        </p:cTn>
                                        <p:tgtEl>
                                          <p:spTgt spid="61"/>
                                        </p:tgtEl>
                                        <p:attrNameLst>
                                          <p:attrName>style.visibility</p:attrName>
                                        </p:attrNameLst>
                                      </p:cBhvr>
                                      <p:to>
                                        <p:strVal val="visible"/>
                                      </p:to>
                                    </p:set>
                                    <p:animEffect transition="in" filter="fade">
                                      <p:cBhvr>
                                        <p:cTn id="50" dur="500"/>
                                        <p:tgtEl>
                                          <p:spTgt spid="61"/>
                                        </p:tgtEl>
                                      </p:cBhvr>
                                    </p:animEffect>
                                    <p:anim calcmode="lin" valueType="num">
                                      <p:cBhvr>
                                        <p:cTn id="51" dur="500" fill="hold"/>
                                        <p:tgtEl>
                                          <p:spTgt spid="61"/>
                                        </p:tgtEl>
                                        <p:attrNameLst>
                                          <p:attrName>ppt_x</p:attrName>
                                        </p:attrNameLst>
                                      </p:cBhvr>
                                      <p:tavLst>
                                        <p:tav tm="0">
                                          <p:val>
                                            <p:strVal val="#ppt_x"/>
                                          </p:val>
                                        </p:tav>
                                        <p:tav tm="100000">
                                          <p:val>
                                            <p:strVal val="#ppt_x"/>
                                          </p:val>
                                        </p:tav>
                                      </p:tavLst>
                                    </p:anim>
                                    <p:anim calcmode="lin" valueType="num">
                                      <p:cBhvr>
                                        <p:cTn id="52" dur="500" fill="hold"/>
                                        <p:tgtEl>
                                          <p:spTgt spid="61"/>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4" grpId="0" animBg="1"/>
      <p:bldP spid="48" grpId="0" animBg="1"/>
      <p:bldP spid="55" grpId="0" animBg="1"/>
      <p:bldP spid="56" grpId="0" animBg="1"/>
      <p:bldP spid="57" grpId="0" animBg="1"/>
      <p:bldP spid="58" grpId="0" animBg="1"/>
      <p:bldP spid="60" grpId="0" animBg="1"/>
      <p:bldP spid="6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2563EB"/>
                </a:solidFill>
                <a:latin typeface="Inter" pitchFamily="34" charset="0"/>
                <a:ea typeface="Inter" pitchFamily="34" charset="-122"/>
                <a:cs typeface="Inter" pitchFamily="34" charset="-120"/>
              </a:rPr>
              <a:t>03 · WARM-UP · TRAINING AND INFERENCE</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Deep learning in one slide: learn first, then use</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A model is a function with millions of adjustable dials (weights). Training sets the dials; inference uses them.</a:t>
            </a:r>
            <a:endParaRPr lang="en-US" sz="1300" dirty="0"/>
          </a:p>
        </p:txBody>
      </p:sp>
      <p:sp>
        <p:nvSpPr>
          <p:cNvPr id="5" name="Shape 3"/>
          <p:cNvSpPr/>
          <p:nvPr/>
        </p:nvSpPr>
        <p:spPr>
          <a:xfrm>
            <a:off x="548640" y="1645920"/>
            <a:ext cx="6400800" cy="4526280"/>
          </a:xfrm>
          <a:prstGeom prst="roundRect">
            <a:avLst>
              <a:gd name="adj" fmla="val 2020"/>
            </a:avLst>
          </a:prstGeom>
          <a:solidFill>
            <a:srgbClr val="F8FAFC"/>
          </a:solidFill>
          <a:ln w="12700">
            <a:solidFill>
              <a:srgbClr val="CBD5E1"/>
            </a:solidFill>
            <a:prstDash val="solid"/>
          </a:ln>
        </p:spPr>
      </p:sp>
      <p:sp>
        <p:nvSpPr>
          <p:cNvPr id="6" name="Text 4"/>
          <p:cNvSpPr txBox="1"/>
          <p:nvPr/>
        </p:nvSpPr>
        <p:spPr>
          <a:xfrm>
            <a:off x="777240" y="1755648"/>
            <a:ext cx="4572000" cy="237744"/>
          </a:xfrm>
          <a:prstGeom prst="rect">
            <a:avLst/>
          </a:prstGeom>
          <a:noFill/>
          <a:ln/>
        </p:spPr>
        <p:txBody>
          <a:bodyPr wrap="square" lIns="0" tIns="0" rIns="0" bIns="0" rtlCol="0" anchor="t"/>
          <a:lstStyle/>
          <a:p>
            <a:pPr indent="0" marL="0">
              <a:buNone/>
            </a:pPr>
            <a:r>
              <a:rPr lang="en-US" sz="1000" b="1" spc="100" kern="0" dirty="0">
                <a:solidFill>
                  <a:srgbClr val="2563EB"/>
                </a:solidFill>
                <a:latin typeface="Inter" pitchFamily="34" charset="0"/>
                <a:ea typeface="Inter" pitchFamily="34" charset="-122"/>
                <a:cs typeface="Inter" pitchFamily="34" charset="-120"/>
              </a:rPr>
              <a:t>TRAINING · learn from examples</a:t>
            </a:r>
            <a:endParaRPr lang="en-US" sz="1000" dirty="0"/>
          </a:p>
        </p:txBody>
      </p:sp>
      <p:sp>
        <p:nvSpPr>
          <p:cNvPr id="7" name="anim-1-rise-0-26"/>
          <p:cNvSpPr/>
          <p:nvPr/>
        </p:nvSpPr>
        <p:spPr>
          <a:xfrm>
            <a:off x="777240" y="2267712"/>
            <a:ext cx="1417320" cy="822960"/>
          </a:xfrm>
          <a:prstGeom prst="roundRect">
            <a:avLst>
              <a:gd name="adj" fmla="val 11111"/>
            </a:avLst>
          </a:prstGeom>
          <a:solidFill>
            <a:srgbClr val="FFFFFF"/>
          </a:solidFill>
          <a:ln w="12700">
            <a:solidFill>
              <a:srgbClr val="CBD5E1"/>
            </a:solidFill>
          </a:ln>
        </p:spPr>
        <p:txBody>
          <a:bodyPr wrap="square" lIns="1016" tIns="1016" rIns="1016" bIns="1016"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 cat sat on the”</a:t>
            </a:r>
            <a:endParaRPr lang="en-US" sz="1100" dirty="0"/>
          </a:p>
        </p:txBody>
      </p:sp>
      <p:sp>
        <p:nvSpPr>
          <p:cNvPr id="8" name="anim-1-fade-0-27"/>
          <p:cNvSpPr txBox="1"/>
          <p:nvPr/>
        </p:nvSpPr>
        <p:spPr>
          <a:xfrm>
            <a:off x="777240" y="3127248"/>
            <a:ext cx="1463040" cy="201168"/>
          </a:xfrm>
          <a:prstGeom prst="rect">
            <a:avLst/>
          </a:prstGeom>
          <a:noFill/>
          <a:ln/>
        </p:spPr>
        <p:txBody>
          <a:bodyPr wrap="square" lIns="0" tIns="0" rIns="0" bIns="0" rtlCol="0" anchor="t"/>
          <a:lstStyle/>
          <a:p>
            <a:pPr indent="0" marL="0">
              <a:buNone/>
            </a:pPr>
            <a:r>
              <a:rPr lang="en-US" sz="900" b="1" dirty="0">
                <a:solidFill>
                  <a:srgbClr val="2563EB"/>
                </a:solidFill>
                <a:latin typeface="Inter" pitchFamily="34" charset="0"/>
                <a:ea typeface="Inter" pitchFamily="34" charset="-122"/>
                <a:cs typeface="Inter" pitchFamily="34" charset="-120"/>
              </a:rPr>
              <a:t>① show an example</a:t>
            </a:r>
            <a:endParaRPr lang="en-US" sz="900" dirty="0"/>
          </a:p>
        </p:txBody>
      </p:sp>
      <p:sp>
        <p:nvSpPr>
          <p:cNvPr id="9" name="anim-1-wipe-150-28"/>
          <p:cNvSpPr/>
          <p:nvPr/>
        </p:nvSpPr>
        <p:spPr>
          <a:xfrm>
            <a:off x="2221992" y="2679192"/>
            <a:ext cx="210312" cy="0"/>
          </a:xfrm>
          <a:prstGeom prst="line">
            <a:avLst/>
          </a:prstGeom>
          <a:noFill/>
          <a:ln w="19050">
            <a:solidFill>
              <a:srgbClr val="94A3B8"/>
            </a:solidFill>
            <a:prstDash val="solid"/>
            <a:tailEnd type="triangle"/>
          </a:ln>
        </p:spPr>
      </p:sp>
      <p:sp>
        <p:nvSpPr>
          <p:cNvPr id="10" name="anim-1-rise-250-29"/>
          <p:cNvSpPr/>
          <p:nvPr/>
        </p:nvSpPr>
        <p:spPr>
          <a:xfrm>
            <a:off x="2468880" y="2057400"/>
            <a:ext cx="1920240" cy="1261872"/>
          </a:xfrm>
          <a:prstGeom prst="roundRect">
            <a:avLst>
              <a:gd name="adj" fmla="val 7246"/>
            </a:avLst>
          </a:prstGeom>
          <a:solidFill>
            <a:srgbClr val="EDE9FE"/>
          </a:solidFill>
          <a:ln/>
        </p:spPr>
      </p:sp>
      <p:sp>
        <p:nvSpPr>
          <p:cNvPr id="11" name="anim-1-rise-250-30"/>
          <p:cNvSpPr txBox="1"/>
          <p:nvPr/>
        </p:nvSpPr>
        <p:spPr>
          <a:xfrm>
            <a:off x="2606040" y="2148840"/>
            <a:ext cx="1645920" cy="237744"/>
          </a:xfrm>
          <a:prstGeom prst="rect">
            <a:avLst/>
          </a:prstGeom>
          <a:noFill/>
          <a:ln/>
        </p:spPr>
        <p:txBody>
          <a:bodyPr wrap="square" lIns="0" tIns="0" rIns="0" bIns="0" rtlCol="0" anchor="t"/>
          <a:lstStyle/>
          <a:p>
            <a:pPr indent="0" marL="0">
              <a:buNone/>
            </a:pPr>
            <a:r>
              <a:rPr lang="en-US" sz="1100" b="1" dirty="0">
                <a:solidFill>
                  <a:srgbClr val="7C3AED"/>
                </a:solidFill>
                <a:latin typeface="Inter" pitchFamily="34" charset="0"/>
                <a:ea typeface="Inter" pitchFamily="34" charset="-122"/>
                <a:cs typeface="Inter" pitchFamily="34" charset="-120"/>
              </a:rPr>
              <a:t>Model</a:t>
            </a:r>
            <a:endParaRPr lang="en-US" sz="1100" dirty="0"/>
          </a:p>
        </p:txBody>
      </p:sp>
      <p:sp>
        <p:nvSpPr>
          <p:cNvPr id="12" name="anim-1-rise-250-31"/>
          <p:cNvSpPr txBox="1"/>
          <p:nvPr/>
        </p:nvSpPr>
        <p:spPr>
          <a:xfrm>
            <a:off x="2560320" y="2468880"/>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w1</a:t>
            </a:r>
            <a:endParaRPr lang="en-US" sz="800" dirty="0"/>
          </a:p>
        </p:txBody>
      </p:sp>
      <p:sp>
        <p:nvSpPr>
          <p:cNvPr id="13" name="anim-1-rise-250-32"/>
          <p:cNvSpPr/>
          <p:nvPr/>
        </p:nvSpPr>
        <p:spPr>
          <a:xfrm>
            <a:off x="2834640" y="2560320"/>
            <a:ext cx="1371600" cy="0"/>
          </a:xfrm>
          <a:prstGeom prst="line">
            <a:avLst/>
          </a:prstGeom>
          <a:noFill/>
          <a:ln w="25400">
            <a:solidFill>
              <a:srgbClr val="A78BFA"/>
            </a:solidFill>
            <a:prstDash val="solid"/>
          </a:ln>
        </p:spPr>
      </p:sp>
      <p:sp>
        <p:nvSpPr>
          <p:cNvPr id="14" name="anim-3-mvp35-400-33"/>
          <p:cNvSpPr/>
          <p:nvPr/>
        </p:nvSpPr>
        <p:spPr>
          <a:xfrm>
            <a:off x="3035808" y="2487168"/>
            <a:ext cx="146304" cy="146304"/>
          </a:xfrm>
          <a:prstGeom prst="ellipse">
            <a:avLst/>
          </a:prstGeom>
          <a:solidFill>
            <a:srgbClr val="7C3AED"/>
          </a:solidFill>
          <a:ln w="12700">
            <a:solidFill>
              <a:srgbClr val="FFFFFF"/>
            </a:solidFill>
            <a:prstDash val="solid"/>
          </a:ln>
        </p:spPr>
      </p:sp>
      <p:sp>
        <p:nvSpPr>
          <p:cNvPr id="15" name="anim-1-rise-250-34"/>
          <p:cNvSpPr txBox="1"/>
          <p:nvPr/>
        </p:nvSpPr>
        <p:spPr>
          <a:xfrm>
            <a:off x="2560320" y="2715768"/>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w2</a:t>
            </a:r>
            <a:endParaRPr lang="en-US" sz="800" dirty="0"/>
          </a:p>
        </p:txBody>
      </p:sp>
      <p:sp>
        <p:nvSpPr>
          <p:cNvPr id="16" name="anim-1-rise-250-35"/>
          <p:cNvSpPr/>
          <p:nvPr/>
        </p:nvSpPr>
        <p:spPr>
          <a:xfrm>
            <a:off x="2834640" y="2807208"/>
            <a:ext cx="1371600" cy="0"/>
          </a:xfrm>
          <a:prstGeom prst="line">
            <a:avLst/>
          </a:prstGeom>
          <a:noFill/>
          <a:ln w="25400">
            <a:solidFill>
              <a:srgbClr val="A78BFA"/>
            </a:solidFill>
            <a:prstDash val="solid"/>
          </a:ln>
        </p:spPr>
      </p:sp>
      <p:sp>
        <p:nvSpPr>
          <p:cNvPr id="17" name="anim-3-mvn28-550-36"/>
          <p:cNvSpPr/>
          <p:nvPr/>
        </p:nvSpPr>
        <p:spPr>
          <a:xfrm>
            <a:off x="3790188" y="2734056"/>
            <a:ext cx="146304" cy="146304"/>
          </a:xfrm>
          <a:prstGeom prst="ellipse">
            <a:avLst/>
          </a:prstGeom>
          <a:solidFill>
            <a:srgbClr val="7C3AED"/>
          </a:solidFill>
          <a:ln w="12700">
            <a:solidFill>
              <a:srgbClr val="FFFFFF"/>
            </a:solidFill>
            <a:prstDash val="solid"/>
          </a:ln>
        </p:spPr>
      </p:sp>
      <p:sp>
        <p:nvSpPr>
          <p:cNvPr id="18" name="anim-1-rise-250-37"/>
          <p:cNvSpPr txBox="1"/>
          <p:nvPr/>
        </p:nvSpPr>
        <p:spPr>
          <a:xfrm>
            <a:off x="2560320" y="2962656"/>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w3</a:t>
            </a:r>
            <a:endParaRPr lang="en-US" sz="800" dirty="0"/>
          </a:p>
        </p:txBody>
      </p:sp>
      <p:sp>
        <p:nvSpPr>
          <p:cNvPr id="19" name="anim-1-rise-250-38"/>
          <p:cNvSpPr/>
          <p:nvPr/>
        </p:nvSpPr>
        <p:spPr>
          <a:xfrm>
            <a:off x="2834640" y="3054096"/>
            <a:ext cx="1371600" cy="0"/>
          </a:xfrm>
          <a:prstGeom prst="line">
            <a:avLst/>
          </a:prstGeom>
          <a:noFill/>
          <a:ln w="25400">
            <a:solidFill>
              <a:srgbClr val="A78BFA"/>
            </a:solidFill>
            <a:prstDash val="solid"/>
          </a:ln>
        </p:spPr>
      </p:sp>
      <p:sp>
        <p:nvSpPr>
          <p:cNvPr id="20" name="anim-3-mvp22-700-39"/>
          <p:cNvSpPr/>
          <p:nvPr/>
        </p:nvSpPr>
        <p:spPr>
          <a:xfrm>
            <a:off x="3241548" y="2980944"/>
            <a:ext cx="146304" cy="146304"/>
          </a:xfrm>
          <a:prstGeom prst="ellipse">
            <a:avLst/>
          </a:prstGeom>
          <a:solidFill>
            <a:srgbClr val="7C3AED"/>
          </a:solidFill>
          <a:ln w="12700">
            <a:solidFill>
              <a:srgbClr val="FFFFFF"/>
            </a:solidFill>
            <a:prstDash val="solid"/>
          </a:ln>
        </p:spPr>
      </p:sp>
      <p:sp>
        <p:nvSpPr>
          <p:cNvPr id="21" name="anim-1-wipe-400-40"/>
          <p:cNvSpPr/>
          <p:nvPr/>
        </p:nvSpPr>
        <p:spPr>
          <a:xfrm>
            <a:off x="4416552" y="2679192"/>
            <a:ext cx="210312" cy="0"/>
          </a:xfrm>
          <a:prstGeom prst="line">
            <a:avLst/>
          </a:prstGeom>
          <a:noFill/>
          <a:ln w="19050">
            <a:solidFill>
              <a:srgbClr val="94A3B8"/>
            </a:solidFill>
            <a:prstDash val="solid"/>
            <a:tailEnd type="triangle"/>
          </a:ln>
        </p:spPr>
      </p:sp>
      <p:sp>
        <p:nvSpPr>
          <p:cNvPr id="22" name="anim-1-rise-550-41"/>
          <p:cNvSpPr/>
          <p:nvPr/>
        </p:nvSpPr>
        <p:spPr>
          <a:xfrm>
            <a:off x="4663440" y="2267712"/>
            <a:ext cx="2103120" cy="822960"/>
          </a:xfrm>
          <a:prstGeom prst="roundRect">
            <a:avLst>
              <a:gd name="adj" fmla="val 11111"/>
            </a:avLst>
          </a:prstGeom>
          <a:solidFill>
            <a:srgbClr val="FFFFFF"/>
          </a:solidFill>
          <a:ln w="12700">
            <a:solidFill>
              <a:srgbClr val="CBD5E1"/>
            </a:solidFill>
          </a:ln>
        </p:spPr>
        <p:txBody>
          <a:bodyPr wrap="square" lIns="1016" tIns="1016" rIns="1016" bIns="1016" rtlCol="0" anchor="ctr"/>
          <a:lstStyle/>
          <a:p>
            <a:pPr algn="ctr" indent="0" marL="0">
              <a:buNone/>
            </a:pPr>
            <a:r>
              <a:rPr lang="en-US" sz="900" dirty="0">
                <a:solidFill>
                  <a:srgbClr val="64748B"/>
                </a:solidFill>
                <a:latin typeface="Inter" pitchFamily="34" charset="0"/>
                <a:ea typeface="Inter" pitchFamily="34" charset="-122"/>
                <a:cs typeface="Inter" pitchFamily="34" charset="-120"/>
              </a:rPr>
              <a:t>Guess</a:t>
            </a:r>
            <a:endParaRPr lang="en-US" sz="1200" dirty="0"/>
          </a:p>
          <a:p>
            <a:pPr algn="ctr" indent="0" marL="0">
              <a:buNone/>
            </a:pPr>
            <a:r>
              <a:rPr lang="en-US" sz="1200" b="1" dirty="0">
                <a:solidFill>
                  <a:srgbClr val="0F172A"/>
                </a:solidFill>
                <a:latin typeface="Inter" pitchFamily="34" charset="0"/>
                <a:ea typeface="Inter" pitchFamily="34" charset="-122"/>
                <a:cs typeface="Inter" pitchFamily="34" charset="-120"/>
              </a:rPr>
              <a:t>floor 30% · mat 5%</a:t>
            </a:r>
            <a:endParaRPr lang="en-US" sz="1200" dirty="0"/>
          </a:p>
        </p:txBody>
      </p:sp>
      <p:sp>
        <p:nvSpPr>
          <p:cNvPr id="23" name="anim-2-rise-0-42"/>
          <p:cNvSpPr/>
          <p:nvPr/>
        </p:nvSpPr>
        <p:spPr>
          <a:xfrm>
            <a:off x="4663440" y="3246120"/>
            <a:ext cx="2103120" cy="685800"/>
          </a:xfrm>
          <a:prstGeom prst="roundRect">
            <a:avLst>
              <a:gd name="adj" fmla="val 13333"/>
            </a:avLst>
          </a:prstGeom>
          <a:solidFill>
            <a:srgbClr val="FFE4E6"/>
          </a:solidFill>
          <a:ln/>
        </p:spPr>
        <p:txBody>
          <a:bodyPr wrap="square" lIns="1016" tIns="1016" rIns="1016" bIns="1016" rtlCol="0" anchor="ctr"/>
          <a:lstStyle/>
          <a:p>
            <a:pPr algn="ctr" indent="0" marL="0">
              <a:buNone/>
            </a:pPr>
            <a:r>
              <a:rPr lang="en-US" sz="1000" b="1" dirty="0">
                <a:solidFill>
                  <a:srgbClr val="E11D48"/>
                </a:solidFill>
                <a:latin typeface="Inter" pitchFamily="34" charset="0"/>
                <a:ea typeface="Inter" pitchFamily="34" charset="-122"/>
                <a:cs typeface="Inter" pitchFamily="34" charset="-120"/>
              </a:rPr>
              <a:t>② compare with the answer: “mat”</a:t>
            </a:r>
            <a:endParaRPr lang="en-US" sz="1200" dirty="0"/>
          </a:p>
          <a:p>
            <a:pPr algn="ctr" indent="0" marL="0">
              <a:buNone/>
            </a:pPr>
            <a:r>
              <a:rPr lang="en-US" sz="1050" dirty="0">
                <a:solidFill>
                  <a:srgbClr val="0F172A"/>
                </a:solidFill>
                <a:latin typeface="Inter" pitchFamily="34" charset="0"/>
                <a:ea typeface="Inter" pitchFamily="34" charset="-122"/>
                <a:cs typeface="Inter" pitchFamily="34" charset="-120"/>
              </a:rPr>
              <a:t>error (loss) = 3.0 — way off!</a:t>
            </a:r>
            <a:endParaRPr lang="en-US" sz="1200" dirty="0"/>
          </a:p>
        </p:txBody>
      </p:sp>
      <p:sp>
        <p:nvSpPr>
          <p:cNvPr id="24" name="anim-3-wipe-0-43"/>
          <p:cNvSpPr/>
          <p:nvPr/>
        </p:nvSpPr>
        <p:spPr>
          <a:xfrm flipH="1">
            <a:off x="3429000" y="3749040"/>
            <a:ext cx="1216152" cy="0"/>
          </a:xfrm>
          <a:prstGeom prst="line">
            <a:avLst/>
          </a:prstGeom>
          <a:noFill/>
          <a:ln w="19050">
            <a:solidFill>
              <a:srgbClr val="E11D48"/>
            </a:solidFill>
            <a:prstDash val="dash"/>
          </a:ln>
        </p:spPr>
      </p:sp>
      <p:sp>
        <p:nvSpPr>
          <p:cNvPr id="25" name="anim-3-fade-250-44"/>
          <p:cNvSpPr/>
          <p:nvPr/>
        </p:nvSpPr>
        <p:spPr>
          <a:xfrm flipV="1">
            <a:off x="3429000" y="3355848"/>
            <a:ext cx="0" cy="393192"/>
          </a:xfrm>
          <a:prstGeom prst="line">
            <a:avLst/>
          </a:prstGeom>
          <a:noFill/>
          <a:ln w="19050">
            <a:solidFill>
              <a:srgbClr val="E11D48"/>
            </a:solidFill>
            <a:prstDash val="dash"/>
            <a:tailEnd type="triangle"/>
          </a:ln>
        </p:spPr>
      </p:sp>
      <p:sp>
        <p:nvSpPr>
          <p:cNvPr id="26" name="anim-3-fade-300-45"/>
          <p:cNvSpPr txBox="1"/>
          <p:nvPr/>
        </p:nvSpPr>
        <p:spPr>
          <a:xfrm>
            <a:off x="777240" y="3429000"/>
            <a:ext cx="2514600" cy="502920"/>
          </a:xfrm>
          <a:prstGeom prst="rect">
            <a:avLst/>
          </a:prstGeom>
          <a:noFill/>
          <a:ln/>
        </p:spPr>
        <p:txBody>
          <a:bodyPr wrap="square" lIns="0" tIns="0" rIns="0" bIns="0" rtlCol="0" anchor="t"/>
          <a:lstStyle/>
          <a:p>
            <a:pPr indent="0" marL="0">
              <a:buNone/>
            </a:pPr>
            <a:r>
              <a:rPr lang="en-US" sz="950" b="1" dirty="0">
                <a:solidFill>
                  <a:srgbClr val="E11D48"/>
                </a:solidFill>
                <a:latin typeface="Inter" pitchFamily="34" charset="0"/>
                <a:ea typeface="Inter" pitchFamily="34" charset="-122"/>
                <a:cs typeface="Inter" pitchFamily="34" charset="-120"/>
              </a:rPr>
              <a:t>③ nudge every dial a little so “mat” becomes more likely (backpropagation)</a:t>
            </a:r>
            <a:endParaRPr lang="en-US" sz="950" dirty="0"/>
          </a:p>
        </p:txBody>
      </p:sp>
      <p:sp>
        <p:nvSpPr>
          <p:cNvPr id="27" name="anim-4-fade-0-46"/>
          <p:cNvSpPr txBox="1"/>
          <p:nvPr/>
        </p:nvSpPr>
        <p:spPr>
          <a:xfrm>
            <a:off x="777240" y="4069080"/>
            <a:ext cx="5943600" cy="237744"/>
          </a:xfrm>
          <a:prstGeom prst="rect">
            <a:avLst/>
          </a:prstGeom>
          <a:noFill/>
          <a:ln/>
        </p:spPr>
        <p:txBody>
          <a:bodyPr wrap="square" lIns="0" tIns="0" rIns="0" bIns="0" rtlCol="0" anchor="t"/>
          <a:lstStyle/>
          <a:p>
            <a:pPr indent="0" marL="0">
              <a:buNone/>
            </a:pPr>
            <a:r>
              <a:rPr lang="en-US" sz="1050" b="1" dirty="0">
                <a:solidFill>
                  <a:srgbClr val="0F172A"/>
                </a:solidFill>
                <a:latin typeface="Inter" pitchFamily="34" charset="0"/>
                <a:ea typeface="Inter" pitchFamily="34" charset="-122"/>
                <a:cs typeface="Inter" pitchFamily="34" charset="-120"/>
              </a:rPr>
              <a:t>④ Repeat over billions of examples → the error falls</a:t>
            </a:r>
            <a:endParaRPr lang="en-US" sz="1050" dirty="0"/>
          </a:p>
        </p:txBody>
      </p:sp>
      <p:sp>
        <p:nvSpPr>
          <p:cNvPr id="28" name="anim-4-fade-0-47"/>
          <p:cNvSpPr/>
          <p:nvPr/>
        </p:nvSpPr>
        <p:spPr>
          <a:xfrm>
            <a:off x="960120" y="5760720"/>
            <a:ext cx="5669280" cy="0"/>
          </a:xfrm>
          <a:prstGeom prst="line">
            <a:avLst/>
          </a:prstGeom>
          <a:noFill/>
          <a:ln w="12700">
            <a:solidFill>
              <a:srgbClr val="CBD5E1"/>
            </a:solidFill>
            <a:prstDash val="solid"/>
          </a:ln>
        </p:spPr>
      </p:sp>
      <p:sp>
        <p:nvSpPr>
          <p:cNvPr id="29" name="anim-4-fade-0-47"/>
          <p:cNvSpPr/>
          <p:nvPr/>
        </p:nvSpPr>
        <p:spPr>
          <a:xfrm>
            <a:off x="960120" y="4389120"/>
            <a:ext cx="0" cy="1371600"/>
          </a:xfrm>
          <a:prstGeom prst="line">
            <a:avLst/>
          </a:prstGeom>
          <a:noFill/>
          <a:ln w="12700">
            <a:solidFill>
              <a:srgbClr val="CBD5E1"/>
            </a:solidFill>
            <a:prstDash val="solid"/>
          </a:ln>
        </p:spPr>
      </p:sp>
      <p:sp>
        <p:nvSpPr>
          <p:cNvPr id="30" name="anim-4-fade-100-48"/>
          <p:cNvSpPr/>
          <p:nvPr/>
        </p:nvSpPr>
        <p:spPr>
          <a:xfrm>
            <a:off x="960120" y="4431983"/>
            <a:ext cx="283464" cy="243986"/>
          </a:xfrm>
          <a:prstGeom prst="line">
            <a:avLst/>
          </a:prstGeom>
          <a:noFill/>
          <a:ln w="31750">
            <a:solidFill>
              <a:srgbClr val="2563EB"/>
            </a:solidFill>
            <a:prstDash val="solid"/>
          </a:ln>
        </p:spPr>
      </p:sp>
      <p:sp>
        <p:nvSpPr>
          <p:cNvPr id="31" name="anim-4-fade-170-49"/>
          <p:cNvSpPr/>
          <p:nvPr/>
        </p:nvSpPr>
        <p:spPr>
          <a:xfrm>
            <a:off x="1243584" y="4675969"/>
            <a:ext cx="283464" cy="194385"/>
          </a:xfrm>
          <a:prstGeom prst="line">
            <a:avLst/>
          </a:prstGeom>
          <a:noFill/>
          <a:ln w="31750">
            <a:solidFill>
              <a:srgbClr val="2563EB"/>
            </a:solidFill>
            <a:prstDash val="solid"/>
          </a:ln>
        </p:spPr>
      </p:sp>
      <p:sp>
        <p:nvSpPr>
          <p:cNvPr id="32" name="anim-4-fade-240-50"/>
          <p:cNvSpPr/>
          <p:nvPr/>
        </p:nvSpPr>
        <p:spPr>
          <a:xfrm>
            <a:off x="1527048" y="4870354"/>
            <a:ext cx="283464" cy="154867"/>
          </a:xfrm>
          <a:prstGeom prst="line">
            <a:avLst/>
          </a:prstGeom>
          <a:noFill/>
          <a:ln w="31750">
            <a:solidFill>
              <a:srgbClr val="2563EB"/>
            </a:solidFill>
            <a:prstDash val="solid"/>
          </a:ln>
        </p:spPr>
      </p:sp>
      <p:sp>
        <p:nvSpPr>
          <p:cNvPr id="33" name="anim-4-fade-310-51"/>
          <p:cNvSpPr/>
          <p:nvPr/>
        </p:nvSpPr>
        <p:spPr>
          <a:xfrm>
            <a:off x="1810512" y="5025221"/>
            <a:ext cx="283464" cy="123383"/>
          </a:xfrm>
          <a:prstGeom prst="line">
            <a:avLst/>
          </a:prstGeom>
          <a:noFill/>
          <a:ln w="31750">
            <a:solidFill>
              <a:srgbClr val="2563EB"/>
            </a:solidFill>
            <a:prstDash val="solid"/>
          </a:ln>
        </p:spPr>
      </p:sp>
      <p:sp>
        <p:nvSpPr>
          <p:cNvPr id="34" name="anim-4-fade-380-52"/>
          <p:cNvSpPr/>
          <p:nvPr/>
        </p:nvSpPr>
        <p:spPr>
          <a:xfrm>
            <a:off x="2093976" y="5148604"/>
            <a:ext cx="283464" cy="98300"/>
          </a:xfrm>
          <a:prstGeom prst="line">
            <a:avLst/>
          </a:prstGeom>
          <a:noFill/>
          <a:ln w="31750">
            <a:solidFill>
              <a:srgbClr val="2563EB"/>
            </a:solidFill>
            <a:prstDash val="solid"/>
          </a:ln>
        </p:spPr>
      </p:sp>
      <p:sp>
        <p:nvSpPr>
          <p:cNvPr id="35" name="anim-4-fade-450-53"/>
          <p:cNvSpPr/>
          <p:nvPr/>
        </p:nvSpPr>
        <p:spPr>
          <a:xfrm>
            <a:off x="2377440" y="5246903"/>
            <a:ext cx="283464" cy="78316"/>
          </a:xfrm>
          <a:prstGeom prst="line">
            <a:avLst/>
          </a:prstGeom>
          <a:noFill/>
          <a:ln w="31750">
            <a:solidFill>
              <a:srgbClr val="2563EB"/>
            </a:solidFill>
            <a:prstDash val="solid"/>
          </a:ln>
        </p:spPr>
      </p:sp>
      <p:sp>
        <p:nvSpPr>
          <p:cNvPr id="36" name="anim-4-fade-520-54"/>
          <p:cNvSpPr/>
          <p:nvPr/>
        </p:nvSpPr>
        <p:spPr>
          <a:xfrm>
            <a:off x="2660904" y="5325219"/>
            <a:ext cx="283464" cy="62394"/>
          </a:xfrm>
          <a:prstGeom prst="line">
            <a:avLst/>
          </a:prstGeom>
          <a:noFill/>
          <a:ln w="31750">
            <a:solidFill>
              <a:srgbClr val="2563EB"/>
            </a:solidFill>
            <a:prstDash val="solid"/>
          </a:ln>
        </p:spPr>
      </p:sp>
      <p:sp>
        <p:nvSpPr>
          <p:cNvPr id="37" name="anim-4-fade-590-55"/>
          <p:cNvSpPr/>
          <p:nvPr/>
        </p:nvSpPr>
        <p:spPr>
          <a:xfrm>
            <a:off x="2944368" y="5387614"/>
            <a:ext cx="283464" cy="49710"/>
          </a:xfrm>
          <a:prstGeom prst="line">
            <a:avLst/>
          </a:prstGeom>
          <a:noFill/>
          <a:ln w="31750">
            <a:solidFill>
              <a:srgbClr val="2563EB"/>
            </a:solidFill>
            <a:prstDash val="solid"/>
          </a:ln>
        </p:spPr>
      </p:sp>
      <p:sp>
        <p:nvSpPr>
          <p:cNvPr id="38" name="anim-4-fade-660-56"/>
          <p:cNvSpPr/>
          <p:nvPr/>
        </p:nvSpPr>
        <p:spPr>
          <a:xfrm>
            <a:off x="3227832" y="5437323"/>
            <a:ext cx="283464" cy="39604"/>
          </a:xfrm>
          <a:prstGeom prst="line">
            <a:avLst/>
          </a:prstGeom>
          <a:noFill/>
          <a:ln w="31750">
            <a:solidFill>
              <a:srgbClr val="2563EB"/>
            </a:solidFill>
            <a:prstDash val="solid"/>
          </a:ln>
        </p:spPr>
      </p:sp>
      <p:sp>
        <p:nvSpPr>
          <p:cNvPr id="39" name="anim-4-fade-730-57"/>
          <p:cNvSpPr/>
          <p:nvPr/>
        </p:nvSpPr>
        <p:spPr>
          <a:xfrm>
            <a:off x="3511296" y="5476927"/>
            <a:ext cx="283464" cy="31553"/>
          </a:xfrm>
          <a:prstGeom prst="line">
            <a:avLst/>
          </a:prstGeom>
          <a:noFill/>
          <a:ln w="31750">
            <a:solidFill>
              <a:srgbClr val="2563EB"/>
            </a:solidFill>
            <a:prstDash val="solid"/>
          </a:ln>
        </p:spPr>
      </p:sp>
      <p:sp>
        <p:nvSpPr>
          <p:cNvPr id="40" name="anim-4-fade-800-58"/>
          <p:cNvSpPr/>
          <p:nvPr/>
        </p:nvSpPr>
        <p:spPr>
          <a:xfrm>
            <a:off x="3794760" y="5508480"/>
            <a:ext cx="283464" cy="25138"/>
          </a:xfrm>
          <a:prstGeom prst="line">
            <a:avLst/>
          </a:prstGeom>
          <a:noFill/>
          <a:ln w="31750">
            <a:solidFill>
              <a:srgbClr val="2563EB"/>
            </a:solidFill>
            <a:prstDash val="solid"/>
          </a:ln>
        </p:spPr>
      </p:sp>
      <p:sp>
        <p:nvSpPr>
          <p:cNvPr id="41" name="anim-4-fade-870-59"/>
          <p:cNvSpPr/>
          <p:nvPr/>
        </p:nvSpPr>
        <p:spPr>
          <a:xfrm>
            <a:off x="4078224" y="5533618"/>
            <a:ext cx="283464" cy="20028"/>
          </a:xfrm>
          <a:prstGeom prst="line">
            <a:avLst/>
          </a:prstGeom>
          <a:noFill/>
          <a:ln w="31750">
            <a:solidFill>
              <a:srgbClr val="2563EB"/>
            </a:solidFill>
            <a:prstDash val="solid"/>
          </a:ln>
        </p:spPr>
      </p:sp>
      <p:sp>
        <p:nvSpPr>
          <p:cNvPr id="42" name="anim-4-fade-940-60"/>
          <p:cNvSpPr/>
          <p:nvPr/>
        </p:nvSpPr>
        <p:spPr>
          <a:xfrm>
            <a:off x="4361688" y="5553646"/>
            <a:ext cx="283464" cy="15956"/>
          </a:xfrm>
          <a:prstGeom prst="line">
            <a:avLst/>
          </a:prstGeom>
          <a:noFill/>
          <a:ln w="31750">
            <a:solidFill>
              <a:srgbClr val="2563EB"/>
            </a:solidFill>
            <a:prstDash val="solid"/>
          </a:ln>
        </p:spPr>
      </p:sp>
      <p:sp>
        <p:nvSpPr>
          <p:cNvPr id="43" name="anim-4-fade-1010-61"/>
          <p:cNvSpPr/>
          <p:nvPr/>
        </p:nvSpPr>
        <p:spPr>
          <a:xfrm>
            <a:off x="4645152" y="5569602"/>
            <a:ext cx="283464" cy="12712"/>
          </a:xfrm>
          <a:prstGeom prst="line">
            <a:avLst/>
          </a:prstGeom>
          <a:noFill/>
          <a:ln w="31750">
            <a:solidFill>
              <a:srgbClr val="2563EB"/>
            </a:solidFill>
            <a:prstDash val="solid"/>
          </a:ln>
        </p:spPr>
      </p:sp>
      <p:sp>
        <p:nvSpPr>
          <p:cNvPr id="44" name="anim-4-fade-1080-62"/>
          <p:cNvSpPr/>
          <p:nvPr/>
        </p:nvSpPr>
        <p:spPr>
          <a:xfrm>
            <a:off x="4928616" y="5582314"/>
            <a:ext cx="283464" cy="10128"/>
          </a:xfrm>
          <a:prstGeom prst="line">
            <a:avLst/>
          </a:prstGeom>
          <a:noFill/>
          <a:ln w="31750">
            <a:solidFill>
              <a:srgbClr val="2563EB"/>
            </a:solidFill>
            <a:prstDash val="solid"/>
          </a:ln>
        </p:spPr>
      </p:sp>
      <p:sp>
        <p:nvSpPr>
          <p:cNvPr id="45" name="anim-4-fade-1150-63"/>
          <p:cNvSpPr/>
          <p:nvPr/>
        </p:nvSpPr>
        <p:spPr>
          <a:xfrm>
            <a:off x="5212080" y="5592442"/>
            <a:ext cx="283464" cy="8069"/>
          </a:xfrm>
          <a:prstGeom prst="line">
            <a:avLst/>
          </a:prstGeom>
          <a:noFill/>
          <a:ln w="31750">
            <a:solidFill>
              <a:srgbClr val="2563EB"/>
            </a:solidFill>
            <a:prstDash val="solid"/>
          </a:ln>
        </p:spPr>
      </p:sp>
      <p:sp>
        <p:nvSpPr>
          <p:cNvPr id="46" name="anim-4-fade-1220-64"/>
          <p:cNvSpPr/>
          <p:nvPr/>
        </p:nvSpPr>
        <p:spPr>
          <a:xfrm>
            <a:off x="5495544" y="5600511"/>
            <a:ext cx="283464" cy="6429"/>
          </a:xfrm>
          <a:prstGeom prst="line">
            <a:avLst/>
          </a:prstGeom>
          <a:noFill/>
          <a:ln w="31750">
            <a:solidFill>
              <a:srgbClr val="2563EB"/>
            </a:solidFill>
            <a:prstDash val="solid"/>
          </a:ln>
        </p:spPr>
      </p:sp>
      <p:sp>
        <p:nvSpPr>
          <p:cNvPr id="47" name="anim-4-fade-1290-65"/>
          <p:cNvSpPr/>
          <p:nvPr/>
        </p:nvSpPr>
        <p:spPr>
          <a:xfrm>
            <a:off x="5779008" y="5606940"/>
            <a:ext cx="283464" cy="5122"/>
          </a:xfrm>
          <a:prstGeom prst="line">
            <a:avLst/>
          </a:prstGeom>
          <a:noFill/>
          <a:ln w="31750">
            <a:solidFill>
              <a:srgbClr val="2563EB"/>
            </a:solidFill>
            <a:prstDash val="solid"/>
          </a:ln>
        </p:spPr>
      </p:sp>
      <p:sp>
        <p:nvSpPr>
          <p:cNvPr id="48" name="anim-4-fade-1360-66"/>
          <p:cNvSpPr/>
          <p:nvPr/>
        </p:nvSpPr>
        <p:spPr>
          <a:xfrm>
            <a:off x="6062472" y="5612061"/>
            <a:ext cx="283464" cy="4080"/>
          </a:xfrm>
          <a:prstGeom prst="line">
            <a:avLst/>
          </a:prstGeom>
          <a:noFill/>
          <a:ln w="31750">
            <a:solidFill>
              <a:srgbClr val="2563EB"/>
            </a:solidFill>
            <a:prstDash val="solid"/>
          </a:ln>
        </p:spPr>
      </p:sp>
      <p:sp>
        <p:nvSpPr>
          <p:cNvPr id="49" name="anim-4-fade-1430-67"/>
          <p:cNvSpPr/>
          <p:nvPr/>
        </p:nvSpPr>
        <p:spPr>
          <a:xfrm>
            <a:off x="6345936" y="5616142"/>
            <a:ext cx="283464" cy="3251"/>
          </a:xfrm>
          <a:prstGeom prst="line">
            <a:avLst/>
          </a:prstGeom>
          <a:noFill/>
          <a:ln w="31750">
            <a:solidFill>
              <a:srgbClr val="2563EB"/>
            </a:solidFill>
            <a:prstDash val="solid"/>
          </a:ln>
        </p:spPr>
      </p:sp>
      <p:sp>
        <p:nvSpPr>
          <p:cNvPr id="50" name="anim-4-zoom-300-68"/>
          <p:cNvSpPr/>
          <p:nvPr/>
        </p:nvSpPr>
        <p:spPr>
          <a:xfrm>
            <a:off x="1070762" y="4525535"/>
            <a:ext cx="118872" cy="118872"/>
          </a:xfrm>
          <a:prstGeom prst="ellipse">
            <a:avLst/>
          </a:prstGeom>
          <a:solidFill>
            <a:srgbClr val="E11D48"/>
          </a:solidFill>
          <a:ln/>
        </p:spPr>
      </p:sp>
      <p:sp>
        <p:nvSpPr>
          <p:cNvPr id="51" name="anim-4-fade-350-69"/>
          <p:cNvSpPr txBox="1"/>
          <p:nvPr/>
        </p:nvSpPr>
        <p:spPr>
          <a:xfrm>
            <a:off x="1221638" y="4310651"/>
            <a:ext cx="1371600" cy="201168"/>
          </a:xfrm>
          <a:prstGeom prst="rect">
            <a:avLst/>
          </a:prstGeom>
          <a:noFill/>
          <a:ln/>
        </p:spPr>
        <p:txBody>
          <a:bodyPr wrap="square" lIns="0" tIns="0" rIns="0" bIns="0" rtlCol="0" anchor="t"/>
          <a:lstStyle/>
          <a:p>
            <a:pPr algn="l" indent="0" marL="0">
              <a:buNone/>
            </a:pPr>
            <a:r>
              <a:rPr lang="en-US" sz="900" b="1" dirty="0">
                <a:solidFill>
                  <a:srgbClr val="E11D48"/>
                </a:solidFill>
                <a:latin typeface="Inter" pitchFamily="34" charset="0"/>
                <a:ea typeface="Inter" pitchFamily="34" charset="-122"/>
                <a:cs typeface="Inter" pitchFamily="34" charset="-120"/>
              </a:rPr>
              <a:t>step 1 · P(mat) = 5%</a:t>
            </a:r>
            <a:endParaRPr lang="en-US" sz="900" dirty="0"/>
          </a:p>
        </p:txBody>
      </p:sp>
      <p:sp>
        <p:nvSpPr>
          <p:cNvPr id="52" name="anim-4-zoom-900-70"/>
          <p:cNvSpPr/>
          <p:nvPr/>
        </p:nvSpPr>
        <p:spPr>
          <a:xfrm>
            <a:off x="2884932" y="5328178"/>
            <a:ext cx="118872" cy="118872"/>
          </a:xfrm>
          <a:prstGeom prst="ellipse">
            <a:avLst/>
          </a:prstGeom>
          <a:solidFill>
            <a:srgbClr val="E11D48"/>
          </a:solidFill>
          <a:ln/>
        </p:spPr>
      </p:sp>
      <p:sp>
        <p:nvSpPr>
          <p:cNvPr id="53" name="anim-4-fade-950-71"/>
          <p:cNvSpPr txBox="1"/>
          <p:nvPr/>
        </p:nvSpPr>
        <p:spPr>
          <a:xfrm>
            <a:off x="3035808" y="5113294"/>
            <a:ext cx="1371600" cy="201168"/>
          </a:xfrm>
          <a:prstGeom prst="rect">
            <a:avLst/>
          </a:prstGeom>
          <a:noFill/>
          <a:ln/>
        </p:spPr>
        <p:txBody>
          <a:bodyPr wrap="square" lIns="0" tIns="0" rIns="0" bIns="0" rtlCol="0" anchor="t"/>
          <a:lstStyle/>
          <a:p>
            <a:pPr algn="l" indent="0" marL="0">
              <a:buNone/>
            </a:pPr>
            <a:r>
              <a:rPr lang="en-US" sz="900" b="1" dirty="0">
                <a:solidFill>
                  <a:srgbClr val="E11D48"/>
                </a:solidFill>
                <a:latin typeface="Inter" pitchFamily="34" charset="0"/>
                <a:ea typeface="Inter" pitchFamily="34" charset="-122"/>
                <a:cs typeface="Inter" pitchFamily="34" charset="-120"/>
              </a:rPr>
              <a:t>step 10k · 20%</a:t>
            </a:r>
            <a:endParaRPr lang="en-US" sz="900" dirty="0"/>
          </a:p>
        </p:txBody>
      </p:sp>
      <p:sp>
        <p:nvSpPr>
          <p:cNvPr id="54" name="anim-4-zoom-1500-72"/>
          <p:cNvSpPr/>
          <p:nvPr/>
        </p:nvSpPr>
        <p:spPr>
          <a:xfrm>
            <a:off x="6173114" y="5555184"/>
            <a:ext cx="118872" cy="118872"/>
          </a:xfrm>
          <a:prstGeom prst="ellipse">
            <a:avLst/>
          </a:prstGeom>
          <a:solidFill>
            <a:srgbClr val="E11D48"/>
          </a:solidFill>
          <a:ln/>
        </p:spPr>
      </p:sp>
      <p:sp>
        <p:nvSpPr>
          <p:cNvPr id="55" name="anim-4-fade-1550-73"/>
          <p:cNvSpPr txBox="1"/>
          <p:nvPr/>
        </p:nvSpPr>
        <p:spPr>
          <a:xfrm>
            <a:off x="4769510" y="5340300"/>
            <a:ext cx="1371600" cy="201168"/>
          </a:xfrm>
          <a:prstGeom prst="rect">
            <a:avLst/>
          </a:prstGeom>
          <a:noFill/>
          <a:ln/>
        </p:spPr>
        <p:txBody>
          <a:bodyPr wrap="square" lIns="0" tIns="0" rIns="0" bIns="0" rtlCol="0" anchor="t"/>
          <a:lstStyle/>
          <a:p>
            <a:pPr algn="r" indent="0" marL="0">
              <a:buNone/>
            </a:pPr>
            <a:r>
              <a:rPr lang="en-US" sz="900" b="1" dirty="0">
                <a:solidFill>
                  <a:srgbClr val="E11D48"/>
                </a:solidFill>
                <a:latin typeface="Inter" pitchFamily="34" charset="0"/>
                <a:ea typeface="Inter" pitchFamily="34" charset="-122"/>
                <a:cs typeface="Inter" pitchFamily="34" charset="-120"/>
              </a:rPr>
              <a:t>step 1M · 41%</a:t>
            </a:r>
            <a:endParaRPr lang="en-US" sz="900" dirty="0"/>
          </a:p>
        </p:txBody>
      </p:sp>
      <p:sp>
        <p:nvSpPr>
          <p:cNvPr id="56" name="Text 54"/>
          <p:cNvSpPr txBox="1"/>
          <p:nvPr/>
        </p:nvSpPr>
        <p:spPr>
          <a:xfrm>
            <a:off x="548640" y="4434840"/>
            <a:ext cx="384048" cy="182880"/>
          </a:xfrm>
          <a:prstGeom prst="rect">
            <a:avLst/>
          </a:prstGeom>
          <a:noFill/>
          <a:ln/>
        </p:spPr>
        <p:txBody>
          <a:bodyPr wrap="square" lIns="0" tIns="0" rIns="0" bIns="0" rtlCol="0" anchor="t"/>
          <a:lstStyle/>
          <a:p>
            <a:pPr algn="r" indent="0" marL="0">
              <a:buNone/>
            </a:pPr>
            <a:r>
              <a:rPr lang="en-US" sz="850" dirty="0">
                <a:solidFill>
                  <a:srgbClr val="64748B"/>
                </a:solidFill>
                <a:latin typeface="Inter" pitchFamily="34" charset="0"/>
                <a:ea typeface="Inter" pitchFamily="34" charset="-122"/>
                <a:cs typeface="Inter" pitchFamily="34" charset="-120"/>
              </a:rPr>
              <a:t>error</a:t>
            </a:r>
            <a:endParaRPr lang="en-US" sz="850" dirty="0"/>
          </a:p>
        </p:txBody>
      </p:sp>
      <p:sp>
        <p:nvSpPr>
          <p:cNvPr id="57" name="Text 55"/>
          <p:cNvSpPr txBox="1"/>
          <p:nvPr/>
        </p:nvSpPr>
        <p:spPr>
          <a:xfrm>
            <a:off x="5120640" y="5788152"/>
            <a:ext cx="1508760" cy="182880"/>
          </a:xfrm>
          <a:prstGeom prst="rect">
            <a:avLst/>
          </a:prstGeom>
          <a:noFill/>
          <a:ln/>
        </p:spPr>
        <p:txBody>
          <a:bodyPr wrap="square" lIns="0" tIns="0" rIns="0" bIns="0" rtlCol="0" anchor="t"/>
          <a:lstStyle/>
          <a:p>
            <a:pPr algn="r" indent="0" marL="0">
              <a:buNone/>
            </a:pPr>
            <a:r>
              <a:rPr lang="en-US" sz="850" dirty="0">
                <a:solidFill>
                  <a:srgbClr val="64748B"/>
                </a:solidFill>
                <a:latin typeface="Inter" pitchFamily="34" charset="0"/>
                <a:ea typeface="Inter" pitchFamily="34" charset="-122"/>
                <a:cs typeface="Inter" pitchFamily="34" charset="-120"/>
              </a:rPr>
              <a:t>training steps →</a:t>
            </a:r>
            <a:endParaRPr lang="en-US" sz="850" dirty="0"/>
          </a:p>
        </p:txBody>
      </p:sp>
      <p:sp>
        <p:nvSpPr>
          <p:cNvPr id="58" name="anim-5-fade-0-74"/>
          <p:cNvSpPr/>
          <p:nvPr/>
        </p:nvSpPr>
        <p:spPr>
          <a:xfrm>
            <a:off x="7178040" y="1645920"/>
            <a:ext cx="4434840" cy="4526280"/>
          </a:xfrm>
          <a:prstGeom prst="roundRect">
            <a:avLst>
              <a:gd name="adj" fmla="val 2062"/>
            </a:avLst>
          </a:prstGeom>
          <a:solidFill>
            <a:srgbClr val="F8FAFC"/>
          </a:solidFill>
          <a:ln w="12700">
            <a:solidFill>
              <a:srgbClr val="CBD5E1"/>
            </a:solidFill>
            <a:prstDash val="solid"/>
          </a:ln>
        </p:spPr>
      </p:sp>
      <p:sp>
        <p:nvSpPr>
          <p:cNvPr id="59" name="anim-5-fade-0-75"/>
          <p:cNvSpPr txBox="1"/>
          <p:nvPr/>
        </p:nvSpPr>
        <p:spPr>
          <a:xfrm>
            <a:off x="7406640" y="1755648"/>
            <a:ext cx="4023360" cy="237744"/>
          </a:xfrm>
          <a:prstGeom prst="rect">
            <a:avLst/>
          </a:prstGeom>
          <a:noFill/>
          <a:ln/>
        </p:spPr>
        <p:txBody>
          <a:bodyPr wrap="square" lIns="0" tIns="0" rIns="0" bIns="0" rtlCol="0" anchor="t"/>
          <a:lstStyle/>
          <a:p>
            <a:pPr indent="0" marL="0">
              <a:buNone/>
            </a:pPr>
            <a:r>
              <a:rPr lang="en-US" sz="1000" b="1" spc="100" kern="0" dirty="0">
                <a:solidFill>
                  <a:srgbClr val="E11D48"/>
                </a:solidFill>
                <a:latin typeface="Inter" pitchFamily="34" charset="0"/>
                <a:ea typeface="Inter" pitchFamily="34" charset="-122"/>
                <a:cs typeface="Inter" pitchFamily="34" charset="-120"/>
              </a:rPr>
              <a:t>INFERENCE · use the trained model</a:t>
            </a:r>
            <a:endParaRPr lang="en-US" sz="1000" dirty="0"/>
          </a:p>
        </p:txBody>
      </p:sp>
      <p:sp>
        <p:nvSpPr>
          <p:cNvPr id="60" name="anim-5-rise-200-76"/>
          <p:cNvSpPr/>
          <p:nvPr/>
        </p:nvSpPr>
        <p:spPr>
          <a:xfrm>
            <a:off x="7406640" y="2267712"/>
            <a:ext cx="1371600" cy="822960"/>
          </a:xfrm>
          <a:prstGeom prst="roundRect">
            <a:avLst>
              <a:gd name="adj" fmla="val 11111"/>
            </a:avLst>
          </a:prstGeom>
          <a:solidFill>
            <a:srgbClr val="FFFFFF"/>
          </a:solidFill>
          <a:ln w="12700">
            <a:solidFill>
              <a:srgbClr val="CBD5E1"/>
            </a:solidFill>
          </a:ln>
        </p:spPr>
        <p:txBody>
          <a:bodyPr wrap="square" lIns="1016" tIns="1016" rIns="1016" bIns="1016"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 cat sat on the”</a:t>
            </a:r>
            <a:endParaRPr lang="en-US" sz="1100" dirty="0"/>
          </a:p>
        </p:txBody>
      </p:sp>
      <p:sp>
        <p:nvSpPr>
          <p:cNvPr id="61" name="anim-5-wipe-300-77"/>
          <p:cNvSpPr/>
          <p:nvPr/>
        </p:nvSpPr>
        <p:spPr>
          <a:xfrm>
            <a:off x="8805672" y="2679192"/>
            <a:ext cx="210312" cy="0"/>
          </a:xfrm>
          <a:prstGeom prst="line">
            <a:avLst/>
          </a:prstGeom>
          <a:noFill/>
          <a:ln w="19050">
            <a:solidFill>
              <a:srgbClr val="94A3B8"/>
            </a:solidFill>
            <a:prstDash val="solid"/>
            <a:tailEnd type="triangle"/>
          </a:ln>
        </p:spPr>
      </p:sp>
      <p:sp>
        <p:nvSpPr>
          <p:cNvPr id="62" name="anim-5-rise-400-78"/>
          <p:cNvSpPr/>
          <p:nvPr/>
        </p:nvSpPr>
        <p:spPr>
          <a:xfrm>
            <a:off x="9052560" y="2057400"/>
            <a:ext cx="2331720" cy="1261872"/>
          </a:xfrm>
          <a:prstGeom prst="roundRect">
            <a:avLst>
              <a:gd name="adj" fmla="val 7246"/>
            </a:avLst>
          </a:prstGeom>
          <a:solidFill>
            <a:srgbClr val="EDE9FE"/>
          </a:solidFill>
          <a:ln/>
        </p:spPr>
      </p:sp>
      <p:sp>
        <p:nvSpPr>
          <p:cNvPr id="63" name="anim-5-rise-400-79"/>
          <p:cNvSpPr txBox="1"/>
          <p:nvPr/>
        </p:nvSpPr>
        <p:spPr>
          <a:xfrm>
            <a:off x="9189720" y="2148840"/>
            <a:ext cx="2057400" cy="237744"/>
          </a:xfrm>
          <a:prstGeom prst="rect">
            <a:avLst/>
          </a:prstGeom>
          <a:noFill/>
          <a:ln/>
        </p:spPr>
        <p:txBody>
          <a:bodyPr wrap="square" lIns="0" tIns="0" rIns="0" bIns="0" rtlCol="0" anchor="t"/>
          <a:lstStyle/>
          <a:p>
            <a:pPr indent="0" marL="0">
              <a:buNone/>
            </a:pPr>
            <a:r>
              <a:rPr lang="en-US" sz="1100" b="1" dirty="0">
                <a:solidFill>
                  <a:srgbClr val="7C3AED"/>
                </a:solidFill>
                <a:latin typeface="Inter" pitchFamily="34" charset="0"/>
                <a:ea typeface="Inter" pitchFamily="34" charset="-122"/>
                <a:cs typeface="Inter" pitchFamily="34" charset="-120"/>
              </a:rPr>
              <a:t>Trained model</a:t>
            </a:r>
            <a:endParaRPr lang="en-US" sz="1100" dirty="0"/>
          </a:p>
        </p:txBody>
      </p:sp>
      <p:sp>
        <p:nvSpPr>
          <p:cNvPr id="64" name="anim-5-rise-400-80"/>
          <p:cNvSpPr txBox="1"/>
          <p:nvPr/>
        </p:nvSpPr>
        <p:spPr>
          <a:xfrm>
            <a:off x="9144000" y="2468880"/>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w1</a:t>
            </a:r>
            <a:endParaRPr lang="en-US" sz="800" dirty="0"/>
          </a:p>
        </p:txBody>
      </p:sp>
      <p:sp>
        <p:nvSpPr>
          <p:cNvPr id="65" name="anim-5-rise-400-81"/>
          <p:cNvSpPr/>
          <p:nvPr/>
        </p:nvSpPr>
        <p:spPr>
          <a:xfrm>
            <a:off x="9418320" y="2560320"/>
            <a:ext cx="1783080" cy="0"/>
          </a:xfrm>
          <a:prstGeom prst="line">
            <a:avLst/>
          </a:prstGeom>
          <a:noFill/>
          <a:ln w="25400">
            <a:solidFill>
              <a:srgbClr val="A78BFA"/>
            </a:solidFill>
            <a:prstDash val="solid"/>
          </a:ln>
        </p:spPr>
      </p:sp>
      <p:sp>
        <p:nvSpPr>
          <p:cNvPr id="66" name="anim-5-rise-400-82"/>
          <p:cNvSpPr/>
          <p:nvPr/>
        </p:nvSpPr>
        <p:spPr>
          <a:xfrm>
            <a:off x="9969246" y="2487168"/>
            <a:ext cx="146304" cy="146304"/>
          </a:xfrm>
          <a:prstGeom prst="ellipse">
            <a:avLst/>
          </a:prstGeom>
          <a:solidFill>
            <a:srgbClr val="7C3AED"/>
          </a:solidFill>
          <a:ln w="12700">
            <a:solidFill>
              <a:srgbClr val="FFFFFF"/>
            </a:solidFill>
            <a:prstDash val="solid"/>
          </a:ln>
        </p:spPr>
      </p:sp>
      <p:sp>
        <p:nvSpPr>
          <p:cNvPr id="67" name="anim-5-rise-400-83"/>
          <p:cNvSpPr txBox="1"/>
          <p:nvPr/>
        </p:nvSpPr>
        <p:spPr>
          <a:xfrm>
            <a:off x="9144000" y="2715768"/>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w2</a:t>
            </a:r>
            <a:endParaRPr lang="en-US" sz="800" dirty="0"/>
          </a:p>
        </p:txBody>
      </p:sp>
      <p:sp>
        <p:nvSpPr>
          <p:cNvPr id="68" name="anim-5-rise-400-84"/>
          <p:cNvSpPr/>
          <p:nvPr/>
        </p:nvSpPr>
        <p:spPr>
          <a:xfrm>
            <a:off x="9418320" y="2807208"/>
            <a:ext cx="1783080" cy="0"/>
          </a:xfrm>
          <a:prstGeom prst="line">
            <a:avLst/>
          </a:prstGeom>
          <a:noFill/>
          <a:ln w="25400">
            <a:solidFill>
              <a:srgbClr val="A78BFA"/>
            </a:solidFill>
            <a:prstDash val="solid"/>
          </a:ln>
        </p:spPr>
      </p:sp>
      <p:sp>
        <p:nvSpPr>
          <p:cNvPr id="69" name="anim-5-rise-400-85"/>
          <p:cNvSpPr/>
          <p:nvPr/>
        </p:nvSpPr>
        <p:spPr>
          <a:xfrm>
            <a:off x="10325862" y="2734056"/>
            <a:ext cx="146304" cy="146304"/>
          </a:xfrm>
          <a:prstGeom prst="ellipse">
            <a:avLst/>
          </a:prstGeom>
          <a:solidFill>
            <a:srgbClr val="7C3AED"/>
          </a:solidFill>
          <a:ln w="12700">
            <a:solidFill>
              <a:srgbClr val="FFFFFF"/>
            </a:solidFill>
            <a:prstDash val="solid"/>
          </a:ln>
        </p:spPr>
      </p:sp>
      <p:sp>
        <p:nvSpPr>
          <p:cNvPr id="70" name="anim-5-rise-400-86"/>
          <p:cNvSpPr txBox="1"/>
          <p:nvPr/>
        </p:nvSpPr>
        <p:spPr>
          <a:xfrm>
            <a:off x="9144000" y="2962656"/>
            <a:ext cx="256032" cy="182880"/>
          </a:xfrm>
          <a:prstGeom prst="rect">
            <a:avLst/>
          </a:prstGeom>
          <a:noFill/>
          <a:ln/>
        </p:spPr>
        <p:txBody>
          <a:bodyPr wrap="square" lIns="0" tIns="0" rIns="0" bIns="0" rtlCol="0" anchor="t"/>
          <a:lstStyle/>
          <a:p>
            <a:pPr indent="0" marL="0">
              <a:buNone/>
            </a:pPr>
            <a:r>
              <a:rPr lang="en-US" sz="800" dirty="0">
                <a:solidFill>
                  <a:srgbClr val="64748B"/>
                </a:solidFill>
                <a:latin typeface="Inter" pitchFamily="34" charset="0"/>
                <a:ea typeface="Inter" pitchFamily="34" charset="-122"/>
                <a:cs typeface="Inter" pitchFamily="34" charset="-120"/>
              </a:rPr>
              <a:t>w3</a:t>
            </a:r>
            <a:endParaRPr lang="en-US" sz="800" dirty="0"/>
          </a:p>
        </p:txBody>
      </p:sp>
      <p:sp>
        <p:nvSpPr>
          <p:cNvPr id="71" name="anim-5-rise-400-87"/>
          <p:cNvSpPr/>
          <p:nvPr/>
        </p:nvSpPr>
        <p:spPr>
          <a:xfrm>
            <a:off x="9418320" y="3054096"/>
            <a:ext cx="1783080" cy="0"/>
          </a:xfrm>
          <a:prstGeom prst="line">
            <a:avLst/>
          </a:prstGeom>
          <a:noFill/>
          <a:ln w="25400">
            <a:solidFill>
              <a:srgbClr val="A78BFA"/>
            </a:solidFill>
            <a:prstDash val="solid"/>
          </a:ln>
        </p:spPr>
      </p:sp>
      <p:sp>
        <p:nvSpPr>
          <p:cNvPr id="72" name="anim-5-rise-400-88"/>
          <p:cNvSpPr/>
          <p:nvPr/>
        </p:nvSpPr>
        <p:spPr>
          <a:xfrm>
            <a:off x="10147554" y="2980944"/>
            <a:ext cx="146304" cy="146304"/>
          </a:xfrm>
          <a:prstGeom prst="ellipse">
            <a:avLst/>
          </a:prstGeom>
          <a:solidFill>
            <a:srgbClr val="7C3AED"/>
          </a:solidFill>
          <a:ln w="12700">
            <a:solidFill>
              <a:srgbClr val="FFFFFF"/>
            </a:solidFill>
            <a:prstDash val="solid"/>
          </a:ln>
        </p:spPr>
      </p:sp>
      <p:sp>
        <p:nvSpPr>
          <p:cNvPr id="73" name="anim-5-zoom-700-89"/>
          <p:cNvSpPr/>
          <p:nvPr/>
        </p:nvSpPr>
        <p:spPr>
          <a:xfrm>
            <a:off x="10561320" y="1938528"/>
            <a:ext cx="777240" cy="237744"/>
          </a:xfrm>
          <a:prstGeom prst="roundRect">
            <a:avLst>
              <a:gd name="adj" fmla="val 38462"/>
            </a:avLst>
          </a:prstGeom>
          <a:solidFill>
            <a:srgbClr val="0F172A"/>
          </a:solid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FROZEN</a:t>
            </a:r>
            <a:endParaRPr lang="en-US" sz="850" dirty="0"/>
          </a:p>
        </p:txBody>
      </p:sp>
      <p:sp>
        <p:nvSpPr>
          <p:cNvPr id="74" name="anim-5-fade-800-90"/>
          <p:cNvSpPr/>
          <p:nvPr/>
        </p:nvSpPr>
        <p:spPr>
          <a:xfrm>
            <a:off x="10213848" y="3346704"/>
            <a:ext cx="0" cy="237744"/>
          </a:xfrm>
          <a:prstGeom prst="line">
            <a:avLst/>
          </a:prstGeom>
          <a:noFill/>
          <a:ln w="19050">
            <a:solidFill>
              <a:srgbClr val="E11D48"/>
            </a:solidFill>
            <a:prstDash val="solid"/>
            <a:tailEnd type="triangle"/>
          </a:ln>
        </p:spPr>
      </p:sp>
      <p:sp>
        <p:nvSpPr>
          <p:cNvPr id="75" name="anim-5-zoom-950-91"/>
          <p:cNvSpPr/>
          <p:nvPr/>
        </p:nvSpPr>
        <p:spPr>
          <a:xfrm>
            <a:off x="9052560" y="3611880"/>
            <a:ext cx="2331720" cy="685800"/>
          </a:xfrm>
          <a:prstGeom prst="roundRect">
            <a:avLst>
              <a:gd name="adj" fmla="val 13333"/>
            </a:avLst>
          </a:prstGeom>
          <a:solidFill>
            <a:srgbClr val="FFE4E6"/>
          </a:solidFill>
          <a:ln/>
        </p:spPr>
        <p:txBody>
          <a:bodyPr wrap="square" lIns="1016" tIns="1016" rIns="1016" bIns="1016" rtlCol="0" anchor="ctr"/>
          <a:lstStyle/>
          <a:p>
            <a:pPr algn="ctr" indent="0" marL="0">
              <a:buNone/>
            </a:pPr>
            <a:r>
              <a:rPr lang="en-US" sz="900" dirty="0">
                <a:solidFill>
                  <a:srgbClr val="64748B"/>
                </a:solidFill>
                <a:latin typeface="Inter" pitchFamily="34" charset="0"/>
                <a:ea typeface="Inter" pitchFamily="34" charset="-122"/>
                <a:cs typeface="Inter" pitchFamily="34" charset="-120"/>
              </a:rPr>
              <a:t>Answer</a:t>
            </a:r>
            <a:endParaRPr lang="en-US" sz="1200" dirty="0"/>
          </a:p>
          <a:p>
            <a:pPr algn="ctr" indent="0" marL="0">
              <a:buNone/>
            </a:pPr>
            <a:r>
              <a:rPr lang="en-US" sz="1200" b="1" dirty="0">
                <a:solidFill>
                  <a:srgbClr val="E11D48"/>
                </a:solidFill>
                <a:latin typeface="Inter" pitchFamily="34" charset="0"/>
                <a:ea typeface="Inter" pitchFamily="34" charset="-122"/>
                <a:cs typeface="Inter" pitchFamily="34" charset="-120"/>
              </a:rPr>
              <a:t>mat 41% · floor 14%</a:t>
            </a:r>
            <a:endParaRPr lang="en-US" sz="1200" dirty="0"/>
          </a:p>
        </p:txBody>
      </p:sp>
      <p:sp>
        <p:nvSpPr>
          <p:cNvPr id="76" name="anim-5-fade-1100-92"/>
          <p:cNvSpPr txBox="1"/>
          <p:nvPr/>
        </p:nvSpPr>
        <p:spPr>
          <a:xfrm>
            <a:off x="7406640" y="4434840"/>
            <a:ext cx="4023360" cy="73152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No answer key, no error, no learning — just one pass forward through the frozen dials. This is what runs when you chat with an LLM.</a:t>
            </a:r>
            <a:endParaRPr lang="en-US" sz="1050" dirty="0"/>
          </a:p>
        </p:txBody>
      </p:sp>
      <p:sp>
        <p:nvSpPr>
          <p:cNvPr id="77" name="anim-6-rise-0-93"/>
          <p:cNvSpPr/>
          <p:nvPr/>
        </p:nvSpPr>
        <p:spPr>
          <a:xfrm>
            <a:off x="7406640" y="5257800"/>
            <a:ext cx="4023360" cy="731520"/>
          </a:xfrm>
          <a:prstGeom prst="roundRect">
            <a:avLst>
              <a:gd name="adj" fmla="val 12500"/>
            </a:avLst>
          </a:prstGeom>
          <a:solidFill>
            <a:srgbClr val="FFFFFF"/>
          </a:solidFill>
          <a:ln w="12700">
            <a:solidFill>
              <a:srgbClr val="CBD5E1"/>
            </a:solidFill>
          </a:ln>
        </p:spPr>
        <p:txBody>
          <a:bodyPr wrap="square" lIns="127000" tIns="50800" rIns="127000" bIns="50800" rtlCol="0" anchor="ctr"/>
          <a:lstStyle/>
          <a:p>
            <a:pPr algn="l" indent="0" marL="0">
              <a:buNone/>
            </a:pPr>
            <a:r>
              <a:rPr lang="en-US" sz="1050" b="1" dirty="0">
                <a:solidFill>
                  <a:srgbClr val="2563EB"/>
                </a:solidFill>
                <a:latin typeface="Inter" pitchFamily="34" charset="0"/>
                <a:ea typeface="Inter" pitchFamily="34" charset="-122"/>
                <a:cs typeface="Inter" pitchFamily="34" charset="-120"/>
              </a:rPr>
              <a:t>Training: </a:t>
            </a:r>
            <a:pPr algn="l" indent="0" marL="0">
              <a:buNone/>
            </a:pPr>
            <a:r>
              <a:rPr lang="en-US" sz="1050" dirty="0">
                <a:solidFill>
                  <a:srgbClr val="334155"/>
                </a:solidFill>
                <a:latin typeface="Inter" pitchFamily="34" charset="0"/>
                <a:ea typeface="Inter" pitchFamily="34" charset="-122"/>
                <a:cs typeface="Inter" pitchFamily="34" charset="-120"/>
              </a:rPr>
              <a:t>weeks on thousands of GPUs, done once.</a:t>
            </a:r>
            <a:endParaRPr lang="en-US" sz="1050" dirty="0"/>
          </a:p>
          <a:p>
            <a:pPr algn="l" indent="0" marL="0">
              <a:buNone/>
            </a:pPr>
            <a:r>
              <a:rPr lang="en-US" sz="1050" b="1" dirty="0">
                <a:solidFill>
                  <a:srgbClr val="E11D48"/>
                </a:solidFill>
                <a:latin typeface="Inter" pitchFamily="34" charset="0"/>
                <a:ea typeface="Inter" pitchFamily="34" charset="-122"/>
                <a:cs typeface="Inter" pitchFamily="34" charset="-120"/>
              </a:rPr>
              <a:t>Inference: </a:t>
            </a:r>
            <a:pPr algn="l" indent="0" marL="0">
              <a:buNone/>
            </a:pPr>
            <a:r>
              <a:rPr lang="en-US" sz="1050" dirty="0">
                <a:solidFill>
                  <a:srgbClr val="334155"/>
                </a:solidFill>
                <a:latin typeface="Inter" pitchFamily="34" charset="0"/>
                <a:ea typeface="Inter" pitchFamily="34" charset="-122"/>
                <a:cs typeface="Inter" pitchFamily="34" charset="-120"/>
              </a:rPr>
              <a:t>milliseconds, every message.</a:t>
            </a:r>
            <a:endParaRPr lang="en-US" sz="10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0.06"/>
                                          </p:val>
                                        </p:tav>
                                        <p:tav tm="100000">
                                          <p:val>
                                            <p:strVal val="#ppt_y"/>
                                          </p:val>
                                        </p:tav>
                                      </p:tavLst>
                                    </p:anim>
                                  </p:childTnLst>
                                </p:cTn>
                              </p:par>
                              <p:par>
                                <p:cTn id="11"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4" presetID="22" presetClass="entr" presetSubtype="8" fill="hold" grpId="0" nodeType="withEffect">
                                  <p:stCondLst>
                                    <p:cond delay="15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5" dur="450"/>
                                        <p:tgtEl>
                                          <p:spTgt spid="9"/>
                                        </p:tgtEl>
                                      </p:cBhvr>
                                    </p:animEffect>
                                  </p:childTnLst>
                                </p:cTn>
                              </p:par>
                              <p:par>
                                <p:cTn id="17" presetID="42" presetClass="entr" presetSubtype="0" fill="hold" grpId="0" nodeType="withEffect">
                                  <p:stCondLst>
                                    <p:cond delay="25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2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y+0.06"/>
                                          </p:val>
                                        </p:tav>
                                        <p:tav tm="100000">
                                          <p:val>
                                            <p:strVal val="#ppt_y"/>
                                          </p:val>
                                        </p:tav>
                                      </p:tavLst>
                                    </p:anim>
                                  </p:childTnLst>
                                </p:cTn>
                              </p:par>
                              <p:par>
                                <p:cTn id="27" presetID="42" presetClass="entr" presetSubtype="0" fill="hold" grpId="0" nodeType="withEffect">
                                  <p:stCondLst>
                                    <p:cond delay="2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anim calcmode="lin" valueType="num">
                                      <p:cBhvr>
                                        <p:cTn id="29" dur="500" fill="hold"/>
                                        <p:tgtEl>
                                          <p:spTgt spid="12"/>
                                        </p:tgtEl>
                                        <p:attrNameLst>
                                          <p:attrName>ppt_x</p:attrName>
                                        </p:attrNameLst>
                                      </p:cBhvr>
                                      <p:tavLst>
                                        <p:tav tm="0">
                                          <p:val>
                                            <p:strVal val="#ppt_x"/>
                                          </p:val>
                                        </p:tav>
                                        <p:tav tm="100000">
                                          <p:val>
                                            <p:strVal val="#ppt_x"/>
                                          </p:val>
                                        </p:tav>
                                      </p:tavLst>
                                    </p:anim>
                                    <p:anim calcmode="lin" valueType="num">
                                      <p:cBhvr>
                                        <p:cTn id="30" dur="500" fill="hold"/>
                                        <p:tgtEl>
                                          <p:spTgt spid="12"/>
                                        </p:tgtEl>
                                        <p:attrNameLst>
                                          <p:attrName>ppt_y</p:attrName>
                                        </p:attrNameLst>
                                      </p:cBhvr>
                                      <p:tavLst>
                                        <p:tav tm="0">
                                          <p:val>
                                            <p:strVal val="#ppt_y+0.06"/>
                                          </p:val>
                                        </p:tav>
                                        <p:tav tm="100000">
                                          <p:val>
                                            <p:strVal val="#ppt_y"/>
                                          </p:val>
                                        </p:tav>
                                      </p:tavLst>
                                    </p:anim>
                                  </p:childTnLst>
                                </p:cTn>
                              </p:par>
                              <p:par>
                                <p:cTn id="32" presetID="42" presetClass="entr" presetSubtype="0" fill="hold" grpId="0" nodeType="withEffect">
                                  <p:stCondLst>
                                    <p:cond delay="250"/>
                                  </p:stCondLst>
                                  <p:childTnLst>
                                    <p:set>
                                      <p:cBhvr>
                                        <p:cTn id="31"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anim calcmode="lin" valueType="num">
                                      <p:cBhvr>
                                        <p:cTn id="34" dur="500" fill="hold"/>
                                        <p:tgtEl>
                                          <p:spTgt spid="13"/>
                                        </p:tgtEl>
                                        <p:attrNameLst>
                                          <p:attrName>ppt_x</p:attrName>
                                        </p:attrNameLst>
                                      </p:cBhvr>
                                      <p:tavLst>
                                        <p:tav tm="0">
                                          <p:val>
                                            <p:strVal val="#ppt_x"/>
                                          </p:val>
                                        </p:tav>
                                        <p:tav tm="100000">
                                          <p:val>
                                            <p:strVal val="#ppt_x"/>
                                          </p:val>
                                        </p:tav>
                                      </p:tavLst>
                                    </p:anim>
                                    <p:anim calcmode="lin" valueType="num">
                                      <p:cBhvr>
                                        <p:cTn id="35" dur="500" fill="hold"/>
                                        <p:tgtEl>
                                          <p:spTgt spid="13"/>
                                        </p:tgtEl>
                                        <p:attrNameLst>
                                          <p:attrName>ppt_y</p:attrName>
                                        </p:attrNameLst>
                                      </p:cBhvr>
                                      <p:tavLst>
                                        <p:tav tm="0">
                                          <p:val>
                                            <p:strVal val="#ppt_y+0.06"/>
                                          </p:val>
                                        </p:tav>
                                        <p:tav tm="100000">
                                          <p:val>
                                            <p:strVal val="#ppt_y"/>
                                          </p:val>
                                        </p:tav>
                                      </p:tavLst>
                                    </p:anim>
                                  </p:childTnLst>
                                </p:cTn>
                              </p:par>
                              <p:par>
                                <p:cTn id="37" presetID="42" presetClass="entr" presetSubtype="0" fill="hold" grpId="0" nodeType="withEffect">
                                  <p:stCondLst>
                                    <p:cond delay="250"/>
                                  </p:stCondLst>
                                  <p:childTnLst>
                                    <p:set>
                                      <p:cBhvr>
                                        <p:cTn id="36"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strVal val="#ppt_x"/>
                                          </p:val>
                                        </p:tav>
                                        <p:tav tm="100000">
                                          <p:val>
                                            <p:strVal val="#ppt_x"/>
                                          </p:val>
                                        </p:tav>
                                      </p:tavLst>
                                    </p:anim>
                                    <p:anim calcmode="lin" valueType="num">
                                      <p:cBhvr>
                                        <p:cTn id="40" dur="500" fill="hold"/>
                                        <p:tgtEl>
                                          <p:spTgt spid="15"/>
                                        </p:tgtEl>
                                        <p:attrNameLst>
                                          <p:attrName>ppt_y</p:attrName>
                                        </p:attrNameLst>
                                      </p:cBhvr>
                                      <p:tavLst>
                                        <p:tav tm="0">
                                          <p:val>
                                            <p:strVal val="#ppt_y+0.06"/>
                                          </p:val>
                                        </p:tav>
                                        <p:tav tm="100000">
                                          <p:val>
                                            <p:strVal val="#ppt_y"/>
                                          </p:val>
                                        </p:tav>
                                      </p:tavLst>
                                    </p:anim>
                                  </p:childTnLst>
                                </p:cTn>
                              </p:par>
                              <p:par>
                                <p:cTn id="42" presetID="42" presetClass="entr" presetSubtype="0" fill="hold" grpId="0" nodeType="withEffect">
                                  <p:stCondLst>
                                    <p:cond delay="250"/>
                                  </p:stCondLst>
                                  <p:childTnLst>
                                    <p:set>
                                      <p:cBhvr>
                                        <p:cTn id="41"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anim calcmode="lin" valueType="num">
                                      <p:cBhvr>
                                        <p:cTn id="44" dur="500" fill="hold"/>
                                        <p:tgtEl>
                                          <p:spTgt spid="16"/>
                                        </p:tgtEl>
                                        <p:attrNameLst>
                                          <p:attrName>ppt_x</p:attrName>
                                        </p:attrNameLst>
                                      </p:cBhvr>
                                      <p:tavLst>
                                        <p:tav tm="0">
                                          <p:val>
                                            <p:strVal val="#ppt_x"/>
                                          </p:val>
                                        </p:tav>
                                        <p:tav tm="100000">
                                          <p:val>
                                            <p:strVal val="#ppt_x"/>
                                          </p:val>
                                        </p:tav>
                                      </p:tavLst>
                                    </p:anim>
                                    <p:anim calcmode="lin" valueType="num">
                                      <p:cBhvr>
                                        <p:cTn id="45" dur="500" fill="hold"/>
                                        <p:tgtEl>
                                          <p:spTgt spid="16"/>
                                        </p:tgtEl>
                                        <p:attrNameLst>
                                          <p:attrName>ppt_y</p:attrName>
                                        </p:attrNameLst>
                                      </p:cBhvr>
                                      <p:tavLst>
                                        <p:tav tm="0">
                                          <p:val>
                                            <p:strVal val="#ppt_y+0.06"/>
                                          </p:val>
                                        </p:tav>
                                        <p:tav tm="100000">
                                          <p:val>
                                            <p:strVal val="#ppt_y"/>
                                          </p:val>
                                        </p:tav>
                                      </p:tavLst>
                                    </p:anim>
                                  </p:childTnLst>
                                </p:cTn>
                              </p:par>
                              <p:par>
                                <p:cTn id="47" presetID="42" presetClass="entr" presetSubtype="0" fill="hold" grpId="0" nodeType="withEffect">
                                  <p:stCondLst>
                                    <p:cond delay="250"/>
                                  </p:stCondLst>
                                  <p:childTnLst>
                                    <p:set>
                                      <p:cBhvr>
                                        <p:cTn id="46"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anim calcmode="lin" valueType="num">
                                      <p:cBhvr>
                                        <p:cTn id="49" dur="500" fill="hold"/>
                                        <p:tgtEl>
                                          <p:spTgt spid="18"/>
                                        </p:tgtEl>
                                        <p:attrNameLst>
                                          <p:attrName>ppt_x</p:attrName>
                                        </p:attrNameLst>
                                      </p:cBhvr>
                                      <p:tavLst>
                                        <p:tav tm="0">
                                          <p:val>
                                            <p:strVal val="#ppt_x"/>
                                          </p:val>
                                        </p:tav>
                                        <p:tav tm="100000">
                                          <p:val>
                                            <p:strVal val="#ppt_x"/>
                                          </p:val>
                                        </p:tav>
                                      </p:tavLst>
                                    </p:anim>
                                    <p:anim calcmode="lin" valueType="num">
                                      <p:cBhvr>
                                        <p:cTn id="50" dur="500" fill="hold"/>
                                        <p:tgtEl>
                                          <p:spTgt spid="18"/>
                                        </p:tgtEl>
                                        <p:attrNameLst>
                                          <p:attrName>ppt_y</p:attrName>
                                        </p:attrNameLst>
                                      </p:cBhvr>
                                      <p:tavLst>
                                        <p:tav tm="0">
                                          <p:val>
                                            <p:strVal val="#ppt_y+0.06"/>
                                          </p:val>
                                        </p:tav>
                                        <p:tav tm="100000">
                                          <p:val>
                                            <p:strVal val="#ppt_y"/>
                                          </p:val>
                                        </p:tav>
                                      </p:tavLst>
                                    </p:anim>
                                  </p:childTnLst>
                                </p:cTn>
                              </p:par>
                              <p:par>
                                <p:cTn id="52" presetID="42" presetClass="entr" presetSubtype="0" fill="hold" grpId="0" nodeType="withEffect">
                                  <p:stCondLst>
                                    <p:cond delay="2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anim calcmode="lin" valueType="num">
                                      <p:cBhvr>
                                        <p:cTn id="54" dur="500" fill="hold"/>
                                        <p:tgtEl>
                                          <p:spTgt spid="19"/>
                                        </p:tgtEl>
                                        <p:attrNameLst>
                                          <p:attrName>ppt_x</p:attrName>
                                        </p:attrNameLst>
                                      </p:cBhvr>
                                      <p:tavLst>
                                        <p:tav tm="0">
                                          <p:val>
                                            <p:strVal val="#ppt_x"/>
                                          </p:val>
                                        </p:tav>
                                        <p:tav tm="100000">
                                          <p:val>
                                            <p:strVal val="#ppt_x"/>
                                          </p:val>
                                        </p:tav>
                                      </p:tavLst>
                                    </p:anim>
                                    <p:anim calcmode="lin" valueType="num">
                                      <p:cBhvr>
                                        <p:cTn id="55" dur="500" fill="hold"/>
                                        <p:tgtEl>
                                          <p:spTgt spid="19"/>
                                        </p:tgtEl>
                                        <p:attrNameLst>
                                          <p:attrName>ppt_y</p:attrName>
                                        </p:attrNameLst>
                                      </p:cBhvr>
                                      <p:tavLst>
                                        <p:tav tm="0">
                                          <p:val>
                                            <p:strVal val="#ppt_y+0.06"/>
                                          </p:val>
                                        </p:tav>
                                        <p:tav tm="100000">
                                          <p:val>
                                            <p:strVal val="#ppt_y"/>
                                          </p:val>
                                        </p:tav>
                                      </p:tavLst>
                                    </p:anim>
                                  </p:childTnLst>
                                </p:cTn>
                              </p:par>
                              <p:par>
                                <p:cTn id="57" presetID="22" presetClass="entr" presetSubtype="8" fill="hold" grpId="0" nodeType="withEffect">
                                  <p:stCondLst>
                                    <p:cond delay="40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8" dur="450"/>
                                        <p:tgtEl>
                                          <p:spTgt spid="21"/>
                                        </p:tgtEl>
                                      </p:cBhvr>
                                    </p:animEffect>
                                  </p:childTnLst>
                                </p:cTn>
                              </p:par>
                              <p:par>
                                <p:cTn id="60" presetID="42" presetClass="entr" presetSubtype="0" fill="hold" grpId="0" nodeType="withEffect">
                                  <p:stCondLst>
                                    <p:cond delay="550"/>
                                  </p:stCondLst>
                                  <p:childTnLst>
                                    <p:set>
                                      <p:cBhvr>
                                        <p:cTn id="59"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anim calcmode="lin" valueType="num">
                                      <p:cBhvr>
                                        <p:cTn id="62" dur="500" fill="hold"/>
                                        <p:tgtEl>
                                          <p:spTgt spid="22"/>
                                        </p:tgtEl>
                                        <p:attrNameLst>
                                          <p:attrName>ppt_x</p:attrName>
                                        </p:attrNameLst>
                                      </p:cBhvr>
                                      <p:tavLst>
                                        <p:tav tm="0">
                                          <p:val>
                                            <p:strVal val="#ppt_x"/>
                                          </p:val>
                                        </p:tav>
                                        <p:tav tm="100000">
                                          <p:val>
                                            <p:strVal val="#ppt_x"/>
                                          </p:val>
                                        </p:tav>
                                      </p:tavLst>
                                    </p:anim>
                                    <p:anim calcmode="lin" valueType="num">
                                      <p:cBhvr>
                                        <p:cTn id="63" dur="500" fill="hold"/>
                                        <p:tgtEl>
                                          <p:spTgt spid="22"/>
                                        </p:tgtEl>
                                        <p:attrNameLst>
                                          <p:attrName>ppt_y</p:attrName>
                                        </p:attrNameLst>
                                      </p:cBhvr>
                                      <p:tavLst>
                                        <p:tav tm="0">
                                          <p:val>
                                            <p:strVal val="#ppt_y+0.06"/>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7" presetID="42"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anim calcmode="lin" valueType="num">
                                      <p:cBhvr>
                                        <p:cTn id="69" dur="500" fill="hold"/>
                                        <p:tgtEl>
                                          <p:spTgt spid="23"/>
                                        </p:tgtEl>
                                        <p:attrNameLst>
                                          <p:attrName>ppt_x</p:attrName>
                                        </p:attrNameLst>
                                      </p:cBhvr>
                                      <p:tavLst>
                                        <p:tav tm="0">
                                          <p:val>
                                            <p:strVal val="#ppt_x"/>
                                          </p:val>
                                        </p:tav>
                                        <p:tav tm="100000">
                                          <p:val>
                                            <p:strVal val="#ppt_x"/>
                                          </p:val>
                                        </p:tav>
                                      </p:tavLst>
                                    </p:anim>
                                    <p:anim calcmode="lin" valueType="num">
                                      <p:cBhvr>
                                        <p:cTn id="70" dur="500" fill="hold"/>
                                        <p:tgtEl>
                                          <p:spTgt spid="23"/>
                                        </p:tgtEl>
                                        <p:attrNameLst>
                                          <p:attrName>ppt_y</p:attrName>
                                        </p:attrNameLst>
                                      </p:cBhvr>
                                      <p:tavLst>
                                        <p:tav tm="0">
                                          <p:val>
                                            <p:strVal val="#ppt_y+0.06"/>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4" presetID="22" presetClass="entr" presetSubtype="8" fill="hold" grpId="0"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wipe(left)">
                                      <p:cBhvr>
                                        <p:cTn id="75" dur="450"/>
                                        <p:tgtEl>
                                          <p:spTgt spid="24"/>
                                        </p:tgtEl>
                                      </p:cBhvr>
                                    </p:animEffect>
                                  </p:childTnLst>
                                </p:cTn>
                              </p:par>
                              <p:par>
                                <p:cTn id="77" presetID="10" presetClass="entr" presetSubtype="0" fill="hold" grpId="0" nodeType="withEffect">
                                  <p:stCondLst>
                                    <p:cond delay="250"/>
                                  </p:stCondLst>
                                  <p:childTnLst>
                                    <p:set>
                                      <p:cBhvr>
                                        <p:cTn id="76"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80" presetID="10" presetClass="entr" presetSubtype="0" fill="hold" grpId="0" nodeType="withEffect">
                                  <p:stCondLst>
                                    <p:cond delay="300"/>
                                  </p:stCondLst>
                                  <p:childTnLst>
                                    <p:set>
                                      <p:cBhvr>
                                        <p:cTn id="79"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0" presetClass="path" presetSubtype="0" accel="50000" decel="50000" fill="hold" grpId="0" nodeType="withEffect">
                                  <p:stCondLst>
                                    <p:cond delay="400"/>
                                  </p:stCondLst>
                                  <p:childTnLst>
                                    <p:animMotion origin="layout" path="M 0 0 L 0.02625 0 E" pathEditMode="relative" ptsTypes="AA">
                                      <p:cBhvr>
                                        <p:cTn id="83" dur="900" fill="hold"/>
                                        <p:tgtEl>
                                          <p:spTgt spid="14"/>
                                        </p:tgtEl>
                                        <p:attrNameLst>
                                          <p:attrName>ppt_x</p:attrName>
                                          <p:attrName>ppt_y</p:attrName>
                                        </p:attrNameLst>
                                      </p:cBhvr>
                                    </p:animMotion>
                                  </p:childTnLst>
                                </p:cTn>
                              </p:par>
                              <p:par>
                                <p:cTn id="84" presetID="0" presetClass="path" presetSubtype="0" accel="50000" decel="50000" fill="hold" grpId="0" nodeType="withEffect">
                                  <p:stCondLst>
                                    <p:cond delay="550"/>
                                  </p:stCondLst>
                                  <p:childTnLst>
                                    <p:animMotion origin="layout" path="M 0 0 L -0.02100 0 E" pathEditMode="relative" ptsTypes="AA">
                                      <p:cBhvr>
                                        <p:cTn id="85" dur="900" fill="hold"/>
                                        <p:tgtEl>
                                          <p:spTgt spid="17"/>
                                        </p:tgtEl>
                                        <p:attrNameLst>
                                          <p:attrName>ppt_x</p:attrName>
                                          <p:attrName>ppt_y</p:attrName>
                                        </p:attrNameLst>
                                      </p:cBhvr>
                                    </p:animMotion>
                                  </p:childTnLst>
                                </p:cTn>
                              </p:par>
                              <p:par>
                                <p:cTn id="86" presetID="0" presetClass="path" presetSubtype="0" accel="50000" decel="50000" fill="hold" grpId="0" nodeType="withEffect">
                                  <p:stCondLst>
                                    <p:cond delay="700"/>
                                  </p:stCondLst>
                                  <p:childTnLst>
                                    <p:animMotion origin="layout" path="M 0 0 L 0.01650 0 E" pathEditMode="relative" ptsTypes="AA">
                                      <p:cBhvr>
                                        <p:cTn id="87" dur="900" fill="hold"/>
                                        <p:tgtEl>
                                          <p:spTgt spid="20"/>
                                        </p:tgtEl>
                                        <p:attrNameLst>
                                          <p:attrName>ppt_x</p:attrName>
                                          <p:attrName>ppt_y</p:attrName>
                                        </p:attrNameLst>
                                      </p:cBhvr>
                                    </p:animMotion>
                                  </p:childTnLst>
                                </p:cTn>
                              </p:par>
                            </p:childTnLst>
                          </p:cTn>
                        </p:par>
                      </p:childTnLst>
                    </p:cTn>
                  </p:par>
                  <p:par>
                    <p:cTn id="88" fill="hold">
                      <p:stCondLst>
                        <p:cond delay="indefinite"/>
                      </p:stCondLst>
                      <p:childTnLst>
                        <p:par>
                          <p:cTn id="89" fill="hold">
                            <p:stCondLst>
                              <p:cond delay="0"/>
                            </p:stCondLst>
                            <p:childTnLst>
                              <p:par>
                                <p:cTn id="91" presetID="10"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2" dur="500"/>
                                        <p:tgtEl>
                                          <p:spTgt spid="27"/>
                                        </p:tgtEl>
                                      </p:cBhvr>
                                    </p:animEffect>
                                  </p:childTnLst>
                                </p:cTn>
                              </p:par>
                              <p:par>
                                <p:cTn id="94" presetID="10" presetClass="entr" presetSubtype="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par>
                                <p:cTn id="97" presetID="10"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8" dur="500"/>
                                        <p:tgtEl>
                                          <p:spTgt spid="29"/>
                                        </p:tgtEl>
                                      </p:cBhvr>
                                    </p:animEffect>
                                  </p:childTnLst>
                                </p:cTn>
                              </p:par>
                              <p:par>
                                <p:cTn id="100" presetID="10" presetClass="entr" presetSubtype="0" fill="hold" grpId="0" nodeType="withEffect">
                                  <p:stCondLst>
                                    <p:cond delay="10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1" dur="500"/>
                                        <p:tgtEl>
                                          <p:spTgt spid="30"/>
                                        </p:tgtEl>
                                      </p:cBhvr>
                                    </p:animEffect>
                                  </p:childTnLst>
                                </p:cTn>
                              </p:par>
                              <p:par>
                                <p:cTn id="103" presetID="10" presetClass="entr" presetSubtype="0" fill="hold" grpId="0" nodeType="withEffect">
                                  <p:stCondLst>
                                    <p:cond delay="17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childTnLst>
                                </p:cTn>
                              </p:par>
                              <p:par>
                                <p:cTn id="106" presetID="10" presetClass="entr" presetSubtype="0" fill="hold" grpId="0" nodeType="withEffect">
                                  <p:stCondLst>
                                    <p:cond delay="24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7" dur="500"/>
                                        <p:tgtEl>
                                          <p:spTgt spid="32"/>
                                        </p:tgtEl>
                                      </p:cBhvr>
                                    </p:animEffect>
                                  </p:childTnLst>
                                </p:cTn>
                              </p:par>
                              <p:par>
                                <p:cTn id="109" presetID="53" presetClass="entr" presetSubtype="16" fill="hold" grpId="0" nodeType="withEffect">
                                  <p:stCondLst>
                                    <p:cond delay="300"/>
                                  </p:stCondLst>
                                  <p:childTnLst>
                                    <p:set>
                                      <p:cBhvr>
                                        <p:cTn id="108" dur="1" fill="hold">
                                          <p:stCondLst>
                                            <p:cond delay="0"/>
                                          </p:stCondLst>
                                        </p:cTn>
                                        <p:tgtEl>
                                          <p:spTgt spid="50"/>
                                        </p:tgtEl>
                                        <p:attrNameLst>
                                          <p:attrName>style.visibility</p:attrName>
                                        </p:attrNameLst>
                                      </p:cBhvr>
                                      <p:to>
                                        <p:strVal val="visible"/>
                                      </p:to>
                                    </p:set>
                                    <p:anim calcmode="lin" valueType="num">
                                      <p:cBhvr>
                                        <p:cTn id="110" dur="500" fill="hold"/>
                                        <p:tgtEl>
                                          <p:spTgt spid="50"/>
                                        </p:tgtEl>
                                        <p:attrNameLst>
                                          <p:attrName>ppt_w</p:attrName>
                                        </p:attrNameLst>
                                      </p:cBhvr>
                                      <p:tavLst>
                                        <p:tav tm="0">
                                          <p:val>
                                            <p:fltVal val="0"/>
                                          </p:val>
                                        </p:tav>
                                        <p:tav tm="100000">
                                          <p:val>
                                            <p:strVal val="#ppt_w"/>
                                          </p:val>
                                        </p:tav>
                                      </p:tavLst>
                                    </p:anim>
                                    <p:anim calcmode="lin" valueType="num">
                                      <p:cBhvr>
                                        <p:cTn id="111" dur="500" fill="hold"/>
                                        <p:tgtEl>
                                          <p:spTgt spid="50"/>
                                        </p:tgtEl>
                                        <p:attrNameLst>
                                          <p:attrName>ppt_h</p:attrName>
                                        </p:attrNameLst>
                                      </p:cBhvr>
                                      <p:tavLst>
                                        <p:tav tm="0">
                                          <p:val>
                                            <p:fltVal val="0"/>
                                          </p:val>
                                        </p:tav>
                                        <p:tav tm="100000">
                                          <p:val>
                                            <p:strVal val="#ppt_h"/>
                                          </p:val>
                                        </p:tav>
                                      </p:tavLst>
                                    </p:anim>
                                    <p:animEffect transition="in" filter="fade">
                                      <p:cBhvr>
                                        <p:cTn id="112" dur="500"/>
                                        <p:tgtEl>
                                          <p:spTgt spid="50"/>
                                        </p:tgtEl>
                                      </p:cBhvr>
                                    </p:animEffect>
                                  </p:childTnLst>
                                </p:cTn>
                              </p:par>
                              <p:par>
                                <p:cTn id="114" presetID="10" presetClass="entr" presetSubtype="0" fill="hold" grpId="0" nodeType="withEffect">
                                  <p:stCondLst>
                                    <p:cond delay="31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5" dur="500"/>
                                        <p:tgtEl>
                                          <p:spTgt spid="33"/>
                                        </p:tgtEl>
                                      </p:cBhvr>
                                    </p:animEffect>
                                  </p:childTnLst>
                                </p:cTn>
                              </p:par>
                              <p:par>
                                <p:cTn id="117" presetID="10" presetClass="entr" presetSubtype="0" fill="hold" grpId="0" nodeType="withEffect">
                                  <p:stCondLst>
                                    <p:cond delay="350"/>
                                  </p:stCondLst>
                                  <p:childTnLst>
                                    <p:set>
                                      <p:cBhvr>
                                        <p:cTn id="116" dur="1" fill="hold">
                                          <p:stCondLst>
                                            <p:cond delay="0"/>
                                          </p:stCondLst>
                                        </p:cTn>
                                        <p:tgtEl>
                                          <p:spTgt spid="51"/>
                                        </p:tgtEl>
                                        <p:attrNameLst>
                                          <p:attrName>style.visibility</p:attrName>
                                        </p:attrNameLst>
                                      </p:cBhvr>
                                      <p:to>
                                        <p:strVal val="visible"/>
                                      </p:to>
                                    </p:set>
                                    <p:animEffect transition="in" filter="fade">
                                      <p:cBhvr>
                                        <p:cTn id="118" dur="500"/>
                                        <p:tgtEl>
                                          <p:spTgt spid="51"/>
                                        </p:tgtEl>
                                      </p:cBhvr>
                                    </p:animEffect>
                                  </p:childTnLst>
                                </p:cTn>
                              </p:par>
                              <p:par>
                                <p:cTn id="120" presetID="10" presetClass="entr" presetSubtype="0" fill="hold" grpId="0" nodeType="withEffect">
                                  <p:stCondLst>
                                    <p:cond delay="380"/>
                                  </p:stCondLst>
                                  <p:childTnLst>
                                    <p:set>
                                      <p:cBhvr>
                                        <p:cTn id="119" dur="1" fill="hold">
                                          <p:stCondLst>
                                            <p:cond delay="0"/>
                                          </p:stCondLst>
                                        </p:cTn>
                                        <p:tgtEl>
                                          <p:spTgt spid="34"/>
                                        </p:tgtEl>
                                        <p:attrNameLst>
                                          <p:attrName>style.visibility</p:attrName>
                                        </p:attrNameLst>
                                      </p:cBhvr>
                                      <p:to>
                                        <p:strVal val="visible"/>
                                      </p:to>
                                    </p:set>
                                    <p:animEffect transition="in" filter="fade">
                                      <p:cBhvr>
                                        <p:cTn id="121" dur="500"/>
                                        <p:tgtEl>
                                          <p:spTgt spid="34"/>
                                        </p:tgtEl>
                                      </p:cBhvr>
                                    </p:animEffect>
                                  </p:childTnLst>
                                </p:cTn>
                              </p:par>
                              <p:par>
                                <p:cTn id="123" presetID="10" presetClass="entr" presetSubtype="0" fill="hold" grpId="0" nodeType="withEffect">
                                  <p:stCondLst>
                                    <p:cond delay="450"/>
                                  </p:stCondLst>
                                  <p:childTnLst>
                                    <p:set>
                                      <p:cBhvr>
                                        <p:cTn id="122" dur="1" fill="hold">
                                          <p:stCondLst>
                                            <p:cond delay="0"/>
                                          </p:stCondLst>
                                        </p:cTn>
                                        <p:tgtEl>
                                          <p:spTgt spid="35"/>
                                        </p:tgtEl>
                                        <p:attrNameLst>
                                          <p:attrName>style.visibility</p:attrName>
                                        </p:attrNameLst>
                                      </p:cBhvr>
                                      <p:to>
                                        <p:strVal val="visible"/>
                                      </p:to>
                                    </p:set>
                                    <p:animEffect transition="in" filter="fade">
                                      <p:cBhvr>
                                        <p:cTn id="124" dur="500"/>
                                        <p:tgtEl>
                                          <p:spTgt spid="35"/>
                                        </p:tgtEl>
                                      </p:cBhvr>
                                    </p:animEffect>
                                  </p:childTnLst>
                                </p:cTn>
                              </p:par>
                              <p:par>
                                <p:cTn id="126" presetID="10" presetClass="entr" presetSubtype="0" fill="hold" grpId="0" nodeType="withEffect">
                                  <p:stCondLst>
                                    <p:cond delay="52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7" dur="500"/>
                                        <p:tgtEl>
                                          <p:spTgt spid="36"/>
                                        </p:tgtEl>
                                      </p:cBhvr>
                                    </p:animEffect>
                                  </p:childTnLst>
                                </p:cTn>
                              </p:par>
                              <p:par>
                                <p:cTn id="129" presetID="10" presetClass="entr" presetSubtype="0" fill="hold" grpId="0" nodeType="withEffect">
                                  <p:stCondLst>
                                    <p:cond delay="59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childTnLst>
                                </p:cTn>
                              </p:par>
                              <p:par>
                                <p:cTn id="132" presetID="10" presetClass="entr" presetSubtype="0" fill="hold" grpId="0" nodeType="withEffect">
                                  <p:stCondLst>
                                    <p:cond delay="660"/>
                                  </p:stCondLst>
                                  <p:childTnLst>
                                    <p:set>
                                      <p:cBhvr>
                                        <p:cTn id="131" dur="1" fill="hold">
                                          <p:stCondLst>
                                            <p:cond delay="0"/>
                                          </p:stCondLst>
                                        </p:cTn>
                                        <p:tgtEl>
                                          <p:spTgt spid="38"/>
                                        </p:tgtEl>
                                        <p:attrNameLst>
                                          <p:attrName>style.visibility</p:attrName>
                                        </p:attrNameLst>
                                      </p:cBhvr>
                                      <p:to>
                                        <p:strVal val="visible"/>
                                      </p:to>
                                    </p:set>
                                    <p:animEffect transition="in" filter="fade">
                                      <p:cBhvr>
                                        <p:cTn id="133" dur="500"/>
                                        <p:tgtEl>
                                          <p:spTgt spid="38"/>
                                        </p:tgtEl>
                                      </p:cBhvr>
                                    </p:animEffect>
                                  </p:childTnLst>
                                </p:cTn>
                              </p:par>
                              <p:par>
                                <p:cTn id="135" presetID="10" presetClass="entr" presetSubtype="0" fill="hold" grpId="0" nodeType="withEffect">
                                  <p:stCondLst>
                                    <p:cond delay="730"/>
                                  </p:stCondLst>
                                  <p:childTnLst>
                                    <p:set>
                                      <p:cBhvr>
                                        <p:cTn id="134" dur="1" fill="hold">
                                          <p:stCondLst>
                                            <p:cond delay="0"/>
                                          </p:stCondLst>
                                        </p:cTn>
                                        <p:tgtEl>
                                          <p:spTgt spid="39"/>
                                        </p:tgtEl>
                                        <p:attrNameLst>
                                          <p:attrName>style.visibility</p:attrName>
                                        </p:attrNameLst>
                                      </p:cBhvr>
                                      <p:to>
                                        <p:strVal val="visible"/>
                                      </p:to>
                                    </p:set>
                                    <p:animEffect transition="in" filter="fade">
                                      <p:cBhvr>
                                        <p:cTn id="136" dur="500"/>
                                        <p:tgtEl>
                                          <p:spTgt spid="39"/>
                                        </p:tgtEl>
                                      </p:cBhvr>
                                    </p:animEffect>
                                  </p:childTnLst>
                                </p:cTn>
                              </p:par>
                              <p:par>
                                <p:cTn id="138" presetID="10" presetClass="entr" presetSubtype="0" fill="hold" grpId="0" nodeType="withEffect">
                                  <p:stCondLst>
                                    <p:cond delay="800"/>
                                  </p:stCondLst>
                                  <p:childTnLst>
                                    <p:set>
                                      <p:cBhvr>
                                        <p:cTn id="137" dur="1" fill="hold">
                                          <p:stCondLst>
                                            <p:cond delay="0"/>
                                          </p:stCondLst>
                                        </p:cTn>
                                        <p:tgtEl>
                                          <p:spTgt spid="40"/>
                                        </p:tgtEl>
                                        <p:attrNameLst>
                                          <p:attrName>style.visibility</p:attrName>
                                        </p:attrNameLst>
                                      </p:cBhvr>
                                      <p:to>
                                        <p:strVal val="visible"/>
                                      </p:to>
                                    </p:set>
                                    <p:animEffect transition="in" filter="fade">
                                      <p:cBhvr>
                                        <p:cTn id="139" dur="500"/>
                                        <p:tgtEl>
                                          <p:spTgt spid="40"/>
                                        </p:tgtEl>
                                      </p:cBhvr>
                                    </p:animEffect>
                                  </p:childTnLst>
                                </p:cTn>
                              </p:par>
                              <p:par>
                                <p:cTn id="141" presetID="10" presetClass="entr" presetSubtype="0" fill="hold" grpId="0" nodeType="withEffect">
                                  <p:stCondLst>
                                    <p:cond delay="870"/>
                                  </p:stCondLst>
                                  <p:childTnLst>
                                    <p:set>
                                      <p:cBhvr>
                                        <p:cTn id="140" dur="1" fill="hold">
                                          <p:stCondLst>
                                            <p:cond delay="0"/>
                                          </p:stCondLst>
                                        </p:cTn>
                                        <p:tgtEl>
                                          <p:spTgt spid="41"/>
                                        </p:tgtEl>
                                        <p:attrNameLst>
                                          <p:attrName>style.visibility</p:attrName>
                                        </p:attrNameLst>
                                      </p:cBhvr>
                                      <p:to>
                                        <p:strVal val="visible"/>
                                      </p:to>
                                    </p:set>
                                    <p:animEffect transition="in" filter="fade">
                                      <p:cBhvr>
                                        <p:cTn id="142" dur="500"/>
                                        <p:tgtEl>
                                          <p:spTgt spid="41"/>
                                        </p:tgtEl>
                                      </p:cBhvr>
                                    </p:animEffect>
                                  </p:childTnLst>
                                </p:cTn>
                              </p:par>
                              <p:par>
                                <p:cTn id="144" presetID="53" presetClass="entr" presetSubtype="16" fill="hold" grpId="0" nodeType="withEffect">
                                  <p:stCondLst>
                                    <p:cond delay="900"/>
                                  </p:stCondLst>
                                  <p:childTnLst>
                                    <p:set>
                                      <p:cBhvr>
                                        <p:cTn id="143" dur="1" fill="hold">
                                          <p:stCondLst>
                                            <p:cond delay="0"/>
                                          </p:stCondLst>
                                        </p:cTn>
                                        <p:tgtEl>
                                          <p:spTgt spid="52"/>
                                        </p:tgtEl>
                                        <p:attrNameLst>
                                          <p:attrName>style.visibility</p:attrName>
                                        </p:attrNameLst>
                                      </p:cBhvr>
                                      <p:to>
                                        <p:strVal val="visible"/>
                                      </p:to>
                                    </p:set>
                                    <p:anim calcmode="lin" valueType="num">
                                      <p:cBhvr>
                                        <p:cTn id="145" dur="500" fill="hold"/>
                                        <p:tgtEl>
                                          <p:spTgt spid="52"/>
                                        </p:tgtEl>
                                        <p:attrNameLst>
                                          <p:attrName>ppt_w</p:attrName>
                                        </p:attrNameLst>
                                      </p:cBhvr>
                                      <p:tavLst>
                                        <p:tav tm="0">
                                          <p:val>
                                            <p:fltVal val="0"/>
                                          </p:val>
                                        </p:tav>
                                        <p:tav tm="100000">
                                          <p:val>
                                            <p:strVal val="#ppt_w"/>
                                          </p:val>
                                        </p:tav>
                                      </p:tavLst>
                                    </p:anim>
                                    <p:anim calcmode="lin" valueType="num">
                                      <p:cBhvr>
                                        <p:cTn id="146" dur="500" fill="hold"/>
                                        <p:tgtEl>
                                          <p:spTgt spid="52"/>
                                        </p:tgtEl>
                                        <p:attrNameLst>
                                          <p:attrName>ppt_h</p:attrName>
                                        </p:attrNameLst>
                                      </p:cBhvr>
                                      <p:tavLst>
                                        <p:tav tm="0">
                                          <p:val>
                                            <p:fltVal val="0"/>
                                          </p:val>
                                        </p:tav>
                                        <p:tav tm="100000">
                                          <p:val>
                                            <p:strVal val="#ppt_h"/>
                                          </p:val>
                                        </p:tav>
                                      </p:tavLst>
                                    </p:anim>
                                    <p:animEffect transition="in" filter="fade">
                                      <p:cBhvr>
                                        <p:cTn id="147" dur="500"/>
                                        <p:tgtEl>
                                          <p:spTgt spid="52"/>
                                        </p:tgtEl>
                                      </p:cBhvr>
                                    </p:animEffect>
                                  </p:childTnLst>
                                </p:cTn>
                              </p:par>
                              <p:par>
                                <p:cTn id="149" presetID="10" presetClass="entr" presetSubtype="0" fill="hold" grpId="0" nodeType="withEffect">
                                  <p:stCondLst>
                                    <p:cond delay="940"/>
                                  </p:stCondLst>
                                  <p:childTnLst>
                                    <p:set>
                                      <p:cBhvr>
                                        <p:cTn id="148" dur="1" fill="hold">
                                          <p:stCondLst>
                                            <p:cond delay="0"/>
                                          </p:stCondLst>
                                        </p:cTn>
                                        <p:tgtEl>
                                          <p:spTgt spid="42"/>
                                        </p:tgtEl>
                                        <p:attrNameLst>
                                          <p:attrName>style.visibility</p:attrName>
                                        </p:attrNameLst>
                                      </p:cBhvr>
                                      <p:to>
                                        <p:strVal val="visible"/>
                                      </p:to>
                                    </p:set>
                                    <p:animEffect transition="in" filter="fade">
                                      <p:cBhvr>
                                        <p:cTn id="150" dur="500"/>
                                        <p:tgtEl>
                                          <p:spTgt spid="42"/>
                                        </p:tgtEl>
                                      </p:cBhvr>
                                    </p:animEffect>
                                  </p:childTnLst>
                                </p:cTn>
                              </p:par>
                              <p:par>
                                <p:cTn id="152" presetID="10" presetClass="entr" presetSubtype="0" fill="hold" grpId="0" nodeType="withEffect">
                                  <p:stCondLst>
                                    <p:cond delay="950"/>
                                  </p:stCondLst>
                                  <p:childTnLst>
                                    <p:set>
                                      <p:cBhvr>
                                        <p:cTn id="151" dur="1" fill="hold">
                                          <p:stCondLst>
                                            <p:cond delay="0"/>
                                          </p:stCondLst>
                                        </p:cTn>
                                        <p:tgtEl>
                                          <p:spTgt spid="53"/>
                                        </p:tgtEl>
                                        <p:attrNameLst>
                                          <p:attrName>style.visibility</p:attrName>
                                        </p:attrNameLst>
                                      </p:cBhvr>
                                      <p:to>
                                        <p:strVal val="visible"/>
                                      </p:to>
                                    </p:set>
                                    <p:animEffect transition="in" filter="fade">
                                      <p:cBhvr>
                                        <p:cTn id="153" dur="500"/>
                                        <p:tgtEl>
                                          <p:spTgt spid="53"/>
                                        </p:tgtEl>
                                      </p:cBhvr>
                                    </p:animEffect>
                                  </p:childTnLst>
                                </p:cTn>
                              </p:par>
                              <p:par>
                                <p:cTn id="155" presetID="10" presetClass="entr" presetSubtype="0" fill="hold" grpId="0" nodeType="withEffect">
                                  <p:stCondLst>
                                    <p:cond delay="1010"/>
                                  </p:stCondLst>
                                  <p:childTnLst>
                                    <p:set>
                                      <p:cBhvr>
                                        <p:cTn id="154" dur="1" fill="hold">
                                          <p:stCondLst>
                                            <p:cond delay="0"/>
                                          </p:stCondLst>
                                        </p:cTn>
                                        <p:tgtEl>
                                          <p:spTgt spid="43"/>
                                        </p:tgtEl>
                                        <p:attrNameLst>
                                          <p:attrName>style.visibility</p:attrName>
                                        </p:attrNameLst>
                                      </p:cBhvr>
                                      <p:to>
                                        <p:strVal val="visible"/>
                                      </p:to>
                                    </p:set>
                                    <p:animEffect transition="in" filter="fade">
                                      <p:cBhvr>
                                        <p:cTn id="156" dur="500"/>
                                        <p:tgtEl>
                                          <p:spTgt spid="43"/>
                                        </p:tgtEl>
                                      </p:cBhvr>
                                    </p:animEffect>
                                  </p:childTnLst>
                                </p:cTn>
                              </p:par>
                              <p:par>
                                <p:cTn id="158" presetID="10" presetClass="entr" presetSubtype="0" fill="hold" grpId="0" nodeType="withEffect">
                                  <p:stCondLst>
                                    <p:cond delay="1080"/>
                                  </p:stCondLst>
                                  <p:childTnLst>
                                    <p:set>
                                      <p:cBhvr>
                                        <p:cTn id="157" dur="1" fill="hold">
                                          <p:stCondLst>
                                            <p:cond delay="0"/>
                                          </p:stCondLst>
                                        </p:cTn>
                                        <p:tgtEl>
                                          <p:spTgt spid="44"/>
                                        </p:tgtEl>
                                        <p:attrNameLst>
                                          <p:attrName>style.visibility</p:attrName>
                                        </p:attrNameLst>
                                      </p:cBhvr>
                                      <p:to>
                                        <p:strVal val="visible"/>
                                      </p:to>
                                    </p:set>
                                    <p:animEffect transition="in" filter="fade">
                                      <p:cBhvr>
                                        <p:cTn id="159" dur="500"/>
                                        <p:tgtEl>
                                          <p:spTgt spid="44"/>
                                        </p:tgtEl>
                                      </p:cBhvr>
                                    </p:animEffect>
                                  </p:childTnLst>
                                </p:cTn>
                              </p:par>
                              <p:par>
                                <p:cTn id="161" presetID="10" presetClass="entr" presetSubtype="0" fill="hold" grpId="0" nodeType="withEffect">
                                  <p:stCondLst>
                                    <p:cond delay="1150"/>
                                  </p:stCondLst>
                                  <p:childTnLst>
                                    <p:set>
                                      <p:cBhvr>
                                        <p:cTn id="160" dur="1" fill="hold">
                                          <p:stCondLst>
                                            <p:cond delay="0"/>
                                          </p:stCondLst>
                                        </p:cTn>
                                        <p:tgtEl>
                                          <p:spTgt spid="45"/>
                                        </p:tgtEl>
                                        <p:attrNameLst>
                                          <p:attrName>style.visibility</p:attrName>
                                        </p:attrNameLst>
                                      </p:cBhvr>
                                      <p:to>
                                        <p:strVal val="visible"/>
                                      </p:to>
                                    </p:set>
                                    <p:animEffect transition="in" filter="fade">
                                      <p:cBhvr>
                                        <p:cTn id="162" dur="500"/>
                                        <p:tgtEl>
                                          <p:spTgt spid="45"/>
                                        </p:tgtEl>
                                      </p:cBhvr>
                                    </p:animEffect>
                                  </p:childTnLst>
                                </p:cTn>
                              </p:par>
                              <p:par>
                                <p:cTn id="164" presetID="10" presetClass="entr" presetSubtype="0" fill="hold" grpId="0" nodeType="withEffect">
                                  <p:stCondLst>
                                    <p:cond delay="1220"/>
                                  </p:stCondLst>
                                  <p:childTnLst>
                                    <p:set>
                                      <p:cBhvr>
                                        <p:cTn id="163" dur="1" fill="hold">
                                          <p:stCondLst>
                                            <p:cond delay="0"/>
                                          </p:stCondLst>
                                        </p:cTn>
                                        <p:tgtEl>
                                          <p:spTgt spid="46"/>
                                        </p:tgtEl>
                                        <p:attrNameLst>
                                          <p:attrName>style.visibility</p:attrName>
                                        </p:attrNameLst>
                                      </p:cBhvr>
                                      <p:to>
                                        <p:strVal val="visible"/>
                                      </p:to>
                                    </p:set>
                                    <p:animEffect transition="in" filter="fade">
                                      <p:cBhvr>
                                        <p:cTn id="165" dur="500"/>
                                        <p:tgtEl>
                                          <p:spTgt spid="46"/>
                                        </p:tgtEl>
                                      </p:cBhvr>
                                    </p:animEffect>
                                  </p:childTnLst>
                                </p:cTn>
                              </p:par>
                              <p:par>
                                <p:cTn id="167" presetID="10" presetClass="entr" presetSubtype="0" fill="hold" grpId="0" nodeType="withEffect">
                                  <p:stCondLst>
                                    <p:cond delay="1290"/>
                                  </p:stCondLst>
                                  <p:childTnLst>
                                    <p:set>
                                      <p:cBhvr>
                                        <p:cTn id="166" dur="1" fill="hold">
                                          <p:stCondLst>
                                            <p:cond delay="0"/>
                                          </p:stCondLst>
                                        </p:cTn>
                                        <p:tgtEl>
                                          <p:spTgt spid="47"/>
                                        </p:tgtEl>
                                        <p:attrNameLst>
                                          <p:attrName>style.visibility</p:attrName>
                                        </p:attrNameLst>
                                      </p:cBhvr>
                                      <p:to>
                                        <p:strVal val="visible"/>
                                      </p:to>
                                    </p:set>
                                    <p:animEffect transition="in" filter="fade">
                                      <p:cBhvr>
                                        <p:cTn id="168" dur="500"/>
                                        <p:tgtEl>
                                          <p:spTgt spid="47"/>
                                        </p:tgtEl>
                                      </p:cBhvr>
                                    </p:animEffect>
                                  </p:childTnLst>
                                </p:cTn>
                              </p:par>
                              <p:par>
                                <p:cTn id="170" presetID="10" presetClass="entr" presetSubtype="0" fill="hold" grpId="0" nodeType="withEffect">
                                  <p:stCondLst>
                                    <p:cond delay="1360"/>
                                  </p:stCondLst>
                                  <p:childTnLst>
                                    <p:set>
                                      <p:cBhvr>
                                        <p:cTn id="169" dur="1" fill="hold">
                                          <p:stCondLst>
                                            <p:cond delay="0"/>
                                          </p:stCondLst>
                                        </p:cTn>
                                        <p:tgtEl>
                                          <p:spTgt spid="48"/>
                                        </p:tgtEl>
                                        <p:attrNameLst>
                                          <p:attrName>style.visibility</p:attrName>
                                        </p:attrNameLst>
                                      </p:cBhvr>
                                      <p:to>
                                        <p:strVal val="visible"/>
                                      </p:to>
                                    </p:set>
                                    <p:animEffect transition="in" filter="fade">
                                      <p:cBhvr>
                                        <p:cTn id="171" dur="500"/>
                                        <p:tgtEl>
                                          <p:spTgt spid="48"/>
                                        </p:tgtEl>
                                      </p:cBhvr>
                                    </p:animEffect>
                                  </p:childTnLst>
                                </p:cTn>
                              </p:par>
                              <p:par>
                                <p:cTn id="173" presetID="10" presetClass="entr" presetSubtype="0" fill="hold" grpId="0" nodeType="withEffect">
                                  <p:stCondLst>
                                    <p:cond delay="1430"/>
                                  </p:stCondLst>
                                  <p:childTnLst>
                                    <p:set>
                                      <p:cBhvr>
                                        <p:cTn id="172" dur="1" fill="hold">
                                          <p:stCondLst>
                                            <p:cond delay="0"/>
                                          </p:stCondLst>
                                        </p:cTn>
                                        <p:tgtEl>
                                          <p:spTgt spid="49"/>
                                        </p:tgtEl>
                                        <p:attrNameLst>
                                          <p:attrName>style.visibility</p:attrName>
                                        </p:attrNameLst>
                                      </p:cBhvr>
                                      <p:to>
                                        <p:strVal val="visible"/>
                                      </p:to>
                                    </p:set>
                                    <p:animEffect transition="in" filter="fade">
                                      <p:cBhvr>
                                        <p:cTn id="174" dur="500"/>
                                        <p:tgtEl>
                                          <p:spTgt spid="49"/>
                                        </p:tgtEl>
                                      </p:cBhvr>
                                    </p:animEffect>
                                  </p:childTnLst>
                                </p:cTn>
                              </p:par>
                              <p:par>
                                <p:cTn id="176" presetID="53" presetClass="entr" presetSubtype="16" fill="hold" grpId="0" nodeType="withEffect">
                                  <p:stCondLst>
                                    <p:cond delay="1500"/>
                                  </p:stCondLst>
                                  <p:childTnLst>
                                    <p:set>
                                      <p:cBhvr>
                                        <p:cTn id="175" dur="1" fill="hold">
                                          <p:stCondLst>
                                            <p:cond delay="0"/>
                                          </p:stCondLst>
                                        </p:cTn>
                                        <p:tgtEl>
                                          <p:spTgt spid="54"/>
                                        </p:tgtEl>
                                        <p:attrNameLst>
                                          <p:attrName>style.visibility</p:attrName>
                                        </p:attrNameLst>
                                      </p:cBhvr>
                                      <p:to>
                                        <p:strVal val="visible"/>
                                      </p:to>
                                    </p:set>
                                    <p:anim calcmode="lin" valueType="num">
                                      <p:cBhvr>
                                        <p:cTn id="177" dur="500" fill="hold"/>
                                        <p:tgtEl>
                                          <p:spTgt spid="54"/>
                                        </p:tgtEl>
                                        <p:attrNameLst>
                                          <p:attrName>ppt_w</p:attrName>
                                        </p:attrNameLst>
                                      </p:cBhvr>
                                      <p:tavLst>
                                        <p:tav tm="0">
                                          <p:val>
                                            <p:fltVal val="0"/>
                                          </p:val>
                                        </p:tav>
                                        <p:tav tm="100000">
                                          <p:val>
                                            <p:strVal val="#ppt_w"/>
                                          </p:val>
                                        </p:tav>
                                      </p:tavLst>
                                    </p:anim>
                                    <p:anim calcmode="lin" valueType="num">
                                      <p:cBhvr>
                                        <p:cTn id="178" dur="500" fill="hold"/>
                                        <p:tgtEl>
                                          <p:spTgt spid="54"/>
                                        </p:tgtEl>
                                        <p:attrNameLst>
                                          <p:attrName>ppt_h</p:attrName>
                                        </p:attrNameLst>
                                      </p:cBhvr>
                                      <p:tavLst>
                                        <p:tav tm="0">
                                          <p:val>
                                            <p:fltVal val="0"/>
                                          </p:val>
                                        </p:tav>
                                        <p:tav tm="100000">
                                          <p:val>
                                            <p:strVal val="#ppt_h"/>
                                          </p:val>
                                        </p:tav>
                                      </p:tavLst>
                                    </p:anim>
                                    <p:animEffect transition="in" filter="fade">
                                      <p:cBhvr>
                                        <p:cTn id="179" dur="500"/>
                                        <p:tgtEl>
                                          <p:spTgt spid="54"/>
                                        </p:tgtEl>
                                      </p:cBhvr>
                                    </p:animEffect>
                                  </p:childTnLst>
                                </p:cTn>
                              </p:par>
                              <p:par>
                                <p:cTn id="181" presetID="10" presetClass="entr" presetSubtype="0" fill="hold" grpId="0" nodeType="withEffect">
                                  <p:stCondLst>
                                    <p:cond delay="1550"/>
                                  </p:stCondLst>
                                  <p:childTnLst>
                                    <p:set>
                                      <p:cBhvr>
                                        <p:cTn id="180" dur="1" fill="hold">
                                          <p:stCondLst>
                                            <p:cond delay="0"/>
                                          </p:stCondLst>
                                        </p:cTn>
                                        <p:tgtEl>
                                          <p:spTgt spid="55"/>
                                        </p:tgtEl>
                                        <p:attrNameLst>
                                          <p:attrName>style.visibility</p:attrName>
                                        </p:attrNameLst>
                                      </p:cBhvr>
                                      <p:to>
                                        <p:strVal val="visible"/>
                                      </p:to>
                                    </p:set>
                                    <p:animEffect transition="in" filter="fade">
                                      <p:cBhvr>
                                        <p:cTn id="182" dur="500"/>
                                        <p:tgtEl>
                                          <p:spTgt spid="55"/>
                                        </p:tgtEl>
                                      </p:cBhvr>
                                    </p:animEffect>
                                  </p:childTnLst>
                                </p:cTn>
                              </p:par>
                            </p:childTnLst>
                          </p:cTn>
                        </p:par>
                      </p:childTnLst>
                    </p:cTn>
                  </p:par>
                  <p:par>
                    <p:cTn id="183" fill="hold">
                      <p:stCondLst>
                        <p:cond delay="indefinite"/>
                      </p:stCondLst>
                      <p:childTnLst>
                        <p:par>
                          <p:cTn id="184" fill="hold">
                            <p:stCondLst>
                              <p:cond delay="0"/>
                            </p:stCondLst>
                            <p:childTnLst>
                              <p:par>
                                <p:cTn id="186" presetID="10" presetClass="entr" presetSubtype="0" fill="hold" grpId="0" nodeType="clickEffect">
                                  <p:stCondLst>
                                    <p:cond delay="0"/>
                                  </p:stCondLst>
                                  <p:childTnLst>
                                    <p:set>
                                      <p:cBhvr>
                                        <p:cTn id="185" dur="1" fill="hold">
                                          <p:stCondLst>
                                            <p:cond delay="0"/>
                                          </p:stCondLst>
                                        </p:cTn>
                                        <p:tgtEl>
                                          <p:spTgt spid="58"/>
                                        </p:tgtEl>
                                        <p:attrNameLst>
                                          <p:attrName>style.visibility</p:attrName>
                                        </p:attrNameLst>
                                      </p:cBhvr>
                                      <p:to>
                                        <p:strVal val="visible"/>
                                      </p:to>
                                    </p:set>
                                    <p:animEffect transition="in" filter="fade">
                                      <p:cBhvr>
                                        <p:cTn id="187" dur="500"/>
                                        <p:tgtEl>
                                          <p:spTgt spid="58"/>
                                        </p:tgtEl>
                                      </p:cBhvr>
                                    </p:animEffect>
                                  </p:childTnLst>
                                </p:cTn>
                              </p:par>
                              <p:par>
                                <p:cTn id="189" presetID="10" presetClass="entr" presetSubtype="0" fill="hold" grpId="0" nodeType="withEffect">
                                  <p:stCondLst>
                                    <p:cond delay="0"/>
                                  </p:stCondLst>
                                  <p:childTnLst>
                                    <p:set>
                                      <p:cBhvr>
                                        <p:cTn id="188" dur="1" fill="hold">
                                          <p:stCondLst>
                                            <p:cond delay="0"/>
                                          </p:stCondLst>
                                        </p:cTn>
                                        <p:tgtEl>
                                          <p:spTgt spid="59"/>
                                        </p:tgtEl>
                                        <p:attrNameLst>
                                          <p:attrName>style.visibility</p:attrName>
                                        </p:attrNameLst>
                                      </p:cBhvr>
                                      <p:to>
                                        <p:strVal val="visible"/>
                                      </p:to>
                                    </p:set>
                                    <p:animEffect transition="in" filter="fade">
                                      <p:cBhvr>
                                        <p:cTn id="190" dur="500"/>
                                        <p:tgtEl>
                                          <p:spTgt spid="59"/>
                                        </p:tgtEl>
                                      </p:cBhvr>
                                    </p:animEffect>
                                  </p:childTnLst>
                                </p:cTn>
                              </p:par>
                              <p:par>
                                <p:cTn id="192" presetID="42" presetClass="entr" presetSubtype="0" fill="hold" grpId="0" nodeType="withEffect">
                                  <p:stCondLst>
                                    <p:cond delay="200"/>
                                  </p:stCondLst>
                                  <p:childTnLst>
                                    <p:set>
                                      <p:cBhvr>
                                        <p:cTn id="191" dur="1" fill="hold">
                                          <p:stCondLst>
                                            <p:cond delay="0"/>
                                          </p:stCondLst>
                                        </p:cTn>
                                        <p:tgtEl>
                                          <p:spTgt spid="60"/>
                                        </p:tgtEl>
                                        <p:attrNameLst>
                                          <p:attrName>style.visibility</p:attrName>
                                        </p:attrNameLst>
                                      </p:cBhvr>
                                      <p:to>
                                        <p:strVal val="visible"/>
                                      </p:to>
                                    </p:set>
                                    <p:animEffect transition="in" filter="fade">
                                      <p:cBhvr>
                                        <p:cTn id="193" dur="500"/>
                                        <p:tgtEl>
                                          <p:spTgt spid="60"/>
                                        </p:tgtEl>
                                      </p:cBhvr>
                                    </p:animEffect>
                                    <p:anim calcmode="lin" valueType="num">
                                      <p:cBhvr>
                                        <p:cTn id="194" dur="500" fill="hold"/>
                                        <p:tgtEl>
                                          <p:spTgt spid="60"/>
                                        </p:tgtEl>
                                        <p:attrNameLst>
                                          <p:attrName>ppt_x</p:attrName>
                                        </p:attrNameLst>
                                      </p:cBhvr>
                                      <p:tavLst>
                                        <p:tav tm="0">
                                          <p:val>
                                            <p:strVal val="#ppt_x"/>
                                          </p:val>
                                        </p:tav>
                                        <p:tav tm="100000">
                                          <p:val>
                                            <p:strVal val="#ppt_x"/>
                                          </p:val>
                                        </p:tav>
                                      </p:tavLst>
                                    </p:anim>
                                    <p:anim calcmode="lin" valueType="num">
                                      <p:cBhvr>
                                        <p:cTn id="195" dur="500" fill="hold"/>
                                        <p:tgtEl>
                                          <p:spTgt spid="60"/>
                                        </p:tgtEl>
                                        <p:attrNameLst>
                                          <p:attrName>ppt_y</p:attrName>
                                        </p:attrNameLst>
                                      </p:cBhvr>
                                      <p:tavLst>
                                        <p:tav tm="0">
                                          <p:val>
                                            <p:strVal val="#ppt_y+0.06"/>
                                          </p:val>
                                        </p:tav>
                                        <p:tav tm="100000">
                                          <p:val>
                                            <p:strVal val="#ppt_y"/>
                                          </p:val>
                                        </p:tav>
                                      </p:tavLst>
                                    </p:anim>
                                  </p:childTnLst>
                                </p:cTn>
                              </p:par>
                              <p:par>
                                <p:cTn id="197" presetID="22" presetClass="entr" presetSubtype="8" fill="hold" grpId="0" nodeType="withEffect">
                                  <p:stCondLst>
                                    <p:cond delay="300"/>
                                  </p:stCondLst>
                                  <p:childTnLst>
                                    <p:set>
                                      <p:cBhvr>
                                        <p:cTn id="196" dur="1" fill="hold">
                                          <p:stCondLst>
                                            <p:cond delay="0"/>
                                          </p:stCondLst>
                                        </p:cTn>
                                        <p:tgtEl>
                                          <p:spTgt spid="61"/>
                                        </p:tgtEl>
                                        <p:attrNameLst>
                                          <p:attrName>style.visibility</p:attrName>
                                        </p:attrNameLst>
                                      </p:cBhvr>
                                      <p:to>
                                        <p:strVal val="visible"/>
                                      </p:to>
                                    </p:set>
                                    <p:animEffect transition="in" filter="wipe(left)">
                                      <p:cBhvr>
                                        <p:cTn id="198" dur="450"/>
                                        <p:tgtEl>
                                          <p:spTgt spid="61"/>
                                        </p:tgtEl>
                                      </p:cBhvr>
                                    </p:animEffect>
                                  </p:childTnLst>
                                </p:cTn>
                              </p:par>
                              <p:par>
                                <p:cTn id="200" presetID="42" presetClass="entr" presetSubtype="0" fill="hold" grpId="0" nodeType="withEffect">
                                  <p:stCondLst>
                                    <p:cond delay="400"/>
                                  </p:stCondLst>
                                  <p:childTnLst>
                                    <p:set>
                                      <p:cBhvr>
                                        <p:cTn id="199" dur="1" fill="hold">
                                          <p:stCondLst>
                                            <p:cond delay="0"/>
                                          </p:stCondLst>
                                        </p:cTn>
                                        <p:tgtEl>
                                          <p:spTgt spid="62"/>
                                        </p:tgtEl>
                                        <p:attrNameLst>
                                          <p:attrName>style.visibility</p:attrName>
                                        </p:attrNameLst>
                                      </p:cBhvr>
                                      <p:to>
                                        <p:strVal val="visible"/>
                                      </p:to>
                                    </p:set>
                                    <p:animEffect transition="in" filter="fade">
                                      <p:cBhvr>
                                        <p:cTn id="201" dur="500"/>
                                        <p:tgtEl>
                                          <p:spTgt spid="62"/>
                                        </p:tgtEl>
                                      </p:cBhvr>
                                    </p:animEffect>
                                    <p:anim calcmode="lin" valueType="num">
                                      <p:cBhvr>
                                        <p:cTn id="202" dur="500" fill="hold"/>
                                        <p:tgtEl>
                                          <p:spTgt spid="62"/>
                                        </p:tgtEl>
                                        <p:attrNameLst>
                                          <p:attrName>ppt_x</p:attrName>
                                        </p:attrNameLst>
                                      </p:cBhvr>
                                      <p:tavLst>
                                        <p:tav tm="0">
                                          <p:val>
                                            <p:strVal val="#ppt_x"/>
                                          </p:val>
                                        </p:tav>
                                        <p:tav tm="100000">
                                          <p:val>
                                            <p:strVal val="#ppt_x"/>
                                          </p:val>
                                        </p:tav>
                                      </p:tavLst>
                                    </p:anim>
                                    <p:anim calcmode="lin" valueType="num">
                                      <p:cBhvr>
                                        <p:cTn id="203" dur="500" fill="hold"/>
                                        <p:tgtEl>
                                          <p:spTgt spid="62"/>
                                        </p:tgtEl>
                                        <p:attrNameLst>
                                          <p:attrName>ppt_y</p:attrName>
                                        </p:attrNameLst>
                                      </p:cBhvr>
                                      <p:tavLst>
                                        <p:tav tm="0">
                                          <p:val>
                                            <p:strVal val="#ppt_y+0.06"/>
                                          </p:val>
                                        </p:tav>
                                        <p:tav tm="100000">
                                          <p:val>
                                            <p:strVal val="#ppt_y"/>
                                          </p:val>
                                        </p:tav>
                                      </p:tavLst>
                                    </p:anim>
                                  </p:childTnLst>
                                </p:cTn>
                              </p:par>
                              <p:par>
                                <p:cTn id="205" presetID="42" presetClass="entr" presetSubtype="0" fill="hold" grpId="0" nodeType="withEffect">
                                  <p:stCondLst>
                                    <p:cond delay="400"/>
                                  </p:stCondLst>
                                  <p:childTnLst>
                                    <p:set>
                                      <p:cBhvr>
                                        <p:cTn id="204" dur="1" fill="hold">
                                          <p:stCondLst>
                                            <p:cond delay="0"/>
                                          </p:stCondLst>
                                        </p:cTn>
                                        <p:tgtEl>
                                          <p:spTgt spid="63"/>
                                        </p:tgtEl>
                                        <p:attrNameLst>
                                          <p:attrName>style.visibility</p:attrName>
                                        </p:attrNameLst>
                                      </p:cBhvr>
                                      <p:to>
                                        <p:strVal val="visible"/>
                                      </p:to>
                                    </p:set>
                                    <p:animEffect transition="in" filter="fade">
                                      <p:cBhvr>
                                        <p:cTn id="206" dur="500"/>
                                        <p:tgtEl>
                                          <p:spTgt spid="63"/>
                                        </p:tgtEl>
                                      </p:cBhvr>
                                    </p:animEffect>
                                    <p:anim calcmode="lin" valueType="num">
                                      <p:cBhvr>
                                        <p:cTn id="207" dur="500" fill="hold"/>
                                        <p:tgtEl>
                                          <p:spTgt spid="63"/>
                                        </p:tgtEl>
                                        <p:attrNameLst>
                                          <p:attrName>ppt_x</p:attrName>
                                        </p:attrNameLst>
                                      </p:cBhvr>
                                      <p:tavLst>
                                        <p:tav tm="0">
                                          <p:val>
                                            <p:strVal val="#ppt_x"/>
                                          </p:val>
                                        </p:tav>
                                        <p:tav tm="100000">
                                          <p:val>
                                            <p:strVal val="#ppt_x"/>
                                          </p:val>
                                        </p:tav>
                                      </p:tavLst>
                                    </p:anim>
                                    <p:anim calcmode="lin" valueType="num">
                                      <p:cBhvr>
                                        <p:cTn id="208" dur="500" fill="hold"/>
                                        <p:tgtEl>
                                          <p:spTgt spid="63"/>
                                        </p:tgtEl>
                                        <p:attrNameLst>
                                          <p:attrName>ppt_y</p:attrName>
                                        </p:attrNameLst>
                                      </p:cBhvr>
                                      <p:tavLst>
                                        <p:tav tm="0">
                                          <p:val>
                                            <p:strVal val="#ppt_y+0.06"/>
                                          </p:val>
                                        </p:tav>
                                        <p:tav tm="100000">
                                          <p:val>
                                            <p:strVal val="#ppt_y"/>
                                          </p:val>
                                        </p:tav>
                                      </p:tavLst>
                                    </p:anim>
                                  </p:childTnLst>
                                </p:cTn>
                              </p:par>
                              <p:par>
                                <p:cTn id="210" presetID="42" presetClass="entr" presetSubtype="0" fill="hold" grpId="0" nodeType="withEffect">
                                  <p:stCondLst>
                                    <p:cond delay="400"/>
                                  </p:stCondLst>
                                  <p:childTnLst>
                                    <p:set>
                                      <p:cBhvr>
                                        <p:cTn id="209" dur="1" fill="hold">
                                          <p:stCondLst>
                                            <p:cond delay="0"/>
                                          </p:stCondLst>
                                        </p:cTn>
                                        <p:tgtEl>
                                          <p:spTgt spid="64"/>
                                        </p:tgtEl>
                                        <p:attrNameLst>
                                          <p:attrName>style.visibility</p:attrName>
                                        </p:attrNameLst>
                                      </p:cBhvr>
                                      <p:to>
                                        <p:strVal val="visible"/>
                                      </p:to>
                                    </p:set>
                                    <p:animEffect transition="in" filter="fade">
                                      <p:cBhvr>
                                        <p:cTn id="211" dur="500"/>
                                        <p:tgtEl>
                                          <p:spTgt spid="64"/>
                                        </p:tgtEl>
                                      </p:cBhvr>
                                    </p:animEffect>
                                    <p:anim calcmode="lin" valueType="num">
                                      <p:cBhvr>
                                        <p:cTn id="212" dur="500" fill="hold"/>
                                        <p:tgtEl>
                                          <p:spTgt spid="64"/>
                                        </p:tgtEl>
                                        <p:attrNameLst>
                                          <p:attrName>ppt_x</p:attrName>
                                        </p:attrNameLst>
                                      </p:cBhvr>
                                      <p:tavLst>
                                        <p:tav tm="0">
                                          <p:val>
                                            <p:strVal val="#ppt_x"/>
                                          </p:val>
                                        </p:tav>
                                        <p:tav tm="100000">
                                          <p:val>
                                            <p:strVal val="#ppt_x"/>
                                          </p:val>
                                        </p:tav>
                                      </p:tavLst>
                                    </p:anim>
                                    <p:anim calcmode="lin" valueType="num">
                                      <p:cBhvr>
                                        <p:cTn id="213" dur="500" fill="hold"/>
                                        <p:tgtEl>
                                          <p:spTgt spid="64"/>
                                        </p:tgtEl>
                                        <p:attrNameLst>
                                          <p:attrName>ppt_y</p:attrName>
                                        </p:attrNameLst>
                                      </p:cBhvr>
                                      <p:tavLst>
                                        <p:tav tm="0">
                                          <p:val>
                                            <p:strVal val="#ppt_y+0.06"/>
                                          </p:val>
                                        </p:tav>
                                        <p:tav tm="100000">
                                          <p:val>
                                            <p:strVal val="#ppt_y"/>
                                          </p:val>
                                        </p:tav>
                                      </p:tavLst>
                                    </p:anim>
                                  </p:childTnLst>
                                </p:cTn>
                              </p:par>
                              <p:par>
                                <p:cTn id="215" presetID="42" presetClass="entr" presetSubtype="0" fill="hold" grpId="0" nodeType="withEffect">
                                  <p:stCondLst>
                                    <p:cond delay="400"/>
                                  </p:stCondLst>
                                  <p:childTnLst>
                                    <p:set>
                                      <p:cBhvr>
                                        <p:cTn id="214" dur="1" fill="hold">
                                          <p:stCondLst>
                                            <p:cond delay="0"/>
                                          </p:stCondLst>
                                        </p:cTn>
                                        <p:tgtEl>
                                          <p:spTgt spid="65"/>
                                        </p:tgtEl>
                                        <p:attrNameLst>
                                          <p:attrName>style.visibility</p:attrName>
                                        </p:attrNameLst>
                                      </p:cBhvr>
                                      <p:to>
                                        <p:strVal val="visible"/>
                                      </p:to>
                                    </p:set>
                                    <p:animEffect transition="in" filter="fade">
                                      <p:cBhvr>
                                        <p:cTn id="216" dur="500"/>
                                        <p:tgtEl>
                                          <p:spTgt spid="65"/>
                                        </p:tgtEl>
                                      </p:cBhvr>
                                    </p:animEffect>
                                    <p:anim calcmode="lin" valueType="num">
                                      <p:cBhvr>
                                        <p:cTn id="217" dur="500" fill="hold"/>
                                        <p:tgtEl>
                                          <p:spTgt spid="65"/>
                                        </p:tgtEl>
                                        <p:attrNameLst>
                                          <p:attrName>ppt_x</p:attrName>
                                        </p:attrNameLst>
                                      </p:cBhvr>
                                      <p:tavLst>
                                        <p:tav tm="0">
                                          <p:val>
                                            <p:strVal val="#ppt_x"/>
                                          </p:val>
                                        </p:tav>
                                        <p:tav tm="100000">
                                          <p:val>
                                            <p:strVal val="#ppt_x"/>
                                          </p:val>
                                        </p:tav>
                                      </p:tavLst>
                                    </p:anim>
                                    <p:anim calcmode="lin" valueType="num">
                                      <p:cBhvr>
                                        <p:cTn id="218" dur="500" fill="hold"/>
                                        <p:tgtEl>
                                          <p:spTgt spid="65"/>
                                        </p:tgtEl>
                                        <p:attrNameLst>
                                          <p:attrName>ppt_y</p:attrName>
                                        </p:attrNameLst>
                                      </p:cBhvr>
                                      <p:tavLst>
                                        <p:tav tm="0">
                                          <p:val>
                                            <p:strVal val="#ppt_y+0.06"/>
                                          </p:val>
                                        </p:tav>
                                        <p:tav tm="100000">
                                          <p:val>
                                            <p:strVal val="#ppt_y"/>
                                          </p:val>
                                        </p:tav>
                                      </p:tavLst>
                                    </p:anim>
                                  </p:childTnLst>
                                </p:cTn>
                              </p:par>
                              <p:par>
                                <p:cTn id="220" presetID="42" presetClass="entr" presetSubtype="0" fill="hold" grpId="0" nodeType="withEffect">
                                  <p:stCondLst>
                                    <p:cond delay="400"/>
                                  </p:stCondLst>
                                  <p:childTnLst>
                                    <p:set>
                                      <p:cBhvr>
                                        <p:cTn id="219" dur="1" fill="hold">
                                          <p:stCondLst>
                                            <p:cond delay="0"/>
                                          </p:stCondLst>
                                        </p:cTn>
                                        <p:tgtEl>
                                          <p:spTgt spid="66"/>
                                        </p:tgtEl>
                                        <p:attrNameLst>
                                          <p:attrName>style.visibility</p:attrName>
                                        </p:attrNameLst>
                                      </p:cBhvr>
                                      <p:to>
                                        <p:strVal val="visible"/>
                                      </p:to>
                                    </p:set>
                                    <p:animEffect transition="in" filter="fade">
                                      <p:cBhvr>
                                        <p:cTn id="221" dur="500"/>
                                        <p:tgtEl>
                                          <p:spTgt spid="66"/>
                                        </p:tgtEl>
                                      </p:cBhvr>
                                    </p:animEffect>
                                    <p:anim calcmode="lin" valueType="num">
                                      <p:cBhvr>
                                        <p:cTn id="222" dur="500" fill="hold"/>
                                        <p:tgtEl>
                                          <p:spTgt spid="66"/>
                                        </p:tgtEl>
                                        <p:attrNameLst>
                                          <p:attrName>ppt_x</p:attrName>
                                        </p:attrNameLst>
                                      </p:cBhvr>
                                      <p:tavLst>
                                        <p:tav tm="0">
                                          <p:val>
                                            <p:strVal val="#ppt_x"/>
                                          </p:val>
                                        </p:tav>
                                        <p:tav tm="100000">
                                          <p:val>
                                            <p:strVal val="#ppt_x"/>
                                          </p:val>
                                        </p:tav>
                                      </p:tavLst>
                                    </p:anim>
                                    <p:anim calcmode="lin" valueType="num">
                                      <p:cBhvr>
                                        <p:cTn id="223" dur="500" fill="hold"/>
                                        <p:tgtEl>
                                          <p:spTgt spid="66"/>
                                        </p:tgtEl>
                                        <p:attrNameLst>
                                          <p:attrName>ppt_y</p:attrName>
                                        </p:attrNameLst>
                                      </p:cBhvr>
                                      <p:tavLst>
                                        <p:tav tm="0">
                                          <p:val>
                                            <p:strVal val="#ppt_y+0.06"/>
                                          </p:val>
                                        </p:tav>
                                        <p:tav tm="100000">
                                          <p:val>
                                            <p:strVal val="#ppt_y"/>
                                          </p:val>
                                        </p:tav>
                                      </p:tavLst>
                                    </p:anim>
                                  </p:childTnLst>
                                </p:cTn>
                              </p:par>
                              <p:par>
                                <p:cTn id="225" presetID="42" presetClass="entr" presetSubtype="0" fill="hold" grpId="0" nodeType="withEffect">
                                  <p:stCondLst>
                                    <p:cond delay="400"/>
                                  </p:stCondLst>
                                  <p:childTnLst>
                                    <p:set>
                                      <p:cBhvr>
                                        <p:cTn id="224" dur="1" fill="hold">
                                          <p:stCondLst>
                                            <p:cond delay="0"/>
                                          </p:stCondLst>
                                        </p:cTn>
                                        <p:tgtEl>
                                          <p:spTgt spid="67"/>
                                        </p:tgtEl>
                                        <p:attrNameLst>
                                          <p:attrName>style.visibility</p:attrName>
                                        </p:attrNameLst>
                                      </p:cBhvr>
                                      <p:to>
                                        <p:strVal val="visible"/>
                                      </p:to>
                                    </p:set>
                                    <p:animEffect transition="in" filter="fade">
                                      <p:cBhvr>
                                        <p:cTn id="226" dur="500"/>
                                        <p:tgtEl>
                                          <p:spTgt spid="67"/>
                                        </p:tgtEl>
                                      </p:cBhvr>
                                    </p:animEffect>
                                    <p:anim calcmode="lin" valueType="num">
                                      <p:cBhvr>
                                        <p:cTn id="227" dur="500" fill="hold"/>
                                        <p:tgtEl>
                                          <p:spTgt spid="67"/>
                                        </p:tgtEl>
                                        <p:attrNameLst>
                                          <p:attrName>ppt_x</p:attrName>
                                        </p:attrNameLst>
                                      </p:cBhvr>
                                      <p:tavLst>
                                        <p:tav tm="0">
                                          <p:val>
                                            <p:strVal val="#ppt_x"/>
                                          </p:val>
                                        </p:tav>
                                        <p:tav tm="100000">
                                          <p:val>
                                            <p:strVal val="#ppt_x"/>
                                          </p:val>
                                        </p:tav>
                                      </p:tavLst>
                                    </p:anim>
                                    <p:anim calcmode="lin" valueType="num">
                                      <p:cBhvr>
                                        <p:cTn id="228" dur="500" fill="hold"/>
                                        <p:tgtEl>
                                          <p:spTgt spid="67"/>
                                        </p:tgtEl>
                                        <p:attrNameLst>
                                          <p:attrName>ppt_y</p:attrName>
                                        </p:attrNameLst>
                                      </p:cBhvr>
                                      <p:tavLst>
                                        <p:tav tm="0">
                                          <p:val>
                                            <p:strVal val="#ppt_y+0.06"/>
                                          </p:val>
                                        </p:tav>
                                        <p:tav tm="100000">
                                          <p:val>
                                            <p:strVal val="#ppt_y"/>
                                          </p:val>
                                        </p:tav>
                                      </p:tavLst>
                                    </p:anim>
                                  </p:childTnLst>
                                </p:cTn>
                              </p:par>
                              <p:par>
                                <p:cTn id="230" presetID="42" presetClass="entr" presetSubtype="0" fill="hold" grpId="0" nodeType="withEffect">
                                  <p:stCondLst>
                                    <p:cond delay="400"/>
                                  </p:stCondLst>
                                  <p:childTnLst>
                                    <p:set>
                                      <p:cBhvr>
                                        <p:cTn id="229" dur="1" fill="hold">
                                          <p:stCondLst>
                                            <p:cond delay="0"/>
                                          </p:stCondLst>
                                        </p:cTn>
                                        <p:tgtEl>
                                          <p:spTgt spid="68"/>
                                        </p:tgtEl>
                                        <p:attrNameLst>
                                          <p:attrName>style.visibility</p:attrName>
                                        </p:attrNameLst>
                                      </p:cBhvr>
                                      <p:to>
                                        <p:strVal val="visible"/>
                                      </p:to>
                                    </p:set>
                                    <p:animEffect transition="in" filter="fade">
                                      <p:cBhvr>
                                        <p:cTn id="231" dur="500"/>
                                        <p:tgtEl>
                                          <p:spTgt spid="68"/>
                                        </p:tgtEl>
                                      </p:cBhvr>
                                    </p:animEffect>
                                    <p:anim calcmode="lin" valueType="num">
                                      <p:cBhvr>
                                        <p:cTn id="232" dur="500" fill="hold"/>
                                        <p:tgtEl>
                                          <p:spTgt spid="68"/>
                                        </p:tgtEl>
                                        <p:attrNameLst>
                                          <p:attrName>ppt_x</p:attrName>
                                        </p:attrNameLst>
                                      </p:cBhvr>
                                      <p:tavLst>
                                        <p:tav tm="0">
                                          <p:val>
                                            <p:strVal val="#ppt_x"/>
                                          </p:val>
                                        </p:tav>
                                        <p:tav tm="100000">
                                          <p:val>
                                            <p:strVal val="#ppt_x"/>
                                          </p:val>
                                        </p:tav>
                                      </p:tavLst>
                                    </p:anim>
                                    <p:anim calcmode="lin" valueType="num">
                                      <p:cBhvr>
                                        <p:cTn id="233" dur="500" fill="hold"/>
                                        <p:tgtEl>
                                          <p:spTgt spid="68"/>
                                        </p:tgtEl>
                                        <p:attrNameLst>
                                          <p:attrName>ppt_y</p:attrName>
                                        </p:attrNameLst>
                                      </p:cBhvr>
                                      <p:tavLst>
                                        <p:tav tm="0">
                                          <p:val>
                                            <p:strVal val="#ppt_y+0.06"/>
                                          </p:val>
                                        </p:tav>
                                        <p:tav tm="100000">
                                          <p:val>
                                            <p:strVal val="#ppt_y"/>
                                          </p:val>
                                        </p:tav>
                                      </p:tavLst>
                                    </p:anim>
                                  </p:childTnLst>
                                </p:cTn>
                              </p:par>
                              <p:par>
                                <p:cTn id="235" presetID="42" presetClass="entr" presetSubtype="0" fill="hold" grpId="0" nodeType="withEffect">
                                  <p:stCondLst>
                                    <p:cond delay="400"/>
                                  </p:stCondLst>
                                  <p:childTnLst>
                                    <p:set>
                                      <p:cBhvr>
                                        <p:cTn id="234" dur="1" fill="hold">
                                          <p:stCondLst>
                                            <p:cond delay="0"/>
                                          </p:stCondLst>
                                        </p:cTn>
                                        <p:tgtEl>
                                          <p:spTgt spid="69"/>
                                        </p:tgtEl>
                                        <p:attrNameLst>
                                          <p:attrName>style.visibility</p:attrName>
                                        </p:attrNameLst>
                                      </p:cBhvr>
                                      <p:to>
                                        <p:strVal val="visible"/>
                                      </p:to>
                                    </p:set>
                                    <p:animEffect transition="in" filter="fade">
                                      <p:cBhvr>
                                        <p:cTn id="236" dur="500"/>
                                        <p:tgtEl>
                                          <p:spTgt spid="69"/>
                                        </p:tgtEl>
                                      </p:cBhvr>
                                    </p:animEffect>
                                    <p:anim calcmode="lin" valueType="num">
                                      <p:cBhvr>
                                        <p:cTn id="237" dur="500" fill="hold"/>
                                        <p:tgtEl>
                                          <p:spTgt spid="69"/>
                                        </p:tgtEl>
                                        <p:attrNameLst>
                                          <p:attrName>ppt_x</p:attrName>
                                        </p:attrNameLst>
                                      </p:cBhvr>
                                      <p:tavLst>
                                        <p:tav tm="0">
                                          <p:val>
                                            <p:strVal val="#ppt_x"/>
                                          </p:val>
                                        </p:tav>
                                        <p:tav tm="100000">
                                          <p:val>
                                            <p:strVal val="#ppt_x"/>
                                          </p:val>
                                        </p:tav>
                                      </p:tavLst>
                                    </p:anim>
                                    <p:anim calcmode="lin" valueType="num">
                                      <p:cBhvr>
                                        <p:cTn id="238" dur="500" fill="hold"/>
                                        <p:tgtEl>
                                          <p:spTgt spid="69"/>
                                        </p:tgtEl>
                                        <p:attrNameLst>
                                          <p:attrName>ppt_y</p:attrName>
                                        </p:attrNameLst>
                                      </p:cBhvr>
                                      <p:tavLst>
                                        <p:tav tm="0">
                                          <p:val>
                                            <p:strVal val="#ppt_y+0.06"/>
                                          </p:val>
                                        </p:tav>
                                        <p:tav tm="100000">
                                          <p:val>
                                            <p:strVal val="#ppt_y"/>
                                          </p:val>
                                        </p:tav>
                                      </p:tavLst>
                                    </p:anim>
                                  </p:childTnLst>
                                </p:cTn>
                              </p:par>
                              <p:par>
                                <p:cTn id="240" presetID="42" presetClass="entr" presetSubtype="0" fill="hold" grpId="0" nodeType="withEffect">
                                  <p:stCondLst>
                                    <p:cond delay="400"/>
                                  </p:stCondLst>
                                  <p:childTnLst>
                                    <p:set>
                                      <p:cBhvr>
                                        <p:cTn id="239" dur="1" fill="hold">
                                          <p:stCondLst>
                                            <p:cond delay="0"/>
                                          </p:stCondLst>
                                        </p:cTn>
                                        <p:tgtEl>
                                          <p:spTgt spid="70"/>
                                        </p:tgtEl>
                                        <p:attrNameLst>
                                          <p:attrName>style.visibility</p:attrName>
                                        </p:attrNameLst>
                                      </p:cBhvr>
                                      <p:to>
                                        <p:strVal val="visible"/>
                                      </p:to>
                                    </p:set>
                                    <p:animEffect transition="in" filter="fade">
                                      <p:cBhvr>
                                        <p:cTn id="241" dur="500"/>
                                        <p:tgtEl>
                                          <p:spTgt spid="70"/>
                                        </p:tgtEl>
                                      </p:cBhvr>
                                    </p:animEffect>
                                    <p:anim calcmode="lin" valueType="num">
                                      <p:cBhvr>
                                        <p:cTn id="242" dur="500" fill="hold"/>
                                        <p:tgtEl>
                                          <p:spTgt spid="70"/>
                                        </p:tgtEl>
                                        <p:attrNameLst>
                                          <p:attrName>ppt_x</p:attrName>
                                        </p:attrNameLst>
                                      </p:cBhvr>
                                      <p:tavLst>
                                        <p:tav tm="0">
                                          <p:val>
                                            <p:strVal val="#ppt_x"/>
                                          </p:val>
                                        </p:tav>
                                        <p:tav tm="100000">
                                          <p:val>
                                            <p:strVal val="#ppt_x"/>
                                          </p:val>
                                        </p:tav>
                                      </p:tavLst>
                                    </p:anim>
                                    <p:anim calcmode="lin" valueType="num">
                                      <p:cBhvr>
                                        <p:cTn id="243" dur="500" fill="hold"/>
                                        <p:tgtEl>
                                          <p:spTgt spid="70"/>
                                        </p:tgtEl>
                                        <p:attrNameLst>
                                          <p:attrName>ppt_y</p:attrName>
                                        </p:attrNameLst>
                                      </p:cBhvr>
                                      <p:tavLst>
                                        <p:tav tm="0">
                                          <p:val>
                                            <p:strVal val="#ppt_y+0.06"/>
                                          </p:val>
                                        </p:tav>
                                        <p:tav tm="100000">
                                          <p:val>
                                            <p:strVal val="#ppt_y"/>
                                          </p:val>
                                        </p:tav>
                                      </p:tavLst>
                                    </p:anim>
                                  </p:childTnLst>
                                </p:cTn>
                              </p:par>
                              <p:par>
                                <p:cTn id="245" presetID="42" presetClass="entr" presetSubtype="0" fill="hold" grpId="0" nodeType="withEffect">
                                  <p:stCondLst>
                                    <p:cond delay="400"/>
                                  </p:stCondLst>
                                  <p:childTnLst>
                                    <p:set>
                                      <p:cBhvr>
                                        <p:cTn id="244" dur="1" fill="hold">
                                          <p:stCondLst>
                                            <p:cond delay="0"/>
                                          </p:stCondLst>
                                        </p:cTn>
                                        <p:tgtEl>
                                          <p:spTgt spid="71"/>
                                        </p:tgtEl>
                                        <p:attrNameLst>
                                          <p:attrName>style.visibility</p:attrName>
                                        </p:attrNameLst>
                                      </p:cBhvr>
                                      <p:to>
                                        <p:strVal val="visible"/>
                                      </p:to>
                                    </p:set>
                                    <p:animEffect transition="in" filter="fade">
                                      <p:cBhvr>
                                        <p:cTn id="246" dur="500"/>
                                        <p:tgtEl>
                                          <p:spTgt spid="71"/>
                                        </p:tgtEl>
                                      </p:cBhvr>
                                    </p:animEffect>
                                    <p:anim calcmode="lin" valueType="num">
                                      <p:cBhvr>
                                        <p:cTn id="247" dur="500" fill="hold"/>
                                        <p:tgtEl>
                                          <p:spTgt spid="71"/>
                                        </p:tgtEl>
                                        <p:attrNameLst>
                                          <p:attrName>ppt_x</p:attrName>
                                        </p:attrNameLst>
                                      </p:cBhvr>
                                      <p:tavLst>
                                        <p:tav tm="0">
                                          <p:val>
                                            <p:strVal val="#ppt_x"/>
                                          </p:val>
                                        </p:tav>
                                        <p:tav tm="100000">
                                          <p:val>
                                            <p:strVal val="#ppt_x"/>
                                          </p:val>
                                        </p:tav>
                                      </p:tavLst>
                                    </p:anim>
                                    <p:anim calcmode="lin" valueType="num">
                                      <p:cBhvr>
                                        <p:cTn id="248" dur="500" fill="hold"/>
                                        <p:tgtEl>
                                          <p:spTgt spid="71"/>
                                        </p:tgtEl>
                                        <p:attrNameLst>
                                          <p:attrName>ppt_y</p:attrName>
                                        </p:attrNameLst>
                                      </p:cBhvr>
                                      <p:tavLst>
                                        <p:tav tm="0">
                                          <p:val>
                                            <p:strVal val="#ppt_y+0.06"/>
                                          </p:val>
                                        </p:tav>
                                        <p:tav tm="100000">
                                          <p:val>
                                            <p:strVal val="#ppt_y"/>
                                          </p:val>
                                        </p:tav>
                                      </p:tavLst>
                                    </p:anim>
                                  </p:childTnLst>
                                </p:cTn>
                              </p:par>
                              <p:par>
                                <p:cTn id="250" presetID="42" presetClass="entr" presetSubtype="0" fill="hold" grpId="0" nodeType="withEffect">
                                  <p:stCondLst>
                                    <p:cond delay="400"/>
                                  </p:stCondLst>
                                  <p:childTnLst>
                                    <p:set>
                                      <p:cBhvr>
                                        <p:cTn id="249" dur="1" fill="hold">
                                          <p:stCondLst>
                                            <p:cond delay="0"/>
                                          </p:stCondLst>
                                        </p:cTn>
                                        <p:tgtEl>
                                          <p:spTgt spid="72"/>
                                        </p:tgtEl>
                                        <p:attrNameLst>
                                          <p:attrName>style.visibility</p:attrName>
                                        </p:attrNameLst>
                                      </p:cBhvr>
                                      <p:to>
                                        <p:strVal val="visible"/>
                                      </p:to>
                                    </p:set>
                                    <p:animEffect transition="in" filter="fade">
                                      <p:cBhvr>
                                        <p:cTn id="251" dur="500"/>
                                        <p:tgtEl>
                                          <p:spTgt spid="72"/>
                                        </p:tgtEl>
                                      </p:cBhvr>
                                    </p:animEffect>
                                    <p:anim calcmode="lin" valueType="num">
                                      <p:cBhvr>
                                        <p:cTn id="252" dur="500" fill="hold"/>
                                        <p:tgtEl>
                                          <p:spTgt spid="72"/>
                                        </p:tgtEl>
                                        <p:attrNameLst>
                                          <p:attrName>ppt_x</p:attrName>
                                        </p:attrNameLst>
                                      </p:cBhvr>
                                      <p:tavLst>
                                        <p:tav tm="0">
                                          <p:val>
                                            <p:strVal val="#ppt_x"/>
                                          </p:val>
                                        </p:tav>
                                        <p:tav tm="100000">
                                          <p:val>
                                            <p:strVal val="#ppt_x"/>
                                          </p:val>
                                        </p:tav>
                                      </p:tavLst>
                                    </p:anim>
                                    <p:anim calcmode="lin" valueType="num">
                                      <p:cBhvr>
                                        <p:cTn id="253" dur="500" fill="hold"/>
                                        <p:tgtEl>
                                          <p:spTgt spid="72"/>
                                        </p:tgtEl>
                                        <p:attrNameLst>
                                          <p:attrName>ppt_y</p:attrName>
                                        </p:attrNameLst>
                                      </p:cBhvr>
                                      <p:tavLst>
                                        <p:tav tm="0">
                                          <p:val>
                                            <p:strVal val="#ppt_y+0.06"/>
                                          </p:val>
                                        </p:tav>
                                        <p:tav tm="100000">
                                          <p:val>
                                            <p:strVal val="#ppt_y"/>
                                          </p:val>
                                        </p:tav>
                                      </p:tavLst>
                                    </p:anim>
                                  </p:childTnLst>
                                </p:cTn>
                              </p:par>
                              <p:par>
                                <p:cTn id="255" presetID="53" presetClass="entr" presetSubtype="16" fill="hold" grpId="0" nodeType="withEffect">
                                  <p:stCondLst>
                                    <p:cond delay="700"/>
                                  </p:stCondLst>
                                  <p:childTnLst>
                                    <p:set>
                                      <p:cBhvr>
                                        <p:cTn id="254" dur="1" fill="hold">
                                          <p:stCondLst>
                                            <p:cond delay="0"/>
                                          </p:stCondLst>
                                        </p:cTn>
                                        <p:tgtEl>
                                          <p:spTgt spid="73"/>
                                        </p:tgtEl>
                                        <p:attrNameLst>
                                          <p:attrName>style.visibility</p:attrName>
                                        </p:attrNameLst>
                                      </p:cBhvr>
                                      <p:to>
                                        <p:strVal val="visible"/>
                                      </p:to>
                                    </p:set>
                                    <p:anim calcmode="lin" valueType="num">
                                      <p:cBhvr>
                                        <p:cTn id="256" dur="500" fill="hold"/>
                                        <p:tgtEl>
                                          <p:spTgt spid="73"/>
                                        </p:tgtEl>
                                        <p:attrNameLst>
                                          <p:attrName>ppt_w</p:attrName>
                                        </p:attrNameLst>
                                      </p:cBhvr>
                                      <p:tavLst>
                                        <p:tav tm="0">
                                          <p:val>
                                            <p:fltVal val="0"/>
                                          </p:val>
                                        </p:tav>
                                        <p:tav tm="100000">
                                          <p:val>
                                            <p:strVal val="#ppt_w"/>
                                          </p:val>
                                        </p:tav>
                                      </p:tavLst>
                                    </p:anim>
                                    <p:anim calcmode="lin" valueType="num">
                                      <p:cBhvr>
                                        <p:cTn id="257" dur="500" fill="hold"/>
                                        <p:tgtEl>
                                          <p:spTgt spid="73"/>
                                        </p:tgtEl>
                                        <p:attrNameLst>
                                          <p:attrName>ppt_h</p:attrName>
                                        </p:attrNameLst>
                                      </p:cBhvr>
                                      <p:tavLst>
                                        <p:tav tm="0">
                                          <p:val>
                                            <p:fltVal val="0"/>
                                          </p:val>
                                        </p:tav>
                                        <p:tav tm="100000">
                                          <p:val>
                                            <p:strVal val="#ppt_h"/>
                                          </p:val>
                                        </p:tav>
                                      </p:tavLst>
                                    </p:anim>
                                    <p:animEffect transition="in" filter="fade">
                                      <p:cBhvr>
                                        <p:cTn id="258" dur="500"/>
                                        <p:tgtEl>
                                          <p:spTgt spid="73"/>
                                        </p:tgtEl>
                                      </p:cBhvr>
                                    </p:animEffect>
                                  </p:childTnLst>
                                </p:cTn>
                              </p:par>
                              <p:par>
                                <p:cTn id="260" presetID="10" presetClass="entr" presetSubtype="0" fill="hold" grpId="0" nodeType="withEffect">
                                  <p:stCondLst>
                                    <p:cond delay="800"/>
                                  </p:stCondLst>
                                  <p:childTnLst>
                                    <p:set>
                                      <p:cBhvr>
                                        <p:cTn id="259" dur="1" fill="hold">
                                          <p:stCondLst>
                                            <p:cond delay="0"/>
                                          </p:stCondLst>
                                        </p:cTn>
                                        <p:tgtEl>
                                          <p:spTgt spid="74"/>
                                        </p:tgtEl>
                                        <p:attrNameLst>
                                          <p:attrName>style.visibility</p:attrName>
                                        </p:attrNameLst>
                                      </p:cBhvr>
                                      <p:to>
                                        <p:strVal val="visible"/>
                                      </p:to>
                                    </p:set>
                                    <p:animEffect transition="in" filter="fade">
                                      <p:cBhvr>
                                        <p:cTn id="261" dur="500"/>
                                        <p:tgtEl>
                                          <p:spTgt spid="74"/>
                                        </p:tgtEl>
                                      </p:cBhvr>
                                    </p:animEffect>
                                  </p:childTnLst>
                                </p:cTn>
                              </p:par>
                              <p:par>
                                <p:cTn id="263" presetID="53" presetClass="entr" presetSubtype="16" fill="hold" grpId="0" nodeType="withEffect">
                                  <p:stCondLst>
                                    <p:cond delay="950"/>
                                  </p:stCondLst>
                                  <p:childTnLst>
                                    <p:set>
                                      <p:cBhvr>
                                        <p:cTn id="262" dur="1" fill="hold">
                                          <p:stCondLst>
                                            <p:cond delay="0"/>
                                          </p:stCondLst>
                                        </p:cTn>
                                        <p:tgtEl>
                                          <p:spTgt spid="75"/>
                                        </p:tgtEl>
                                        <p:attrNameLst>
                                          <p:attrName>style.visibility</p:attrName>
                                        </p:attrNameLst>
                                      </p:cBhvr>
                                      <p:to>
                                        <p:strVal val="visible"/>
                                      </p:to>
                                    </p:set>
                                    <p:anim calcmode="lin" valueType="num">
                                      <p:cBhvr>
                                        <p:cTn id="264" dur="500" fill="hold"/>
                                        <p:tgtEl>
                                          <p:spTgt spid="75"/>
                                        </p:tgtEl>
                                        <p:attrNameLst>
                                          <p:attrName>ppt_w</p:attrName>
                                        </p:attrNameLst>
                                      </p:cBhvr>
                                      <p:tavLst>
                                        <p:tav tm="0">
                                          <p:val>
                                            <p:fltVal val="0"/>
                                          </p:val>
                                        </p:tav>
                                        <p:tav tm="100000">
                                          <p:val>
                                            <p:strVal val="#ppt_w"/>
                                          </p:val>
                                        </p:tav>
                                      </p:tavLst>
                                    </p:anim>
                                    <p:anim calcmode="lin" valueType="num">
                                      <p:cBhvr>
                                        <p:cTn id="265" dur="500" fill="hold"/>
                                        <p:tgtEl>
                                          <p:spTgt spid="75"/>
                                        </p:tgtEl>
                                        <p:attrNameLst>
                                          <p:attrName>ppt_h</p:attrName>
                                        </p:attrNameLst>
                                      </p:cBhvr>
                                      <p:tavLst>
                                        <p:tav tm="0">
                                          <p:val>
                                            <p:fltVal val="0"/>
                                          </p:val>
                                        </p:tav>
                                        <p:tav tm="100000">
                                          <p:val>
                                            <p:strVal val="#ppt_h"/>
                                          </p:val>
                                        </p:tav>
                                      </p:tavLst>
                                    </p:anim>
                                    <p:animEffect transition="in" filter="fade">
                                      <p:cBhvr>
                                        <p:cTn id="266" dur="500"/>
                                        <p:tgtEl>
                                          <p:spTgt spid="75"/>
                                        </p:tgtEl>
                                      </p:cBhvr>
                                    </p:animEffect>
                                  </p:childTnLst>
                                </p:cTn>
                              </p:par>
                              <p:par>
                                <p:cTn id="268" presetID="10" presetClass="entr" presetSubtype="0" fill="hold" grpId="0" nodeType="withEffect">
                                  <p:stCondLst>
                                    <p:cond delay="1100"/>
                                  </p:stCondLst>
                                  <p:childTnLst>
                                    <p:set>
                                      <p:cBhvr>
                                        <p:cTn id="267" dur="1" fill="hold">
                                          <p:stCondLst>
                                            <p:cond delay="0"/>
                                          </p:stCondLst>
                                        </p:cTn>
                                        <p:tgtEl>
                                          <p:spTgt spid="76"/>
                                        </p:tgtEl>
                                        <p:attrNameLst>
                                          <p:attrName>style.visibility</p:attrName>
                                        </p:attrNameLst>
                                      </p:cBhvr>
                                      <p:to>
                                        <p:strVal val="visible"/>
                                      </p:to>
                                    </p:set>
                                    <p:animEffect transition="in" filter="fade">
                                      <p:cBhvr>
                                        <p:cTn id="269" dur="500"/>
                                        <p:tgtEl>
                                          <p:spTgt spid="76"/>
                                        </p:tgtEl>
                                      </p:cBhvr>
                                    </p:animEffect>
                                  </p:childTnLst>
                                </p:cTn>
                              </p:par>
                            </p:childTnLst>
                          </p:cTn>
                        </p:par>
                      </p:childTnLst>
                    </p:cTn>
                  </p:par>
                  <p:par>
                    <p:cTn id="270" fill="hold">
                      <p:stCondLst>
                        <p:cond delay="indefinite"/>
                      </p:stCondLst>
                      <p:childTnLst>
                        <p:par>
                          <p:cTn id="271" fill="hold">
                            <p:stCondLst>
                              <p:cond delay="0"/>
                            </p:stCondLst>
                            <p:childTnLst>
                              <p:par>
                                <p:cTn id="273" presetID="42" presetClass="entr" presetSubtype="0" fill="hold" grpId="0" nodeType="clickEffect">
                                  <p:stCondLst>
                                    <p:cond delay="0"/>
                                  </p:stCondLst>
                                  <p:childTnLst>
                                    <p:set>
                                      <p:cBhvr>
                                        <p:cTn id="272" dur="1" fill="hold">
                                          <p:stCondLst>
                                            <p:cond delay="0"/>
                                          </p:stCondLst>
                                        </p:cTn>
                                        <p:tgtEl>
                                          <p:spTgt spid="77"/>
                                        </p:tgtEl>
                                        <p:attrNameLst>
                                          <p:attrName>style.visibility</p:attrName>
                                        </p:attrNameLst>
                                      </p:cBhvr>
                                      <p:to>
                                        <p:strVal val="visible"/>
                                      </p:to>
                                    </p:set>
                                    <p:animEffect transition="in" filter="fade">
                                      <p:cBhvr>
                                        <p:cTn id="274" dur="500"/>
                                        <p:tgtEl>
                                          <p:spTgt spid="77"/>
                                        </p:tgtEl>
                                      </p:cBhvr>
                                    </p:animEffect>
                                    <p:anim calcmode="lin" valueType="num">
                                      <p:cBhvr>
                                        <p:cTn id="275" dur="500" fill="hold"/>
                                        <p:tgtEl>
                                          <p:spTgt spid="77"/>
                                        </p:tgtEl>
                                        <p:attrNameLst>
                                          <p:attrName>ppt_x</p:attrName>
                                        </p:attrNameLst>
                                      </p:cBhvr>
                                      <p:tavLst>
                                        <p:tav tm="0">
                                          <p:val>
                                            <p:strVal val="#ppt_x"/>
                                          </p:val>
                                        </p:tav>
                                        <p:tav tm="100000">
                                          <p:val>
                                            <p:strVal val="#ppt_x"/>
                                          </p:val>
                                        </p:tav>
                                      </p:tavLst>
                                    </p:anim>
                                    <p:anim calcmode="lin" valueType="num">
                                      <p:cBhvr>
                                        <p:cTn id="276" dur="500" fill="hold"/>
                                        <p:tgtEl>
                                          <p:spTgt spid="7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2563EB"/>
                </a:solidFill>
                <a:latin typeface="Inter" pitchFamily="34" charset="0"/>
                <a:ea typeface="Inter" pitchFamily="34" charset="-122"/>
                <a:cs typeface="Inter" pitchFamily="34" charset="-120"/>
              </a:rPr>
              <a:t>04 · WARM-UP · NON-LINEARITY</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Non-linearity: why networks need a bend</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Without bends, stacking a hundred layers is no smarter than one. Example: when is a banana good to eat?</a:t>
            </a:r>
            <a:endParaRPr lang="en-US" sz="1300" dirty="0"/>
          </a:p>
        </p:txBody>
      </p:sp>
      <p:sp>
        <p:nvSpPr>
          <p:cNvPr id="5" name="anim-1-fade-0-94"/>
          <p:cNvSpPr/>
          <p:nvPr/>
        </p:nvSpPr>
        <p:spPr>
          <a:xfrm>
            <a:off x="548640" y="1645920"/>
            <a:ext cx="3520440" cy="3337560"/>
          </a:xfrm>
          <a:prstGeom prst="roundRect">
            <a:avLst>
              <a:gd name="adj" fmla="val 2740"/>
            </a:avLst>
          </a:prstGeom>
          <a:solidFill>
            <a:srgbClr val="F8FAFC"/>
          </a:solidFill>
          <a:ln w="12700">
            <a:solidFill>
              <a:srgbClr val="CBD5E1"/>
            </a:solidFill>
            <a:prstDash val="solid"/>
          </a:ln>
        </p:spPr>
      </p:sp>
      <p:sp>
        <p:nvSpPr>
          <p:cNvPr id="6" name="anim-2-fade-0-95"/>
          <p:cNvSpPr/>
          <p:nvPr/>
        </p:nvSpPr>
        <p:spPr>
          <a:xfrm>
            <a:off x="4251960" y="1645920"/>
            <a:ext cx="3520440" cy="3337560"/>
          </a:xfrm>
          <a:prstGeom prst="roundRect">
            <a:avLst>
              <a:gd name="adj" fmla="val 2740"/>
            </a:avLst>
          </a:prstGeom>
          <a:solidFill>
            <a:srgbClr val="F8FAFC"/>
          </a:solidFill>
          <a:ln w="12700">
            <a:solidFill>
              <a:srgbClr val="CBD5E1"/>
            </a:solidFill>
            <a:prstDash val="solid"/>
          </a:ln>
        </p:spPr>
      </p:sp>
      <p:sp>
        <p:nvSpPr>
          <p:cNvPr id="7" name="anim-3-fade-0-96"/>
          <p:cNvSpPr/>
          <p:nvPr/>
        </p:nvSpPr>
        <p:spPr>
          <a:xfrm>
            <a:off x="7955280" y="1645920"/>
            <a:ext cx="3657600" cy="3337560"/>
          </a:xfrm>
          <a:prstGeom prst="roundRect">
            <a:avLst>
              <a:gd name="adj" fmla="val 2740"/>
            </a:avLst>
          </a:prstGeom>
          <a:solidFill>
            <a:srgbClr val="F8FAFC"/>
          </a:solidFill>
          <a:ln w="12700">
            <a:solidFill>
              <a:srgbClr val="CBD5E1"/>
            </a:solidFill>
            <a:prstDash val="solid"/>
          </a:ln>
        </p:spPr>
      </p:sp>
      <p:sp>
        <p:nvSpPr>
          <p:cNvPr id="8" name="anim-1-fade-0-97"/>
          <p:cNvSpPr txBox="1"/>
          <p:nvPr/>
        </p:nvSpPr>
        <p:spPr>
          <a:xfrm>
            <a:off x="713232" y="1755648"/>
            <a:ext cx="3200400" cy="41148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① Straight steps stack into one straight step</a:t>
            </a:r>
            <a:endParaRPr lang="en-US" sz="1100" dirty="0"/>
          </a:p>
        </p:txBody>
      </p:sp>
      <p:sp>
        <p:nvSpPr>
          <p:cNvPr id="9" name="anim-1-rise-0-98"/>
          <p:cNvSpPr/>
          <p:nvPr/>
        </p:nvSpPr>
        <p:spPr>
          <a:xfrm>
            <a:off x="731520" y="2267712"/>
            <a:ext cx="384048" cy="384048"/>
          </a:xfrm>
          <a:prstGeom prst="roundRect">
            <a:avLst>
              <a:gd name="adj" fmla="val 23810"/>
            </a:avLst>
          </a:prstGeom>
          <a:solidFill>
            <a:srgbClr val="FFFFFF"/>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x</a:t>
            </a:r>
            <a:endParaRPr lang="en-US" sz="1100" dirty="0"/>
          </a:p>
        </p:txBody>
      </p:sp>
      <p:sp>
        <p:nvSpPr>
          <p:cNvPr id="10" name="anim-1-rise-100-99"/>
          <p:cNvSpPr/>
          <p:nvPr/>
        </p:nvSpPr>
        <p:spPr>
          <a:xfrm>
            <a:off x="1143000" y="2459736"/>
            <a:ext cx="155448" cy="0"/>
          </a:xfrm>
          <a:prstGeom prst="line">
            <a:avLst/>
          </a:prstGeom>
          <a:noFill/>
          <a:ln w="15875">
            <a:solidFill>
              <a:srgbClr val="94A3B8"/>
            </a:solidFill>
            <a:prstDash val="solid"/>
            <a:tailEnd type="triangle"/>
          </a:ln>
        </p:spPr>
      </p:sp>
      <p:sp>
        <p:nvSpPr>
          <p:cNvPr id="11" name="anim-1-rise-200-100"/>
          <p:cNvSpPr/>
          <p:nvPr/>
        </p:nvSpPr>
        <p:spPr>
          <a:xfrm>
            <a:off x="1325880" y="2267712"/>
            <a:ext cx="548640" cy="384048"/>
          </a:xfrm>
          <a:prstGeom prst="roundRect">
            <a:avLst>
              <a:gd name="adj" fmla="val 23810"/>
            </a:avLst>
          </a:prstGeom>
          <a:solidFill>
            <a:srgbClr val="DBEAFE"/>
          </a:solidFill>
          <a:ln/>
        </p:spPr>
        <p:txBody>
          <a:bodyPr wrap="square" lIns="0" tIns="0" rIns="0" bIns="0" rtlCol="0" anchor="ctr"/>
          <a:lstStyle/>
          <a:p>
            <a:pPr algn="ctr" indent="0" marL="0">
              <a:buNone/>
            </a:pPr>
            <a:r>
              <a:rPr lang="en-US" sz="1100" b="1" dirty="0">
                <a:solidFill>
                  <a:srgbClr val="2563EB"/>
                </a:solidFill>
                <a:latin typeface="Inter" pitchFamily="34" charset="0"/>
                <a:ea typeface="Inter" pitchFamily="34" charset="-122"/>
                <a:cs typeface="Inter" pitchFamily="34" charset="-120"/>
              </a:rPr>
              <a:t>× 2</a:t>
            </a:r>
            <a:endParaRPr lang="en-US" sz="1100" dirty="0"/>
          </a:p>
        </p:txBody>
      </p:sp>
      <p:sp>
        <p:nvSpPr>
          <p:cNvPr id="12" name="anim-1-rise-300-101"/>
          <p:cNvSpPr/>
          <p:nvPr/>
        </p:nvSpPr>
        <p:spPr>
          <a:xfrm>
            <a:off x="1901952" y="2459736"/>
            <a:ext cx="155448" cy="0"/>
          </a:xfrm>
          <a:prstGeom prst="line">
            <a:avLst/>
          </a:prstGeom>
          <a:noFill/>
          <a:ln w="15875">
            <a:solidFill>
              <a:srgbClr val="94A3B8"/>
            </a:solidFill>
            <a:prstDash val="solid"/>
            <a:tailEnd type="triangle"/>
          </a:ln>
        </p:spPr>
      </p:sp>
      <p:sp>
        <p:nvSpPr>
          <p:cNvPr id="13" name="anim-1-rise-400-102"/>
          <p:cNvSpPr/>
          <p:nvPr/>
        </p:nvSpPr>
        <p:spPr>
          <a:xfrm>
            <a:off x="2084832" y="2267712"/>
            <a:ext cx="868680" cy="384048"/>
          </a:xfrm>
          <a:prstGeom prst="roundRect">
            <a:avLst>
              <a:gd name="adj" fmla="val 23810"/>
            </a:avLst>
          </a:prstGeom>
          <a:solidFill>
            <a:srgbClr val="DBEAFE"/>
          </a:solidFill>
          <a:ln/>
        </p:spPr>
        <p:txBody>
          <a:bodyPr wrap="square" lIns="0" tIns="0" rIns="0" bIns="0" rtlCol="0" anchor="ctr"/>
          <a:lstStyle/>
          <a:p>
            <a:pPr algn="ctr" indent="0" marL="0">
              <a:buNone/>
            </a:pPr>
            <a:r>
              <a:rPr lang="en-US" sz="1100" b="1" dirty="0">
                <a:solidFill>
                  <a:srgbClr val="2563EB"/>
                </a:solidFill>
                <a:latin typeface="Inter" pitchFamily="34" charset="0"/>
                <a:ea typeface="Inter" pitchFamily="34" charset="-122"/>
                <a:cs typeface="Inter" pitchFamily="34" charset="-120"/>
              </a:rPr>
              <a:t>× 3, + 1</a:t>
            </a:r>
            <a:endParaRPr lang="en-US" sz="1100" dirty="0"/>
          </a:p>
        </p:txBody>
      </p:sp>
      <p:sp>
        <p:nvSpPr>
          <p:cNvPr id="14" name="anim-1-rise-500-103"/>
          <p:cNvSpPr/>
          <p:nvPr/>
        </p:nvSpPr>
        <p:spPr>
          <a:xfrm>
            <a:off x="2980944" y="2459736"/>
            <a:ext cx="155448" cy="0"/>
          </a:xfrm>
          <a:prstGeom prst="line">
            <a:avLst/>
          </a:prstGeom>
          <a:noFill/>
          <a:ln w="15875">
            <a:solidFill>
              <a:srgbClr val="94A3B8"/>
            </a:solidFill>
            <a:prstDash val="solid"/>
            <a:tailEnd type="triangle"/>
          </a:ln>
        </p:spPr>
      </p:sp>
      <p:sp>
        <p:nvSpPr>
          <p:cNvPr id="15" name="anim-1-zoom-700-104"/>
          <p:cNvSpPr/>
          <p:nvPr/>
        </p:nvSpPr>
        <p:spPr>
          <a:xfrm>
            <a:off x="3163824" y="2267712"/>
            <a:ext cx="914400" cy="384048"/>
          </a:xfrm>
          <a:prstGeom prst="roundRect">
            <a:avLst>
              <a:gd name="adj" fmla="val 23810"/>
            </a:avLst>
          </a:prstGeom>
          <a:solidFill>
            <a:srgbClr val="2563EB"/>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 × 6, + 1</a:t>
            </a:r>
            <a:endParaRPr lang="en-US" sz="1100" dirty="0"/>
          </a:p>
        </p:txBody>
      </p:sp>
      <p:sp>
        <p:nvSpPr>
          <p:cNvPr id="16" name="anim-1-fade-800-105"/>
          <p:cNvSpPr/>
          <p:nvPr/>
        </p:nvSpPr>
        <p:spPr>
          <a:xfrm>
            <a:off x="914400" y="3674745"/>
            <a:ext cx="2834640" cy="0"/>
          </a:xfrm>
          <a:prstGeom prst="line">
            <a:avLst/>
          </a:prstGeom>
          <a:noFill/>
          <a:ln w="12700">
            <a:solidFill>
              <a:srgbClr val="CBD5E1"/>
            </a:solidFill>
            <a:prstDash val="solid"/>
          </a:ln>
        </p:spPr>
      </p:sp>
      <p:sp>
        <p:nvSpPr>
          <p:cNvPr id="17" name="anim-1-fade-800-105"/>
          <p:cNvSpPr/>
          <p:nvPr/>
        </p:nvSpPr>
        <p:spPr>
          <a:xfrm>
            <a:off x="2331720" y="2788920"/>
            <a:ext cx="0" cy="1417320"/>
          </a:xfrm>
          <a:prstGeom prst="line">
            <a:avLst/>
          </a:prstGeom>
          <a:noFill/>
          <a:ln w="12700">
            <a:solidFill>
              <a:srgbClr val="CBD5E1"/>
            </a:solidFill>
            <a:prstDash val="solid"/>
          </a:ln>
        </p:spPr>
      </p:sp>
      <p:sp>
        <p:nvSpPr>
          <p:cNvPr id="18" name="anim-1-wipe-900-106"/>
          <p:cNvSpPr/>
          <p:nvPr/>
        </p:nvSpPr>
        <p:spPr>
          <a:xfrm flipV="1">
            <a:off x="914400" y="3320415"/>
            <a:ext cx="2834640" cy="708660"/>
          </a:xfrm>
          <a:prstGeom prst="line">
            <a:avLst/>
          </a:prstGeom>
          <a:noFill/>
          <a:ln w="22225">
            <a:solidFill>
              <a:srgbClr val="94A3B8"/>
            </a:solidFill>
            <a:prstDash val="solid"/>
          </a:ln>
        </p:spPr>
      </p:sp>
      <p:sp>
        <p:nvSpPr>
          <p:cNvPr id="19" name="anim-1-wipe-1100-107"/>
          <p:cNvSpPr/>
          <p:nvPr/>
        </p:nvSpPr>
        <p:spPr>
          <a:xfrm flipV="1">
            <a:off x="1410462" y="2806636"/>
            <a:ext cx="1842516" cy="1381887"/>
          </a:xfrm>
          <a:prstGeom prst="line">
            <a:avLst/>
          </a:prstGeom>
          <a:noFill/>
          <a:ln w="31750">
            <a:solidFill>
              <a:srgbClr val="2563EB"/>
            </a:solidFill>
            <a:prstDash val="solid"/>
          </a:ln>
        </p:spPr>
      </p:sp>
      <p:sp>
        <p:nvSpPr>
          <p:cNvPr id="20" name="anim-1-fade-1300-108"/>
          <p:cNvSpPr txBox="1"/>
          <p:nvPr/>
        </p:nvSpPr>
        <p:spPr>
          <a:xfrm>
            <a:off x="713232" y="4343400"/>
            <a:ext cx="3200400" cy="502920"/>
          </a:xfrm>
          <a:prstGeom prst="rect">
            <a:avLst/>
          </a:prstGeom>
          <a:noFill/>
          <a:ln/>
        </p:spPr>
        <p:txBody>
          <a:bodyPr wrap="square" lIns="0" tIns="0" rIns="0" bIns="0" rtlCol="0" anchor="t"/>
          <a:lstStyle/>
          <a:p>
            <a:pPr indent="0" marL="0">
              <a:buNone/>
            </a:pPr>
            <a:r>
              <a:rPr lang="en-US" sz="1000" dirty="0">
                <a:solidFill>
                  <a:srgbClr val="334155"/>
                </a:solidFill>
                <a:latin typeface="Inter" pitchFamily="34" charset="0"/>
                <a:ea typeface="Inter" pitchFamily="34" charset="-122"/>
                <a:cs typeface="Inter" pitchFamily="34" charset="-120"/>
              </a:rPr>
              <a:t>Any stack of “multiply and add” layers is still just one line.</a:t>
            </a:r>
            <a:endParaRPr lang="en-US" sz="1000" dirty="0"/>
          </a:p>
        </p:txBody>
      </p:sp>
      <p:sp>
        <p:nvSpPr>
          <p:cNvPr id="21" name="anim-2-fade-0-109"/>
          <p:cNvSpPr txBox="1"/>
          <p:nvPr/>
        </p:nvSpPr>
        <p:spPr>
          <a:xfrm>
            <a:off x="4416552" y="1755648"/>
            <a:ext cx="3200400" cy="41148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② The fix: a bend after each layer</a:t>
            </a:r>
            <a:endParaRPr lang="en-US" sz="1100" dirty="0"/>
          </a:p>
        </p:txBody>
      </p:sp>
      <p:sp>
        <p:nvSpPr>
          <p:cNvPr id="22" name="anim-2-fade-0-110"/>
          <p:cNvSpPr/>
          <p:nvPr/>
        </p:nvSpPr>
        <p:spPr>
          <a:xfrm>
            <a:off x="4572000" y="3916680"/>
            <a:ext cx="2880360" cy="0"/>
          </a:xfrm>
          <a:prstGeom prst="line">
            <a:avLst/>
          </a:prstGeom>
          <a:noFill/>
          <a:ln w="12700">
            <a:solidFill>
              <a:srgbClr val="CBD5E1"/>
            </a:solidFill>
            <a:prstDash val="solid"/>
          </a:ln>
        </p:spPr>
      </p:sp>
      <p:sp>
        <p:nvSpPr>
          <p:cNvPr id="23" name="anim-2-fade-0-110"/>
          <p:cNvSpPr/>
          <p:nvPr/>
        </p:nvSpPr>
        <p:spPr>
          <a:xfrm>
            <a:off x="6012180" y="2240280"/>
            <a:ext cx="0" cy="2011680"/>
          </a:xfrm>
          <a:prstGeom prst="line">
            <a:avLst/>
          </a:prstGeom>
          <a:noFill/>
          <a:ln w="12700">
            <a:solidFill>
              <a:srgbClr val="CBD5E1"/>
            </a:solidFill>
            <a:prstDash val="solid"/>
          </a:ln>
        </p:spPr>
      </p:sp>
      <p:sp>
        <p:nvSpPr>
          <p:cNvPr id="24" name="anim-2-wipe-200-111"/>
          <p:cNvSpPr/>
          <p:nvPr/>
        </p:nvSpPr>
        <p:spPr>
          <a:xfrm>
            <a:off x="4572000" y="3916680"/>
            <a:ext cx="1440180" cy="0"/>
          </a:xfrm>
          <a:prstGeom prst="line">
            <a:avLst/>
          </a:prstGeom>
          <a:noFill/>
          <a:ln w="34925">
            <a:solidFill>
              <a:srgbClr val="0D9488"/>
            </a:solidFill>
            <a:prstDash val="solid"/>
          </a:ln>
        </p:spPr>
      </p:sp>
      <p:sp>
        <p:nvSpPr>
          <p:cNvPr id="25" name="anim-2-wipe-600-112"/>
          <p:cNvSpPr/>
          <p:nvPr/>
        </p:nvSpPr>
        <p:spPr>
          <a:xfrm flipV="1">
            <a:off x="6012180" y="2240280"/>
            <a:ext cx="1440180" cy="1676400"/>
          </a:xfrm>
          <a:prstGeom prst="line">
            <a:avLst/>
          </a:prstGeom>
          <a:noFill/>
          <a:ln w="34925">
            <a:solidFill>
              <a:srgbClr val="0D9488"/>
            </a:solidFill>
            <a:prstDash val="solid"/>
          </a:ln>
        </p:spPr>
      </p:sp>
      <p:sp>
        <p:nvSpPr>
          <p:cNvPr id="26" name="anim-2-fade-1000-113"/>
          <p:cNvSpPr/>
          <p:nvPr/>
        </p:nvSpPr>
        <p:spPr>
          <a:xfrm>
            <a:off x="4572000" y="3918943"/>
            <a:ext cx="120015" cy="2316"/>
          </a:xfrm>
          <a:prstGeom prst="line">
            <a:avLst/>
          </a:prstGeom>
          <a:noFill/>
          <a:ln w="22225">
            <a:solidFill>
              <a:srgbClr val="7C3AED"/>
            </a:solidFill>
            <a:prstDash val="dash"/>
          </a:ln>
        </p:spPr>
      </p:sp>
      <p:sp>
        <p:nvSpPr>
          <p:cNvPr id="27" name="anim-2-fade-1030-114"/>
          <p:cNvSpPr/>
          <p:nvPr/>
        </p:nvSpPr>
        <p:spPr>
          <a:xfrm>
            <a:off x="4692015" y="3921259"/>
            <a:ext cx="120015" cy="4096"/>
          </a:xfrm>
          <a:prstGeom prst="line">
            <a:avLst/>
          </a:prstGeom>
          <a:noFill/>
          <a:ln w="22225">
            <a:solidFill>
              <a:srgbClr val="7C3AED"/>
            </a:solidFill>
            <a:prstDash val="dash"/>
          </a:ln>
        </p:spPr>
      </p:sp>
      <p:sp>
        <p:nvSpPr>
          <p:cNvPr id="28" name="anim-2-fade-1060-115"/>
          <p:cNvSpPr/>
          <p:nvPr/>
        </p:nvSpPr>
        <p:spPr>
          <a:xfrm>
            <a:off x="4812030" y="3925355"/>
            <a:ext cx="120015" cy="6695"/>
          </a:xfrm>
          <a:prstGeom prst="line">
            <a:avLst/>
          </a:prstGeom>
          <a:noFill/>
          <a:ln w="22225">
            <a:solidFill>
              <a:srgbClr val="7C3AED"/>
            </a:solidFill>
            <a:prstDash val="dash"/>
          </a:ln>
        </p:spPr>
      </p:sp>
      <p:sp>
        <p:nvSpPr>
          <p:cNvPr id="29" name="anim-2-fade-1090-116"/>
          <p:cNvSpPr/>
          <p:nvPr/>
        </p:nvSpPr>
        <p:spPr>
          <a:xfrm>
            <a:off x="4932045" y="3932050"/>
            <a:ext cx="120015" cy="10056"/>
          </a:xfrm>
          <a:prstGeom prst="line">
            <a:avLst/>
          </a:prstGeom>
          <a:noFill/>
          <a:ln w="22225">
            <a:solidFill>
              <a:srgbClr val="7C3AED"/>
            </a:solidFill>
            <a:prstDash val="dash"/>
          </a:ln>
        </p:spPr>
      </p:sp>
      <p:sp>
        <p:nvSpPr>
          <p:cNvPr id="30" name="anim-2-fade-1120-117"/>
          <p:cNvSpPr/>
          <p:nvPr/>
        </p:nvSpPr>
        <p:spPr>
          <a:xfrm>
            <a:off x="5052060" y="3942105"/>
            <a:ext cx="120015" cy="13748"/>
          </a:xfrm>
          <a:prstGeom prst="line">
            <a:avLst/>
          </a:prstGeom>
          <a:noFill/>
          <a:ln w="22225">
            <a:solidFill>
              <a:srgbClr val="7C3AED"/>
            </a:solidFill>
            <a:prstDash val="dash"/>
          </a:ln>
        </p:spPr>
      </p:sp>
      <p:sp>
        <p:nvSpPr>
          <p:cNvPr id="31" name="anim-2-fade-1150-118"/>
          <p:cNvSpPr/>
          <p:nvPr/>
        </p:nvSpPr>
        <p:spPr>
          <a:xfrm>
            <a:off x="5172075" y="3955854"/>
            <a:ext cx="120015" cy="16824"/>
          </a:xfrm>
          <a:prstGeom prst="line">
            <a:avLst/>
          </a:prstGeom>
          <a:noFill/>
          <a:ln w="22225">
            <a:solidFill>
              <a:srgbClr val="7C3AED"/>
            </a:solidFill>
            <a:prstDash val="dash"/>
          </a:ln>
        </p:spPr>
      </p:sp>
      <p:sp>
        <p:nvSpPr>
          <p:cNvPr id="32" name="anim-2-fade-1180-119"/>
          <p:cNvSpPr/>
          <p:nvPr/>
        </p:nvSpPr>
        <p:spPr>
          <a:xfrm>
            <a:off x="5292090" y="3972678"/>
            <a:ext cx="120015" cy="17799"/>
          </a:xfrm>
          <a:prstGeom prst="line">
            <a:avLst/>
          </a:prstGeom>
          <a:noFill/>
          <a:ln w="22225">
            <a:solidFill>
              <a:srgbClr val="7C3AED"/>
            </a:solidFill>
            <a:prstDash val="dash"/>
          </a:ln>
        </p:spPr>
      </p:sp>
      <p:sp>
        <p:nvSpPr>
          <p:cNvPr id="33" name="anim-2-fade-1210-120"/>
          <p:cNvSpPr/>
          <p:nvPr/>
        </p:nvSpPr>
        <p:spPr>
          <a:xfrm>
            <a:off x="5412105" y="3990476"/>
            <a:ext cx="120015" cy="14860"/>
          </a:xfrm>
          <a:prstGeom prst="line">
            <a:avLst/>
          </a:prstGeom>
          <a:noFill/>
          <a:ln w="22225">
            <a:solidFill>
              <a:srgbClr val="7C3AED"/>
            </a:solidFill>
            <a:prstDash val="dash"/>
          </a:ln>
        </p:spPr>
      </p:sp>
      <p:sp>
        <p:nvSpPr>
          <p:cNvPr id="34" name="anim-2-fade-1240-121"/>
          <p:cNvSpPr/>
          <p:nvPr/>
        </p:nvSpPr>
        <p:spPr>
          <a:xfrm>
            <a:off x="5532120" y="4005337"/>
            <a:ext cx="120015" cy="6323"/>
          </a:xfrm>
          <a:prstGeom prst="line">
            <a:avLst/>
          </a:prstGeom>
          <a:noFill/>
          <a:ln w="22225">
            <a:solidFill>
              <a:srgbClr val="7C3AED"/>
            </a:solidFill>
            <a:prstDash val="dash"/>
          </a:ln>
        </p:spPr>
      </p:sp>
      <p:sp>
        <p:nvSpPr>
          <p:cNvPr id="35" name="anim-2-fade-1270-122"/>
          <p:cNvSpPr/>
          <p:nvPr/>
        </p:nvSpPr>
        <p:spPr>
          <a:xfrm flipV="1">
            <a:off x="5652135" y="4002885"/>
            <a:ext cx="120015" cy="8774"/>
          </a:xfrm>
          <a:prstGeom prst="line">
            <a:avLst/>
          </a:prstGeom>
          <a:noFill/>
          <a:ln w="22225">
            <a:solidFill>
              <a:srgbClr val="7C3AED"/>
            </a:solidFill>
            <a:prstDash val="dash"/>
          </a:ln>
        </p:spPr>
      </p:sp>
      <p:sp>
        <p:nvSpPr>
          <p:cNvPr id="36" name="anim-2-fade-1300-123"/>
          <p:cNvSpPr/>
          <p:nvPr/>
        </p:nvSpPr>
        <p:spPr>
          <a:xfrm flipV="1">
            <a:off x="5772150" y="3972741"/>
            <a:ext cx="120015" cy="30145"/>
          </a:xfrm>
          <a:prstGeom prst="line">
            <a:avLst/>
          </a:prstGeom>
          <a:noFill/>
          <a:ln w="22225">
            <a:solidFill>
              <a:srgbClr val="7C3AED"/>
            </a:solidFill>
            <a:prstDash val="dash"/>
          </a:ln>
        </p:spPr>
      </p:sp>
      <p:sp>
        <p:nvSpPr>
          <p:cNvPr id="37" name="anim-2-fade-1330-124"/>
          <p:cNvSpPr/>
          <p:nvPr/>
        </p:nvSpPr>
        <p:spPr>
          <a:xfrm flipV="1">
            <a:off x="5892165" y="3916680"/>
            <a:ext cx="120015" cy="56061"/>
          </a:xfrm>
          <a:prstGeom prst="line">
            <a:avLst/>
          </a:prstGeom>
          <a:noFill/>
          <a:ln w="22225">
            <a:solidFill>
              <a:srgbClr val="7C3AED"/>
            </a:solidFill>
            <a:prstDash val="dash"/>
          </a:ln>
        </p:spPr>
      </p:sp>
      <p:sp>
        <p:nvSpPr>
          <p:cNvPr id="38" name="anim-2-fade-1360-125"/>
          <p:cNvSpPr/>
          <p:nvPr/>
        </p:nvSpPr>
        <p:spPr>
          <a:xfrm flipV="1">
            <a:off x="6012180" y="3833041"/>
            <a:ext cx="120015" cy="83639"/>
          </a:xfrm>
          <a:prstGeom prst="line">
            <a:avLst/>
          </a:prstGeom>
          <a:noFill/>
          <a:ln w="22225">
            <a:solidFill>
              <a:srgbClr val="7C3AED"/>
            </a:solidFill>
            <a:prstDash val="dash"/>
          </a:ln>
        </p:spPr>
      </p:sp>
      <p:sp>
        <p:nvSpPr>
          <p:cNvPr id="39" name="anim-2-fade-1390-126"/>
          <p:cNvSpPr/>
          <p:nvPr/>
        </p:nvSpPr>
        <p:spPr>
          <a:xfrm flipV="1">
            <a:off x="6132195" y="3723485"/>
            <a:ext cx="120015" cy="109555"/>
          </a:xfrm>
          <a:prstGeom prst="line">
            <a:avLst/>
          </a:prstGeom>
          <a:noFill/>
          <a:ln w="22225">
            <a:solidFill>
              <a:srgbClr val="7C3AED"/>
            </a:solidFill>
            <a:prstDash val="dash"/>
          </a:ln>
        </p:spPr>
      </p:sp>
      <p:sp>
        <p:nvSpPr>
          <p:cNvPr id="40" name="anim-2-fade-1420-127"/>
          <p:cNvSpPr/>
          <p:nvPr/>
        </p:nvSpPr>
        <p:spPr>
          <a:xfrm flipV="1">
            <a:off x="6252210" y="3592559"/>
            <a:ext cx="120015" cy="130926"/>
          </a:xfrm>
          <a:prstGeom prst="line">
            <a:avLst/>
          </a:prstGeom>
          <a:noFill/>
          <a:ln w="22225">
            <a:solidFill>
              <a:srgbClr val="7C3AED"/>
            </a:solidFill>
            <a:prstDash val="dash"/>
          </a:ln>
        </p:spPr>
      </p:sp>
      <p:sp>
        <p:nvSpPr>
          <p:cNvPr id="41" name="anim-2-fade-1450-128"/>
          <p:cNvSpPr/>
          <p:nvPr/>
        </p:nvSpPr>
        <p:spPr>
          <a:xfrm flipV="1">
            <a:off x="6372225" y="3446537"/>
            <a:ext cx="120015" cy="146023"/>
          </a:xfrm>
          <a:prstGeom prst="line">
            <a:avLst/>
          </a:prstGeom>
          <a:noFill/>
          <a:ln w="22225">
            <a:solidFill>
              <a:srgbClr val="7C3AED"/>
            </a:solidFill>
            <a:prstDash val="dash"/>
          </a:ln>
        </p:spPr>
      </p:sp>
      <p:sp>
        <p:nvSpPr>
          <p:cNvPr id="42" name="anim-2-fade-1480-129"/>
          <p:cNvSpPr/>
          <p:nvPr/>
        </p:nvSpPr>
        <p:spPr>
          <a:xfrm flipV="1">
            <a:off x="6492240" y="3291976"/>
            <a:ext cx="120015" cy="154560"/>
          </a:xfrm>
          <a:prstGeom prst="line">
            <a:avLst/>
          </a:prstGeom>
          <a:noFill/>
          <a:ln w="22225">
            <a:solidFill>
              <a:srgbClr val="7C3AED"/>
            </a:solidFill>
            <a:prstDash val="dash"/>
          </a:ln>
        </p:spPr>
      </p:sp>
      <p:sp>
        <p:nvSpPr>
          <p:cNvPr id="43" name="anim-2-fade-1510-130"/>
          <p:cNvSpPr/>
          <p:nvPr/>
        </p:nvSpPr>
        <p:spPr>
          <a:xfrm flipV="1">
            <a:off x="6612255" y="3134478"/>
            <a:ext cx="120015" cy="157499"/>
          </a:xfrm>
          <a:prstGeom prst="line">
            <a:avLst/>
          </a:prstGeom>
          <a:noFill/>
          <a:ln w="22225">
            <a:solidFill>
              <a:srgbClr val="7C3AED"/>
            </a:solidFill>
            <a:prstDash val="dash"/>
          </a:ln>
        </p:spPr>
      </p:sp>
      <p:sp>
        <p:nvSpPr>
          <p:cNvPr id="44" name="anim-2-fade-1540-131"/>
          <p:cNvSpPr/>
          <p:nvPr/>
        </p:nvSpPr>
        <p:spPr>
          <a:xfrm flipV="1">
            <a:off x="6732270" y="2977954"/>
            <a:ext cx="120015" cy="156524"/>
          </a:xfrm>
          <a:prstGeom prst="line">
            <a:avLst/>
          </a:prstGeom>
          <a:noFill/>
          <a:ln w="22225">
            <a:solidFill>
              <a:srgbClr val="7C3AED"/>
            </a:solidFill>
            <a:prstDash val="dash"/>
          </a:ln>
        </p:spPr>
      </p:sp>
      <p:sp>
        <p:nvSpPr>
          <p:cNvPr id="45" name="anim-2-fade-1570-132"/>
          <p:cNvSpPr/>
          <p:nvPr/>
        </p:nvSpPr>
        <p:spPr>
          <a:xfrm flipV="1">
            <a:off x="6852285" y="2824505"/>
            <a:ext cx="120015" cy="153448"/>
          </a:xfrm>
          <a:prstGeom prst="line">
            <a:avLst/>
          </a:prstGeom>
          <a:noFill/>
          <a:ln w="22225">
            <a:solidFill>
              <a:srgbClr val="7C3AED"/>
            </a:solidFill>
            <a:prstDash val="dash"/>
          </a:ln>
        </p:spPr>
      </p:sp>
      <p:sp>
        <p:nvSpPr>
          <p:cNvPr id="46" name="anim-2-fade-1600-133"/>
          <p:cNvSpPr/>
          <p:nvPr/>
        </p:nvSpPr>
        <p:spPr>
          <a:xfrm flipV="1">
            <a:off x="6972300" y="2674750"/>
            <a:ext cx="120015" cy="149756"/>
          </a:xfrm>
          <a:prstGeom prst="line">
            <a:avLst/>
          </a:prstGeom>
          <a:noFill/>
          <a:ln w="22225">
            <a:solidFill>
              <a:srgbClr val="7C3AED"/>
            </a:solidFill>
            <a:prstDash val="dash"/>
          </a:ln>
        </p:spPr>
      </p:sp>
      <p:sp>
        <p:nvSpPr>
          <p:cNvPr id="47" name="anim-2-fade-1630-134"/>
          <p:cNvSpPr/>
          <p:nvPr/>
        </p:nvSpPr>
        <p:spPr>
          <a:xfrm flipV="1">
            <a:off x="7092315" y="2528355"/>
            <a:ext cx="120015" cy="146395"/>
          </a:xfrm>
          <a:prstGeom prst="line">
            <a:avLst/>
          </a:prstGeom>
          <a:noFill/>
          <a:ln w="22225">
            <a:solidFill>
              <a:srgbClr val="7C3AED"/>
            </a:solidFill>
            <a:prstDash val="dash"/>
          </a:ln>
        </p:spPr>
      </p:sp>
      <p:sp>
        <p:nvSpPr>
          <p:cNvPr id="48" name="anim-2-fade-1660-135"/>
          <p:cNvSpPr/>
          <p:nvPr/>
        </p:nvSpPr>
        <p:spPr>
          <a:xfrm flipV="1">
            <a:off x="7212330" y="2384559"/>
            <a:ext cx="120015" cy="143796"/>
          </a:xfrm>
          <a:prstGeom prst="line">
            <a:avLst/>
          </a:prstGeom>
          <a:noFill/>
          <a:ln w="22225">
            <a:solidFill>
              <a:srgbClr val="7C3AED"/>
            </a:solidFill>
            <a:prstDash val="dash"/>
          </a:ln>
        </p:spPr>
      </p:sp>
      <p:sp>
        <p:nvSpPr>
          <p:cNvPr id="49" name="anim-2-fade-1690-136"/>
          <p:cNvSpPr/>
          <p:nvPr/>
        </p:nvSpPr>
        <p:spPr>
          <a:xfrm flipV="1">
            <a:off x="7332345" y="2242543"/>
            <a:ext cx="120015" cy="142016"/>
          </a:xfrm>
          <a:prstGeom prst="line">
            <a:avLst/>
          </a:prstGeom>
          <a:noFill/>
          <a:ln w="22225">
            <a:solidFill>
              <a:srgbClr val="7C3AED"/>
            </a:solidFill>
            <a:prstDash val="dash"/>
          </a:ln>
        </p:spPr>
      </p:sp>
      <p:sp>
        <p:nvSpPr>
          <p:cNvPr id="50" name="anim-2-fade-700-137"/>
          <p:cNvSpPr txBox="1"/>
          <p:nvPr/>
        </p:nvSpPr>
        <p:spPr>
          <a:xfrm>
            <a:off x="6720840" y="2331720"/>
            <a:ext cx="640080" cy="201168"/>
          </a:xfrm>
          <a:prstGeom prst="rect">
            <a:avLst/>
          </a:prstGeom>
          <a:noFill/>
          <a:ln/>
        </p:spPr>
        <p:txBody>
          <a:bodyPr wrap="square" lIns="0" tIns="0" rIns="0" bIns="0" rtlCol="0" anchor="t"/>
          <a:lstStyle/>
          <a:p>
            <a:pPr indent="0" marL="0">
              <a:buNone/>
            </a:pPr>
            <a:r>
              <a:rPr lang="en-US" sz="950" b="1" dirty="0">
                <a:solidFill>
                  <a:srgbClr val="0D9488"/>
                </a:solidFill>
                <a:latin typeface="Inter" pitchFamily="34" charset="0"/>
                <a:ea typeface="Inter" pitchFamily="34" charset="-122"/>
                <a:cs typeface="Inter" pitchFamily="34" charset="-120"/>
              </a:rPr>
              <a:t>ReLU</a:t>
            </a:r>
            <a:endParaRPr lang="en-US" sz="950" dirty="0"/>
          </a:p>
        </p:txBody>
      </p:sp>
      <p:sp>
        <p:nvSpPr>
          <p:cNvPr id="51" name="anim-2-fade-1600-138"/>
          <p:cNvSpPr txBox="1"/>
          <p:nvPr/>
        </p:nvSpPr>
        <p:spPr>
          <a:xfrm>
            <a:off x="6355080" y="2971800"/>
            <a:ext cx="640080" cy="201168"/>
          </a:xfrm>
          <a:prstGeom prst="rect">
            <a:avLst/>
          </a:prstGeom>
          <a:noFill/>
          <a:ln/>
        </p:spPr>
        <p:txBody>
          <a:bodyPr wrap="square" lIns="0" tIns="0" rIns="0" bIns="0" rtlCol="0" anchor="t"/>
          <a:lstStyle/>
          <a:p>
            <a:pPr indent="0" marL="0">
              <a:buNone/>
            </a:pPr>
            <a:r>
              <a:rPr lang="en-US" sz="950" b="1" dirty="0">
                <a:solidFill>
                  <a:srgbClr val="7C3AED"/>
                </a:solidFill>
                <a:latin typeface="Inter" pitchFamily="34" charset="0"/>
                <a:ea typeface="Inter" pitchFamily="34" charset="-122"/>
                <a:cs typeface="Inter" pitchFamily="34" charset="-120"/>
              </a:rPr>
              <a:t>GELU</a:t>
            </a:r>
            <a:endParaRPr lang="en-US" sz="950" dirty="0"/>
          </a:p>
        </p:txBody>
      </p:sp>
      <p:sp>
        <p:nvSpPr>
          <p:cNvPr id="52" name="anim-2-fade-1700-139"/>
          <p:cNvSpPr txBox="1"/>
          <p:nvPr/>
        </p:nvSpPr>
        <p:spPr>
          <a:xfrm>
            <a:off x="4416552" y="4343400"/>
            <a:ext cx="3200400" cy="594360"/>
          </a:xfrm>
          <a:prstGeom prst="rect">
            <a:avLst/>
          </a:prstGeom>
          <a:noFill/>
          <a:ln/>
        </p:spPr>
        <p:txBody>
          <a:bodyPr wrap="square" lIns="0" tIns="0" rIns="0" bIns="0" rtlCol="0" anchor="t"/>
          <a:lstStyle/>
          <a:p>
            <a:pPr indent="0" marL="0">
              <a:buNone/>
            </a:pPr>
            <a:r>
              <a:rPr lang="en-US" sz="1000" dirty="0">
                <a:solidFill>
                  <a:srgbClr val="334155"/>
                </a:solidFill>
                <a:latin typeface="Inter" pitchFamily="34" charset="0"/>
                <a:ea typeface="Inter" pitchFamily="34" charset="-122"/>
                <a:cs typeface="Inter" pitchFamily="34" charset="-120"/>
              </a:rPr>
              <a:t>ReLU: negative → 0, positive → keep. GELU is the smooth version GPT uses. It’s an on/off switch for each neuron.</a:t>
            </a:r>
            <a:endParaRPr lang="en-US" sz="1000" dirty="0"/>
          </a:p>
        </p:txBody>
      </p:sp>
      <p:sp>
        <p:nvSpPr>
          <p:cNvPr id="53" name="anim-3-fade-0-140"/>
          <p:cNvSpPr txBox="1"/>
          <p:nvPr/>
        </p:nvSpPr>
        <p:spPr>
          <a:xfrm>
            <a:off x="8119872" y="1755648"/>
            <a:ext cx="3383280" cy="41148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③ Bends let the model fit real curves</a:t>
            </a:r>
            <a:endParaRPr lang="en-US" sz="1100" dirty="0"/>
          </a:p>
        </p:txBody>
      </p:sp>
      <p:sp>
        <p:nvSpPr>
          <p:cNvPr id="54" name="anim-3-fade-0-141"/>
          <p:cNvSpPr/>
          <p:nvPr/>
        </p:nvSpPr>
        <p:spPr>
          <a:xfrm>
            <a:off x="8366760" y="4206240"/>
            <a:ext cx="3063240" cy="0"/>
          </a:xfrm>
          <a:prstGeom prst="line">
            <a:avLst/>
          </a:prstGeom>
          <a:noFill/>
          <a:ln w="12700">
            <a:solidFill>
              <a:srgbClr val="CBD5E1"/>
            </a:solidFill>
            <a:prstDash val="solid"/>
          </a:ln>
        </p:spPr>
      </p:sp>
      <p:sp>
        <p:nvSpPr>
          <p:cNvPr id="55" name="anim-3-fade-0-141"/>
          <p:cNvSpPr/>
          <p:nvPr/>
        </p:nvSpPr>
        <p:spPr>
          <a:xfrm>
            <a:off x="8366760" y="2240280"/>
            <a:ext cx="0" cy="1965960"/>
          </a:xfrm>
          <a:prstGeom prst="line">
            <a:avLst/>
          </a:prstGeom>
          <a:noFill/>
          <a:ln w="12700">
            <a:solidFill>
              <a:srgbClr val="CBD5E1"/>
            </a:solidFill>
            <a:prstDash val="solid"/>
          </a:ln>
        </p:spPr>
      </p:sp>
      <p:sp>
        <p:nvSpPr>
          <p:cNvPr id="56" name="anim-3-fade-0-142"/>
          <p:cNvSpPr txBox="1"/>
          <p:nvPr/>
        </p:nvSpPr>
        <p:spPr>
          <a:xfrm>
            <a:off x="7973568" y="2240280"/>
            <a:ext cx="365760" cy="182880"/>
          </a:xfrm>
          <a:prstGeom prst="rect">
            <a:avLst/>
          </a:prstGeom>
          <a:noFill/>
          <a:ln/>
        </p:spPr>
        <p:txBody>
          <a:bodyPr wrap="square" lIns="0" tIns="0" rIns="0" bIns="0" rtlCol="0" anchor="t"/>
          <a:lstStyle/>
          <a:p>
            <a:pPr algn="r" indent="0" marL="0">
              <a:buNone/>
            </a:pPr>
            <a:r>
              <a:rPr lang="en-US" sz="800" dirty="0">
                <a:solidFill>
                  <a:srgbClr val="64748B"/>
                </a:solidFill>
                <a:latin typeface="Inter" pitchFamily="34" charset="0"/>
                <a:ea typeface="Inter" pitchFamily="34" charset="-122"/>
                <a:cs typeface="Inter" pitchFamily="34" charset="-120"/>
              </a:rPr>
              <a:t>tasty</a:t>
            </a:r>
            <a:endParaRPr lang="en-US" sz="800" dirty="0"/>
          </a:p>
        </p:txBody>
      </p:sp>
      <p:sp>
        <p:nvSpPr>
          <p:cNvPr id="57" name="anim-3-fade-0-143"/>
          <p:cNvSpPr txBox="1"/>
          <p:nvPr/>
        </p:nvSpPr>
        <p:spPr>
          <a:xfrm>
            <a:off x="9875520" y="4224528"/>
            <a:ext cx="1554480" cy="182880"/>
          </a:xfrm>
          <a:prstGeom prst="rect">
            <a:avLst/>
          </a:prstGeom>
          <a:noFill/>
          <a:ln/>
        </p:spPr>
        <p:txBody>
          <a:bodyPr wrap="square" lIns="0" tIns="0" rIns="0" bIns="0" rtlCol="0" anchor="t"/>
          <a:lstStyle/>
          <a:p>
            <a:pPr algn="r" indent="0" marL="0">
              <a:buNone/>
            </a:pPr>
            <a:r>
              <a:rPr lang="en-US" sz="800" dirty="0">
                <a:solidFill>
                  <a:srgbClr val="64748B"/>
                </a:solidFill>
                <a:latin typeface="Inter" pitchFamily="34" charset="0"/>
                <a:ea typeface="Inter" pitchFamily="34" charset="-122"/>
                <a:cs typeface="Inter" pitchFamily="34" charset="-120"/>
              </a:rPr>
              <a:t>days since picked →</a:t>
            </a:r>
            <a:endParaRPr lang="en-US" sz="800" dirty="0"/>
          </a:p>
        </p:txBody>
      </p:sp>
      <p:sp>
        <p:nvSpPr>
          <p:cNvPr id="58" name="anim-3-zoom-200-144"/>
          <p:cNvSpPr/>
          <p:nvPr/>
        </p:nvSpPr>
        <p:spPr>
          <a:xfrm>
            <a:off x="8613648" y="3865953"/>
            <a:ext cx="118872" cy="118872"/>
          </a:xfrm>
          <a:prstGeom prst="ellipse">
            <a:avLst/>
          </a:prstGeom>
          <a:solidFill>
            <a:srgbClr val="D97706"/>
          </a:solidFill>
          <a:ln/>
        </p:spPr>
      </p:sp>
      <p:sp>
        <p:nvSpPr>
          <p:cNvPr id="59" name="anim-3-zoom-280-145"/>
          <p:cNvSpPr/>
          <p:nvPr/>
        </p:nvSpPr>
        <p:spPr>
          <a:xfrm>
            <a:off x="8919972" y="3585101"/>
            <a:ext cx="118872" cy="118872"/>
          </a:xfrm>
          <a:prstGeom prst="ellipse">
            <a:avLst/>
          </a:prstGeom>
          <a:solidFill>
            <a:srgbClr val="D97706"/>
          </a:solidFill>
          <a:ln/>
        </p:spPr>
      </p:sp>
      <p:sp>
        <p:nvSpPr>
          <p:cNvPr id="60" name="anim-3-zoom-360-146"/>
          <p:cNvSpPr/>
          <p:nvPr/>
        </p:nvSpPr>
        <p:spPr>
          <a:xfrm>
            <a:off x="9226296" y="3117015"/>
            <a:ext cx="118872" cy="118872"/>
          </a:xfrm>
          <a:prstGeom prst="ellipse">
            <a:avLst/>
          </a:prstGeom>
          <a:solidFill>
            <a:srgbClr val="D97706"/>
          </a:solidFill>
          <a:ln/>
        </p:spPr>
      </p:sp>
      <p:sp>
        <p:nvSpPr>
          <p:cNvPr id="61" name="anim-3-zoom-440-147"/>
          <p:cNvSpPr/>
          <p:nvPr/>
        </p:nvSpPr>
        <p:spPr>
          <a:xfrm>
            <a:off x="9532620" y="2648930"/>
            <a:ext cx="118872" cy="118872"/>
          </a:xfrm>
          <a:prstGeom prst="ellipse">
            <a:avLst/>
          </a:prstGeom>
          <a:solidFill>
            <a:srgbClr val="D97706"/>
          </a:solidFill>
          <a:ln/>
        </p:spPr>
      </p:sp>
      <p:sp>
        <p:nvSpPr>
          <p:cNvPr id="62" name="anim-3-zoom-520-148"/>
          <p:cNvSpPr/>
          <p:nvPr/>
        </p:nvSpPr>
        <p:spPr>
          <a:xfrm>
            <a:off x="9838944" y="2424249"/>
            <a:ext cx="118872" cy="118872"/>
          </a:xfrm>
          <a:prstGeom prst="ellipse">
            <a:avLst/>
          </a:prstGeom>
          <a:solidFill>
            <a:srgbClr val="D97706"/>
          </a:solidFill>
          <a:ln/>
        </p:spPr>
      </p:sp>
      <p:sp>
        <p:nvSpPr>
          <p:cNvPr id="63" name="anim-3-zoom-600-149"/>
          <p:cNvSpPr/>
          <p:nvPr/>
        </p:nvSpPr>
        <p:spPr>
          <a:xfrm>
            <a:off x="10145268" y="2461695"/>
            <a:ext cx="118872" cy="118872"/>
          </a:xfrm>
          <a:prstGeom prst="ellipse">
            <a:avLst/>
          </a:prstGeom>
          <a:solidFill>
            <a:srgbClr val="D97706"/>
          </a:solidFill>
          <a:ln/>
        </p:spPr>
      </p:sp>
      <p:sp>
        <p:nvSpPr>
          <p:cNvPr id="64" name="anim-3-zoom-680-150"/>
          <p:cNvSpPr/>
          <p:nvPr/>
        </p:nvSpPr>
        <p:spPr>
          <a:xfrm>
            <a:off x="10451592" y="2742547"/>
            <a:ext cx="118872" cy="118872"/>
          </a:xfrm>
          <a:prstGeom prst="ellipse">
            <a:avLst/>
          </a:prstGeom>
          <a:solidFill>
            <a:srgbClr val="D97706"/>
          </a:solidFill>
          <a:ln/>
        </p:spPr>
      </p:sp>
      <p:sp>
        <p:nvSpPr>
          <p:cNvPr id="65" name="anim-3-zoom-760-151"/>
          <p:cNvSpPr/>
          <p:nvPr/>
        </p:nvSpPr>
        <p:spPr>
          <a:xfrm>
            <a:off x="10757916" y="3304250"/>
            <a:ext cx="118872" cy="118872"/>
          </a:xfrm>
          <a:prstGeom prst="ellipse">
            <a:avLst/>
          </a:prstGeom>
          <a:solidFill>
            <a:srgbClr val="D97706"/>
          </a:solidFill>
          <a:ln/>
        </p:spPr>
      </p:sp>
      <p:sp>
        <p:nvSpPr>
          <p:cNvPr id="66" name="anim-3-zoom-840-152"/>
          <p:cNvSpPr/>
          <p:nvPr/>
        </p:nvSpPr>
        <p:spPr>
          <a:xfrm>
            <a:off x="11064240" y="3772335"/>
            <a:ext cx="118872" cy="118872"/>
          </a:xfrm>
          <a:prstGeom prst="ellipse">
            <a:avLst/>
          </a:prstGeom>
          <a:solidFill>
            <a:srgbClr val="D97706"/>
          </a:solidFill>
          <a:ln/>
        </p:spPr>
      </p:sp>
      <p:sp>
        <p:nvSpPr>
          <p:cNvPr id="67" name="anim-4-wipe-0-153"/>
          <p:cNvSpPr/>
          <p:nvPr/>
        </p:nvSpPr>
        <p:spPr>
          <a:xfrm flipV="1">
            <a:off x="8519922" y="3000451"/>
            <a:ext cx="2756916" cy="320171"/>
          </a:xfrm>
          <a:prstGeom prst="line">
            <a:avLst/>
          </a:prstGeom>
          <a:noFill/>
          <a:ln w="25400">
            <a:solidFill>
              <a:srgbClr val="94A3B8"/>
            </a:solidFill>
            <a:prstDash val="dash"/>
          </a:ln>
        </p:spPr>
      </p:sp>
      <p:sp>
        <p:nvSpPr>
          <p:cNvPr id="68" name="anim-4-fade-300-154"/>
          <p:cNvSpPr txBox="1"/>
          <p:nvPr/>
        </p:nvSpPr>
        <p:spPr>
          <a:xfrm>
            <a:off x="8412480" y="4434840"/>
            <a:ext cx="3108960" cy="201168"/>
          </a:xfrm>
          <a:prstGeom prst="rect">
            <a:avLst/>
          </a:prstGeom>
          <a:noFill/>
          <a:ln/>
        </p:spPr>
        <p:txBody>
          <a:bodyPr wrap="square" lIns="0" tIns="0" rIns="0" bIns="0" rtlCol="0" anchor="t"/>
          <a:lstStyle/>
          <a:p>
            <a:pPr indent="0" marL="0">
              <a:buNone/>
            </a:pPr>
            <a:r>
              <a:rPr lang="en-US" sz="950" b="1" dirty="0">
                <a:solidFill>
                  <a:srgbClr val="64748B"/>
                </a:solidFill>
                <a:latin typeface="Inter" pitchFamily="34" charset="0"/>
                <a:ea typeface="Inter" pitchFamily="34" charset="-122"/>
                <a:cs typeface="Inter" pitchFamily="34" charset="-120"/>
              </a:rPr>
              <a:t>straight line: misses the hump ✕</a:t>
            </a:r>
            <a:endParaRPr lang="en-US" sz="950" dirty="0"/>
          </a:p>
        </p:txBody>
      </p:sp>
      <p:sp>
        <p:nvSpPr>
          <p:cNvPr id="69" name="anim-5-wipe-0-155"/>
          <p:cNvSpPr/>
          <p:nvPr/>
        </p:nvSpPr>
        <p:spPr>
          <a:xfrm flipV="1">
            <a:off x="8519922" y="2483685"/>
            <a:ext cx="1255928" cy="1610215"/>
          </a:xfrm>
          <a:prstGeom prst="line">
            <a:avLst/>
          </a:prstGeom>
          <a:noFill/>
          <a:ln w="34925">
            <a:solidFill>
              <a:srgbClr val="0D9488"/>
            </a:solidFill>
            <a:prstDash val="solid"/>
          </a:ln>
        </p:spPr>
      </p:sp>
      <p:sp>
        <p:nvSpPr>
          <p:cNvPr id="70" name="anim-5-wipe-350-156"/>
          <p:cNvSpPr/>
          <p:nvPr/>
        </p:nvSpPr>
        <p:spPr>
          <a:xfrm flipV="1">
            <a:off x="9775850" y="2446238"/>
            <a:ext cx="428854" cy="37447"/>
          </a:xfrm>
          <a:prstGeom prst="line">
            <a:avLst/>
          </a:prstGeom>
          <a:noFill/>
          <a:ln w="34925">
            <a:solidFill>
              <a:srgbClr val="0D9488"/>
            </a:solidFill>
            <a:prstDash val="solid"/>
          </a:ln>
        </p:spPr>
      </p:sp>
      <p:sp>
        <p:nvSpPr>
          <p:cNvPr id="71" name="anim-5-wipe-700-157"/>
          <p:cNvSpPr/>
          <p:nvPr/>
        </p:nvSpPr>
        <p:spPr>
          <a:xfrm>
            <a:off x="10204704" y="2446238"/>
            <a:ext cx="1072134" cy="1572768"/>
          </a:xfrm>
          <a:prstGeom prst="line">
            <a:avLst/>
          </a:prstGeom>
          <a:noFill/>
          <a:ln w="34925">
            <a:solidFill>
              <a:srgbClr val="0D9488"/>
            </a:solidFill>
            <a:prstDash val="solid"/>
          </a:ln>
        </p:spPr>
      </p:sp>
      <p:sp>
        <p:nvSpPr>
          <p:cNvPr id="72" name="anim-5-fade-900-158"/>
          <p:cNvSpPr txBox="1"/>
          <p:nvPr/>
        </p:nvSpPr>
        <p:spPr>
          <a:xfrm>
            <a:off x="8412480" y="4663440"/>
            <a:ext cx="3154680" cy="201168"/>
          </a:xfrm>
          <a:prstGeom prst="rect">
            <a:avLst/>
          </a:prstGeom>
          <a:noFill/>
          <a:ln/>
        </p:spPr>
        <p:txBody>
          <a:bodyPr wrap="square" lIns="0" tIns="0" rIns="0" bIns="0" rtlCol="0" anchor="t"/>
          <a:lstStyle/>
          <a:p>
            <a:pPr indent="0" marL="0">
              <a:buNone/>
            </a:pPr>
            <a:r>
              <a:rPr lang="en-US" sz="950" b="1" dirty="0">
                <a:solidFill>
                  <a:srgbClr val="0D9488"/>
                </a:solidFill>
                <a:latin typeface="Inter" pitchFamily="34" charset="0"/>
                <a:ea typeface="Inter" pitchFamily="34" charset="-122"/>
                <a:cs typeface="Inter" pitchFamily="34" charset="-120"/>
              </a:rPr>
              <a:t>a few bends: fits “too early, just right, too late” ✓</a:t>
            </a:r>
            <a:endParaRPr lang="en-US" sz="950" dirty="0"/>
          </a:p>
        </p:txBody>
      </p:sp>
      <p:sp>
        <p:nvSpPr>
          <p:cNvPr id="73" name="anim-6-rise-0-159"/>
          <p:cNvSpPr/>
          <p:nvPr/>
        </p:nvSpPr>
        <p:spPr>
          <a:xfrm>
            <a:off x="548640" y="5212080"/>
            <a:ext cx="11064240" cy="868680"/>
          </a:xfrm>
          <a:prstGeom prst="roundRect">
            <a:avLst>
              <a:gd name="adj" fmla="val 10526"/>
            </a:avLst>
          </a:prstGeom>
          <a:solidFill>
            <a:srgbClr val="DBEAFE"/>
          </a:solidFill>
          <a:ln/>
        </p:spPr>
        <p:txBody>
          <a:bodyPr wrap="square" lIns="177800" tIns="50800" rIns="177800" bIns="50800" rtlCol="0" anchor="ctr"/>
          <a:lstStyle/>
          <a:p>
            <a:pPr algn="l" indent="0" marL="0">
              <a:buNone/>
            </a:pPr>
            <a:r>
              <a:rPr lang="en-US" sz="1150" b="1" dirty="0">
                <a:solidFill>
                  <a:srgbClr val="2563EB"/>
                </a:solidFill>
                <a:latin typeface="Inter" pitchFamily="34" charset="0"/>
                <a:ea typeface="Inter" pitchFamily="34" charset="-122"/>
                <a:cs typeface="Inter" pitchFamily="34" charset="-120"/>
              </a:rPr>
              <a:t>In an LLM  </a:t>
            </a:r>
            <a:pPr algn="l" indent="0" marL="0">
              <a:buNone/>
            </a:pPr>
            <a:r>
              <a:rPr lang="en-US" sz="1150" dirty="0">
                <a:solidFill>
                  <a:srgbClr val="334155"/>
                </a:solidFill>
                <a:latin typeface="Inter" pitchFamily="34" charset="0"/>
                <a:ea typeface="Inter" pitchFamily="34" charset="-122"/>
                <a:cs typeface="Inter" pitchFamily="34" charset="-120"/>
              </a:rPr>
              <a:t>the bends let a neuron fire only when its pattern is present — e.g. only if the verb is “sat” AND the subject is an animal. Without them, 96 layers would collapse into one simple linear map.</a:t>
            </a:r>
            <a:endParaRPr lang="en-US" sz="11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2"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1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anim calcmode="lin" valueType="num">
                                      <p:cBhvr>
                                        <p:cTn id="24" dur="500" fill="hold"/>
                                        <p:tgtEl>
                                          <p:spTgt spid="11"/>
                                        </p:tgtEl>
                                        <p:attrNameLst>
                                          <p:attrName>ppt_x</p:attrName>
                                        </p:attrNameLst>
                                      </p:cBhvr>
                                      <p:tavLst>
                                        <p:tav tm="0">
                                          <p:val>
                                            <p:strVal val="#ppt_x"/>
                                          </p:val>
                                        </p:tav>
                                        <p:tav tm="100000">
                                          <p:val>
                                            <p:strVal val="#ppt_x"/>
                                          </p:val>
                                        </p:tav>
                                      </p:tavLst>
                                    </p:anim>
                                    <p:anim calcmode="lin" valueType="num">
                                      <p:cBhvr>
                                        <p:cTn id="25" dur="500" fill="hold"/>
                                        <p:tgtEl>
                                          <p:spTgt spid="11"/>
                                        </p:tgtEl>
                                        <p:attrNameLst>
                                          <p:attrName>ppt_y</p:attrName>
                                        </p:attrNameLst>
                                      </p:cBhvr>
                                      <p:tavLst>
                                        <p:tav tm="0">
                                          <p:val>
                                            <p:strVal val="#ppt_y+0.06"/>
                                          </p:val>
                                        </p:tav>
                                        <p:tav tm="100000">
                                          <p:val>
                                            <p:strVal val="#ppt_y"/>
                                          </p:val>
                                        </p:tav>
                                      </p:tavLst>
                                    </p:anim>
                                  </p:childTnLst>
                                </p:cTn>
                              </p:par>
                              <p:par>
                                <p:cTn id="27" presetID="42" presetClass="entr" presetSubtype="0" fill="hold" grpId="0" nodeType="withEffect">
                                  <p:stCondLst>
                                    <p:cond delay="3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anim calcmode="lin" valueType="num">
                                      <p:cBhvr>
                                        <p:cTn id="29" dur="500" fill="hold"/>
                                        <p:tgtEl>
                                          <p:spTgt spid="12"/>
                                        </p:tgtEl>
                                        <p:attrNameLst>
                                          <p:attrName>ppt_x</p:attrName>
                                        </p:attrNameLst>
                                      </p:cBhvr>
                                      <p:tavLst>
                                        <p:tav tm="0">
                                          <p:val>
                                            <p:strVal val="#ppt_x"/>
                                          </p:val>
                                        </p:tav>
                                        <p:tav tm="100000">
                                          <p:val>
                                            <p:strVal val="#ppt_x"/>
                                          </p:val>
                                        </p:tav>
                                      </p:tavLst>
                                    </p:anim>
                                    <p:anim calcmode="lin" valueType="num">
                                      <p:cBhvr>
                                        <p:cTn id="30" dur="500" fill="hold"/>
                                        <p:tgtEl>
                                          <p:spTgt spid="12"/>
                                        </p:tgtEl>
                                        <p:attrNameLst>
                                          <p:attrName>ppt_y</p:attrName>
                                        </p:attrNameLst>
                                      </p:cBhvr>
                                      <p:tavLst>
                                        <p:tav tm="0">
                                          <p:val>
                                            <p:strVal val="#ppt_y+0.06"/>
                                          </p:val>
                                        </p:tav>
                                        <p:tav tm="100000">
                                          <p:val>
                                            <p:strVal val="#ppt_y"/>
                                          </p:val>
                                        </p:tav>
                                      </p:tavLst>
                                    </p:anim>
                                  </p:childTnLst>
                                </p:cTn>
                              </p:par>
                              <p:par>
                                <p:cTn id="32" presetID="42" presetClass="entr" presetSubtype="0" fill="hold" grpId="0" nodeType="withEffect">
                                  <p:stCondLst>
                                    <p:cond delay="4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anim calcmode="lin" valueType="num">
                                      <p:cBhvr>
                                        <p:cTn id="34" dur="500" fill="hold"/>
                                        <p:tgtEl>
                                          <p:spTgt spid="13"/>
                                        </p:tgtEl>
                                        <p:attrNameLst>
                                          <p:attrName>ppt_x</p:attrName>
                                        </p:attrNameLst>
                                      </p:cBhvr>
                                      <p:tavLst>
                                        <p:tav tm="0">
                                          <p:val>
                                            <p:strVal val="#ppt_x"/>
                                          </p:val>
                                        </p:tav>
                                        <p:tav tm="100000">
                                          <p:val>
                                            <p:strVal val="#ppt_x"/>
                                          </p:val>
                                        </p:tav>
                                      </p:tavLst>
                                    </p:anim>
                                    <p:anim calcmode="lin" valueType="num">
                                      <p:cBhvr>
                                        <p:cTn id="35" dur="500" fill="hold"/>
                                        <p:tgtEl>
                                          <p:spTgt spid="13"/>
                                        </p:tgtEl>
                                        <p:attrNameLst>
                                          <p:attrName>ppt_y</p:attrName>
                                        </p:attrNameLst>
                                      </p:cBhvr>
                                      <p:tavLst>
                                        <p:tav tm="0">
                                          <p:val>
                                            <p:strVal val="#ppt_y+0.06"/>
                                          </p:val>
                                        </p:tav>
                                        <p:tav tm="100000">
                                          <p:val>
                                            <p:strVal val="#ppt_y"/>
                                          </p:val>
                                        </p:tav>
                                      </p:tavLst>
                                    </p:anim>
                                  </p:childTnLst>
                                </p:cTn>
                              </p:par>
                              <p:par>
                                <p:cTn id="37" presetID="42" presetClass="entr" presetSubtype="0"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anim calcmode="lin" valueType="num">
                                      <p:cBhvr>
                                        <p:cTn id="39" dur="500" fill="hold"/>
                                        <p:tgtEl>
                                          <p:spTgt spid="14"/>
                                        </p:tgtEl>
                                        <p:attrNameLst>
                                          <p:attrName>ppt_x</p:attrName>
                                        </p:attrNameLst>
                                      </p:cBhvr>
                                      <p:tavLst>
                                        <p:tav tm="0">
                                          <p:val>
                                            <p:strVal val="#ppt_x"/>
                                          </p:val>
                                        </p:tav>
                                        <p:tav tm="100000">
                                          <p:val>
                                            <p:strVal val="#ppt_x"/>
                                          </p:val>
                                        </p:tav>
                                      </p:tavLst>
                                    </p:anim>
                                    <p:anim calcmode="lin" valueType="num">
                                      <p:cBhvr>
                                        <p:cTn id="40" dur="500" fill="hold"/>
                                        <p:tgtEl>
                                          <p:spTgt spid="14"/>
                                        </p:tgtEl>
                                        <p:attrNameLst>
                                          <p:attrName>ppt_y</p:attrName>
                                        </p:attrNameLst>
                                      </p:cBhvr>
                                      <p:tavLst>
                                        <p:tav tm="0">
                                          <p:val>
                                            <p:strVal val="#ppt_y+0.06"/>
                                          </p:val>
                                        </p:tav>
                                        <p:tav tm="100000">
                                          <p:val>
                                            <p:strVal val="#ppt_y"/>
                                          </p:val>
                                        </p:tav>
                                      </p:tavLst>
                                    </p:anim>
                                  </p:childTnLst>
                                </p:cTn>
                              </p:par>
                              <p:par>
                                <p:cTn id="42" presetID="53" presetClass="entr" presetSubtype="16" fill="hold" grpId="0" nodeType="withEffect">
                                  <p:stCondLst>
                                    <p:cond delay="700"/>
                                  </p:stCondLst>
                                  <p:childTnLst>
                                    <p:set>
                                      <p:cBhvr>
                                        <p:cTn id="41"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par>
                                <p:cTn id="47" presetID="10" presetClass="entr" presetSubtype="0" fill="hold" grpId="0" nodeType="withEffect">
                                  <p:stCondLst>
                                    <p:cond delay="800"/>
                                  </p:stCondLst>
                                  <p:childTnLst>
                                    <p:set>
                                      <p:cBhvr>
                                        <p:cTn id="46"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50" presetID="10" presetClass="entr" presetSubtype="0" fill="hold" grpId="0" nodeType="withEffect">
                                  <p:stCondLst>
                                    <p:cond delay="800"/>
                                  </p:stCondLst>
                                  <p:childTnLst>
                                    <p:set>
                                      <p:cBhvr>
                                        <p:cTn id="49"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3" presetID="22" presetClass="entr" presetSubtype="8" fill="hold" grpId="0" nodeType="withEffect">
                                  <p:stCondLst>
                                    <p:cond delay="90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4" dur="450"/>
                                        <p:tgtEl>
                                          <p:spTgt spid="18"/>
                                        </p:tgtEl>
                                      </p:cBhvr>
                                    </p:animEffect>
                                  </p:childTnLst>
                                </p:cTn>
                              </p:par>
                              <p:par>
                                <p:cTn id="56" presetID="22" presetClass="entr" presetSubtype="8" fill="hold" grpId="0" nodeType="withEffect">
                                  <p:stCondLst>
                                    <p:cond delay="110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7" dur="450"/>
                                        <p:tgtEl>
                                          <p:spTgt spid="19"/>
                                        </p:tgtEl>
                                      </p:cBhvr>
                                    </p:animEffect>
                                  </p:childTnLst>
                                </p:cTn>
                              </p:par>
                              <p:par>
                                <p:cTn id="59" presetID="10" presetClass="entr" presetSubtype="0" fill="hold" grpId="0" nodeType="withEffect">
                                  <p:stCondLst>
                                    <p:cond delay="1300"/>
                                  </p:stCondLst>
                                  <p:childTnLst>
                                    <p:set>
                                      <p:cBhvr>
                                        <p:cTn id="58"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4" presetID="10" presetClass="entr"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5" dur="500"/>
                                        <p:tgtEl>
                                          <p:spTgt spid="6"/>
                                        </p:tgtEl>
                                      </p:cBhvr>
                                    </p:animEffect>
                                  </p:childTnLst>
                                </p:cTn>
                              </p:par>
                              <p:par>
                                <p:cTn id="67"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70"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3"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6" presetID="22" presetClass="entr" presetSubtype="8" fill="hold" grpId="0" nodeType="withEffect">
                                  <p:stCondLst>
                                    <p:cond delay="200"/>
                                  </p:stCondLst>
                                  <p:childTnLst>
                                    <p:set>
                                      <p:cBhvr>
                                        <p:cTn id="75" dur="1" fill="hold">
                                          <p:stCondLst>
                                            <p:cond delay="0"/>
                                          </p:stCondLst>
                                        </p:cTn>
                                        <p:tgtEl>
                                          <p:spTgt spid="24"/>
                                        </p:tgtEl>
                                        <p:attrNameLst>
                                          <p:attrName>style.visibility</p:attrName>
                                        </p:attrNameLst>
                                      </p:cBhvr>
                                      <p:to>
                                        <p:strVal val="visible"/>
                                      </p:to>
                                    </p:set>
                                    <p:animEffect transition="in" filter="wipe(left)">
                                      <p:cBhvr>
                                        <p:cTn id="77" dur="450"/>
                                        <p:tgtEl>
                                          <p:spTgt spid="24"/>
                                        </p:tgtEl>
                                      </p:cBhvr>
                                    </p:animEffect>
                                  </p:childTnLst>
                                </p:cTn>
                              </p:par>
                              <p:par>
                                <p:cTn id="79" presetID="22" presetClass="entr" presetSubtype="8" fill="hold" grpId="0" nodeType="withEffect">
                                  <p:stCondLst>
                                    <p:cond delay="600"/>
                                  </p:stCondLst>
                                  <p:childTnLst>
                                    <p:set>
                                      <p:cBhvr>
                                        <p:cTn id="78" dur="1" fill="hold">
                                          <p:stCondLst>
                                            <p:cond delay="0"/>
                                          </p:stCondLst>
                                        </p:cTn>
                                        <p:tgtEl>
                                          <p:spTgt spid="25"/>
                                        </p:tgtEl>
                                        <p:attrNameLst>
                                          <p:attrName>style.visibility</p:attrName>
                                        </p:attrNameLst>
                                      </p:cBhvr>
                                      <p:to>
                                        <p:strVal val="visible"/>
                                      </p:to>
                                    </p:set>
                                    <p:animEffect transition="in" filter="wipe(left)">
                                      <p:cBhvr>
                                        <p:cTn id="80" dur="450"/>
                                        <p:tgtEl>
                                          <p:spTgt spid="25"/>
                                        </p:tgtEl>
                                      </p:cBhvr>
                                    </p:animEffect>
                                  </p:childTnLst>
                                </p:cTn>
                              </p:par>
                              <p:par>
                                <p:cTn id="82" presetID="10" presetClass="entr" presetSubtype="0" fill="hold" grpId="0" nodeType="withEffect">
                                  <p:stCondLst>
                                    <p:cond delay="700"/>
                                  </p:stCondLst>
                                  <p:childTnLst>
                                    <p:set>
                                      <p:cBhvr>
                                        <p:cTn id="81" dur="1" fill="hold">
                                          <p:stCondLst>
                                            <p:cond delay="0"/>
                                          </p:stCondLst>
                                        </p:cTn>
                                        <p:tgtEl>
                                          <p:spTgt spid="50"/>
                                        </p:tgtEl>
                                        <p:attrNameLst>
                                          <p:attrName>style.visibility</p:attrName>
                                        </p:attrNameLst>
                                      </p:cBhvr>
                                      <p:to>
                                        <p:strVal val="visible"/>
                                      </p:to>
                                    </p:set>
                                    <p:animEffect transition="in" filter="fade">
                                      <p:cBhvr>
                                        <p:cTn id="83" dur="500"/>
                                        <p:tgtEl>
                                          <p:spTgt spid="50"/>
                                        </p:tgtEl>
                                      </p:cBhvr>
                                    </p:animEffect>
                                  </p:childTnLst>
                                </p:cTn>
                              </p:par>
                              <p:par>
                                <p:cTn id="85" presetID="10" presetClass="entr" presetSubtype="0" fill="hold" grpId="0" nodeType="withEffect">
                                  <p:stCondLst>
                                    <p:cond delay="1000"/>
                                  </p:stCondLst>
                                  <p:childTnLst>
                                    <p:set>
                                      <p:cBhvr>
                                        <p:cTn id="84"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par>
                                <p:cTn id="88" presetID="10" presetClass="entr" presetSubtype="0" fill="hold" grpId="0" nodeType="withEffect">
                                  <p:stCondLst>
                                    <p:cond delay="1030"/>
                                  </p:stCondLst>
                                  <p:childTnLst>
                                    <p:set>
                                      <p:cBhvr>
                                        <p:cTn id="87" dur="1" fill="hold">
                                          <p:stCondLst>
                                            <p:cond delay="0"/>
                                          </p:stCondLst>
                                        </p:cTn>
                                        <p:tgtEl>
                                          <p:spTgt spid="27"/>
                                        </p:tgtEl>
                                        <p:attrNameLst>
                                          <p:attrName>style.visibility</p:attrName>
                                        </p:attrNameLst>
                                      </p:cBhvr>
                                      <p:to>
                                        <p:strVal val="visible"/>
                                      </p:to>
                                    </p:set>
                                    <p:animEffect transition="in" filter="fade">
                                      <p:cBhvr>
                                        <p:cTn id="89" dur="500"/>
                                        <p:tgtEl>
                                          <p:spTgt spid="27"/>
                                        </p:tgtEl>
                                      </p:cBhvr>
                                    </p:animEffect>
                                  </p:childTnLst>
                                </p:cTn>
                              </p:par>
                              <p:par>
                                <p:cTn id="91" presetID="10" presetClass="entr" presetSubtype="0" fill="hold" grpId="0" nodeType="withEffect">
                                  <p:stCondLst>
                                    <p:cond delay="1060"/>
                                  </p:stCondLst>
                                  <p:childTnLst>
                                    <p:set>
                                      <p:cBhvr>
                                        <p:cTn id="90"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4" presetID="10" presetClass="entr" presetSubtype="0" fill="hold" grpId="0" nodeType="withEffect">
                                  <p:stCondLst>
                                    <p:cond delay="1090"/>
                                  </p:stCondLst>
                                  <p:childTnLst>
                                    <p:set>
                                      <p:cBhvr>
                                        <p:cTn id="93"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7" presetID="10" presetClass="entr" presetSubtype="0" fill="hold" grpId="0" nodeType="withEffect">
                                  <p:stCondLst>
                                    <p:cond delay="1120"/>
                                  </p:stCondLst>
                                  <p:childTnLst>
                                    <p:set>
                                      <p:cBhvr>
                                        <p:cTn id="96"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100" presetID="10" presetClass="entr" presetSubtype="0" fill="hold" grpId="0" nodeType="withEffect">
                                  <p:stCondLst>
                                    <p:cond delay="1150"/>
                                  </p:stCondLst>
                                  <p:childTnLst>
                                    <p:set>
                                      <p:cBhvr>
                                        <p:cTn id="99"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3" presetID="10" presetClass="entr" presetSubtype="0" fill="hold" grpId="0" nodeType="withEffect">
                                  <p:stCondLst>
                                    <p:cond delay="118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par>
                                <p:cTn id="106" presetID="10" presetClass="entr" presetSubtype="0" fill="hold" grpId="0" nodeType="withEffect">
                                  <p:stCondLst>
                                    <p:cond delay="121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7" dur="500"/>
                                        <p:tgtEl>
                                          <p:spTgt spid="33"/>
                                        </p:tgtEl>
                                      </p:cBhvr>
                                    </p:animEffect>
                                  </p:childTnLst>
                                </p:cTn>
                              </p:par>
                              <p:par>
                                <p:cTn id="109" presetID="10" presetClass="entr" presetSubtype="0" fill="hold" grpId="0" nodeType="withEffect">
                                  <p:stCondLst>
                                    <p:cond delay="124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10" dur="500"/>
                                        <p:tgtEl>
                                          <p:spTgt spid="34"/>
                                        </p:tgtEl>
                                      </p:cBhvr>
                                    </p:animEffect>
                                  </p:childTnLst>
                                </p:cTn>
                              </p:par>
                              <p:par>
                                <p:cTn id="112" presetID="10" presetClass="entr" presetSubtype="0" fill="hold" grpId="0" nodeType="withEffect">
                                  <p:stCondLst>
                                    <p:cond delay="127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3" dur="500"/>
                                        <p:tgtEl>
                                          <p:spTgt spid="35"/>
                                        </p:tgtEl>
                                      </p:cBhvr>
                                    </p:animEffect>
                                  </p:childTnLst>
                                </p:cTn>
                              </p:par>
                              <p:par>
                                <p:cTn id="115" presetID="10" presetClass="entr" presetSubtype="0" fill="hold" grpId="0" nodeType="withEffect">
                                  <p:stCondLst>
                                    <p:cond delay="1300"/>
                                  </p:stCondLst>
                                  <p:childTnLst>
                                    <p:set>
                                      <p:cBhvr>
                                        <p:cTn id="114" dur="1" fill="hold">
                                          <p:stCondLst>
                                            <p:cond delay="0"/>
                                          </p:stCondLst>
                                        </p:cTn>
                                        <p:tgtEl>
                                          <p:spTgt spid="36"/>
                                        </p:tgtEl>
                                        <p:attrNameLst>
                                          <p:attrName>style.visibility</p:attrName>
                                        </p:attrNameLst>
                                      </p:cBhvr>
                                      <p:to>
                                        <p:strVal val="visible"/>
                                      </p:to>
                                    </p:set>
                                    <p:animEffect transition="in" filter="fade">
                                      <p:cBhvr>
                                        <p:cTn id="116" dur="500"/>
                                        <p:tgtEl>
                                          <p:spTgt spid="36"/>
                                        </p:tgtEl>
                                      </p:cBhvr>
                                    </p:animEffect>
                                  </p:childTnLst>
                                </p:cTn>
                              </p:par>
                              <p:par>
                                <p:cTn id="118" presetID="10" presetClass="entr" presetSubtype="0" fill="hold" grpId="0" nodeType="withEffect">
                                  <p:stCondLst>
                                    <p:cond delay="133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9" dur="500"/>
                                        <p:tgtEl>
                                          <p:spTgt spid="37"/>
                                        </p:tgtEl>
                                      </p:cBhvr>
                                    </p:animEffect>
                                  </p:childTnLst>
                                </p:cTn>
                              </p:par>
                              <p:par>
                                <p:cTn id="121" presetID="10" presetClass="entr" presetSubtype="0" fill="hold" grpId="0" nodeType="withEffect">
                                  <p:stCondLst>
                                    <p:cond delay="136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2" dur="500"/>
                                        <p:tgtEl>
                                          <p:spTgt spid="38"/>
                                        </p:tgtEl>
                                      </p:cBhvr>
                                    </p:animEffect>
                                  </p:childTnLst>
                                </p:cTn>
                              </p:par>
                              <p:par>
                                <p:cTn id="124" presetID="10" presetClass="entr" presetSubtype="0" fill="hold" grpId="0" nodeType="withEffect">
                                  <p:stCondLst>
                                    <p:cond delay="139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5" dur="500"/>
                                        <p:tgtEl>
                                          <p:spTgt spid="39"/>
                                        </p:tgtEl>
                                      </p:cBhvr>
                                    </p:animEffect>
                                  </p:childTnLst>
                                </p:cTn>
                              </p:par>
                              <p:par>
                                <p:cTn id="127" presetID="10" presetClass="entr" presetSubtype="0" fill="hold" grpId="0" nodeType="withEffect">
                                  <p:stCondLst>
                                    <p:cond delay="142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8" dur="500"/>
                                        <p:tgtEl>
                                          <p:spTgt spid="40"/>
                                        </p:tgtEl>
                                      </p:cBhvr>
                                    </p:animEffect>
                                  </p:childTnLst>
                                </p:cTn>
                              </p:par>
                              <p:par>
                                <p:cTn id="130" presetID="10" presetClass="entr" presetSubtype="0" fill="hold" grpId="0" nodeType="withEffect">
                                  <p:stCondLst>
                                    <p:cond delay="145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1" dur="500"/>
                                        <p:tgtEl>
                                          <p:spTgt spid="41"/>
                                        </p:tgtEl>
                                      </p:cBhvr>
                                    </p:animEffect>
                                  </p:childTnLst>
                                </p:cTn>
                              </p:par>
                              <p:par>
                                <p:cTn id="133" presetID="10" presetClass="entr" presetSubtype="0" fill="hold" grpId="0" nodeType="withEffect">
                                  <p:stCondLst>
                                    <p:cond delay="1480"/>
                                  </p:stCondLst>
                                  <p:childTnLst>
                                    <p:set>
                                      <p:cBhvr>
                                        <p:cTn id="132" dur="1" fill="hold">
                                          <p:stCondLst>
                                            <p:cond delay="0"/>
                                          </p:stCondLst>
                                        </p:cTn>
                                        <p:tgtEl>
                                          <p:spTgt spid="42"/>
                                        </p:tgtEl>
                                        <p:attrNameLst>
                                          <p:attrName>style.visibility</p:attrName>
                                        </p:attrNameLst>
                                      </p:cBhvr>
                                      <p:to>
                                        <p:strVal val="visible"/>
                                      </p:to>
                                    </p:set>
                                    <p:animEffect transition="in" filter="fade">
                                      <p:cBhvr>
                                        <p:cTn id="134" dur="500"/>
                                        <p:tgtEl>
                                          <p:spTgt spid="42"/>
                                        </p:tgtEl>
                                      </p:cBhvr>
                                    </p:animEffect>
                                  </p:childTnLst>
                                </p:cTn>
                              </p:par>
                              <p:par>
                                <p:cTn id="136" presetID="10" presetClass="entr" presetSubtype="0" fill="hold" grpId="0" nodeType="withEffect">
                                  <p:stCondLst>
                                    <p:cond delay="151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7" dur="500"/>
                                        <p:tgtEl>
                                          <p:spTgt spid="43"/>
                                        </p:tgtEl>
                                      </p:cBhvr>
                                    </p:animEffect>
                                  </p:childTnLst>
                                </p:cTn>
                              </p:par>
                              <p:par>
                                <p:cTn id="139" presetID="10" presetClass="entr" presetSubtype="0" fill="hold" grpId="0" nodeType="withEffect">
                                  <p:stCondLst>
                                    <p:cond delay="154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40" dur="500"/>
                                        <p:tgtEl>
                                          <p:spTgt spid="44"/>
                                        </p:tgtEl>
                                      </p:cBhvr>
                                    </p:animEffect>
                                  </p:childTnLst>
                                </p:cTn>
                              </p:par>
                              <p:par>
                                <p:cTn id="142" presetID="10" presetClass="entr" presetSubtype="0" fill="hold" grpId="0" nodeType="withEffect">
                                  <p:stCondLst>
                                    <p:cond delay="157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3" dur="500"/>
                                        <p:tgtEl>
                                          <p:spTgt spid="45"/>
                                        </p:tgtEl>
                                      </p:cBhvr>
                                    </p:animEffect>
                                  </p:childTnLst>
                                </p:cTn>
                              </p:par>
                              <p:par>
                                <p:cTn id="145" presetID="10" presetClass="entr" presetSubtype="0" fill="hold" grpId="0" nodeType="withEffect">
                                  <p:stCondLst>
                                    <p:cond delay="160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8" presetID="10" presetClass="entr" presetSubtype="0" fill="hold" grpId="0" nodeType="withEffect">
                                  <p:stCondLst>
                                    <p:cond delay="160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9" dur="500"/>
                                        <p:tgtEl>
                                          <p:spTgt spid="51"/>
                                        </p:tgtEl>
                                      </p:cBhvr>
                                    </p:animEffect>
                                  </p:childTnLst>
                                </p:cTn>
                              </p:par>
                              <p:par>
                                <p:cTn id="151" presetID="10" presetClass="entr" presetSubtype="0" fill="hold" grpId="0" nodeType="withEffect">
                                  <p:stCondLst>
                                    <p:cond delay="1630"/>
                                  </p:stCondLst>
                                  <p:childTnLst>
                                    <p:set>
                                      <p:cBhvr>
                                        <p:cTn id="150" dur="1" fill="hold">
                                          <p:stCondLst>
                                            <p:cond delay="0"/>
                                          </p:stCondLst>
                                        </p:cTn>
                                        <p:tgtEl>
                                          <p:spTgt spid="47"/>
                                        </p:tgtEl>
                                        <p:attrNameLst>
                                          <p:attrName>style.visibility</p:attrName>
                                        </p:attrNameLst>
                                      </p:cBhvr>
                                      <p:to>
                                        <p:strVal val="visible"/>
                                      </p:to>
                                    </p:set>
                                    <p:animEffect transition="in" filter="fade">
                                      <p:cBhvr>
                                        <p:cTn id="152" dur="500"/>
                                        <p:tgtEl>
                                          <p:spTgt spid="47"/>
                                        </p:tgtEl>
                                      </p:cBhvr>
                                    </p:animEffect>
                                  </p:childTnLst>
                                </p:cTn>
                              </p:par>
                              <p:par>
                                <p:cTn id="154" presetID="10" presetClass="entr" presetSubtype="0" fill="hold" grpId="0" nodeType="withEffect">
                                  <p:stCondLst>
                                    <p:cond delay="1660"/>
                                  </p:stCondLst>
                                  <p:childTnLst>
                                    <p:set>
                                      <p:cBhvr>
                                        <p:cTn id="153" dur="1" fill="hold">
                                          <p:stCondLst>
                                            <p:cond delay="0"/>
                                          </p:stCondLst>
                                        </p:cTn>
                                        <p:tgtEl>
                                          <p:spTgt spid="48"/>
                                        </p:tgtEl>
                                        <p:attrNameLst>
                                          <p:attrName>style.visibility</p:attrName>
                                        </p:attrNameLst>
                                      </p:cBhvr>
                                      <p:to>
                                        <p:strVal val="visible"/>
                                      </p:to>
                                    </p:set>
                                    <p:animEffect transition="in" filter="fade">
                                      <p:cBhvr>
                                        <p:cTn id="155" dur="500"/>
                                        <p:tgtEl>
                                          <p:spTgt spid="48"/>
                                        </p:tgtEl>
                                      </p:cBhvr>
                                    </p:animEffect>
                                  </p:childTnLst>
                                </p:cTn>
                              </p:par>
                              <p:par>
                                <p:cTn id="157" presetID="10" presetClass="entr" presetSubtype="0" fill="hold" grpId="0" nodeType="withEffect">
                                  <p:stCondLst>
                                    <p:cond delay="1690"/>
                                  </p:stCondLst>
                                  <p:childTnLst>
                                    <p:set>
                                      <p:cBhvr>
                                        <p:cTn id="156" dur="1" fill="hold">
                                          <p:stCondLst>
                                            <p:cond delay="0"/>
                                          </p:stCondLst>
                                        </p:cTn>
                                        <p:tgtEl>
                                          <p:spTgt spid="49"/>
                                        </p:tgtEl>
                                        <p:attrNameLst>
                                          <p:attrName>style.visibility</p:attrName>
                                        </p:attrNameLst>
                                      </p:cBhvr>
                                      <p:to>
                                        <p:strVal val="visible"/>
                                      </p:to>
                                    </p:set>
                                    <p:animEffect transition="in" filter="fade">
                                      <p:cBhvr>
                                        <p:cTn id="158" dur="500"/>
                                        <p:tgtEl>
                                          <p:spTgt spid="49"/>
                                        </p:tgtEl>
                                      </p:cBhvr>
                                    </p:animEffect>
                                  </p:childTnLst>
                                </p:cTn>
                              </p:par>
                              <p:par>
                                <p:cTn id="160" presetID="10" presetClass="entr" presetSubtype="0" fill="hold" grpId="0" nodeType="withEffect">
                                  <p:stCondLst>
                                    <p:cond delay="1700"/>
                                  </p:stCondLst>
                                  <p:childTnLst>
                                    <p:set>
                                      <p:cBhvr>
                                        <p:cTn id="159" dur="1" fill="hold">
                                          <p:stCondLst>
                                            <p:cond delay="0"/>
                                          </p:stCondLst>
                                        </p:cTn>
                                        <p:tgtEl>
                                          <p:spTgt spid="52"/>
                                        </p:tgtEl>
                                        <p:attrNameLst>
                                          <p:attrName>style.visibility</p:attrName>
                                        </p:attrNameLst>
                                      </p:cBhvr>
                                      <p:to>
                                        <p:strVal val="visible"/>
                                      </p:to>
                                    </p:set>
                                    <p:animEffect transition="in" filter="fade">
                                      <p:cBhvr>
                                        <p:cTn id="161" dur="500"/>
                                        <p:tgtEl>
                                          <p:spTgt spid="52"/>
                                        </p:tgtEl>
                                      </p:cBhvr>
                                    </p:animEffect>
                                  </p:childTnLst>
                                </p:cTn>
                              </p:par>
                            </p:childTnLst>
                          </p:cTn>
                        </p:par>
                      </p:childTnLst>
                    </p:cTn>
                  </p:par>
                  <p:par>
                    <p:cTn id="162" fill="hold">
                      <p:stCondLst>
                        <p:cond delay="indefinite"/>
                      </p:stCondLst>
                      <p:childTnLst>
                        <p:par>
                          <p:cTn id="163" fill="hold">
                            <p:stCondLst>
                              <p:cond delay="0"/>
                            </p:stCondLst>
                            <p:childTnLst>
                              <p:par>
                                <p:cTn id="165" presetID="10" presetClass="entr" presetSubtype="0" fill="hold" grpId="0" nodeType="clickEffect">
                                  <p:stCondLst>
                                    <p:cond delay="0"/>
                                  </p:stCondLst>
                                  <p:childTnLst>
                                    <p:set>
                                      <p:cBhvr>
                                        <p:cTn id="164" dur="1" fill="hold">
                                          <p:stCondLst>
                                            <p:cond delay="0"/>
                                          </p:stCondLst>
                                        </p:cTn>
                                        <p:tgtEl>
                                          <p:spTgt spid="7"/>
                                        </p:tgtEl>
                                        <p:attrNameLst>
                                          <p:attrName>style.visibility</p:attrName>
                                        </p:attrNameLst>
                                      </p:cBhvr>
                                      <p:to>
                                        <p:strVal val="visible"/>
                                      </p:to>
                                    </p:set>
                                    <p:animEffect transition="in" filter="fade">
                                      <p:cBhvr>
                                        <p:cTn id="166" dur="500"/>
                                        <p:tgtEl>
                                          <p:spTgt spid="7"/>
                                        </p:tgtEl>
                                      </p:cBhvr>
                                    </p:animEffect>
                                  </p:childTnLst>
                                </p:cTn>
                              </p:par>
                              <p:par>
                                <p:cTn id="168" presetID="10" presetClass="entr" presetSubtype="0" fill="hold" grpId="0" nodeType="withEffect">
                                  <p:stCondLst>
                                    <p:cond delay="0"/>
                                  </p:stCondLst>
                                  <p:childTnLst>
                                    <p:set>
                                      <p:cBhvr>
                                        <p:cTn id="167" dur="1" fill="hold">
                                          <p:stCondLst>
                                            <p:cond delay="0"/>
                                          </p:stCondLst>
                                        </p:cTn>
                                        <p:tgtEl>
                                          <p:spTgt spid="53"/>
                                        </p:tgtEl>
                                        <p:attrNameLst>
                                          <p:attrName>style.visibility</p:attrName>
                                        </p:attrNameLst>
                                      </p:cBhvr>
                                      <p:to>
                                        <p:strVal val="visible"/>
                                      </p:to>
                                    </p:set>
                                    <p:animEffect transition="in" filter="fade">
                                      <p:cBhvr>
                                        <p:cTn id="169" dur="500"/>
                                        <p:tgtEl>
                                          <p:spTgt spid="53"/>
                                        </p:tgtEl>
                                      </p:cBhvr>
                                    </p:animEffect>
                                  </p:childTnLst>
                                </p:cTn>
                              </p:par>
                              <p:par>
                                <p:cTn id="171" presetID="10" presetClass="entr" presetSubtype="0" fill="hold" grpId="0" nodeType="withEffect">
                                  <p:stCondLst>
                                    <p:cond delay="0"/>
                                  </p:stCondLst>
                                  <p:childTnLst>
                                    <p:set>
                                      <p:cBhvr>
                                        <p:cTn id="170" dur="1" fill="hold">
                                          <p:stCondLst>
                                            <p:cond delay="0"/>
                                          </p:stCondLst>
                                        </p:cTn>
                                        <p:tgtEl>
                                          <p:spTgt spid="54"/>
                                        </p:tgtEl>
                                        <p:attrNameLst>
                                          <p:attrName>style.visibility</p:attrName>
                                        </p:attrNameLst>
                                      </p:cBhvr>
                                      <p:to>
                                        <p:strVal val="visible"/>
                                      </p:to>
                                    </p:set>
                                    <p:animEffect transition="in" filter="fade">
                                      <p:cBhvr>
                                        <p:cTn id="172" dur="500"/>
                                        <p:tgtEl>
                                          <p:spTgt spid="54"/>
                                        </p:tgtEl>
                                      </p:cBhvr>
                                    </p:animEffect>
                                  </p:childTnLst>
                                </p:cTn>
                              </p:par>
                              <p:par>
                                <p:cTn id="174" presetID="10" presetClass="entr" presetSubtype="0" fill="hold" grpId="0" nodeType="withEffect">
                                  <p:stCondLst>
                                    <p:cond delay="0"/>
                                  </p:stCondLst>
                                  <p:childTnLst>
                                    <p:set>
                                      <p:cBhvr>
                                        <p:cTn id="173" dur="1" fill="hold">
                                          <p:stCondLst>
                                            <p:cond delay="0"/>
                                          </p:stCondLst>
                                        </p:cTn>
                                        <p:tgtEl>
                                          <p:spTgt spid="55"/>
                                        </p:tgtEl>
                                        <p:attrNameLst>
                                          <p:attrName>style.visibility</p:attrName>
                                        </p:attrNameLst>
                                      </p:cBhvr>
                                      <p:to>
                                        <p:strVal val="visible"/>
                                      </p:to>
                                    </p:set>
                                    <p:animEffect transition="in" filter="fade">
                                      <p:cBhvr>
                                        <p:cTn id="175" dur="500"/>
                                        <p:tgtEl>
                                          <p:spTgt spid="55"/>
                                        </p:tgtEl>
                                      </p:cBhvr>
                                    </p:animEffect>
                                  </p:childTnLst>
                                </p:cTn>
                              </p:par>
                              <p:par>
                                <p:cTn id="177" presetID="10" presetClass="entr" presetSubtype="0" fill="hold" grpId="0" nodeType="withEffect">
                                  <p:stCondLst>
                                    <p:cond delay="0"/>
                                  </p:stCondLst>
                                  <p:childTnLst>
                                    <p:set>
                                      <p:cBhvr>
                                        <p:cTn id="176" dur="1" fill="hold">
                                          <p:stCondLst>
                                            <p:cond delay="0"/>
                                          </p:stCondLst>
                                        </p:cTn>
                                        <p:tgtEl>
                                          <p:spTgt spid="56"/>
                                        </p:tgtEl>
                                        <p:attrNameLst>
                                          <p:attrName>style.visibility</p:attrName>
                                        </p:attrNameLst>
                                      </p:cBhvr>
                                      <p:to>
                                        <p:strVal val="visible"/>
                                      </p:to>
                                    </p:set>
                                    <p:animEffect transition="in" filter="fade">
                                      <p:cBhvr>
                                        <p:cTn id="178" dur="500"/>
                                        <p:tgtEl>
                                          <p:spTgt spid="56"/>
                                        </p:tgtEl>
                                      </p:cBhvr>
                                    </p:animEffect>
                                  </p:childTnLst>
                                </p:cTn>
                              </p:par>
                              <p:par>
                                <p:cTn id="180" presetID="10" presetClass="entr" presetSubtype="0" fill="hold" grpId="0" nodeType="withEffect">
                                  <p:stCondLst>
                                    <p:cond delay="0"/>
                                  </p:stCondLst>
                                  <p:childTnLst>
                                    <p:set>
                                      <p:cBhvr>
                                        <p:cTn id="179" dur="1" fill="hold">
                                          <p:stCondLst>
                                            <p:cond delay="0"/>
                                          </p:stCondLst>
                                        </p:cTn>
                                        <p:tgtEl>
                                          <p:spTgt spid="57"/>
                                        </p:tgtEl>
                                        <p:attrNameLst>
                                          <p:attrName>style.visibility</p:attrName>
                                        </p:attrNameLst>
                                      </p:cBhvr>
                                      <p:to>
                                        <p:strVal val="visible"/>
                                      </p:to>
                                    </p:set>
                                    <p:animEffect transition="in" filter="fade">
                                      <p:cBhvr>
                                        <p:cTn id="181" dur="500"/>
                                        <p:tgtEl>
                                          <p:spTgt spid="57"/>
                                        </p:tgtEl>
                                      </p:cBhvr>
                                    </p:animEffect>
                                  </p:childTnLst>
                                </p:cTn>
                              </p:par>
                              <p:par>
                                <p:cTn id="183" presetID="53" presetClass="entr" presetSubtype="16" fill="hold" grpId="0" nodeType="withEffect">
                                  <p:stCondLst>
                                    <p:cond delay="200"/>
                                  </p:stCondLst>
                                  <p:childTnLst>
                                    <p:set>
                                      <p:cBhvr>
                                        <p:cTn id="182" dur="1" fill="hold">
                                          <p:stCondLst>
                                            <p:cond delay="0"/>
                                          </p:stCondLst>
                                        </p:cTn>
                                        <p:tgtEl>
                                          <p:spTgt spid="58"/>
                                        </p:tgtEl>
                                        <p:attrNameLst>
                                          <p:attrName>style.visibility</p:attrName>
                                        </p:attrNameLst>
                                      </p:cBhvr>
                                      <p:to>
                                        <p:strVal val="visible"/>
                                      </p:to>
                                    </p:set>
                                    <p:anim calcmode="lin" valueType="num">
                                      <p:cBhvr>
                                        <p:cTn id="184" dur="500" fill="hold"/>
                                        <p:tgtEl>
                                          <p:spTgt spid="58"/>
                                        </p:tgtEl>
                                        <p:attrNameLst>
                                          <p:attrName>ppt_w</p:attrName>
                                        </p:attrNameLst>
                                      </p:cBhvr>
                                      <p:tavLst>
                                        <p:tav tm="0">
                                          <p:val>
                                            <p:fltVal val="0"/>
                                          </p:val>
                                        </p:tav>
                                        <p:tav tm="100000">
                                          <p:val>
                                            <p:strVal val="#ppt_w"/>
                                          </p:val>
                                        </p:tav>
                                      </p:tavLst>
                                    </p:anim>
                                    <p:anim calcmode="lin" valueType="num">
                                      <p:cBhvr>
                                        <p:cTn id="185" dur="500" fill="hold"/>
                                        <p:tgtEl>
                                          <p:spTgt spid="58"/>
                                        </p:tgtEl>
                                        <p:attrNameLst>
                                          <p:attrName>ppt_h</p:attrName>
                                        </p:attrNameLst>
                                      </p:cBhvr>
                                      <p:tavLst>
                                        <p:tav tm="0">
                                          <p:val>
                                            <p:fltVal val="0"/>
                                          </p:val>
                                        </p:tav>
                                        <p:tav tm="100000">
                                          <p:val>
                                            <p:strVal val="#ppt_h"/>
                                          </p:val>
                                        </p:tav>
                                      </p:tavLst>
                                    </p:anim>
                                    <p:animEffect transition="in" filter="fade">
                                      <p:cBhvr>
                                        <p:cTn id="186" dur="500"/>
                                        <p:tgtEl>
                                          <p:spTgt spid="58"/>
                                        </p:tgtEl>
                                      </p:cBhvr>
                                    </p:animEffect>
                                  </p:childTnLst>
                                </p:cTn>
                              </p:par>
                              <p:par>
                                <p:cTn id="188" presetID="53" presetClass="entr" presetSubtype="16" fill="hold" grpId="0" nodeType="withEffect">
                                  <p:stCondLst>
                                    <p:cond delay="280"/>
                                  </p:stCondLst>
                                  <p:childTnLst>
                                    <p:set>
                                      <p:cBhvr>
                                        <p:cTn id="187" dur="1" fill="hold">
                                          <p:stCondLst>
                                            <p:cond delay="0"/>
                                          </p:stCondLst>
                                        </p:cTn>
                                        <p:tgtEl>
                                          <p:spTgt spid="59"/>
                                        </p:tgtEl>
                                        <p:attrNameLst>
                                          <p:attrName>style.visibility</p:attrName>
                                        </p:attrNameLst>
                                      </p:cBhvr>
                                      <p:to>
                                        <p:strVal val="visible"/>
                                      </p:to>
                                    </p:set>
                                    <p:anim calcmode="lin" valueType="num">
                                      <p:cBhvr>
                                        <p:cTn id="189" dur="500" fill="hold"/>
                                        <p:tgtEl>
                                          <p:spTgt spid="59"/>
                                        </p:tgtEl>
                                        <p:attrNameLst>
                                          <p:attrName>ppt_w</p:attrName>
                                        </p:attrNameLst>
                                      </p:cBhvr>
                                      <p:tavLst>
                                        <p:tav tm="0">
                                          <p:val>
                                            <p:fltVal val="0"/>
                                          </p:val>
                                        </p:tav>
                                        <p:tav tm="100000">
                                          <p:val>
                                            <p:strVal val="#ppt_w"/>
                                          </p:val>
                                        </p:tav>
                                      </p:tavLst>
                                    </p:anim>
                                    <p:anim calcmode="lin" valueType="num">
                                      <p:cBhvr>
                                        <p:cTn id="190" dur="500" fill="hold"/>
                                        <p:tgtEl>
                                          <p:spTgt spid="59"/>
                                        </p:tgtEl>
                                        <p:attrNameLst>
                                          <p:attrName>ppt_h</p:attrName>
                                        </p:attrNameLst>
                                      </p:cBhvr>
                                      <p:tavLst>
                                        <p:tav tm="0">
                                          <p:val>
                                            <p:fltVal val="0"/>
                                          </p:val>
                                        </p:tav>
                                        <p:tav tm="100000">
                                          <p:val>
                                            <p:strVal val="#ppt_h"/>
                                          </p:val>
                                        </p:tav>
                                      </p:tavLst>
                                    </p:anim>
                                    <p:animEffect transition="in" filter="fade">
                                      <p:cBhvr>
                                        <p:cTn id="191" dur="500"/>
                                        <p:tgtEl>
                                          <p:spTgt spid="59"/>
                                        </p:tgtEl>
                                      </p:cBhvr>
                                    </p:animEffect>
                                  </p:childTnLst>
                                </p:cTn>
                              </p:par>
                              <p:par>
                                <p:cTn id="193" presetID="53" presetClass="entr" presetSubtype="16" fill="hold" grpId="0" nodeType="withEffect">
                                  <p:stCondLst>
                                    <p:cond delay="360"/>
                                  </p:stCondLst>
                                  <p:childTnLst>
                                    <p:set>
                                      <p:cBhvr>
                                        <p:cTn id="192" dur="1" fill="hold">
                                          <p:stCondLst>
                                            <p:cond delay="0"/>
                                          </p:stCondLst>
                                        </p:cTn>
                                        <p:tgtEl>
                                          <p:spTgt spid="60"/>
                                        </p:tgtEl>
                                        <p:attrNameLst>
                                          <p:attrName>style.visibility</p:attrName>
                                        </p:attrNameLst>
                                      </p:cBhvr>
                                      <p:to>
                                        <p:strVal val="visible"/>
                                      </p:to>
                                    </p:set>
                                    <p:anim calcmode="lin" valueType="num">
                                      <p:cBhvr>
                                        <p:cTn id="194" dur="500" fill="hold"/>
                                        <p:tgtEl>
                                          <p:spTgt spid="60"/>
                                        </p:tgtEl>
                                        <p:attrNameLst>
                                          <p:attrName>ppt_w</p:attrName>
                                        </p:attrNameLst>
                                      </p:cBhvr>
                                      <p:tavLst>
                                        <p:tav tm="0">
                                          <p:val>
                                            <p:fltVal val="0"/>
                                          </p:val>
                                        </p:tav>
                                        <p:tav tm="100000">
                                          <p:val>
                                            <p:strVal val="#ppt_w"/>
                                          </p:val>
                                        </p:tav>
                                      </p:tavLst>
                                    </p:anim>
                                    <p:anim calcmode="lin" valueType="num">
                                      <p:cBhvr>
                                        <p:cTn id="195" dur="500" fill="hold"/>
                                        <p:tgtEl>
                                          <p:spTgt spid="60"/>
                                        </p:tgtEl>
                                        <p:attrNameLst>
                                          <p:attrName>ppt_h</p:attrName>
                                        </p:attrNameLst>
                                      </p:cBhvr>
                                      <p:tavLst>
                                        <p:tav tm="0">
                                          <p:val>
                                            <p:fltVal val="0"/>
                                          </p:val>
                                        </p:tav>
                                        <p:tav tm="100000">
                                          <p:val>
                                            <p:strVal val="#ppt_h"/>
                                          </p:val>
                                        </p:tav>
                                      </p:tavLst>
                                    </p:anim>
                                    <p:animEffect transition="in" filter="fade">
                                      <p:cBhvr>
                                        <p:cTn id="196" dur="500"/>
                                        <p:tgtEl>
                                          <p:spTgt spid="60"/>
                                        </p:tgtEl>
                                      </p:cBhvr>
                                    </p:animEffect>
                                  </p:childTnLst>
                                </p:cTn>
                              </p:par>
                              <p:par>
                                <p:cTn id="198" presetID="53" presetClass="entr" presetSubtype="16" fill="hold" grpId="0" nodeType="withEffect">
                                  <p:stCondLst>
                                    <p:cond delay="440"/>
                                  </p:stCondLst>
                                  <p:childTnLst>
                                    <p:set>
                                      <p:cBhvr>
                                        <p:cTn id="197" dur="1" fill="hold">
                                          <p:stCondLst>
                                            <p:cond delay="0"/>
                                          </p:stCondLst>
                                        </p:cTn>
                                        <p:tgtEl>
                                          <p:spTgt spid="61"/>
                                        </p:tgtEl>
                                        <p:attrNameLst>
                                          <p:attrName>style.visibility</p:attrName>
                                        </p:attrNameLst>
                                      </p:cBhvr>
                                      <p:to>
                                        <p:strVal val="visible"/>
                                      </p:to>
                                    </p:set>
                                    <p:anim calcmode="lin" valueType="num">
                                      <p:cBhvr>
                                        <p:cTn id="199" dur="500" fill="hold"/>
                                        <p:tgtEl>
                                          <p:spTgt spid="61"/>
                                        </p:tgtEl>
                                        <p:attrNameLst>
                                          <p:attrName>ppt_w</p:attrName>
                                        </p:attrNameLst>
                                      </p:cBhvr>
                                      <p:tavLst>
                                        <p:tav tm="0">
                                          <p:val>
                                            <p:fltVal val="0"/>
                                          </p:val>
                                        </p:tav>
                                        <p:tav tm="100000">
                                          <p:val>
                                            <p:strVal val="#ppt_w"/>
                                          </p:val>
                                        </p:tav>
                                      </p:tavLst>
                                    </p:anim>
                                    <p:anim calcmode="lin" valueType="num">
                                      <p:cBhvr>
                                        <p:cTn id="200" dur="500" fill="hold"/>
                                        <p:tgtEl>
                                          <p:spTgt spid="61"/>
                                        </p:tgtEl>
                                        <p:attrNameLst>
                                          <p:attrName>ppt_h</p:attrName>
                                        </p:attrNameLst>
                                      </p:cBhvr>
                                      <p:tavLst>
                                        <p:tav tm="0">
                                          <p:val>
                                            <p:fltVal val="0"/>
                                          </p:val>
                                        </p:tav>
                                        <p:tav tm="100000">
                                          <p:val>
                                            <p:strVal val="#ppt_h"/>
                                          </p:val>
                                        </p:tav>
                                      </p:tavLst>
                                    </p:anim>
                                    <p:animEffect transition="in" filter="fade">
                                      <p:cBhvr>
                                        <p:cTn id="201" dur="500"/>
                                        <p:tgtEl>
                                          <p:spTgt spid="61"/>
                                        </p:tgtEl>
                                      </p:cBhvr>
                                    </p:animEffect>
                                  </p:childTnLst>
                                </p:cTn>
                              </p:par>
                              <p:par>
                                <p:cTn id="203" presetID="53" presetClass="entr" presetSubtype="16" fill="hold" grpId="0" nodeType="withEffect">
                                  <p:stCondLst>
                                    <p:cond delay="520"/>
                                  </p:stCondLst>
                                  <p:childTnLst>
                                    <p:set>
                                      <p:cBhvr>
                                        <p:cTn id="202" dur="1" fill="hold">
                                          <p:stCondLst>
                                            <p:cond delay="0"/>
                                          </p:stCondLst>
                                        </p:cTn>
                                        <p:tgtEl>
                                          <p:spTgt spid="62"/>
                                        </p:tgtEl>
                                        <p:attrNameLst>
                                          <p:attrName>style.visibility</p:attrName>
                                        </p:attrNameLst>
                                      </p:cBhvr>
                                      <p:to>
                                        <p:strVal val="visible"/>
                                      </p:to>
                                    </p:set>
                                    <p:anim calcmode="lin" valueType="num">
                                      <p:cBhvr>
                                        <p:cTn id="204" dur="500" fill="hold"/>
                                        <p:tgtEl>
                                          <p:spTgt spid="62"/>
                                        </p:tgtEl>
                                        <p:attrNameLst>
                                          <p:attrName>ppt_w</p:attrName>
                                        </p:attrNameLst>
                                      </p:cBhvr>
                                      <p:tavLst>
                                        <p:tav tm="0">
                                          <p:val>
                                            <p:fltVal val="0"/>
                                          </p:val>
                                        </p:tav>
                                        <p:tav tm="100000">
                                          <p:val>
                                            <p:strVal val="#ppt_w"/>
                                          </p:val>
                                        </p:tav>
                                      </p:tavLst>
                                    </p:anim>
                                    <p:anim calcmode="lin" valueType="num">
                                      <p:cBhvr>
                                        <p:cTn id="205" dur="500" fill="hold"/>
                                        <p:tgtEl>
                                          <p:spTgt spid="62"/>
                                        </p:tgtEl>
                                        <p:attrNameLst>
                                          <p:attrName>ppt_h</p:attrName>
                                        </p:attrNameLst>
                                      </p:cBhvr>
                                      <p:tavLst>
                                        <p:tav tm="0">
                                          <p:val>
                                            <p:fltVal val="0"/>
                                          </p:val>
                                        </p:tav>
                                        <p:tav tm="100000">
                                          <p:val>
                                            <p:strVal val="#ppt_h"/>
                                          </p:val>
                                        </p:tav>
                                      </p:tavLst>
                                    </p:anim>
                                    <p:animEffect transition="in" filter="fade">
                                      <p:cBhvr>
                                        <p:cTn id="206" dur="500"/>
                                        <p:tgtEl>
                                          <p:spTgt spid="62"/>
                                        </p:tgtEl>
                                      </p:cBhvr>
                                    </p:animEffect>
                                  </p:childTnLst>
                                </p:cTn>
                              </p:par>
                              <p:par>
                                <p:cTn id="208" presetID="53" presetClass="entr" presetSubtype="16" fill="hold" grpId="0" nodeType="withEffect">
                                  <p:stCondLst>
                                    <p:cond delay="600"/>
                                  </p:stCondLst>
                                  <p:childTnLst>
                                    <p:set>
                                      <p:cBhvr>
                                        <p:cTn id="207" dur="1" fill="hold">
                                          <p:stCondLst>
                                            <p:cond delay="0"/>
                                          </p:stCondLst>
                                        </p:cTn>
                                        <p:tgtEl>
                                          <p:spTgt spid="63"/>
                                        </p:tgtEl>
                                        <p:attrNameLst>
                                          <p:attrName>style.visibility</p:attrName>
                                        </p:attrNameLst>
                                      </p:cBhvr>
                                      <p:to>
                                        <p:strVal val="visible"/>
                                      </p:to>
                                    </p:set>
                                    <p:anim calcmode="lin" valueType="num">
                                      <p:cBhvr>
                                        <p:cTn id="209" dur="500" fill="hold"/>
                                        <p:tgtEl>
                                          <p:spTgt spid="63"/>
                                        </p:tgtEl>
                                        <p:attrNameLst>
                                          <p:attrName>ppt_w</p:attrName>
                                        </p:attrNameLst>
                                      </p:cBhvr>
                                      <p:tavLst>
                                        <p:tav tm="0">
                                          <p:val>
                                            <p:fltVal val="0"/>
                                          </p:val>
                                        </p:tav>
                                        <p:tav tm="100000">
                                          <p:val>
                                            <p:strVal val="#ppt_w"/>
                                          </p:val>
                                        </p:tav>
                                      </p:tavLst>
                                    </p:anim>
                                    <p:anim calcmode="lin" valueType="num">
                                      <p:cBhvr>
                                        <p:cTn id="210" dur="500" fill="hold"/>
                                        <p:tgtEl>
                                          <p:spTgt spid="63"/>
                                        </p:tgtEl>
                                        <p:attrNameLst>
                                          <p:attrName>ppt_h</p:attrName>
                                        </p:attrNameLst>
                                      </p:cBhvr>
                                      <p:tavLst>
                                        <p:tav tm="0">
                                          <p:val>
                                            <p:fltVal val="0"/>
                                          </p:val>
                                        </p:tav>
                                        <p:tav tm="100000">
                                          <p:val>
                                            <p:strVal val="#ppt_h"/>
                                          </p:val>
                                        </p:tav>
                                      </p:tavLst>
                                    </p:anim>
                                    <p:animEffect transition="in" filter="fade">
                                      <p:cBhvr>
                                        <p:cTn id="211" dur="500"/>
                                        <p:tgtEl>
                                          <p:spTgt spid="63"/>
                                        </p:tgtEl>
                                      </p:cBhvr>
                                    </p:animEffect>
                                  </p:childTnLst>
                                </p:cTn>
                              </p:par>
                              <p:par>
                                <p:cTn id="213" presetID="53" presetClass="entr" presetSubtype="16" fill="hold" grpId="0" nodeType="withEffect">
                                  <p:stCondLst>
                                    <p:cond delay="680"/>
                                  </p:stCondLst>
                                  <p:childTnLst>
                                    <p:set>
                                      <p:cBhvr>
                                        <p:cTn id="212" dur="1" fill="hold">
                                          <p:stCondLst>
                                            <p:cond delay="0"/>
                                          </p:stCondLst>
                                        </p:cTn>
                                        <p:tgtEl>
                                          <p:spTgt spid="64"/>
                                        </p:tgtEl>
                                        <p:attrNameLst>
                                          <p:attrName>style.visibility</p:attrName>
                                        </p:attrNameLst>
                                      </p:cBhvr>
                                      <p:to>
                                        <p:strVal val="visible"/>
                                      </p:to>
                                    </p:set>
                                    <p:anim calcmode="lin" valueType="num">
                                      <p:cBhvr>
                                        <p:cTn id="214" dur="500" fill="hold"/>
                                        <p:tgtEl>
                                          <p:spTgt spid="64"/>
                                        </p:tgtEl>
                                        <p:attrNameLst>
                                          <p:attrName>ppt_w</p:attrName>
                                        </p:attrNameLst>
                                      </p:cBhvr>
                                      <p:tavLst>
                                        <p:tav tm="0">
                                          <p:val>
                                            <p:fltVal val="0"/>
                                          </p:val>
                                        </p:tav>
                                        <p:tav tm="100000">
                                          <p:val>
                                            <p:strVal val="#ppt_w"/>
                                          </p:val>
                                        </p:tav>
                                      </p:tavLst>
                                    </p:anim>
                                    <p:anim calcmode="lin" valueType="num">
                                      <p:cBhvr>
                                        <p:cTn id="215" dur="500" fill="hold"/>
                                        <p:tgtEl>
                                          <p:spTgt spid="64"/>
                                        </p:tgtEl>
                                        <p:attrNameLst>
                                          <p:attrName>ppt_h</p:attrName>
                                        </p:attrNameLst>
                                      </p:cBhvr>
                                      <p:tavLst>
                                        <p:tav tm="0">
                                          <p:val>
                                            <p:fltVal val="0"/>
                                          </p:val>
                                        </p:tav>
                                        <p:tav tm="100000">
                                          <p:val>
                                            <p:strVal val="#ppt_h"/>
                                          </p:val>
                                        </p:tav>
                                      </p:tavLst>
                                    </p:anim>
                                    <p:animEffect transition="in" filter="fade">
                                      <p:cBhvr>
                                        <p:cTn id="216" dur="500"/>
                                        <p:tgtEl>
                                          <p:spTgt spid="64"/>
                                        </p:tgtEl>
                                      </p:cBhvr>
                                    </p:animEffect>
                                  </p:childTnLst>
                                </p:cTn>
                              </p:par>
                              <p:par>
                                <p:cTn id="218" presetID="53" presetClass="entr" presetSubtype="16" fill="hold" grpId="0" nodeType="withEffect">
                                  <p:stCondLst>
                                    <p:cond delay="760"/>
                                  </p:stCondLst>
                                  <p:childTnLst>
                                    <p:set>
                                      <p:cBhvr>
                                        <p:cTn id="217" dur="1" fill="hold">
                                          <p:stCondLst>
                                            <p:cond delay="0"/>
                                          </p:stCondLst>
                                        </p:cTn>
                                        <p:tgtEl>
                                          <p:spTgt spid="65"/>
                                        </p:tgtEl>
                                        <p:attrNameLst>
                                          <p:attrName>style.visibility</p:attrName>
                                        </p:attrNameLst>
                                      </p:cBhvr>
                                      <p:to>
                                        <p:strVal val="visible"/>
                                      </p:to>
                                    </p:set>
                                    <p:anim calcmode="lin" valueType="num">
                                      <p:cBhvr>
                                        <p:cTn id="219" dur="500" fill="hold"/>
                                        <p:tgtEl>
                                          <p:spTgt spid="65"/>
                                        </p:tgtEl>
                                        <p:attrNameLst>
                                          <p:attrName>ppt_w</p:attrName>
                                        </p:attrNameLst>
                                      </p:cBhvr>
                                      <p:tavLst>
                                        <p:tav tm="0">
                                          <p:val>
                                            <p:fltVal val="0"/>
                                          </p:val>
                                        </p:tav>
                                        <p:tav tm="100000">
                                          <p:val>
                                            <p:strVal val="#ppt_w"/>
                                          </p:val>
                                        </p:tav>
                                      </p:tavLst>
                                    </p:anim>
                                    <p:anim calcmode="lin" valueType="num">
                                      <p:cBhvr>
                                        <p:cTn id="220" dur="500" fill="hold"/>
                                        <p:tgtEl>
                                          <p:spTgt spid="65"/>
                                        </p:tgtEl>
                                        <p:attrNameLst>
                                          <p:attrName>ppt_h</p:attrName>
                                        </p:attrNameLst>
                                      </p:cBhvr>
                                      <p:tavLst>
                                        <p:tav tm="0">
                                          <p:val>
                                            <p:fltVal val="0"/>
                                          </p:val>
                                        </p:tav>
                                        <p:tav tm="100000">
                                          <p:val>
                                            <p:strVal val="#ppt_h"/>
                                          </p:val>
                                        </p:tav>
                                      </p:tavLst>
                                    </p:anim>
                                    <p:animEffect transition="in" filter="fade">
                                      <p:cBhvr>
                                        <p:cTn id="221" dur="500"/>
                                        <p:tgtEl>
                                          <p:spTgt spid="65"/>
                                        </p:tgtEl>
                                      </p:cBhvr>
                                    </p:animEffect>
                                  </p:childTnLst>
                                </p:cTn>
                              </p:par>
                              <p:par>
                                <p:cTn id="223" presetID="53" presetClass="entr" presetSubtype="16" fill="hold" grpId="0" nodeType="withEffect">
                                  <p:stCondLst>
                                    <p:cond delay="840"/>
                                  </p:stCondLst>
                                  <p:childTnLst>
                                    <p:set>
                                      <p:cBhvr>
                                        <p:cTn id="222" dur="1" fill="hold">
                                          <p:stCondLst>
                                            <p:cond delay="0"/>
                                          </p:stCondLst>
                                        </p:cTn>
                                        <p:tgtEl>
                                          <p:spTgt spid="66"/>
                                        </p:tgtEl>
                                        <p:attrNameLst>
                                          <p:attrName>style.visibility</p:attrName>
                                        </p:attrNameLst>
                                      </p:cBhvr>
                                      <p:to>
                                        <p:strVal val="visible"/>
                                      </p:to>
                                    </p:set>
                                    <p:anim calcmode="lin" valueType="num">
                                      <p:cBhvr>
                                        <p:cTn id="224" dur="500" fill="hold"/>
                                        <p:tgtEl>
                                          <p:spTgt spid="66"/>
                                        </p:tgtEl>
                                        <p:attrNameLst>
                                          <p:attrName>ppt_w</p:attrName>
                                        </p:attrNameLst>
                                      </p:cBhvr>
                                      <p:tavLst>
                                        <p:tav tm="0">
                                          <p:val>
                                            <p:fltVal val="0"/>
                                          </p:val>
                                        </p:tav>
                                        <p:tav tm="100000">
                                          <p:val>
                                            <p:strVal val="#ppt_w"/>
                                          </p:val>
                                        </p:tav>
                                      </p:tavLst>
                                    </p:anim>
                                    <p:anim calcmode="lin" valueType="num">
                                      <p:cBhvr>
                                        <p:cTn id="225" dur="500" fill="hold"/>
                                        <p:tgtEl>
                                          <p:spTgt spid="66"/>
                                        </p:tgtEl>
                                        <p:attrNameLst>
                                          <p:attrName>ppt_h</p:attrName>
                                        </p:attrNameLst>
                                      </p:cBhvr>
                                      <p:tavLst>
                                        <p:tav tm="0">
                                          <p:val>
                                            <p:fltVal val="0"/>
                                          </p:val>
                                        </p:tav>
                                        <p:tav tm="100000">
                                          <p:val>
                                            <p:strVal val="#ppt_h"/>
                                          </p:val>
                                        </p:tav>
                                      </p:tavLst>
                                    </p:anim>
                                    <p:animEffect transition="in" filter="fade">
                                      <p:cBhvr>
                                        <p:cTn id="226" dur="500"/>
                                        <p:tgtEl>
                                          <p:spTgt spid="66"/>
                                        </p:tgtEl>
                                      </p:cBhvr>
                                    </p:animEffect>
                                  </p:childTnLst>
                                </p:cTn>
                              </p:par>
                            </p:childTnLst>
                          </p:cTn>
                        </p:par>
                      </p:childTnLst>
                    </p:cTn>
                  </p:par>
                  <p:par>
                    <p:cTn id="227" fill="hold">
                      <p:stCondLst>
                        <p:cond delay="indefinite"/>
                      </p:stCondLst>
                      <p:childTnLst>
                        <p:par>
                          <p:cTn id="228" fill="hold">
                            <p:stCondLst>
                              <p:cond delay="0"/>
                            </p:stCondLst>
                            <p:childTnLst>
                              <p:par>
                                <p:cTn id="230" presetID="22" presetClass="entr" presetSubtype="8" fill="hold" grpId="0" nodeType="clickEffect">
                                  <p:stCondLst>
                                    <p:cond delay="0"/>
                                  </p:stCondLst>
                                  <p:childTnLst>
                                    <p:set>
                                      <p:cBhvr>
                                        <p:cTn id="229" dur="1" fill="hold">
                                          <p:stCondLst>
                                            <p:cond delay="0"/>
                                          </p:stCondLst>
                                        </p:cTn>
                                        <p:tgtEl>
                                          <p:spTgt spid="67"/>
                                        </p:tgtEl>
                                        <p:attrNameLst>
                                          <p:attrName>style.visibility</p:attrName>
                                        </p:attrNameLst>
                                      </p:cBhvr>
                                      <p:to>
                                        <p:strVal val="visible"/>
                                      </p:to>
                                    </p:set>
                                    <p:animEffect transition="in" filter="wipe(left)">
                                      <p:cBhvr>
                                        <p:cTn id="231" dur="450"/>
                                        <p:tgtEl>
                                          <p:spTgt spid="67"/>
                                        </p:tgtEl>
                                      </p:cBhvr>
                                    </p:animEffect>
                                  </p:childTnLst>
                                </p:cTn>
                              </p:par>
                              <p:par>
                                <p:cTn id="233" presetID="10" presetClass="entr" presetSubtype="0" fill="hold" grpId="0" nodeType="withEffect">
                                  <p:stCondLst>
                                    <p:cond delay="300"/>
                                  </p:stCondLst>
                                  <p:childTnLst>
                                    <p:set>
                                      <p:cBhvr>
                                        <p:cTn id="232" dur="1" fill="hold">
                                          <p:stCondLst>
                                            <p:cond delay="0"/>
                                          </p:stCondLst>
                                        </p:cTn>
                                        <p:tgtEl>
                                          <p:spTgt spid="68"/>
                                        </p:tgtEl>
                                        <p:attrNameLst>
                                          <p:attrName>style.visibility</p:attrName>
                                        </p:attrNameLst>
                                      </p:cBhvr>
                                      <p:to>
                                        <p:strVal val="visible"/>
                                      </p:to>
                                    </p:set>
                                    <p:animEffect transition="in" filter="fade">
                                      <p:cBhvr>
                                        <p:cTn id="234" dur="500"/>
                                        <p:tgtEl>
                                          <p:spTgt spid="68"/>
                                        </p:tgtEl>
                                      </p:cBhvr>
                                    </p:animEffect>
                                  </p:childTnLst>
                                </p:cTn>
                              </p:par>
                            </p:childTnLst>
                          </p:cTn>
                        </p:par>
                      </p:childTnLst>
                    </p:cTn>
                  </p:par>
                  <p:par>
                    <p:cTn id="235" fill="hold">
                      <p:stCondLst>
                        <p:cond delay="indefinite"/>
                      </p:stCondLst>
                      <p:childTnLst>
                        <p:par>
                          <p:cTn id="236" fill="hold">
                            <p:stCondLst>
                              <p:cond delay="0"/>
                            </p:stCondLst>
                            <p:childTnLst>
                              <p:par>
                                <p:cTn id="238" presetID="22" presetClass="entr" presetSubtype="8" fill="hold" grpId="0" nodeType="clickEffect">
                                  <p:stCondLst>
                                    <p:cond delay="0"/>
                                  </p:stCondLst>
                                  <p:childTnLst>
                                    <p:set>
                                      <p:cBhvr>
                                        <p:cTn id="237" dur="1" fill="hold">
                                          <p:stCondLst>
                                            <p:cond delay="0"/>
                                          </p:stCondLst>
                                        </p:cTn>
                                        <p:tgtEl>
                                          <p:spTgt spid="69"/>
                                        </p:tgtEl>
                                        <p:attrNameLst>
                                          <p:attrName>style.visibility</p:attrName>
                                        </p:attrNameLst>
                                      </p:cBhvr>
                                      <p:to>
                                        <p:strVal val="visible"/>
                                      </p:to>
                                    </p:set>
                                    <p:animEffect transition="in" filter="wipe(left)">
                                      <p:cBhvr>
                                        <p:cTn id="239" dur="450"/>
                                        <p:tgtEl>
                                          <p:spTgt spid="69"/>
                                        </p:tgtEl>
                                      </p:cBhvr>
                                    </p:animEffect>
                                  </p:childTnLst>
                                </p:cTn>
                              </p:par>
                              <p:par>
                                <p:cTn id="241" presetID="22" presetClass="entr" presetSubtype="8" fill="hold" grpId="0" nodeType="withEffect">
                                  <p:stCondLst>
                                    <p:cond delay="350"/>
                                  </p:stCondLst>
                                  <p:childTnLst>
                                    <p:set>
                                      <p:cBhvr>
                                        <p:cTn id="240" dur="1" fill="hold">
                                          <p:stCondLst>
                                            <p:cond delay="0"/>
                                          </p:stCondLst>
                                        </p:cTn>
                                        <p:tgtEl>
                                          <p:spTgt spid="70"/>
                                        </p:tgtEl>
                                        <p:attrNameLst>
                                          <p:attrName>style.visibility</p:attrName>
                                        </p:attrNameLst>
                                      </p:cBhvr>
                                      <p:to>
                                        <p:strVal val="visible"/>
                                      </p:to>
                                    </p:set>
                                    <p:animEffect transition="in" filter="wipe(left)">
                                      <p:cBhvr>
                                        <p:cTn id="242" dur="450"/>
                                        <p:tgtEl>
                                          <p:spTgt spid="70"/>
                                        </p:tgtEl>
                                      </p:cBhvr>
                                    </p:animEffect>
                                  </p:childTnLst>
                                </p:cTn>
                              </p:par>
                              <p:par>
                                <p:cTn id="244" presetID="22" presetClass="entr" presetSubtype="8" fill="hold" grpId="0" nodeType="withEffect">
                                  <p:stCondLst>
                                    <p:cond delay="700"/>
                                  </p:stCondLst>
                                  <p:childTnLst>
                                    <p:set>
                                      <p:cBhvr>
                                        <p:cTn id="243" dur="1" fill="hold">
                                          <p:stCondLst>
                                            <p:cond delay="0"/>
                                          </p:stCondLst>
                                        </p:cTn>
                                        <p:tgtEl>
                                          <p:spTgt spid="71"/>
                                        </p:tgtEl>
                                        <p:attrNameLst>
                                          <p:attrName>style.visibility</p:attrName>
                                        </p:attrNameLst>
                                      </p:cBhvr>
                                      <p:to>
                                        <p:strVal val="visible"/>
                                      </p:to>
                                    </p:set>
                                    <p:animEffect transition="in" filter="wipe(left)">
                                      <p:cBhvr>
                                        <p:cTn id="245" dur="450"/>
                                        <p:tgtEl>
                                          <p:spTgt spid="71"/>
                                        </p:tgtEl>
                                      </p:cBhvr>
                                    </p:animEffect>
                                  </p:childTnLst>
                                </p:cTn>
                              </p:par>
                              <p:par>
                                <p:cTn id="247" presetID="10" presetClass="entr" presetSubtype="0" fill="hold" grpId="0" nodeType="withEffect">
                                  <p:stCondLst>
                                    <p:cond delay="900"/>
                                  </p:stCondLst>
                                  <p:childTnLst>
                                    <p:set>
                                      <p:cBhvr>
                                        <p:cTn id="246" dur="1" fill="hold">
                                          <p:stCondLst>
                                            <p:cond delay="0"/>
                                          </p:stCondLst>
                                        </p:cTn>
                                        <p:tgtEl>
                                          <p:spTgt spid="72"/>
                                        </p:tgtEl>
                                        <p:attrNameLst>
                                          <p:attrName>style.visibility</p:attrName>
                                        </p:attrNameLst>
                                      </p:cBhvr>
                                      <p:to>
                                        <p:strVal val="visible"/>
                                      </p:to>
                                    </p:set>
                                    <p:animEffect transition="in" filter="fade">
                                      <p:cBhvr>
                                        <p:cTn id="248" dur="500"/>
                                        <p:tgtEl>
                                          <p:spTgt spid="72"/>
                                        </p:tgtEl>
                                      </p:cBhvr>
                                    </p:animEffect>
                                  </p:childTnLst>
                                </p:cTn>
                              </p:par>
                            </p:childTnLst>
                          </p:cTn>
                        </p:par>
                      </p:childTnLst>
                    </p:cTn>
                  </p:par>
                  <p:par>
                    <p:cTn id="249" fill="hold">
                      <p:stCondLst>
                        <p:cond delay="indefinite"/>
                      </p:stCondLst>
                      <p:childTnLst>
                        <p:par>
                          <p:cTn id="250" fill="hold">
                            <p:stCondLst>
                              <p:cond delay="0"/>
                            </p:stCondLst>
                            <p:childTnLst>
                              <p:par>
                                <p:cTn id="252" presetID="42" presetClass="entr" presetSubtype="0" fill="hold" grpId="0" nodeType="clickEffect">
                                  <p:stCondLst>
                                    <p:cond delay="0"/>
                                  </p:stCondLst>
                                  <p:childTnLst>
                                    <p:set>
                                      <p:cBhvr>
                                        <p:cTn id="251" dur="1" fill="hold">
                                          <p:stCondLst>
                                            <p:cond delay="0"/>
                                          </p:stCondLst>
                                        </p:cTn>
                                        <p:tgtEl>
                                          <p:spTgt spid="73"/>
                                        </p:tgtEl>
                                        <p:attrNameLst>
                                          <p:attrName>style.visibility</p:attrName>
                                        </p:attrNameLst>
                                      </p:cBhvr>
                                      <p:to>
                                        <p:strVal val="visible"/>
                                      </p:to>
                                    </p:set>
                                    <p:animEffect transition="in" filter="fade">
                                      <p:cBhvr>
                                        <p:cTn id="253" dur="500"/>
                                        <p:tgtEl>
                                          <p:spTgt spid="73"/>
                                        </p:tgtEl>
                                      </p:cBhvr>
                                    </p:animEffect>
                                    <p:anim calcmode="lin" valueType="num">
                                      <p:cBhvr>
                                        <p:cTn id="254" dur="500" fill="hold"/>
                                        <p:tgtEl>
                                          <p:spTgt spid="73"/>
                                        </p:tgtEl>
                                        <p:attrNameLst>
                                          <p:attrName>ppt_x</p:attrName>
                                        </p:attrNameLst>
                                      </p:cBhvr>
                                      <p:tavLst>
                                        <p:tav tm="0">
                                          <p:val>
                                            <p:strVal val="#ppt_x"/>
                                          </p:val>
                                        </p:tav>
                                        <p:tav tm="100000">
                                          <p:val>
                                            <p:strVal val="#ppt_x"/>
                                          </p:val>
                                        </p:tav>
                                      </p:tavLst>
                                    </p:anim>
                                    <p:anim calcmode="lin" valueType="num">
                                      <p:cBhvr>
                                        <p:cTn id="255" dur="500" fill="hold"/>
                                        <p:tgtEl>
                                          <p:spTgt spid="73"/>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2563EB"/>
                </a:solidFill>
                <a:latin typeface="Inter" pitchFamily="34" charset="0"/>
                <a:ea typeface="Inter" pitchFamily="34" charset="-122"/>
                <a:cs typeface="Inter" pitchFamily="34" charset="-120"/>
              </a:rPr>
              <a:t>05 · WARM-UP · THE DOT PRODUCT</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The dot product: a match score for two lists of numbers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Multiply matching positions, add them up. A big result means the two vectors “agree”.</a:t>
            </a:r>
            <a:endParaRPr lang="en-US" sz="1300" dirty="0"/>
          </a:p>
        </p:txBody>
      </p:sp>
      <p:sp>
        <p:nvSpPr>
          <p:cNvPr id="5" name="Text 3"/>
          <p:cNvSpPr txBox="1"/>
          <p:nvPr/>
        </p:nvSpPr>
        <p:spPr>
          <a:xfrm>
            <a:off x="548640" y="1783080"/>
            <a:ext cx="1463040" cy="219456"/>
          </a:xfrm>
          <a:prstGeom prst="rect">
            <a:avLst/>
          </a:prstGeom>
          <a:noFill/>
          <a:ln/>
        </p:spPr>
        <p:txBody>
          <a:bodyPr wrap="square" lIns="0" tIns="0" rIns="0" bIns="0" rtlCol="0" anchor="t"/>
          <a:lstStyle/>
          <a:p>
            <a:pPr indent="0" marL="0">
              <a:buNone/>
            </a:pPr>
            <a:r>
              <a:rPr lang="en-US" sz="900" b="1" spc="100" kern="0" dirty="0">
                <a:solidFill>
                  <a:srgbClr val="64748B"/>
                </a:solidFill>
                <a:latin typeface="Inter" pitchFamily="34" charset="0"/>
                <a:ea typeface="Inter" pitchFamily="34" charset="-122"/>
                <a:cs typeface="Inter" pitchFamily="34" charset="-120"/>
              </a:rPr>
              <a:t>feature</a:t>
            </a:r>
            <a:endParaRPr lang="en-US" sz="900" dirty="0"/>
          </a:p>
        </p:txBody>
      </p:sp>
      <p:sp>
        <p:nvSpPr>
          <p:cNvPr id="6" name="anim-1-fade-0-160"/>
          <p:cNvSpPr/>
          <p:nvPr/>
        </p:nvSpPr>
        <p:spPr>
          <a:xfrm>
            <a:off x="2148840" y="1700784"/>
            <a:ext cx="960120" cy="347472"/>
          </a:xfrm>
          <a:prstGeom prst="roundRect">
            <a:avLst>
              <a:gd name="adj" fmla="val 26316"/>
            </a:avLst>
          </a:prstGeom>
          <a:solidFill>
            <a:srgbClr val="7C3AED"/>
          </a:solid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question</a:t>
            </a:r>
            <a:endParaRPr lang="en-US" sz="1050" dirty="0"/>
          </a:p>
        </p:txBody>
      </p:sp>
      <p:sp>
        <p:nvSpPr>
          <p:cNvPr id="7" name="anim-1-fade-150-161"/>
          <p:cNvSpPr/>
          <p:nvPr/>
        </p:nvSpPr>
        <p:spPr>
          <a:xfrm>
            <a:off x="3611880" y="1700784"/>
            <a:ext cx="822960" cy="347472"/>
          </a:xfrm>
          <a:prstGeom prst="roundRect">
            <a:avLst>
              <a:gd name="adj" fmla="val 26316"/>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cat</a:t>
            </a:r>
            <a:endParaRPr lang="en-US" sz="1050" dirty="0"/>
          </a:p>
        </p:txBody>
      </p:sp>
      <p:sp>
        <p:nvSpPr>
          <p:cNvPr id="8" name="anim-2-fade-0-162"/>
          <p:cNvSpPr txBox="1"/>
          <p:nvPr/>
        </p:nvSpPr>
        <p:spPr>
          <a:xfrm>
            <a:off x="4846320" y="1783080"/>
            <a:ext cx="1463040" cy="219456"/>
          </a:xfrm>
          <a:prstGeom prst="rect">
            <a:avLst/>
          </a:prstGeom>
          <a:noFill/>
          <a:ln/>
        </p:spPr>
        <p:txBody>
          <a:bodyPr wrap="square" lIns="0" tIns="0" rIns="0" bIns="0" rtlCol="0" anchor="t"/>
          <a:lstStyle/>
          <a:p>
            <a:pPr indent="0" marL="0">
              <a:buNone/>
            </a:pPr>
            <a:r>
              <a:rPr lang="en-US" sz="900" b="1" spc="100" kern="0" dirty="0">
                <a:solidFill>
                  <a:srgbClr val="64748B"/>
                </a:solidFill>
                <a:latin typeface="Inter" pitchFamily="34" charset="0"/>
                <a:ea typeface="Inter" pitchFamily="34" charset="-122"/>
                <a:cs typeface="Inter" pitchFamily="34" charset="-120"/>
              </a:rPr>
              <a:t>product</a:t>
            </a:r>
            <a:endParaRPr lang="en-US" sz="900" dirty="0"/>
          </a:p>
        </p:txBody>
      </p:sp>
      <p:sp>
        <p:nvSpPr>
          <p:cNvPr id="9" name="anim-1-fade-0-163"/>
          <p:cNvSpPr txBox="1"/>
          <p:nvPr/>
        </p:nvSpPr>
        <p:spPr>
          <a:xfrm>
            <a:off x="1920240" y="2075688"/>
            <a:ext cx="1463040" cy="201168"/>
          </a:xfrm>
          <a:prstGeom prst="rect">
            <a:avLst/>
          </a:prstGeom>
          <a:noFill/>
          <a:ln/>
        </p:spPr>
        <p:txBody>
          <a:bodyPr wrap="square" lIns="0" tIns="0" rIns="0" bIns="0" rtlCol="0" anchor="t"/>
          <a:lstStyle/>
          <a:p>
            <a:pPr algn="ctr" indent="0" marL="0">
              <a:buNone/>
            </a:pPr>
            <a:r>
              <a:rPr lang="en-US" sz="850" i="1" dirty="0">
                <a:solidFill>
                  <a:srgbClr val="7C3AED"/>
                </a:solidFill>
                <a:latin typeface="Inter" pitchFamily="34" charset="0"/>
                <a:ea typeface="Inter" pitchFamily="34" charset="-122"/>
                <a:cs typeface="Inter" pitchFamily="34" charset="-120"/>
              </a:rPr>
              <a:t>“who could be sitting?”</a:t>
            </a:r>
            <a:endParaRPr lang="en-US" sz="850" dirty="0"/>
          </a:p>
        </p:txBody>
      </p:sp>
      <p:sp>
        <p:nvSpPr>
          <p:cNvPr id="10" name="Text 8"/>
          <p:cNvSpPr txBox="1"/>
          <p:nvPr/>
        </p:nvSpPr>
        <p:spPr>
          <a:xfrm>
            <a:off x="548640" y="2468880"/>
            <a:ext cx="1508760" cy="237744"/>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animal-ness</a:t>
            </a:r>
            <a:endParaRPr lang="en-US" sz="1100" dirty="0"/>
          </a:p>
        </p:txBody>
      </p:sp>
      <p:sp>
        <p:nvSpPr>
          <p:cNvPr id="11" name="anim-1-fade-200-164"/>
          <p:cNvSpPr/>
          <p:nvPr/>
        </p:nvSpPr>
        <p:spPr>
          <a:xfrm>
            <a:off x="2286000" y="2377440"/>
            <a:ext cx="685800" cy="402336"/>
          </a:xfrm>
          <a:prstGeom prst="roundRect">
            <a:avLst>
              <a:gd name="adj" fmla="val 22727"/>
            </a:avLst>
          </a:prstGeom>
          <a:solidFill>
            <a:srgbClr val="EDE9FE"/>
          </a:solidFill>
          <a:ln/>
        </p:spPr>
        <p:txBody>
          <a:bodyPr wrap="square" lIns="0" tIns="0" rIns="0" bIns="0" rtlCol="0" anchor="ctr"/>
          <a:lstStyle/>
          <a:p>
            <a:pPr algn="ctr" indent="0" marL="0">
              <a:buNone/>
            </a:pPr>
            <a:r>
              <a:rPr lang="en-US" sz="1200" b="1" dirty="0">
                <a:solidFill>
                  <a:srgbClr val="7C3AED"/>
                </a:solidFill>
                <a:latin typeface="Inter" pitchFamily="34" charset="0"/>
                <a:ea typeface="Inter" pitchFamily="34" charset="-122"/>
                <a:cs typeface="Inter" pitchFamily="34" charset="-120"/>
              </a:rPr>
              <a:t>1.0</a:t>
            </a:r>
            <a:endParaRPr lang="en-US" sz="1200" dirty="0"/>
          </a:p>
        </p:txBody>
      </p:sp>
      <p:sp>
        <p:nvSpPr>
          <p:cNvPr id="12" name="anim-2-fade-0-165"/>
          <p:cNvSpPr txBox="1"/>
          <p:nvPr/>
        </p:nvSpPr>
        <p:spPr>
          <a:xfrm>
            <a:off x="3063240" y="2450592"/>
            <a:ext cx="45720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13" name="anim-1-fade-250-166"/>
          <p:cNvSpPr/>
          <p:nvPr/>
        </p:nvSpPr>
        <p:spPr>
          <a:xfrm>
            <a:off x="3685032" y="2377440"/>
            <a:ext cx="685800" cy="402336"/>
          </a:xfrm>
          <a:prstGeom prst="roundRect">
            <a:avLst>
              <a:gd name="adj" fmla="val 22727"/>
            </a:avLst>
          </a:prstGeom>
          <a:solidFill>
            <a:srgbClr val="FEF3C7"/>
          </a:solidFill>
          <a:ln/>
        </p:spPr>
        <p:txBody>
          <a:bodyPr wrap="square" lIns="0" tIns="0" rIns="0" bIns="0" rtlCol="0" anchor="ctr"/>
          <a:lstStyle/>
          <a:p>
            <a:pPr algn="ctr" indent="0" marL="0">
              <a:buNone/>
            </a:pPr>
            <a:r>
              <a:rPr lang="en-US" sz="1200" b="1" dirty="0">
                <a:solidFill>
                  <a:srgbClr val="D97706"/>
                </a:solidFill>
                <a:latin typeface="Inter" pitchFamily="34" charset="0"/>
                <a:ea typeface="Inter" pitchFamily="34" charset="-122"/>
                <a:cs typeface="Inter" pitchFamily="34" charset="-120"/>
              </a:rPr>
              <a:t>0.9</a:t>
            </a:r>
            <a:endParaRPr lang="en-US" sz="1200" dirty="0"/>
          </a:p>
        </p:txBody>
      </p:sp>
      <p:sp>
        <p:nvSpPr>
          <p:cNvPr id="14" name="anim-2-fade-100-167"/>
          <p:cNvSpPr txBox="1"/>
          <p:nvPr/>
        </p:nvSpPr>
        <p:spPr>
          <a:xfrm>
            <a:off x="4434840" y="2450592"/>
            <a:ext cx="36576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15" name="anim-2-wipe-150-168"/>
          <p:cNvSpPr/>
          <p:nvPr/>
        </p:nvSpPr>
        <p:spPr>
          <a:xfrm>
            <a:off x="4846320" y="2468880"/>
            <a:ext cx="1152144" cy="219456"/>
          </a:xfrm>
          <a:prstGeom prst="rect">
            <a:avLst/>
          </a:prstGeom>
          <a:solidFill>
            <a:srgbClr val="2563EB"/>
          </a:solidFill>
          <a:ln/>
        </p:spPr>
      </p:sp>
      <p:sp>
        <p:nvSpPr>
          <p:cNvPr id="16" name="anim-2-fade-250-169"/>
          <p:cNvSpPr txBox="1"/>
          <p:nvPr/>
        </p:nvSpPr>
        <p:spPr>
          <a:xfrm>
            <a:off x="6053328" y="2450592"/>
            <a:ext cx="548640" cy="256032"/>
          </a:xfrm>
          <a:prstGeom prst="rect">
            <a:avLst/>
          </a:prstGeom>
          <a:noFill/>
          <a:ln/>
        </p:spPr>
        <p:txBody>
          <a:bodyPr wrap="square" lIns="0" tIns="0" rIns="0" bIns="0" rtlCol="0" anchor="t"/>
          <a:lstStyle/>
          <a:p>
            <a:pPr indent="0" marL="0">
              <a:buNone/>
            </a:pPr>
            <a:r>
              <a:rPr lang="en-US" sz="1100" b="1" dirty="0">
                <a:solidFill>
                  <a:srgbClr val="2563EB"/>
                </a:solidFill>
                <a:latin typeface="Inter" pitchFamily="34" charset="0"/>
                <a:ea typeface="Inter" pitchFamily="34" charset="-122"/>
                <a:cs typeface="Inter" pitchFamily="34" charset="-120"/>
              </a:rPr>
              <a:t>0.90</a:t>
            </a:r>
            <a:endParaRPr lang="en-US" sz="1100" dirty="0"/>
          </a:p>
        </p:txBody>
      </p:sp>
      <p:sp>
        <p:nvSpPr>
          <p:cNvPr id="17" name="Text 15"/>
          <p:cNvSpPr txBox="1"/>
          <p:nvPr/>
        </p:nvSpPr>
        <p:spPr>
          <a:xfrm>
            <a:off x="548640" y="2971800"/>
            <a:ext cx="1508760" cy="237744"/>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surface-ness</a:t>
            </a:r>
            <a:endParaRPr lang="en-US" sz="1100" dirty="0"/>
          </a:p>
        </p:txBody>
      </p:sp>
      <p:sp>
        <p:nvSpPr>
          <p:cNvPr id="18" name="anim-1-fade-300-170"/>
          <p:cNvSpPr/>
          <p:nvPr/>
        </p:nvSpPr>
        <p:spPr>
          <a:xfrm>
            <a:off x="2286000" y="2880360"/>
            <a:ext cx="685800" cy="402336"/>
          </a:xfrm>
          <a:prstGeom prst="roundRect">
            <a:avLst>
              <a:gd name="adj" fmla="val 22727"/>
            </a:avLst>
          </a:prstGeom>
          <a:solidFill>
            <a:srgbClr val="EDE9FE"/>
          </a:solidFill>
          <a:ln/>
        </p:spPr>
        <p:txBody>
          <a:bodyPr wrap="square" lIns="0" tIns="0" rIns="0" bIns="0" rtlCol="0" anchor="ctr"/>
          <a:lstStyle/>
          <a:p>
            <a:pPr algn="ctr" indent="0" marL="0">
              <a:buNone/>
            </a:pPr>
            <a:r>
              <a:rPr lang="en-US" sz="1200" b="1" dirty="0">
                <a:solidFill>
                  <a:srgbClr val="7C3AED"/>
                </a:solidFill>
                <a:latin typeface="Inter" pitchFamily="34" charset="0"/>
                <a:ea typeface="Inter" pitchFamily="34" charset="-122"/>
                <a:cs typeface="Inter" pitchFamily="34" charset="-120"/>
              </a:rPr>
              <a:t>0.1</a:t>
            </a:r>
            <a:endParaRPr lang="en-US" sz="1200" dirty="0"/>
          </a:p>
        </p:txBody>
      </p:sp>
      <p:sp>
        <p:nvSpPr>
          <p:cNvPr id="19" name="anim-2-fade-300-171"/>
          <p:cNvSpPr txBox="1"/>
          <p:nvPr/>
        </p:nvSpPr>
        <p:spPr>
          <a:xfrm>
            <a:off x="3063240" y="2953512"/>
            <a:ext cx="45720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20" name="anim-1-fade-350-172"/>
          <p:cNvSpPr/>
          <p:nvPr/>
        </p:nvSpPr>
        <p:spPr>
          <a:xfrm>
            <a:off x="3685032" y="2880360"/>
            <a:ext cx="685800" cy="402336"/>
          </a:xfrm>
          <a:prstGeom prst="roundRect">
            <a:avLst>
              <a:gd name="adj" fmla="val 22727"/>
            </a:avLst>
          </a:prstGeom>
          <a:solidFill>
            <a:srgbClr val="FEF3C7"/>
          </a:solidFill>
          <a:ln/>
        </p:spPr>
        <p:txBody>
          <a:bodyPr wrap="square" lIns="0" tIns="0" rIns="0" bIns="0" rtlCol="0" anchor="ctr"/>
          <a:lstStyle/>
          <a:p>
            <a:pPr algn="ctr" indent="0" marL="0">
              <a:buNone/>
            </a:pPr>
            <a:r>
              <a:rPr lang="en-US" sz="1200" b="1" dirty="0">
                <a:solidFill>
                  <a:srgbClr val="D97706"/>
                </a:solidFill>
                <a:latin typeface="Inter" pitchFamily="34" charset="0"/>
                <a:ea typeface="Inter" pitchFamily="34" charset="-122"/>
                <a:cs typeface="Inter" pitchFamily="34" charset="-120"/>
              </a:rPr>
              <a:t>0.0</a:t>
            </a:r>
            <a:endParaRPr lang="en-US" sz="1200" dirty="0"/>
          </a:p>
        </p:txBody>
      </p:sp>
      <p:sp>
        <p:nvSpPr>
          <p:cNvPr id="21" name="anim-2-fade-400-173"/>
          <p:cNvSpPr txBox="1"/>
          <p:nvPr/>
        </p:nvSpPr>
        <p:spPr>
          <a:xfrm>
            <a:off x="4434840" y="2953512"/>
            <a:ext cx="36576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22" name="anim-2-wipe-450-174"/>
          <p:cNvSpPr/>
          <p:nvPr/>
        </p:nvSpPr>
        <p:spPr>
          <a:xfrm>
            <a:off x="4846320" y="2971800"/>
            <a:ext cx="27432" cy="219456"/>
          </a:xfrm>
          <a:prstGeom prst="rect">
            <a:avLst/>
          </a:prstGeom>
          <a:solidFill>
            <a:srgbClr val="2563EB"/>
          </a:solidFill>
          <a:ln/>
        </p:spPr>
      </p:sp>
      <p:sp>
        <p:nvSpPr>
          <p:cNvPr id="23" name="anim-2-fade-550-175"/>
          <p:cNvSpPr txBox="1"/>
          <p:nvPr/>
        </p:nvSpPr>
        <p:spPr>
          <a:xfrm>
            <a:off x="4928616" y="2953512"/>
            <a:ext cx="548640" cy="256032"/>
          </a:xfrm>
          <a:prstGeom prst="rect">
            <a:avLst/>
          </a:prstGeom>
          <a:noFill/>
          <a:ln/>
        </p:spPr>
        <p:txBody>
          <a:bodyPr wrap="square" lIns="0" tIns="0" rIns="0" bIns="0" rtlCol="0" anchor="t"/>
          <a:lstStyle/>
          <a:p>
            <a:pPr indent="0" marL="0">
              <a:buNone/>
            </a:pPr>
            <a:r>
              <a:rPr lang="en-US" sz="1100" b="1" dirty="0">
                <a:solidFill>
                  <a:srgbClr val="2563EB"/>
                </a:solidFill>
                <a:latin typeface="Inter" pitchFamily="34" charset="0"/>
                <a:ea typeface="Inter" pitchFamily="34" charset="-122"/>
                <a:cs typeface="Inter" pitchFamily="34" charset="-120"/>
              </a:rPr>
              <a:t>0.00</a:t>
            </a:r>
            <a:endParaRPr lang="en-US" sz="1100" dirty="0"/>
          </a:p>
        </p:txBody>
      </p:sp>
      <p:sp>
        <p:nvSpPr>
          <p:cNvPr id="24" name="Text 22"/>
          <p:cNvSpPr txBox="1"/>
          <p:nvPr/>
        </p:nvSpPr>
        <p:spPr>
          <a:xfrm>
            <a:off x="548640" y="3474720"/>
            <a:ext cx="1508760" cy="237744"/>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action-ness</a:t>
            </a:r>
            <a:endParaRPr lang="en-US" sz="1100" dirty="0"/>
          </a:p>
        </p:txBody>
      </p:sp>
      <p:sp>
        <p:nvSpPr>
          <p:cNvPr id="25" name="anim-1-fade-400-176"/>
          <p:cNvSpPr/>
          <p:nvPr/>
        </p:nvSpPr>
        <p:spPr>
          <a:xfrm>
            <a:off x="2286000" y="3383280"/>
            <a:ext cx="685800" cy="402336"/>
          </a:xfrm>
          <a:prstGeom prst="roundRect">
            <a:avLst>
              <a:gd name="adj" fmla="val 22727"/>
            </a:avLst>
          </a:prstGeom>
          <a:solidFill>
            <a:srgbClr val="EDE9FE"/>
          </a:solidFill>
          <a:ln/>
        </p:spPr>
        <p:txBody>
          <a:bodyPr wrap="square" lIns="0" tIns="0" rIns="0" bIns="0" rtlCol="0" anchor="ctr"/>
          <a:lstStyle/>
          <a:p>
            <a:pPr algn="ctr" indent="0" marL="0">
              <a:buNone/>
            </a:pPr>
            <a:r>
              <a:rPr lang="en-US" sz="1200" b="1" dirty="0">
                <a:solidFill>
                  <a:srgbClr val="7C3AED"/>
                </a:solidFill>
                <a:latin typeface="Inter" pitchFamily="34" charset="0"/>
                <a:ea typeface="Inter" pitchFamily="34" charset="-122"/>
                <a:cs typeface="Inter" pitchFamily="34" charset="-120"/>
              </a:rPr>
              <a:t>0.2</a:t>
            </a:r>
            <a:endParaRPr lang="en-US" sz="1200" dirty="0"/>
          </a:p>
        </p:txBody>
      </p:sp>
      <p:sp>
        <p:nvSpPr>
          <p:cNvPr id="26" name="anim-2-fade-600-177"/>
          <p:cNvSpPr txBox="1"/>
          <p:nvPr/>
        </p:nvSpPr>
        <p:spPr>
          <a:xfrm>
            <a:off x="3063240" y="3456432"/>
            <a:ext cx="45720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27" name="anim-1-fade-450-178"/>
          <p:cNvSpPr/>
          <p:nvPr/>
        </p:nvSpPr>
        <p:spPr>
          <a:xfrm>
            <a:off x="3685032" y="3383280"/>
            <a:ext cx="685800" cy="402336"/>
          </a:xfrm>
          <a:prstGeom prst="roundRect">
            <a:avLst>
              <a:gd name="adj" fmla="val 22727"/>
            </a:avLst>
          </a:prstGeom>
          <a:solidFill>
            <a:srgbClr val="FEF3C7"/>
          </a:solidFill>
          <a:ln/>
        </p:spPr>
        <p:txBody>
          <a:bodyPr wrap="square" lIns="0" tIns="0" rIns="0" bIns="0" rtlCol="0" anchor="ctr"/>
          <a:lstStyle/>
          <a:p>
            <a:pPr algn="ctr" indent="0" marL="0">
              <a:buNone/>
            </a:pPr>
            <a:r>
              <a:rPr lang="en-US" sz="1200" b="1" dirty="0">
                <a:solidFill>
                  <a:srgbClr val="D97706"/>
                </a:solidFill>
                <a:latin typeface="Inter" pitchFamily="34" charset="0"/>
                <a:ea typeface="Inter" pitchFamily="34" charset="-122"/>
                <a:cs typeface="Inter" pitchFamily="34" charset="-120"/>
              </a:rPr>
              <a:t>0.1</a:t>
            </a:r>
            <a:endParaRPr lang="en-US" sz="1200" dirty="0"/>
          </a:p>
        </p:txBody>
      </p:sp>
      <p:sp>
        <p:nvSpPr>
          <p:cNvPr id="28" name="anim-2-fade-700-179"/>
          <p:cNvSpPr txBox="1"/>
          <p:nvPr/>
        </p:nvSpPr>
        <p:spPr>
          <a:xfrm>
            <a:off x="4434840" y="3456432"/>
            <a:ext cx="365760" cy="256032"/>
          </a:xfrm>
          <a:prstGeom prst="rect">
            <a:avLst/>
          </a:prstGeom>
          <a:noFill/>
          <a:ln/>
        </p:spPr>
        <p:txBody>
          <a:bodyPr wrap="square" lIns="0" tIns="0" rIns="0" bIns="0" rtlCol="0" anchor="t"/>
          <a:lstStyle/>
          <a:p>
            <a:pPr algn="ctr" indent="0" marL="0">
              <a:buNone/>
            </a:pPr>
            <a:r>
              <a:rPr lang="en-US" sz="1300" b="1" dirty="0">
                <a:solidFill>
                  <a:srgbClr val="64748B"/>
                </a:solidFill>
                <a:latin typeface="Inter" pitchFamily="34" charset="0"/>
                <a:ea typeface="Inter" pitchFamily="34" charset="-122"/>
                <a:cs typeface="Inter" pitchFamily="34" charset="-120"/>
              </a:rPr>
              <a:t>=</a:t>
            </a:r>
            <a:endParaRPr lang="en-US" sz="1300" dirty="0"/>
          </a:p>
        </p:txBody>
      </p:sp>
      <p:sp>
        <p:nvSpPr>
          <p:cNvPr id="29" name="anim-2-wipe-750-180"/>
          <p:cNvSpPr/>
          <p:nvPr/>
        </p:nvSpPr>
        <p:spPr>
          <a:xfrm>
            <a:off x="4846320" y="3474720"/>
            <a:ext cx="27432" cy="219456"/>
          </a:xfrm>
          <a:prstGeom prst="rect">
            <a:avLst/>
          </a:prstGeom>
          <a:solidFill>
            <a:srgbClr val="2563EB"/>
          </a:solidFill>
          <a:ln/>
        </p:spPr>
      </p:sp>
      <p:sp>
        <p:nvSpPr>
          <p:cNvPr id="30" name="anim-2-fade-850-181"/>
          <p:cNvSpPr txBox="1"/>
          <p:nvPr/>
        </p:nvSpPr>
        <p:spPr>
          <a:xfrm>
            <a:off x="4928616" y="3456432"/>
            <a:ext cx="548640" cy="256032"/>
          </a:xfrm>
          <a:prstGeom prst="rect">
            <a:avLst/>
          </a:prstGeom>
          <a:noFill/>
          <a:ln/>
        </p:spPr>
        <p:txBody>
          <a:bodyPr wrap="square" lIns="0" tIns="0" rIns="0" bIns="0" rtlCol="0" anchor="t"/>
          <a:lstStyle/>
          <a:p>
            <a:pPr indent="0" marL="0">
              <a:buNone/>
            </a:pPr>
            <a:r>
              <a:rPr lang="en-US" sz="1100" b="1" dirty="0">
                <a:solidFill>
                  <a:srgbClr val="2563EB"/>
                </a:solidFill>
                <a:latin typeface="Inter" pitchFamily="34" charset="0"/>
                <a:ea typeface="Inter" pitchFamily="34" charset="-122"/>
                <a:cs typeface="Inter" pitchFamily="34" charset="-120"/>
              </a:rPr>
              <a:t>0.02</a:t>
            </a:r>
            <a:endParaRPr lang="en-US" sz="1100" dirty="0"/>
          </a:p>
        </p:txBody>
      </p:sp>
      <p:sp>
        <p:nvSpPr>
          <p:cNvPr id="31" name="anim-3-rise-0-182"/>
          <p:cNvSpPr/>
          <p:nvPr/>
        </p:nvSpPr>
        <p:spPr>
          <a:xfrm>
            <a:off x="548640" y="3931920"/>
            <a:ext cx="5852160" cy="475488"/>
          </a:xfrm>
          <a:prstGeom prst="roundRect">
            <a:avLst>
              <a:gd name="adj" fmla="val 19231"/>
            </a:avLst>
          </a:prstGeom>
          <a:solidFill>
            <a:srgbClr val="DBEAFE"/>
          </a:solidFill>
          <a:ln/>
        </p:spPr>
        <p:txBody>
          <a:bodyPr wrap="square" lIns="152400" tIns="0" rIns="127000" bIns="0" rtlCol="0" anchor="ctr"/>
          <a:lstStyle/>
          <a:p>
            <a:pPr algn="l" indent="0" marL="0">
              <a:buNone/>
            </a:pPr>
            <a:r>
              <a:rPr lang="en-US" sz="1200" dirty="0">
                <a:solidFill>
                  <a:srgbClr val="0F172A"/>
                </a:solidFill>
                <a:latin typeface="Inter" pitchFamily="34" charset="0"/>
                <a:ea typeface="Inter" pitchFamily="34" charset="-122"/>
                <a:cs typeface="Inter" pitchFamily="34" charset="-120"/>
              </a:rPr>
              <a:t>add them up:  0.90 + 0.00 + 0.02 = </a:t>
            </a:r>
            <a:pPr algn="l" indent="0" marL="0">
              <a:buNone/>
            </a:pPr>
            <a:r>
              <a:rPr lang="en-US" sz="1500" b="1" dirty="0">
                <a:solidFill>
                  <a:srgbClr val="2563EB"/>
                </a:solidFill>
                <a:latin typeface="Inter" pitchFamily="34" charset="0"/>
                <a:ea typeface="Inter" pitchFamily="34" charset="-122"/>
                <a:cs typeface="Inter" pitchFamily="34" charset="-120"/>
              </a:rPr>
              <a:t>0.92</a:t>
            </a:r>
            <a:pPr algn="l" indent="0" marL="0">
              <a:buNone/>
            </a:pPr>
            <a:r>
              <a:rPr lang="en-US" sz="1050" dirty="0">
                <a:solidFill>
                  <a:srgbClr val="64748B"/>
                </a:solidFill>
                <a:latin typeface="Inter" pitchFamily="34" charset="0"/>
                <a:ea typeface="Inter" pitchFamily="34" charset="-122"/>
                <a:cs typeface="Inter" pitchFamily="34" charset="-120"/>
              </a:rPr>
              <a:t>   ← the dot product</a:t>
            </a:r>
            <a:endParaRPr lang="en-US" sz="1200" dirty="0"/>
          </a:p>
        </p:txBody>
      </p:sp>
      <p:sp>
        <p:nvSpPr>
          <p:cNvPr id="32" name="anim-4-fade-0-183"/>
          <p:cNvSpPr txBox="1"/>
          <p:nvPr/>
        </p:nvSpPr>
        <p:spPr>
          <a:xfrm>
            <a:off x="548640" y="4590288"/>
            <a:ext cx="3657600" cy="237744"/>
          </a:xfrm>
          <a:prstGeom prst="rect">
            <a:avLst/>
          </a:prstGeom>
          <a:noFill/>
          <a:ln/>
        </p:spPr>
        <p:txBody>
          <a:bodyPr wrap="square" lIns="0" tIns="0" rIns="0" bIns="0" rtlCol="0" anchor="t"/>
          <a:lstStyle/>
          <a:p>
            <a:pPr indent="0" marL="0">
              <a:buNone/>
            </a:pPr>
            <a:r>
              <a:rPr lang="en-US" sz="1050" b="1" dirty="0">
                <a:solidFill>
                  <a:srgbClr val="0F172A"/>
                </a:solidFill>
                <a:latin typeface="Inter" pitchFamily="34" charset="0"/>
                <a:ea typeface="Inter" pitchFamily="34" charset="-122"/>
                <a:cs typeface="Inter" pitchFamily="34" charset="-120"/>
              </a:rPr>
              <a:t>Same question, other words:</a:t>
            </a:r>
            <a:endParaRPr lang="en-US" sz="1050" dirty="0"/>
          </a:p>
        </p:txBody>
      </p:sp>
      <p:sp>
        <p:nvSpPr>
          <p:cNvPr id="33" name="anim-4-fade-100-184"/>
          <p:cNvSpPr/>
          <p:nvPr/>
        </p:nvSpPr>
        <p:spPr>
          <a:xfrm>
            <a:off x="548640" y="4919472"/>
            <a:ext cx="566928" cy="310896"/>
          </a:xfrm>
          <a:prstGeom prst="roundRect">
            <a:avLst>
              <a:gd name="adj" fmla="val 20588"/>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cat</a:t>
            </a:r>
            <a:endParaRPr lang="en-US" sz="1050" dirty="0"/>
          </a:p>
        </p:txBody>
      </p:sp>
      <p:sp>
        <p:nvSpPr>
          <p:cNvPr id="34" name="anim-4-fade-100-185"/>
          <p:cNvSpPr txBox="1"/>
          <p:nvPr/>
        </p:nvSpPr>
        <p:spPr>
          <a:xfrm>
            <a:off x="1188720" y="4974336"/>
            <a:ext cx="1234440" cy="201168"/>
          </a:xfrm>
          <a:prstGeom prst="rect">
            <a:avLst/>
          </a:prstGeom>
          <a:noFill/>
          <a:ln/>
        </p:spPr>
        <p:txBody>
          <a:bodyPr wrap="square" lIns="0" tIns="0" rIns="0" bIns="0" rtlCol="0" anchor="t"/>
          <a:lstStyle/>
          <a:p>
            <a:pPr indent="0" marL="0">
              <a:buNone/>
            </a:pPr>
            <a:r>
              <a:rPr lang="en-US" sz="900" dirty="0">
                <a:solidFill>
                  <a:srgbClr val="64748B"/>
                </a:solidFill>
                <a:latin typeface="Inter" pitchFamily="34" charset="0"/>
                <a:ea typeface="Inter" pitchFamily="34" charset="-122"/>
                <a:cs typeface="Inter" pitchFamily="34" charset="-120"/>
              </a:rPr>
              <a:t>[0.9, 0.0, 0.1]</a:t>
            </a:r>
            <a:endParaRPr lang="en-US" sz="900" dirty="0"/>
          </a:p>
        </p:txBody>
      </p:sp>
      <p:sp>
        <p:nvSpPr>
          <p:cNvPr id="35" name="anim-4-wipe-150-186"/>
          <p:cNvSpPr/>
          <p:nvPr/>
        </p:nvSpPr>
        <p:spPr>
          <a:xfrm>
            <a:off x="2514600" y="4974336"/>
            <a:ext cx="2691994" cy="201168"/>
          </a:xfrm>
          <a:prstGeom prst="rect">
            <a:avLst/>
          </a:prstGeom>
          <a:solidFill>
            <a:srgbClr val="2563EB"/>
          </a:solidFill>
          <a:ln/>
        </p:spPr>
      </p:sp>
      <p:sp>
        <p:nvSpPr>
          <p:cNvPr id="36" name="anim-4-fade-250-187"/>
          <p:cNvSpPr txBox="1"/>
          <p:nvPr/>
        </p:nvSpPr>
        <p:spPr>
          <a:xfrm>
            <a:off x="5270602" y="4946904"/>
            <a:ext cx="1280160" cy="237744"/>
          </a:xfrm>
          <a:prstGeom prst="rect">
            <a:avLst/>
          </a:prstGeom>
          <a:noFill/>
          <a:ln/>
        </p:spPr>
        <p:txBody>
          <a:bodyPr wrap="square" lIns="0" tIns="0" rIns="0" bIns="0" rtlCol="0" anchor="t"/>
          <a:lstStyle/>
          <a:p>
            <a:pPr indent="0" marL="0">
              <a:buNone/>
            </a:pPr>
            <a:r>
              <a:rPr lang="en-US" sz="1000" b="1" dirty="0">
                <a:solidFill>
                  <a:srgbClr val="2563EB"/>
                </a:solidFill>
                <a:latin typeface="Inter" pitchFamily="34" charset="0"/>
                <a:ea typeface="Inter" pitchFamily="34" charset="-122"/>
                <a:cs typeface="Inter" pitchFamily="34" charset="-120"/>
              </a:rPr>
              <a:t>0.92  best match</a:t>
            </a:r>
            <a:endParaRPr lang="en-US" sz="1000" dirty="0"/>
          </a:p>
        </p:txBody>
      </p:sp>
      <p:sp>
        <p:nvSpPr>
          <p:cNvPr id="37" name="anim-4-fade-300-188"/>
          <p:cNvSpPr/>
          <p:nvPr/>
        </p:nvSpPr>
        <p:spPr>
          <a:xfrm>
            <a:off x="548640" y="5303520"/>
            <a:ext cx="566928" cy="310896"/>
          </a:xfrm>
          <a:prstGeom prst="roundRect">
            <a:avLst>
              <a:gd name="adj" fmla="val 20588"/>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sat</a:t>
            </a:r>
            <a:endParaRPr lang="en-US" sz="1050" dirty="0"/>
          </a:p>
        </p:txBody>
      </p:sp>
      <p:sp>
        <p:nvSpPr>
          <p:cNvPr id="38" name="anim-4-fade-300-189"/>
          <p:cNvSpPr txBox="1"/>
          <p:nvPr/>
        </p:nvSpPr>
        <p:spPr>
          <a:xfrm>
            <a:off x="1188720" y="5358384"/>
            <a:ext cx="1234440" cy="201168"/>
          </a:xfrm>
          <a:prstGeom prst="rect">
            <a:avLst/>
          </a:prstGeom>
          <a:noFill/>
          <a:ln/>
        </p:spPr>
        <p:txBody>
          <a:bodyPr wrap="square" lIns="0" tIns="0" rIns="0" bIns="0" rtlCol="0" anchor="t"/>
          <a:lstStyle/>
          <a:p>
            <a:pPr indent="0" marL="0">
              <a:buNone/>
            </a:pPr>
            <a:r>
              <a:rPr lang="en-US" sz="900" dirty="0">
                <a:solidFill>
                  <a:srgbClr val="64748B"/>
                </a:solidFill>
                <a:latin typeface="Inter" pitchFamily="34" charset="0"/>
                <a:ea typeface="Inter" pitchFamily="34" charset="-122"/>
                <a:cs typeface="Inter" pitchFamily="34" charset="-120"/>
              </a:rPr>
              <a:t>[0.1, 0.0, 0.9]</a:t>
            </a:r>
            <a:endParaRPr lang="en-US" sz="900" dirty="0"/>
          </a:p>
        </p:txBody>
      </p:sp>
      <p:sp>
        <p:nvSpPr>
          <p:cNvPr id="39" name="anim-4-wipe-350-190"/>
          <p:cNvSpPr/>
          <p:nvPr/>
        </p:nvSpPr>
        <p:spPr>
          <a:xfrm>
            <a:off x="2514600" y="5358384"/>
            <a:ext cx="819302" cy="201168"/>
          </a:xfrm>
          <a:prstGeom prst="rect">
            <a:avLst/>
          </a:prstGeom>
          <a:solidFill>
            <a:srgbClr val="93C5FD"/>
          </a:solidFill>
          <a:ln/>
        </p:spPr>
      </p:sp>
      <p:sp>
        <p:nvSpPr>
          <p:cNvPr id="40" name="anim-4-fade-450-191"/>
          <p:cNvSpPr txBox="1"/>
          <p:nvPr/>
        </p:nvSpPr>
        <p:spPr>
          <a:xfrm>
            <a:off x="3397910" y="5330952"/>
            <a:ext cx="1280160" cy="237744"/>
          </a:xfrm>
          <a:prstGeom prst="rect">
            <a:avLst/>
          </a:prstGeom>
          <a:noFill/>
          <a:ln/>
        </p:spPr>
        <p:txBody>
          <a:bodyPr wrap="square" lIns="0" tIns="0" rIns="0" bIns="0" rtlCol="0" anchor="t"/>
          <a:lstStyle/>
          <a:p>
            <a:pPr indent="0" marL="0">
              <a:buNone/>
            </a:pPr>
            <a:r>
              <a:rPr lang="en-US" sz="1000" dirty="0">
                <a:solidFill>
                  <a:srgbClr val="64748B"/>
                </a:solidFill>
                <a:latin typeface="Inter" pitchFamily="34" charset="0"/>
                <a:ea typeface="Inter" pitchFamily="34" charset="-122"/>
                <a:cs typeface="Inter" pitchFamily="34" charset="-120"/>
              </a:rPr>
              <a:t>0.28</a:t>
            </a:r>
            <a:endParaRPr lang="en-US" sz="1000" dirty="0"/>
          </a:p>
        </p:txBody>
      </p:sp>
      <p:sp>
        <p:nvSpPr>
          <p:cNvPr id="41" name="anim-4-fade-500-192"/>
          <p:cNvSpPr/>
          <p:nvPr/>
        </p:nvSpPr>
        <p:spPr>
          <a:xfrm>
            <a:off x="548640" y="5687568"/>
            <a:ext cx="566928" cy="310896"/>
          </a:xfrm>
          <a:prstGeom prst="roundRect">
            <a:avLst>
              <a:gd name="adj" fmla="val 20588"/>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mat</a:t>
            </a:r>
            <a:endParaRPr lang="en-US" sz="1050" dirty="0"/>
          </a:p>
        </p:txBody>
      </p:sp>
      <p:sp>
        <p:nvSpPr>
          <p:cNvPr id="42" name="anim-4-fade-500-193"/>
          <p:cNvSpPr txBox="1"/>
          <p:nvPr/>
        </p:nvSpPr>
        <p:spPr>
          <a:xfrm>
            <a:off x="1188720" y="5742432"/>
            <a:ext cx="1234440" cy="201168"/>
          </a:xfrm>
          <a:prstGeom prst="rect">
            <a:avLst/>
          </a:prstGeom>
          <a:noFill/>
          <a:ln/>
        </p:spPr>
        <p:txBody>
          <a:bodyPr wrap="square" lIns="0" tIns="0" rIns="0" bIns="0" rtlCol="0" anchor="t"/>
          <a:lstStyle/>
          <a:p>
            <a:pPr indent="0" marL="0">
              <a:buNone/>
            </a:pPr>
            <a:r>
              <a:rPr lang="en-US" sz="900" dirty="0">
                <a:solidFill>
                  <a:srgbClr val="64748B"/>
                </a:solidFill>
                <a:latin typeface="Inter" pitchFamily="34" charset="0"/>
                <a:ea typeface="Inter" pitchFamily="34" charset="-122"/>
                <a:cs typeface="Inter" pitchFamily="34" charset="-120"/>
              </a:rPr>
              <a:t>[0.0, 0.9, 0.0]</a:t>
            </a:r>
            <a:endParaRPr lang="en-US" sz="900" dirty="0"/>
          </a:p>
        </p:txBody>
      </p:sp>
      <p:sp>
        <p:nvSpPr>
          <p:cNvPr id="43" name="anim-4-wipe-550-194"/>
          <p:cNvSpPr/>
          <p:nvPr/>
        </p:nvSpPr>
        <p:spPr>
          <a:xfrm>
            <a:off x="2514600" y="5742432"/>
            <a:ext cx="263347" cy="201168"/>
          </a:xfrm>
          <a:prstGeom prst="rect">
            <a:avLst/>
          </a:prstGeom>
          <a:solidFill>
            <a:srgbClr val="93C5FD"/>
          </a:solidFill>
          <a:ln/>
        </p:spPr>
      </p:sp>
      <p:sp>
        <p:nvSpPr>
          <p:cNvPr id="44" name="anim-4-fade-650-195"/>
          <p:cNvSpPr txBox="1"/>
          <p:nvPr/>
        </p:nvSpPr>
        <p:spPr>
          <a:xfrm>
            <a:off x="2841955" y="5715000"/>
            <a:ext cx="1280160" cy="237744"/>
          </a:xfrm>
          <a:prstGeom prst="rect">
            <a:avLst/>
          </a:prstGeom>
          <a:noFill/>
          <a:ln/>
        </p:spPr>
        <p:txBody>
          <a:bodyPr wrap="square" lIns="0" tIns="0" rIns="0" bIns="0" rtlCol="0" anchor="t"/>
          <a:lstStyle/>
          <a:p>
            <a:pPr indent="0" marL="0">
              <a:buNone/>
            </a:pPr>
            <a:r>
              <a:rPr lang="en-US" sz="1000" dirty="0">
                <a:solidFill>
                  <a:srgbClr val="64748B"/>
                </a:solidFill>
                <a:latin typeface="Inter" pitchFamily="34" charset="0"/>
                <a:ea typeface="Inter" pitchFamily="34" charset="-122"/>
                <a:cs typeface="Inter" pitchFamily="34" charset="-120"/>
              </a:rPr>
              <a:t>0.09</a:t>
            </a:r>
            <a:endParaRPr lang="en-US" sz="1000" dirty="0"/>
          </a:p>
        </p:txBody>
      </p:sp>
      <p:sp>
        <p:nvSpPr>
          <p:cNvPr id="45" name="anim-5-fade-0-196"/>
          <p:cNvSpPr/>
          <p:nvPr/>
        </p:nvSpPr>
        <p:spPr>
          <a:xfrm>
            <a:off x="6720840" y="1645920"/>
            <a:ext cx="4892040" cy="3520440"/>
          </a:xfrm>
          <a:prstGeom prst="roundRect">
            <a:avLst>
              <a:gd name="adj" fmla="val 2597"/>
            </a:avLst>
          </a:prstGeom>
          <a:solidFill>
            <a:srgbClr val="F8FAFC"/>
          </a:solidFill>
          <a:ln w="12700">
            <a:solidFill>
              <a:srgbClr val="CBD5E1"/>
            </a:solidFill>
            <a:prstDash val="solid"/>
          </a:ln>
        </p:spPr>
      </p:sp>
      <p:sp>
        <p:nvSpPr>
          <p:cNvPr id="46" name="anim-5-fade-0-197"/>
          <p:cNvSpPr txBox="1"/>
          <p:nvPr/>
        </p:nvSpPr>
        <p:spPr>
          <a:xfrm>
            <a:off x="6903720" y="1755648"/>
            <a:ext cx="3657600" cy="237744"/>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Picture it as arrows</a:t>
            </a:r>
            <a:endParaRPr lang="en-US" sz="1100" dirty="0"/>
          </a:p>
        </p:txBody>
      </p:sp>
      <p:sp>
        <p:nvSpPr>
          <p:cNvPr id="47" name="anim-5-wipe-200-198"/>
          <p:cNvSpPr/>
          <p:nvPr/>
        </p:nvSpPr>
        <p:spPr>
          <a:xfrm flipV="1">
            <a:off x="7223760" y="3988071"/>
            <a:ext cx="2101883" cy="446769"/>
          </a:xfrm>
          <a:prstGeom prst="line">
            <a:avLst/>
          </a:prstGeom>
          <a:noFill/>
          <a:ln w="38100">
            <a:solidFill>
              <a:srgbClr val="7C3AED"/>
            </a:solidFill>
            <a:prstDash val="solid"/>
            <a:tailEnd type="triangle"/>
          </a:ln>
        </p:spPr>
      </p:sp>
      <p:sp>
        <p:nvSpPr>
          <p:cNvPr id="48" name="anim-5-fade-400-199"/>
          <p:cNvSpPr txBox="1"/>
          <p:nvPr/>
        </p:nvSpPr>
        <p:spPr>
          <a:xfrm>
            <a:off x="9371363" y="4006359"/>
            <a:ext cx="1188720" cy="201168"/>
          </a:xfrm>
          <a:prstGeom prst="rect">
            <a:avLst/>
          </a:prstGeom>
          <a:noFill/>
          <a:ln/>
        </p:spPr>
        <p:txBody>
          <a:bodyPr wrap="square" lIns="0" tIns="0" rIns="0" bIns="0" rtlCol="0" anchor="t"/>
          <a:lstStyle/>
          <a:p>
            <a:pPr indent="0" marL="0">
              <a:buNone/>
            </a:pPr>
            <a:r>
              <a:rPr lang="en-US" sz="950" b="1" dirty="0">
                <a:solidFill>
                  <a:srgbClr val="7C3AED"/>
                </a:solidFill>
                <a:latin typeface="Inter" pitchFamily="34" charset="0"/>
                <a:ea typeface="Inter" pitchFamily="34" charset="-122"/>
                <a:cs typeface="Inter" pitchFamily="34" charset="-120"/>
              </a:rPr>
              <a:t>question</a:t>
            </a:r>
            <a:endParaRPr lang="en-US" sz="950" dirty="0"/>
          </a:p>
        </p:txBody>
      </p:sp>
      <p:sp>
        <p:nvSpPr>
          <p:cNvPr id="49" name="anim-5-wipe-500-200"/>
          <p:cNvSpPr/>
          <p:nvPr/>
        </p:nvSpPr>
        <p:spPr>
          <a:xfrm flipV="1">
            <a:off x="7223760" y="3770812"/>
            <a:ext cx="2043668" cy="664028"/>
          </a:xfrm>
          <a:prstGeom prst="line">
            <a:avLst/>
          </a:prstGeom>
          <a:noFill/>
          <a:ln w="28575">
            <a:solidFill>
              <a:srgbClr val="D97706"/>
            </a:solidFill>
            <a:prstDash val="solid"/>
            <a:tailEnd type="triangle"/>
          </a:ln>
        </p:spPr>
      </p:sp>
      <p:sp>
        <p:nvSpPr>
          <p:cNvPr id="50" name="anim-5-fade-700-201"/>
          <p:cNvSpPr txBox="1"/>
          <p:nvPr/>
        </p:nvSpPr>
        <p:spPr>
          <a:xfrm>
            <a:off x="9340580" y="3551356"/>
            <a:ext cx="1188720" cy="201168"/>
          </a:xfrm>
          <a:prstGeom prst="rect">
            <a:avLst/>
          </a:prstGeom>
          <a:noFill/>
          <a:ln/>
        </p:spPr>
        <p:txBody>
          <a:bodyPr wrap="square" lIns="0" tIns="0" rIns="0" bIns="0" rtlCol="0" anchor="t"/>
          <a:lstStyle/>
          <a:p>
            <a:pPr indent="0" marL="0">
              <a:buNone/>
            </a:pPr>
            <a:r>
              <a:rPr lang="en-US" sz="950" b="1" dirty="0">
                <a:solidFill>
                  <a:srgbClr val="D97706"/>
                </a:solidFill>
                <a:latin typeface="Inter" pitchFamily="34" charset="0"/>
                <a:ea typeface="Inter" pitchFamily="34" charset="-122"/>
                <a:cs typeface="Inter" pitchFamily="34" charset="-120"/>
              </a:rPr>
              <a:t>cat · 0.92</a:t>
            </a:r>
            <a:endParaRPr lang="en-US" sz="950" dirty="0"/>
          </a:p>
        </p:txBody>
      </p:sp>
      <p:sp>
        <p:nvSpPr>
          <p:cNvPr id="51" name="anim-5-wipe-800-202"/>
          <p:cNvSpPr/>
          <p:nvPr/>
        </p:nvSpPr>
        <p:spPr>
          <a:xfrm flipV="1">
            <a:off x="7223760" y="2503475"/>
            <a:ext cx="941989" cy="1931365"/>
          </a:xfrm>
          <a:prstGeom prst="line">
            <a:avLst/>
          </a:prstGeom>
          <a:noFill/>
          <a:ln w="25400">
            <a:solidFill>
              <a:srgbClr val="475569"/>
            </a:solidFill>
            <a:prstDash val="solid"/>
            <a:tailEnd type="triangle"/>
          </a:ln>
        </p:spPr>
      </p:sp>
      <p:sp>
        <p:nvSpPr>
          <p:cNvPr id="52" name="anim-5-fade-1000-203"/>
          <p:cNvSpPr txBox="1"/>
          <p:nvPr/>
        </p:nvSpPr>
        <p:spPr>
          <a:xfrm>
            <a:off x="8238901" y="2284019"/>
            <a:ext cx="1188720" cy="201168"/>
          </a:xfrm>
          <a:prstGeom prst="rect">
            <a:avLst/>
          </a:prstGeom>
          <a:noFill/>
          <a:ln/>
        </p:spPr>
        <p:txBody>
          <a:bodyPr wrap="square" lIns="0" tIns="0" rIns="0" bIns="0" rtlCol="0" anchor="t"/>
          <a:lstStyle/>
          <a:p>
            <a:pPr indent="0" marL="0">
              <a:buNone/>
            </a:pPr>
            <a:r>
              <a:rPr lang="en-US" sz="950" b="1" dirty="0">
                <a:solidFill>
                  <a:srgbClr val="475569"/>
                </a:solidFill>
                <a:latin typeface="Inter" pitchFamily="34" charset="0"/>
                <a:ea typeface="Inter" pitchFamily="34" charset="-122"/>
                <a:cs typeface="Inter" pitchFamily="34" charset="-120"/>
              </a:rPr>
              <a:t>sat · 0.28</a:t>
            </a:r>
            <a:endParaRPr lang="en-US" sz="950" dirty="0"/>
          </a:p>
        </p:txBody>
      </p:sp>
      <p:sp>
        <p:nvSpPr>
          <p:cNvPr id="53" name="anim-5-wipe-1100-204"/>
          <p:cNvSpPr/>
          <p:nvPr/>
        </p:nvSpPr>
        <p:spPr>
          <a:xfrm flipV="1">
            <a:off x="7223760" y="2291234"/>
            <a:ext cx="149896" cy="2143606"/>
          </a:xfrm>
          <a:prstGeom prst="line">
            <a:avLst/>
          </a:prstGeom>
          <a:noFill/>
          <a:ln w="25400">
            <a:solidFill>
              <a:srgbClr val="94A3B8"/>
            </a:solidFill>
            <a:prstDash val="solid"/>
            <a:tailEnd type="triangle"/>
          </a:ln>
        </p:spPr>
      </p:sp>
      <p:sp>
        <p:nvSpPr>
          <p:cNvPr id="54" name="anim-5-fade-1300-205"/>
          <p:cNvSpPr txBox="1"/>
          <p:nvPr/>
        </p:nvSpPr>
        <p:spPr>
          <a:xfrm>
            <a:off x="7446808" y="2071778"/>
            <a:ext cx="1188720" cy="201168"/>
          </a:xfrm>
          <a:prstGeom prst="rect">
            <a:avLst/>
          </a:prstGeom>
          <a:noFill/>
          <a:ln/>
        </p:spPr>
        <p:txBody>
          <a:bodyPr wrap="square" lIns="0" tIns="0" rIns="0" bIns="0" rtlCol="0" anchor="t"/>
          <a:lstStyle/>
          <a:p>
            <a:pPr indent="0" marL="0">
              <a:buNone/>
            </a:pPr>
            <a:r>
              <a:rPr lang="en-US" sz="950" b="1" dirty="0">
                <a:solidFill>
                  <a:srgbClr val="64748B"/>
                </a:solidFill>
                <a:latin typeface="Inter" pitchFamily="34" charset="0"/>
                <a:ea typeface="Inter" pitchFamily="34" charset="-122"/>
                <a:cs typeface="Inter" pitchFamily="34" charset="-120"/>
              </a:rPr>
              <a:t>mat · 0.09</a:t>
            </a:r>
            <a:endParaRPr lang="en-US" sz="950" dirty="0"/>
          </a:p>
        </p:txBody>
      </p:sp>
      <p:sp>
        <p:nvSpPr>
          <p:cNvPr id="55" name="Shape 53"/>
          <p:cNvSpPr/>
          <p:nvPr/>
        </p:nvSpPr>
        <p:spPr>
          <a:xfrm>
            <a:off x="7178040" y="4389120"/>
            <a:ext cx="91440" cy="91440"/>
          </a:xfrm>
          <a:prstGeom prst="ellipse">
            <a:avLst/>
          </a:prstGeom>
          <a:solidFill>
            <a:srgbClr val="0F172A"/>
          </a:solidFill>
          <a:ln/>
        </p:spPr>
      </p:sp>
      <p:sp>
        <p:nvSpPr>
          <p:cNvPr id="56" name="anim-5-fade-1500-206"/>
          <p:cNvSpPr txBox="1"/>
          <p:nvPr/>
        </p:nvSpPr>
        <p:spPr>
          <a:xfrm>
            <a:off x="6903720" y="4709160"/>
            <a:ext cx="4572000" cy="365760"/>
          </a:xfrm>
          <a:prstGeom prst="rect">
            <a:avLst/>
          </a:prstGeom>
          <a:noFill/>
          <a:ln/>
        </p:spPr>
        <p:txBody>
          <a:bodyPr wrap="square" lIns="0" tIns="0" rIns="0" bIns="0" rtlCol="0" anchor="t"/>
          <a:lstStyle/>
          <a:p>
            <a:pPr indent="0" marL="0">
              <a:buNone/>
            </a:pPr>
            <a:r>
              <a:rPr lang="en-US" sz="950" i="1" dirty="0">
                <a:solidFill>
                  <a:srgbClr val="64748B"/>
                </a:solidFill>
                <a:latin typeface="Inter" pitchFamily="34" charset="0"/>
                <a:ea typeface="Inter" pitchFamily="34" charset="-122"/>
                <a:cs typeface="Inter" pitchFamily="34" charset="-120"/>
              </a:rPr>
              <a:t>Same direction → big score. Right angle → about 0. Opposite → negative.</a:t>
            </a:r>
            <a:endParaRPr lang="en-US" sz="950" dirty="0"/>
          </a:p>
        </p:txBody>
      </p:sp>
      <p:sp>
        <p:nvSpPr>
          <p:cNvPr id="57" name="anim-6-rise-0-207"/>
          <p:cNvSpPr/>
          <p:nvPr/>
        </p:nvSpPr>
        <p:spPr>
          <a:xfrm>
            <a:off x="6720840" y="5349240"/>
            <a:ext cx="4892040" cy="777240"/>
          </a:xfrm>
          <a:prstGeom prst="roundRect">
            <a:avLst>
              <a:gd name="adj" fmla="val 11765"/>
            </a:avLst>
          </a:prstGeom>
          <a:solidFill>
            <a:srgbClr val="DBEAFE"/>
          </a:solidFill>
          <a:ln/>
        </p:spPr>
        <p:txBody>
          <a:bodyPr wrap="square" lIns="101600" tIns="152400" rIns="152400" bIns="76200" rtlCol="0" anchor="t"/>
          <a:lstStyle/>
          <a:p>
            <a:pPr indent="0" marL="0">
              <a:buNone/>
            </a:pPr>
            <a:r>
              <a:rPr lang="en-US" sz="1150" b="1" dirty="0">
                <a:solidFill>
                  <a:srgbClr val="2563EB"/>
                </a:solidFill>
                <a:latin typeface="Inter" pitchFamily="34" charset="0"/>
                <a:ea typeface="Inter" pitchFamily="34" charset="-122"/>
                <a:cs typeface="Inter" pitchFamily="34" charset="-120"/>
              </a:rPr>
              <a:t>You’ll meet it everywhere</a:t>
            </a:r>
            <a:endParaRPr lang="en-US" sz="115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Attention (query · key), every MLP neuron, and the final layer that scores all 50,257 tokens.</a:t>
            </a:r>
            <a:endParaRPr lang="en-US" sz="11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2" presetID="10" presetClass="entr" presetSubtype="0" fill="hold" grpId="0" nodeType="withEffect">
                                  <p:stCondLst>
                                    <p:cond delay="150"/>
                                  </p:stCondLst>
                                  <p:childTnLst>
                                    <p:set>
                                      <p:cBhvr>
                                        <p:cTn id="11"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5" presetID="10" presetClass="entr" presetSubtype="0" fill="hold" grpId="0" nodeType="withEffect">
                                  <p:stCondLst>
                                    <p:cond delay="2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8" presetID="10" presetClass="entr" presetSubtype="0" fill="hold" grpId="0" nodeType="withEffect">
                                  <p:stCondLst>
                                    <p:cond delay="250"/>
                                  </p:stCondLst>
                                  <p:childTnLst>
                                    <p:set>
                                      <p:cBhvr>
                                        <p:cTn id="17"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1" presetID="10" presetClass="entr" presetSubtype="0" fill="hold" grpId="0" nodeType="withEffect">
                                  <p:stCondLst>
                                    <p:cond delay="3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4" presetID="10" presetClass="entr" presetSubtype="0" fill="hold" grpId="0" nodeType="withEffect">
                                  <p:stCondLst>
                                    <p:cond delay="350"/>
                                  </p:stCondLst>
                                  <p:childTnLst>
                                    <p:set>
                                      <p:cBhvr>
                                        <p:cTn id="23"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7" presetID="10" presetClass="entr" presetSubtype="0" fill="hold" grpId="0" nodeType="withEffect">
                                  <p:stCondLst>
                                    <p:cond delay="4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30" presetID="10" presetClass="entr" presetSubtype="0" fill="hold" grpId="0" nodeType="withEffect">
                                  <p:stCondLst>
                                    <p:cond delay="450"/>
                                  </p:stCondLst>
                                  <p:childTnLst>
                                    <p:set>
                                      <p:cBhvr>
                                        <p:cTn id="29"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5" presetID="10"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8"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1" presetID="10" presetClass="entr" presetSubtype="0" fill="hold" grpId="0" nodeType="withEffect">
                                  <p:stCondLst>
                                    <p:cond delay="100"/>
                                  </p:stCondLst>
                                  <p:childTnLst>
                                    <p:set>
                                      <p:cBhvr>
                                        <p:cTn id="40"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4" presetID="22" presetClass="entr" presetSubtype="8" fill="hold" grpId="0" nodeType="withEffect">
                                  <p:stCondLst>
                                    <p:cond delay="15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5" dur="450"/>
                                        <p:tgtEl>
                                          <p:spTgt spid="15"/>
                                        </p:tgtEl>
                                      </p:cBhvr>
                                    </p:animEffect>
                                  </p:childTnLst>
                                </p:cTn>
                              </p:par>
                              <p:par>
                                <p:cTn id="47" presetID="10" presetClass="entr" presetSubtype="0" fill="hold" grpId="0" nodeType="withEffect">
                                  <p:stCondLst>
                                    <p:cond delay="250"/>
                                  </p:stCondLst>
                                  <p:childTnLst>
                                    <p:set>
                                      <p:cBhvr>
                                        <p:cTn id="46"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50" presetID="10" presetClass="entr" presetSubtype="0" fill="hold" grpId="0" nodeType="withEffect">
                                  <p:stCondLst>
                                    <p:cond delay="300"/>
                                  </p:stCondLst>
                                  <p:childTnLst>
                                    <p:set>
                                      <p:cBhvr>
                                        <p:cTn id="49"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3" presetID="10" presetClass="entr" presetSubtype="0" fill="hold" grpId="0" nodeType="withEffect">
                                  <p:stCondLst>
                                    <p:cond delay="4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6" presetID="22" presetClass="entr" presetSubtype="8" fill="hold" grpId="0" nodeType="withEffect">
                                  <p:stCondLst>
                                    <p:cond delay="450"/>
                                  </p:stCondLst>
                                  <p:childTnLst>
                                    <p:set>
                                      <p:cBhvr>
                                        <p:cTn id="55" dur="1" fill="hold">
                                          <p:stCondLst>
                                            <p:cond delay="0"/>
                                          </p:stCondLst>
                                        </p:cTn>
                                        <p:tgtEl>
                                          <p:spTgt spid="22"/>
                                        </p:tgtEl>
                                        <p:attrNameLst>
                                          <p:attrName>style.visibility</p:attrName>
                                        </p:attrNameLst>
                                      </p:cBhvr>
                                      <p:to>
                                        <p:strVal val="visible"/>
                                      </p:to>
                                    </p:set>
                                    <p:animEffect transition="in" filter="wipe(left)">
                                      <p:cBhvr>
                                        <p:cTn id="57" dur="450"/>
                                        <p:tgtEl>
                                          <p:spTgt spid="22"/>
                                        </p:tgtEl>
                                      </p:cBhvr>
                                    </p:animEffect>
                                  </p:childTnLst>
                                </p:cTn>
                              </p:par>
                              <p:par>
                                <p:cTn id="59" presetID="10" presetClass="entr" presetSubtype="0" fill="hold" grpId="0" nodeType="withEffect">
                                  <p:stCondLst>
                                    <p:cond delay="550"/>
                                  </p:stCondLst>
                                  <p:childTnLst>
                                    <p:set>
                                      <p:cBhvr>
                                        <p:cTn id="58"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2" presetID="10" presetClass="entr" presetSubtype="0" fill="hold" grpId="0" nodeType="withEffect">
                                  <p:stCondLst>
                                    <p:cond delay="600"/>
                                  </p:stCondLst>
                                  <p:childTnLst>
                                    <p:set>
                                      <p:cBhvr>
                                        <p:cTn id="61"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5" presetID="10" presetClass="entr" presetSubtype="0" fill="hold" grpId="0" nodeType="withEffect">
                                  <p:stCondLst>
                                    <p:cond delay="700"/>
                                  </p:stCondLst>
                                  <p:childTnLst>
                                    <p:set>
                                      <p:cBhvr>
                                        <p:cTn id="64"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8" presetID="22" presetClass="entr" presetSubtype="8" fill="hold" grpId="0" nodeType="withEffect">
                                  <p:stCondLst>
                                    <p:cond delay="750"/>
                                  </p:stCondLst>
                                  <p:childTnLst>
                                    <p:set>
                                      <p:cBhvr>
                                        <p:cTn id="67" dur="1" fill="hold">
                                          <p:stCondLst>
                                            <p:cond delay="0"/>
                                          </p:stCondLst>
                                        </p:cTn>
                                        <p:tgtEl>
                                          <p:spTgt spid="29"/>
                                        </p:tgtEl>
                                        <p:attrNameLst>
                                          <p:attrName>style.visibility</p:attrName>
                                        </p:attrNameLst>
                                      </p:cBhvr>
                                      <p:to>
                                        <p:strVal val="visible"/>
                                      </p:to>
                                    </p:set>
                                    <p:animEffect transition="in" filter="wipe(left)">
                                      <p:cBhvr>
                                        <p:cTn id="69" dur="450"/>
                                        <p:tgtEl>
                                          <p:spTgt spid="29"/>
                                        </p:tgtEl>
                                      </p:cBhvr>
                                    </p:animEffect>
                                  </p:childTnLst>
                                </p:cTn>
                              </p:par>
                              <p:par>
                                <p:cTn id="71" presetID="10" presetClass="entr" presetSubtype="0" fill="hold" grpId="0" nodeType="withEffect">
                                  <p:stCondLst>
                                    <p:cond delay="850"/>
                                  </p:stCondLst>
                                  <p:childTnLst>
                                    <p:set>
                                      <p:cBhvr>
                                        <p:cTn id="70"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6" presetID="42" presetClass="entr" presetSubtype="0" fill="hold" grpId="0" nodeType="click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7" dur="500"/>
                                        <p:tgtEl>
                                          <p:spTgt spid="31"/>
                                        </p:tgtEl>
                                      </p:cBhvr>
                                    </p:animEffect>
                                    <p:anim calcmode="lin" valueType="num">
                                      <p:cBhvr>
                                        <p:cTn id="78" dur="500" fill="hold"/>
                                        <p:tgtEl>
                                          <p:spTgt spid="31"/>
                                        </p:tgtEl>
                                        <p:attrNameLst>
                                          <p:attrName>ppt_x</p:attrName>
                                        </p:attrNameLst>
                                      </p:cBhvr>
                                      <p:tavLst>
                                        <p:tav tm="0">
                                          <p:val>
                                            <p:strVal val="#ppt_x"/>
                                          </p:val>
                                        </p:tav>
                                        <p:tav tm="100000">
                                          <p:val>
                                            <p:strVal val="#ppt_x"/>
                                          </p:val>
                                        </p:tav>
                                      </p:tavLst>
                                    </p:anim>
                                    <p:anim calcmode="lin" valueType="num">
                                      <p:cBhvr>
                                        <p:cTn id="79" dur="500" fill="hold"/>
                                        <p:tgtEl>
                                          <p:spTgt spid="31"/>
                                        </p:tgtEl>
                                        <p:attrNameLst>
                                          <p:attrName>ppt_y</p:attrName>
                                        </p:attrNameLst>
                                      </p:cBhvr>
                                      <p:tavLst>
                                        <p:tav tm="0">
                                          <p:val>
                                            <p:strVal val="#ppt_y+0.06"/>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3" presetID="10" presetClass="entr" presetSubtype="0"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par>
                                <p:cTn id="86" presetID="10" presetClass="entr" presetSubtype="0" fill="hold" grpId="0" nodeType="withEffect">
                                  <p:stCondLst>
                                    <p:cond delay="100"/>
                                  </p:stCondLst>
                                  <p:childTnLst>
                                    <p:set>
                                      <p:cBhvr>
                                        <p:cTn id="85"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9" presetID="10" presetClass="entr" presetSubtype="0" fill="hold" grpId="0" nodeType="withEffect">
                                  <p:stCondLst>
                                    <p:cond delay="100"/>
                                  </p:stCondLst>
                                  <p:childTnLst>
                                    <p:set>
                                      <p:cBhvr>
                                        <p:cTn id="88"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par>
                                <p:cTn id="92" presetID="22" presetClass="entr" presetSubtype="8" fill="hold" grpId="0" nodeType="withEffect">
                                  <p:stCondLst>
                                    <p:cond delay="150"/>
                                  </p:stCondLst>
                                  <p:childTnLst>
                                    <p:set>
                                      <p:cBhvr>
                                        <p:cTn id="91" dur="1" fill="hold">
                                          <p:stCondLst>
                                            <p:cond delay="0"/>
                                          </p:stCondLst>
                                        </p:cTn>
                                        <p:tgtEl>
                                          <p:spTgt spid="35"/>
                                        </p:tgtEl>
                                        <p:attrNameLst>
                                          <p:attrName>style.visibility</p:attrName>
                                        </p:attrNameLst>
                                      </p:cBhvr>
                                      <p:to>
                                        <p:strVal val="visible"/>
                                      </p:to>
                                    </p:set>
                                    <p:animEffect transition="in" filter="wipe(left)">
                                      <p:cBhvr>
                                        <p:cTn id="93" dur="450"/>
                                        <p:tgtEl>
                                          <p:spTgt spid="35"/>
                                        </p:tgtEl>
                                      </p:cBhvr>
                                    </p:animEffect>
                                  </p:childTnLst>
                                </p:cTn>
                              </p:par>
                              <p:par>
                                <p:cTn id="95" presetID="10" presetClass="entr" presetSubtype="0" fill="hold" grpId="0" nodeType="withEffect">
                                  <p:stCondLst>
                                    <p:cond delay="250"/>
                                  </p:stCondLst>
                                  <p:childTnLst>
                                    <p:set>
                                      <p:cBhvr>
                                        <p:cTn id="94"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8" presetID="10" presetClass="entr" presetSubtype="0" fill="hold" grpId="0" nodeType="withEffect">
                                  <p:stCondLst>
                                    <p:cond delay="300"/>
                                  </p:stCondLst>
                                  <p:childTnLst>
                                    <p:set>
                                      <p:cBhvr>
                                        <p:cTn id="97" dur="1" fill="hold">
                                          <p:stCondLst>
                                            <p:cond delay="0"/>
                                          </p:stCondLst>
                                        </p:cTn>
                                        <p:tgtEl>
                                          <p:spTgt spid="37"/>
                                        </p:tgtEl>
                                        <p:attrNameLst>
                                          <p:attrName>style.visibility</p:attrName>
                                        </p:attrNameLst>
                                      </p:cBhvr>
                                      <p:to>
                                        <p:strVal val="visible"/>
                                      </p:to>
                                    </p:set>
                                    <p:animEffect transition="in" filter="fade">
                                      <p:cBhvr>
                                        <p:cTn id="99" dur="500"/>
                                        <p:tgtEl>
                                          <p:spTgt spid="37"/>
                                        </p:tgtEl>
                                      </p:cBhvr>
                                    </p:animEffect>
                                  </p:childTnLst>
                                </p:cTn>
                              </p:par>
                              <p:par>
                                <p:cTn id="101" presetID="10" presetClass="entr" presetSubtype="0" fill="hold" grpId="0" nodeType="withEffect">
                                  <p:stCondLst>
                                    <p:cond delay="30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childTnLst>
                                </p:cTn>
                              </p:par>
                              <p:par>
                                <p:cTn id="104" presetID="22" presetClass="entr" presetSubtype="8" fill="hold" grpId="0" nodeType="withEffect">
                                  <p:stCondLst>
                                    <p:cond delay="35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5" dur="450"/>
                                        <p:tgtEl>
                                          <p:spTgt spid="39"/>
                                        </p:tgtEl>
                                      </p:cBhvr>
                                    </p:animEffect>
                                  </p:childTnLst>
                                </p:cTn>
                              </p:par>
                              <p:par>
                                <p:cTn id="107" presetID="10" presetClass="entr" presetSubtype="0" fill="hold" grpId="0" nodeType="withEffect">
                                  <p:stCondLst>
                                    <p:cond delay="45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8" dur="500"/>
                                        <p:tgtEl>
                                          <p:spTgt spid="40"/>
                                        </p:tgtEl>
                                      </p:cBhvr>
                                    </p:animEffect>
                                  </p:childTnLst>
                                </p:cTn>
                              </p:par>
                              <p:par>
                                <p:cTn id="110" presetID="10" presetClass="entr" presetSubtype="0" fill="hold" grpId="0" nodeType="withEffect">
                                  <p:stCondLst>
                                    <p:cond delay="50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1" dur="500"/>
                                        <p:tgtEl>
                                          <p:spTgt spid="41"/>
                                        </p:tgtEl>
                                      </p:cBhvr>
                                    </p:animEffect>
                                  </p:childTnLst>
                                </p:cTn>
                              </p:par>
                              <p:par>
                                <p:cTn id="113" presetID="10" presetClass="entr" presetSubtype="0" fill="hold" grpId="0" nodeType="withEffect">
                                  <p:stCondLst>
                                    <p:cond delay="50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childTnLst>
                                </p:cTn>
                              </p:par>
                              <p:par>
                                <p:cTn id="116" presetID="22" presetClass="entr" presetSubtype="8" fill="hold" grpId="0" nodeType="withEffect">
                                  <p:stCondLst>
                                    <p:cond delay="55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7" dur="450"/>
                                        <p:tgtEl>
                                          <p:spTgt spid="43"/>
                                        </p:tgtEl>
                                      </p:cBhvr>
                                    </p:animEffect>
                                  </p:childTnLst>
                                </p:cTn>
                              </p:par>
                              <p:par>
                                <p:cTn id="119" presetID="10" presetClass="entr" presetSubtype="0" fill="hold" grpId="0" nodeType="withEffect">
                                  <p:stCondLst>
                                    <p:cond delay="65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20" dur="500"/>
                                        <p:tgtEl>
                                          <p:spTgt spid="44"/>
                                        </p:tgtEl>
                                      </p:cBhvr>
                                    </p:animEffect>
                                  </p:childTnLst>
                                </p:cTn>
                              </p:par>
                            </p:childTnLst>
                          </p:cTn>
                        </p:par>
                      </p:childTnLst>
                    </p:cTn>
                  </p:par>
                  <p:par>
                    <p:cTn id="121" fill="hold">
                      <p:stCondLst>
                        <p:cond delay="indefinite"/>
                      </p:stCondLst>
                      <p:childTnLst>
                        <p:par>
                          <p:cTn id="122" fill="hold">
                            <p:stCondLst>
                              <p:cond delay="0"/>
                            </p:stCondLst>
                            <p:childTnLst>
                              <p:par>
                                <p:cTn id="124" presetID="10" presetClass="entr" presetSubtype="0" fill="hold" grpId="0" nodeType="click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5" dur="500"/>
                                        <p:tgtEl>
                                          <p:spTgt spid="45"/>
                                        </p:tgtEl>
                                      </p:cBhvr>
                                    </p:animEffect>
                                  </p:childTnLst>
                                </p:cTn>
                              </p:par>
                              <p:par>
                                <p:cTn id="127" presetID="10"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8" dur="500"/>
                                        <p:tgtEl>
                                          <p:spTgt spid="46"/>
                                        </p:tgtEl>
                                      </p:cBhvr>
                                    </p:animEffect>
                                  </p:childTnLst>
                                </p:cTn>
                              </p:par>
                              <p:par>
                                <p:cTn id="130" presetID="22" presetClass="entr" presetSubtype="8" fill="hold" grpId="0" nodeType="withEffect">
                                  <p:stCondLst>
                                    <p:cond delay="200"/>
                                  </p:stCondLst>
                                  <p:childTnLst>
                                    <p:set>
                                      <p:cBhvr>
                                        <p:cTn id="129" dur="1" fill="hold">
                                          <p:stCondLst>
                                            <p:cond delay="0"/>
                                          </p:stCondLst>
                                        </p:cTn>
                                        <p:tgtEl>
                                          <p:spTgt spid="47"/>
                                        </p:tgtEl>
                                        <p:attrNameLst>
                                          <p:attrName>style.visibility</p:attrName>
                                        </p:attrNameLst>
                                      </p:cBhvr>
                                      <p:to>
                                        <p:strVal val="visible"/>
                                      </p:to>
                                    </p:set>
                                    <p:animEffect transition="in" filter="wipe(left)">
                                      <p:cBhvr>
                                        <p:cTn id="131" dur="450"/>
                                        <p:tgtEl>
                                          <p:spTgt spid="47"/>
                                        </p:tgtEl>
                                      </p:cBhvr>
                                    </p:animEffect>
                                  </p:childTnLst>
                                </p:cTn>
                              </p:par>
                              <p:par>
                                <p:cTn id="133" presetID="10" presetClass="entr" presetSubtype="0" fill="hold" grpId="0" nodeType="withEffect">
                                  <p:stCondLst>
                                    <p:cond delay="40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4" dur="500"/>
                                        <p:tgtEl>
                                          <p:spTgt spid="48"/>
                                        </p:tgtEl>
                                      </p:cBhvr>
                                    </p:animEffect>
                                  </p:childTnLst>
                                </p:cTn>
                              </p:par>
                              <p:par>
                                <p:cTn id="136" presetID="22" presetClass="entr" presetSubtype="8" fill="hold" grpId="0" nodeType="withEffect">
                                  <p:stCondLst>
                                    <p:cond delay="500"/>
                                  </p:stCondLst>
                                  <p:childTnLst>
                                    <p:set>
                                      <p:cBhvr>
                                        <p:cTn id="135" dur="1" fill="hold">
                                          <p:stCondLst>
                                            <p:cond delay="0"/>
                                          </p:stCondLst>
                                        </p:cTn>
                                        <p:tgtEl>
                                          <p:spTgt spid="49"/>
                                        </p:tgtEl>
                                        <p:attrNameLst>
                                          <p:attrName>style.visibility</p:attrName>
                                        </p:attrNameLst>
                                      </p:cBhvr>
                                      <p:to>
                                        <p:strVal val="visible"/>
                                      </p:to>
                                    </p:set>
                                    <p:animEffect transition="in" filter="wipe(left)">
                                      <p:cBhvr>
                                        <p:cTn id="137" dur="450"/>
                                        <p:tgtEl>
                                          <p:spTgt spid="49"/>
                                        </p:tgtEl>
                                      </p:cBhvr>
                                    </p:animEffect>
                                  </p:childTnLst>
                                </p:cTn>
                              </p:par>
                              <p:par>
                                <p:cTn id="139" presetID="10" presetClass="entr" presetSubtype="0" fill="hold" grpId="0" nodeType="withEffect">
                                  <p:stCondLst>
                                    <p:cond delay="700"/>
                                  </p:stCondLst>
                                  <p:childTnLst>
                                    <p:set>
                                      <p:cBhvr>
                                        <p:cTn id="138" dur="1" fill="hold">
                                          <p:stCondLst>
                                            <p:cond delay="0"/>
                                          </p:stCondLst>
                                        </p:cTn>
                                        <p:tgtEl>
                                          <p:spTgt spid="50"/>
                                        </p:tgtEl>
                                        <p:attrNameLst>
                                          <p:attrName>style.visibility</p:attrName>
                                        </p:attrNameLst>
                                      </p:cBhvr>
                                      <p:to>
                                        <p:strVal val="visible"/>
                                      </p:to>
                                    </p:set>
                                    <p:animEffect transition="in" filter="fade">
                                      <p:cBhvr>
                                        <p:cTn id="140" dur="500"/>
                                        <p:tgtEl>
                                          <p:spTgt spid="50"/>
                                        </p:tgtEl>
                                      </p:cBhvr>
                                    </p:animEffect>
                                  </p:childTnLst>
                                </p:cTn>
                              </p:par>
                              <p:par>
                                <p:cTn id="142" presetID="22" presetClass="entr" presetSubtype="8" fill="hold" grpId="0" nodeType="withEffect">
                                  <p:stCondLst>
                                    <p:cond delay="800"/>
                                  </p:stCondLst>
                                  <p:childTnLst>
                                    <p:set>
                                      <p:cBhvr>
                                        <p:cTn id="141" dur="1" fill="hold">
                                          <p:stCondLst>
                                            <p:cond delay="0"/>
                                          </p:stCondLst>
                                        </p:cTn>
                                        <p:tgtEl>
                                          <p:spTgt spid="51"/>
                                        </p:tgtEl>
                                        <p:attrNameLst>
                                          <p:attrName>style.visibility</p:attrName>
                                        </p:attrNameLst>
                                      </p:cBhvr>
                                      <p:to>
                                        <p:strVal val="visible"/>
                                      </p:to>
                                    </p:set>
                                    <p:animEffect transition="in" filter="wipe(left)">
                                      <p:cBhvr>
                                        <p:cTn id="143" dur="450"/>
                                        <p:tgtEl>
                                          <p:spTgt spid="51"/>
                                        </p:tgtEl>
                                      </p:cBhvr>
                                    </p:animEffect>
                                  </p:childTnLst>
                                </p:cTn>
                              </p:par>
                              <p:par>
                                <p:cTn id="145" presetID="10" presetClass="entr" presetSubtype="0" fill="hold" grpId="0" nodeType="withEffect">
                                  <p:stCondLst>
                                    <p:cond delay="1000"/>
                                  </p:stCondLst>
                                  <p:childTnLst>
                                    <p:set>
                                      <p:cBhvr>
                                        <p:cTn id="144" dur="1" fill="hold">
                                          <p:stCondLst>
                                            <p:cond delay="0"/>
                                          </p:stCondLst>
                                        </p:cTn>
                                        <p:tgtEl>
                                          <p:spTgt spid="52"/>
                                        </p:tgtEl>
                                        <p:attrNameLst>
                                          <p:attrName>style.visibility</p:attrName>
                                        </p:attrNameLst>
                                      </p:cBhvr>
                                      <p:to>
                                        <p:strVal val="visible"/>
                                      </p:to>
                                    </p:set>
                                    <p:animEffect transition="in" filter="fade">
                                      <p:cBhvr>
                                        <p:cTn id="146" dur="500"/>
                                        <p:tgtEl>
                                          <p:spTgt spid="52"/>
                                        </p:tgtEl>
                                      </p:cBhvr>
                                    </p:animEffect>
                                  </p:childTnLst>
                                </p:cTn>
                              </p:par>
                              <p:par>
                                <p:cTn id="148" presetID="22" presetClass="entr" presetSubtype="8" fill="hold" grpId="0" nodeType="withEffect">
                                  <p:stCondLst>
                                    <p:cond delay="1100"/>
                                  </p:stCondLst>
                                  <p:childTnLst>
                                    <p:set>
                                      <p:cBhvr>
                                        <p:cTn id="147" dur="1" fill="hold">
                                          <p:stCondLst>
                                            <p:cond delay="0"/>
                                          </p:stCondLst>
                                        </p:cTn>
                                        <p:tgtEl>
                                          <p:spTgt spid="53"/>
                                        </p:tgtEl>
                                        <p:attrNameLst>
                                          <p:attrName>style.visibility</p:attrName>
                                        </p:attrNameLst>
                                      </p:cBhvr>
                                      <p:to>
                                        <p:strVal val="visible"/>
                                      </p:to>
                                    </p:set>
                                    <p:animEffect transition="in" filter="wipe(left)">
                                      <p:cBhvr>
                                        <p:cTn id="149" dur="450"/>
                                        <p:tgtEl>
                                          <p:spTgt spid="53"/>
                                        </p:tgtEl>
                                      </p:cBhvr>
                                    </p:animEffect>
                                  </p:childTnLst>
                                </p:cTn>
                              </p:par>
                              <p:par>
                                <p:cTn id="151" presetID="10" presetClass="entr" presetSubtype="0" fill="hold" grpId="0" nodeType="withEffect">
                                  <p:stCondLst>
                                    <p:cond delay="130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2" dur="500"/>
                                        <p:tgtEl>
                                          <p:spTgt spid="54"/>
                                        </p:tgtEl>
                                      </p:cBhvr>
                                    </p:animEffect>
                                  </p:childTnLst>
                                </p:cTn>
                              </p:par>
                              <p:par>
                                <p:cTn id="154" presetID="10" presetClass="entr" presetSubtype="0" fill="hold" grpId="0" nodeType="withEffect">
                                  <p:stCondLst>
                                    <p:cond delay="1500"/>
                                  </p:stCondLst>
                                  <p:childTnLst>
                                    <p:set>
                                      <p:cBhvr>
                                        <p:cTn id="153" dur="1" fill="hold">
                                          <p:stCondLst>
                                            <p:cond delay="0"/>
                                          </p:stCondLst>
                                        </p:cTn>
                                        <p:tgtEl>
                                          <p:spTgt spid="56"/>
                                        </p:tgtEl>
                                        <p:attrNameLst>
                                          <p:attrName>style.visibility</p:attrName>
                                        </p:attrNameLst>
                                      </p:cBhvr>
                                      <p:to>
                                        <p:strVal val="visible"/>
                                      </p:to>
                                    </p:set>
                                    <p:animEffect transition="in" filter="fade">
                                      <p:cBhvr>
                                        <p:cTn id="155" dur="500"/>
                                        <p:tgtEl>
                                          <p:spTgt spid="56"/>
                                        </p:tgtEl>
                                      </p:cBhvr>
                                    </p:animEffect>
                                  </p:childTnLst>
                                </p:cTn>
                              </p:par>
                            </p:childTnLst>
                          </p:cTn>
                        </p:par>
                      </p:childTnLst>
                    </p:cTn>
                  </p:par>
                  <p:par>
                    <p:cTn id="156" fill="hold">
                      <p:stCondLst>
                        <p:cond delay="indefinite"/>
                      </p:stCondLst>
                      <p:childTnLst>
                        <p:par>
                          <p:cTn id="157" fill="hold">
                            <p:stCondLst>
                              <p:cond delay="0"/>
                            </p:stCondLst>
                            <p:childTnLst>
                              <p:par>
                                <p:cTn id="159" presetID="42" presetClass="entr" presetSubtype="0" fill="hold" grpId="0" nodeType="clickEffect">
                                  <p:stCondLst>
                                    <p:cond delay="0"/>
                                  </p:stCondLst>
                                  <p:childTnLst>
                                    <p:set>
                                      <p:cBhvr>
                                        <p:cTn id="158" dur="1" fill="hold">
                                          <p:stCondLst>
                                            <p:cond delay="0"/>
                                          </p:stCondLst>
                                        </p:cTn>
                                        <p:tgtEl>
                                          <p:spTgt spid="57"/>
                                        </p:tgtEl>
                                        <p:attrNameLst>
                                          <p:attrName>style.visibility</p:attrName>
                                        </p:attrNameLst>
                                      </p:cBhvr>
                                      <p:to>
                                        <p:strVal val="visible"/>
                                      </p:to>
                                    </p:set>
                                    <p:animEffect transition="in" filter="fade">
                                      <p:cBhvr>
                                        <p:cTn id="160" dur="500"/>
                                        <p:tgtEl>
                                          <p:spTgt spid="57"/>
                                        </p:tgtEl>
                                      </p:cBhvr>
                                    </p:animEffect>
                                    <p:anim calcmode="lin" valueType="num">
                                      <p:cBhvr>
                                        <p:cTn id="161" dur="500" fill="hold"/>
                                        <p:tgtEl>
                                          <p:spTgt spid="57"/>
                                        </p:tgtEl>
                                        <p:attrNameLst>
                                          <p:attrName>ppt_x</p:attrName>
                                        </p:attrNameLst>
                                      </p:cBhvr>
                                      <p:tavLst>
                                        <p:tav tm="0">
                                          <p:val>
                                            <p:strVal val="#ppt_x"/>
                                          </p:val>
                                        </p:tav>
                                        <p:tav tm="100000">
                                          <p:val>
                                            <p:strVal val="#ppt_x"/>
                                          </p:val>
                                        </p:tav>
                                      </p:tavLst>
                                    </p:anim>
                                    <p:anim calcmode="lin" valueType="num">
                                      <p:cBhvr>
                                        <p:cTn id="162" dur="500" fill="hold"/>
                                        <p:tgtEl>
                                          <p:spTgt spid="5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6" grpId="0" animBg="1"/>
      <p:bldP spid="5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2563EB"/>
                </a:solidFill>
                <a:latin typeface="Inter" pitchFamily="34" charset="0"/>
                <a:ea typeface="Inter" pitchFamily="34" charset="-122"/>
                <a:cs typeface="Inter" pitchFamily="34" charset="-120"/>
              </a:rPr>
              <a:t>06 · WARM-UP · SOFTMAX</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Softmax: turning scores into probabilities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Scores can be any number, even negative. Softmax turns them into percentages that add up to 100%.</a:t>
            </a:r>
            <a:endParaRPr lang="en-US" sz="1300" dirty="0"/>
          </a:p>
        </p:txBody>
      </p:sp>
      <p:sp>
        <p:nvSpPr>
          <p:cNvPr id="5" name="anim-1-fade-0-208"/>
          <p:cNvSpPr/>
          <p:nvPr/>
        </p:nvSpPr>
        <p:spPr>
          <a:xfrm>
            <a:off x="548640" y="1645920"/>
            <a:ext cx="3429000" cy="3063240"/>
          </a:xfrm>
          <a:prstGeom prst="roundRect">
            <a:avLst>
              <a:gd name="adj" fmla="val 2985"/>
            </a:avLst>
          </a:prstGeom>
          <a:solidFill>
            <a:srgbClr val="F8FAFC"/>
          </a:solidFill>
          <a:ln w="12700">
            <a:solidFill>
              <a:srgbClr val="CBD5E1"/>
            </a:solidFill>
            <a:prstDash val="solid"/>
          </a:ln>
        </p:spPr>
      </p:sp>
      <p:sp>
        <p:nvSpPr>
          <p:cNvPr id="6" name="anim-1-fade-0-209"/>
          <p:cNvSpPr txBox="1"/>
          <p:nvPr/>
        </p:nvSpPr>
        <p:spPr>
          <a:xfrm>
            <a:off x="713232" y="1755648"/>
            <a:ext cx="3154680" cy="256032"/>
          </a:xfrm>
          <a:prstGeom prst="rect">
            <a:avLst/>
          </a:prstGeom>
          <a:noFill/>
          <a:ln/>
        </p:spPr>
        <p:txBody>
          <a:bodyPr wrap="square" lIns="0" tIns="0" rIns="0" bIns="0" rtlCol="0" anchor="t"/>
          <a:lstStyle/>
          <a:p>
            <a:pPr indent="0" marL="0">
              <a:buNone/>
            </a:pPr>
            <a:r>
              <a:rPr lang="en-US" sz="1200" b="1" dirty="0">
                <a:solidFill>
                  <a:srgbClr val="7C3AED"/>
                </a:solidFill>
                <a:latin typeface="Inter" pitchFamily="34" charset="0"/>
                <a:ea typeface="Inter" pitchFamily="34" charset="-122"/>
                <a:cs typeface="Inter" pitchFamily="34" charset="-120"/>
              </a:rPr>
              <a:t>① Raw scores</a:t>
            </a:r>
            <a:endParaRPr lang="en-US" sz="1200" dirty="0"/>
          </a:p>
        </p:txBody>
      </p:sp>
      <p:sp>
        <p:nvSpPr>
          <p:cNvPr id="7" name="anim-1-fade-0-210"/>
          <p:cNvSpPr txBox="1"/>
          <p:nvPr/>
        </p:nvSpPr>
        <p:spPr>
          <a:xfrm>
            <a:off x="713232" y="2011680"/>
            <a:ext cx="315468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any number, even negative</a:t>
            </a:r>
            <a:endParaRPr lang="en-US" sz="950" dirty="0"/>
          </a:p>
        </p:txBody>
      </p:sp>
      <p:sp>
        <p:nvSpPr>
          <p:cNvPr id="8" name="anim-2-wipe-0-211"/>
          <p:cNvSpPr/>
          <p:nvPr/>
        </p:nvSpPr>
        <p:spPr>
          <a:xfrm>
            <a:off x="4005072" y="3200400"/>
            <a:ext cx="219456" cy="0"/>
          </a:xfrm>
          <a:prstGeom prst="line">
            <a:avLst/>
          </a:prstGeom>
          <a:noFill/>
          <a:ln w="22225">
            <a:solidFill>
              <a:srgbClr val="94A3B8"/>
            </a:solidFill>
            <a:prstDash val="solid"/>
            <a:tailEnd type="triangle"/>
          </a:ln>
        </p:spPr>
      </p:sp>
      <p:sp>
        <p:nvSpPr>
          <p:cNvPr id="9" name="anim-2-fade-0-212"/>
          <p:cNvSpPr/>
          <p:nvPr/>
        </p:nvSpPr>
        <p:spPr>
          <a:xfrm>
            <a:off x="4251960" y="1645920"/>
            <a:ext cx="3429000" cy="3063240"/>
          </a:xfrm>
          <a:prstGeom prst="roundRect">
            <a:avLst>
              <a:gd name="adj" fmla="val 2985"/>
            </a:avLst>
          </a:prstGeom>
          <a:solidFill>
            <a:srgbClr val="F8FAFC"/>
          </a:solidFill>
          <a:ln w="12700">
            <a:solidFill>
              <a:srgbClr val="CBD5E1"/>
            </a:solidFill>
            <a:prstDash val="solid"/>
          </a:ln>
        </p:spPr>
      </p:sp>
      <p:sp>
        <p:nvSpPr>
          <p:cNvPr id="10" name="anim-2-fade-0-213"/>
          <p:cNvSpPr txBox="1"/>
          <p:nvPr/>
        </p:nvSpPr>
        <p:spPr>
          <a:xfrm>
            <a:off x="4416552" y="1755648"/>
            <a:ext cx="3154680" cy="256032"/>
          </a:xfrm>
          <a:prstGeom prst="rect">
            <a:avLst/>
          </a:prstGeom>
          <a:noFill/>
          <a:ln/>
        </p:spPr>
        <p:txBody>
          <a:bodyPr wrap="square" lIns="0" tIns="0" rIns="0" bIns="0" rtlCol="0" anchor="t"/>
          <a:lstStyle/>
          <a:p>
            <a:pPr indent="0" marL="0">
              <a:buNone/>
            </a:pPr>
            <a:r>
              <a:rPr lang="en-US" sz="1200" b="1" dirty="0">
                <a:solidFill>
                  <a:srgbClr val="D97706"/>
                </a:solidFill>
                <a:latin typeface="Inter" pitchFamily="34" charset="0"/>
                <a:ea typeface="Inter" pitchFamily="34" charset="-122"/>
                <a:cs typeface="Inter" pitchFamily="34" charset="-120"/>
              </a:rPr>
              <a:t>② eˢᶜᵒʳᵉ: make all positive</a:t>
            </a:r>
            <a:endParaRPr lang="en-US" sz="1200" dirty="0"/>
          </a:p>
        </p:txBody>
      </p:sp>
      <p:sp>
        <p:nvSpPr>
          <p:cNvPr id="11" name="anim-2-fade-0-214"/>
          <p:cNvSpPr txBox="1"/>
          <p:nvPr/>
        </p:nvSpPr>
        <p:spPr>
          <a:xfrm>
            <a:off x="4416552" y="2011680"/>
            <a:ext cx="315468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big scores grow much bigger</a:t>
            </a:r>
            <a:endParaRPr lang="en-US" sz="950" dirty="0"/>
          </a:p>
        </p:txBody>
      </p:sp>
      <p:sp>
        <p:nvSpPr>
          <p:cNvPr id="12" name="anim-3-wipe-0-215"/>
          <p:cNvSpPr/>
          <p:nvPr/>
        </p:nvSpPr>
        <p:spPr>
          <a:xfrm>
            <a:off x="7708392" y="3200400"/>
            <a:ext cx="219456" cy="0"/>
          </a:xfrm>
          <a:prstGeom prst="line">
            <a:avLst/>
          </a:prstGeom>
          <a:noFill/>
          <a:ln w="22225">
            <a:solidFill>
              <a:srgbClr val="94A3B8"/>
            </a:solidFill>
            <a:prstDash val="solid"/>
            <a:tailEnd type="triangle"/>
          </a:ln>
        </p:spPr>
      </p:sp>
      <p:sp>
        <p:nvSpPr>
          <p:cNvPr id="13" name="anim-3-fade-0-216"/>
          <p:cNvSpPr/>
          <p:nvPr/>
        </p:nvSpPr>
        <p:spPr>
          <a:xfrm>
            <a:off x="7955280" y="1645920"/>
            <a:ext cx="3657600" cy="3063240"/>
          </a:xfrm>
          <a:prstGeom prst="roundRect">
            <a:avLst>
              <a:gd name="adj" fmla="val 2985"/>
            </a:avLst>
          </a:prstGeom>
          <a:solidFill>
            <a:srgbClr val="F8FAFC"/>
          </a:solidFill>
          <a:ln w="12700">
            <a:solidFill>
              <a:srgbClr val="CBD5E1"/>
            </a:solidFill>
            <a:prstDash val="solid"/>
          </a:ln>
        </p:spPr>
      </p:sp>
      <p:sp>
        <p:nvSpPr>
          <p:cNvPr id="14" name="anim-3-fade-0-217"/>
          <p:cNvSpPr txBox="1"/>
          <p:nvPr/>
        </p:nvSpPr>
        <p:spPr>
          <a:xfrm>
            <a:off x="8119872" y="1755648"/>
            <a:ext cx="3383280" cy="256032"/>
          </a:xfrm>
          <a:prstGeom prst="rect">
            <a:avLst/>
          </a:prstGeom>
          <a:noFill/>
          <a:ln/>
        </p:spPr>
        <p:txBody>
          <a:bodyPr wrap="square" lIns="0" tIns="0" rIns="0" bIns="0" rtlCol="0" anchor="t"/>
          <a:lstStyle/>
          <a:p>
            <a:pPr indent="0" marL="0">
              <a:buNone/>
            </a:pPr>
            <a:r>
              <a:rPr lang="en-US" sz="1200" b="1" dirty="0">
                <a:solidFill>
                  <a:srgbClr val="E11D48"/>
                </a:solidFill>
                <a:latin typeface="Inter" pitchFamily="34" charset="0"/>
                <a:ea typeface="Inter" pitchFamily="34" charset="-122"/>
                <a:cs typeface="Inter" pitchFamily="34" charset="-120"/>
              </a:rPr>
              <a:t>③ Divide by the total</a:t>
            </a:r>
            <a:endParaRPr lang="en-US" sz="1200" dirty="0"/>
          </a:p>
        </p:txBody>
      </p:sp>
      <p:sp>
        <p:nvSpPr>
          <p:cNvPr id="15" name="anim-3-fade-0-218"/>
          <p:cNvSpPr txBox="1"/>
          <p:nvPr/>
        </p:nvSpPr>
        <p:spPr>
          <a:xfrm>
            <a:off x="8119872" y="2011680"/>
            <a:ext cx="338328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total = 32.3 → shares of 100%</a:t>
            </a:r>
            <a:endParaRPr lang="en-US" sz="950" dirty="0"/>
          </a:p>
        </p:txBody>
      </p:sp>
      <p:sp>
        <p:nvSpPr>
          <p:cNvPr id="16" name="anim-1-fade-0-219"/>
          <p:cNvSpPr txBox="1"/>
          <p:nvPr/>
        </p:nvSpPr>
        <p:spPr>
          <a:xfrm>
            <a:off x="685800" y="2459736"/>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17" name="anim-1-wipe-50-220"/>
          <p:cNvSpPr/>
          <p:nvPr/>
        </p:nvSpPr>
        <p:spPr>
          <a:xfrm>
            <a:off x="1965960" y="2478024"/>
            <a:ext cx="1152144" cy="237744"/>
          </a:xfrm>
          <a:prstGeom prst="rect">
            <a:avLst/>
          </a:prstGeom>
          <a:solidFill>
            <a:srgbClr val="7C3AED"/>
          </a:solidFill>
          <a:ln/>
        </p:spPr>
      </p:sp>
      <p:sp>
        <p:nvSpPr>
          <p:cNvPr id="18" name="anim-1-fade-100-221"/>
          <p:cNvSpPr txBox="1"/>
          <p:nvPr/>
        </p:nvSpPr>
        <p:spPr>
          <a:xfrm>
            <a:off x="3172968" y="2459736"/>
            <a:ext cx="457200" cy="274320"/>
          </a:xfrm>
          <a:prstGeom prst="rect">
            <a:avLst/>
          </a:prstGeom>
          <a:noFill/>
          <a:ln/>
        </p:spPr>
        <p:txBody>
          <a:bodyPr wrap="square" lIns="0" tIns="0" rIns="0" bIns="0" rtlCol="0" anchor="t"/>
          <a:lstStyle/>
          <a:p>
            <a:pPr indent="0" marL="0">
              <a:buNone/>
            </a:pPr>
            <a:r>
              <a:rPr lang="en-US" sz="1050" b="1" dirty="0">
                <a:solidFill>
                  <a:srgbClr val="7C3AED"/>
                </a:solidFill>
                <a:latin typeface="Inter" pitchFamily="34" charset="0"/>
                <a:ea typeface="Inter" pitchFamily="34" charset="-122"/>
                <a:cs typeface="Inter" pitchFamily="34" charset="-120"/>
              </a:rPr>
              <a:t>3.0</a:t>
            </a:r>
            <a:endParaRPr lang="en-US" sz="1050" dirty="0"/>
          </a:p>
        </p:txBody>
      </p:sp>
      <p:sp>
        <p:nvSpPr>
          <p:cNvPr id="19" name="anim-2-fade-0-222"/>
          <p:cNvSpPr txBox="1"/>
          <p:nvPr/>
        </p:nvSpPr>
        <p:spPr>
          <a:xfrm>
            <a:off x="4389120" y="2459736"/>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20" name="anim-2-wipe-50-223"/>
          <p:cNvSpPr/>
          <p:nvPr/>
        </p:nvSpPr>
        <p:spPr>
          <a:xfrm>
            <a:off x="5257800" y="2478024"/>
            <a:ext cx="1928453" cy="237744"/>
          </a:xfrm>
          <a:prstGeom prst="rect">
            <a:avLst/>
          </a:prstGeom>
          <a:solidFill>
            <a:srgbClr val="D97706"/>
          </a:solidFill>
          <a:ln/>
        </p:spPr>
      </p:sp>
      <p:sp>
        <p:nvSpPr>
          <p:cNvPr id="21" name="anim-2-fade-100-224"/>
          <p:cNvSpPr txBox="1"/>
          <p:nvPr/>
        </p:nvSpPr>
        <p:spPr>
          <a:xfrm>
            <a:off x="7241117" y="2459736"/>
            <a:ext cx="548640" cy="274320"/>
          </a:xfrm>
          <a:prstGeom prst="rect">
            <a:avLst/>
          </a:prstGeom>
          <a:noFill/>
          <a:ln/>
        </p:spPr>
        <p:txBody>
          <a:bodyPr wrap="square" lIns="0" tIns="0" rIns="0" bIns="0" rtlCol="0" anchor="t"/>
          <a:lstStyle/>
          <a:p>
            <a:pPr indent="0" marL="0">
              <a:buNone/>
            </a:pPr>
            <a:r>
              <a:rPr lang="en-US" sz="1050" b="1" dirty="0">
                <a:solidFill>
                  <a:srgbClr val="D97706"/>
                </a:solidFill>
                <a:latin typeface="Inter" pitchFamily="34" charset="0"/>
                <a:ea typeface="Inter" pitchFamily="34" charset="-122"/>
                <a:cs typeface="Inter" pitchFamily="34" charset="-120"/>
              </a:rPr>
              <a:t>20.1</a:t>
            </a:r>
            <a:endParaRPr lang="en-US" sz="1050" dirty="0"/>
          </a:p>
        </p:txBody>
      </p:sp>
      <p:sp>
        <p:nvSpPr>
          <p:cNvPr id="22" name="anim-3-fade-0-225"/>
          <p:cNvSpPr txBox="1"/>
          <p:nvPr/>
        </p:nvSpPr>
        <p:spPr>
          <a:xfrm>
            <a:off x="8092440" y="2459736"/>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23" name="anim-3-wipe-50-226"/>
          <p:cNvSpPr/>
          <p:nvPr/>
        </p:nvSpPr>
        <p:spPr>
          <a:xfrm>
            <a:off x="8961120" y="2478024"/>
            <a:ext cx="1931841" cy="237744"/>
          </a:xfrm>
          <a:prstGeom prst="rect">
            <a:avLst/>
          </a:prstGeom>
          <a:solidFill>
            <a:srgbClr val="E11D48"/>
          </a:solidFill>
          <a:ln/>
        </p:spPr>
      </p:sp>
      <p:sp>
        <p:nvSpPr>
          <p:cNvPr id="24" name="anim-3-fade-100-227"/>
          <p:cNvSpPr txBox="1"/>
          <p:nvPr/>
        </p:nvSpPr>
        <p:spPr>
          <a:xfrm>
            <a:off x="10947825" y="2459736"/>
            <a:ext cx="457200" cy="274320"/>
          </a:xfrm>
          <a:prstGeom prst="rect">
            <a:avLst/>
          </a:prstGeom>
          <a:noFill/>
          <a:ln/>
        </p:spPr>
        <p:txBody>
          <a:bodyPr wrap="square" lIns="0" tIns="0" rIns="0" bIns="0" rtlCol="0" anchor="t"/>
          <a:lstStyle/>
          <a:p>
            <a:pPr indent="0" marL="0">
              <a:buNone/>
            </a:pPr>
            <a:r>
              <a:rPr lang="en-US" sz="1050" b="1" dirty="0">
                <a:solidFill>
                  <a:srgbClr val="E11D48"/>
                </a:solidFill>
                <a:latin typeface="Inter" pitchFamily="34" charset="0"/>
                <a:ea typeface="Inter" pitchFamily="34" charset="-122"/>
                <a:cs typeface="Inter" pitchFamily="34" charset="-120"/>
              </a:rPr>
              <a:t>62%</a:t>
            </a:r>
            <a:endParaRPr lang="en-US" sz="1050" dirty="0"/>
          </a:p>
        </p:txBody>
      </p:sp>
      <p:sp>
        <p:nvSpPr>
          <p:cNvPr id="25" name="anim-1-fade-150-228"/>
          <p:cNvSpPr txBox="1"/>
          <p:nvPr/>
        </p:nvSpPr>
        <p:spPr>
          <a:xfrm>
            <a:off x="685800" y="2990088"/>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floor</a:t>
            </a:r>
            <a:endParaRPr lang="en-US" sz="1100" dirty="0"/>
          </a:p>
        </p:txBody>
      </p:sp>
      <p:sp>
        <p:nvSpPr>
          <p:cNvPr id="26" name="anim-1-wipe-200-229"/>
          <p:cNvSpPr/>
          <p:nvPr/>
        </p:nvSpPr>
        <p:spPr>
          <a:xfrm>
            <a:off x="1965960" y="3008376"/>
            <a:ext cx="768096" cy="237744"/>
          </a:xfrm>
          <a:prstGeom prst="rect">
            <a:avLst/>
          </a:prstGeom>
          <a:solidFill>
            <a:srgbClr val="7C3AED"/>
          </a:solidFill>
          <a:ln/>
        </p:spPr>
      </p:sp>
      <p:sp>
        <p:nvSpPr>
          <p:cNvPr id="27" name="anim-1-fade-250-230"/>
          <p:cNvSpPr txBox="1"/>
          <p:nvPr/>
        </p:nvSpPr>
        <p:spPr>
          <a:xfrm>
            <a:off x="2788920" y="2990088"/>
            <a:ext cx="457200" cy="274320"/>
          </a:xfrm>
          <a:prstGeom prst="rect">
            <a:avLst/>
          </a:prstGeom>
          <a:noFill/>
          <a:ln/>
        </p:spPr>
        <p:txBody>
          <a:bodyPr wrap="square" lIns="0" tIns="0" rIns="0" bIns="0" rtlCol="0" anchor="t"/>
          <a:lstStyle/>
          <a:p>
            <a:pPr indent="0" marL="0">
              <a:buNone/>
            </a:pPr>
            <a:r>
              <a:rPr lang="en-US" sz="1050" b="1" dirty="0">
                <a:solidFill>
                  <a:srgbClr val="7C3AED"/>
                </a:solidFill>
                <a:latin typeface="Inter" pitchFamily="34" charset="0"/>
                <a:ea typeface="Inter" pitchFamily="34" charset="-122"/>
                <a:cs typeface="Inter" pitchFamily="34" charset="-120"/>
              </a:rPr>
              <a:t>2.0</a:t>
            </a:r>
            <a:endParaRPr lang="en-US" sz="1050" dirty="0"/>
          </a:p>
        </p:txBody>
      </p:sp>
      <p:sp>
        <p:nvSpPr>
          <p:cNvPr id="28" name="anim-2-fade-150-231"/>
          <p:cNvSpPr txBox="1"/>
          <p:nvPr/>
        </p:nvSpPr>
        <p:spPr>
          <a:xfrm>
            <a:off x="4389120" y="2990088"/>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floor</a:t>
            </a:r>
            <a:endParaRPr lang="en-US" sz="1100" dirty="0"/>
          </a:p>
        </p:txBody>
      </p:sp>
      <p:sp>
        <p:nvSpPr>
          <p:cNvPr id="29" name="anim-2-wipe-200-232"/>
          <p:cNvSpPr/>
          <p:nvPr/>
        </p:nvSpPr>
        <p:spPr>
          <a:xfrm>
            <a:off x="5257800" y="3008376"/>
            <a:ext cx="709438" cy="237744"/>
          </a:xfrm>
          <a:prstGeom prst="rect">
            <a:avLst/>
          </a:prstGeom>
          <a:solidFill>
            <a:srgbClr val="D97706"/>
          </a:solidFill>
          <a:ln/>
        </p:spPr>
      </p:sp>
      <p:sp>
        <p:nvSpPr>
          <p:cNvPr id="30" name="anim-2-fade-250-233"/>
          <p:cNvSpPr txBox="1"/>
          <p:nvPr/>
        </p:nvSpPr>
        <p:spPr>
          <a:xfrm>
            <a:off x="6022102" y="2990088"/>
            <a:ext cx="548640" cy="274320"/>
          </a:xfrm>
          <a:prstGeom prst="rect">
            <a:avLst/>
          </a:prstGeom>
          <a:noFill/>
          <a:ln/>
        </p:spPr>
        <p:txBody>
          <a:bodyPr wrap="square" lIns="0" tIns="0" rIns="0" bIns="0" rtlCol="0" anchor="t"/>
          <a:lstStyle/>
          <a:p>
            <a:pPr indent="0" marL="0">
              <a:buNone/>
            </a:pPr>
            <a:r>
              <a:rPr lang="en-US" sz="1050" b="1" dirty="0">
                <a:solidFill>
                  <a:srgbClr val="D97706"/>
                </a:solidFill>
                <a:latin typeface="Inter" pitchFamily="34" charset="0"/>
                <a:ea typeface="Inter" pitchFamily="34" charset="-122"/>
                <a:cs typeface="Inter" pitchFamily="34" charset="-120"/>
              </a:rPr>
              <a:t>7.4</a:t>
            </a:r>
            <a:endParaRPr lang="en-US" sz="1050" dirty="0"/>
          </a:p>
        </p:txBody>
      </p:sp>
      <p:sp>
        <p:nvSpPr>
          <p:cNvPr id="31" name="anim-3-fade-150-234"/>
          <p:cNvSpPr txBox="1"/>
          <p:nvPr/>
        </p:nvSpPr>
        <p:spPr>
          <a:xfrm>
            <a:off x="8092440" y="2990088"/>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floor</a:t>
            </a:r>
            <a:endParaRPr lang="en-US" sz="1100" dirty="0"/>
          </a:p>
        </p:txBody>
      </p:sp>
      <p:sp>
        <p:nvSpPr>
          <p:cNvPr id="32" name="anim-3-wipe-200-235"/>
          <p:cNvSpPr/>
          <p:nvPr/>
        </p:nvSpPr>
        <p:spPr>
          <a:xfrm>
            <a:off x="8961120" y="3008376"/>
            <a:ext cx="710684" cy="237744"/>
          </a:xfrm>
          <a:prstGeom prst="rect">
            <a:avLst/>
          </a:prstGeom>
          <a:solidFill>
            <a:srgbClr val="FDA4AF"/>
          </a:solidFill>
          <a:ln/>
        </p:spPr>
      </p:sp>
      <p:sp>
        <p:nvSpPr>
          <p:cNvPr id="33" name="anim-3-fade-250-236"/>
          <p:cNvSpPr txBox="1"/>
          <p:nvPr/>
        </p:nvSpPr>
        <p:spPr>
          <a:xfrm>
            <a:off x="9726668" y="2990088"/>
            <a:ext cx="457200" cy="274320"/>
          </a:xfrm>
          <a:prstGeom prst="rect">
            <a:avLst/>
          </a:prstGeom>
          <a:noFill/>
          <a:ln/>
        </p:spPr>
        <p:txBody>
          <a:bodyPr wrap="square" lIns="0" tIns="0" rIns="0" bIns="0" rtlCol="0" anchor="t"/>
          <a:lstStyle/>
          <a:p>
            <a:pPr indent="0" marL="0">
              <a:buNone/>
            </a:pPr>
            <a:r>
              <a:rPr lang="en-US" sz="1050" b="1" dirty="0">
                <a:solidFill>
                  <a:srgbClr val="E11D48"/>
                </a:solidFill>
                <a:latin typeface="Inter" pitchFamily="34" charset="0"/>
                <a:ea typeface="Inter" pitchFamily="34" charset="-122"/>
                <a:cs typeface="Inter" pitchFamily="34" charset="-120"/>
              </a:rPr>
              <a:t>23%</a:t>
            </a:r>
            <a:endParaRPr lang="en-US" sz="1050" dirty="0"/>
          </a:p>
        </p:txBody>
      </p:sp>
      <p:sp>
        <p:nvSpPr>
          <p:cNvPr id="34" name="anim-1-fade-300-237"/>
          <p:cNvSpPr txBox="1"/>
          <p:nvPr/>
        </p:nvSpPr>
        <p:spPr>
          <a:xfrm>
            <a:off x="685800" y="3520440"/>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sofa</a:t>
            </a:r>
            <a:endParaRPr lang="en-US" sz="1100" dirty="0"/>
          </a:p>
        </p:txBody>
      </p:sp>
      <p:sp>
        <p:nvSpPr>
          <p:cNvPr id="35" name="anim-1-wipe-350-238"/>
          <p:cNvSpPr/>
          <p:nvPr/>
        </p:nvSpPr>
        <p:spPr>
          <a:xfrm>
            <a:off x="1965960" y="3538728"/>
            <a:ext cx="576072" cy="237744"/>
          </a:xfrm>
          <a:prstGeom prst="rect">
            <a:avLst/>
          </a:prstGeom>
          <a:solidFill>
            <a:srgbClr val="7C3AED"/>
          </a:solidFill>
          <a:ln/>
        </p:spPr>
      </p:sp>
      <p:sp>
        <p:nvSpPr>
          <p:cNvPr id="36" name="anim-1-fade-400-239"/>
          <p:cNvSpPr txBox="1"/>
          <p:nvPr/>
        </p:nvSpPr>
        <p:spPr>
          <a:xfrm>
            <a:off x="2596896" y="3520440"/>
            <a:ext cx="457200" cy="274320"/>
          </a:xfrm>
          <a:prstGeom prst="rect">
            <a:avLst/>
          </a:prstGeom>
          <a:noFill/>
          <a:ln/>
        </p:spPr>
        <p:txBody>
          <a:bodyPr wrap="square" lIns="0" tIns="0" rIns="0" bIns="0" rtlCol="0" anchor="t"/>
          <a:lstStyle/>
          <a:p>
            <a:pPr indent="0" marL="0">
              <a:buNone/>
            </a:pPr>
            <a:r>
              <a:rPr lang="en-US" sz="1050" b="1" dirty="0">
                <a:solidFill>
                  <a:srgbClr val="7C3AED"/>
                </a:solidFill>
                <a:latin typeface="Inter" pitchFamily="34" charset="0"/>
                <a:ea typeface="Inter" pitchFamily="34" charset="-122"/>
                <a:cs typeface="Inter" pitchFamily="34" charset="-120"/>
              </a:rPr>
              <a:t>1.5</a:t>
            </a:r>
            <a:endParaRPr lang="en-US" sz="1050" dirty="0"/>
          </a:p>
        </p:txBody>
      </p:sp>
      <p:sp>
        <p:nvSpPr>
          <p:cNvPr id="37" name="anim-2-fade-300-240"/>
          <p:cNvSpPr txBox="1"/>
          <p:nvPr/>
        </p:nvSpPr>
        <p:spPr>
          <a:xfrm>
            <a:off x="4389120" y="3520440"/>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sofa</a:t>
            </a:r>
            <a:endParaRPr lang="en-US" sz="1100" dirty="0"/>
          </a:p>
        </p:txBody>
      </p:sp>
      <p:sp>
        <p:nvSpPr>
          <p:cNvPr id="38" name="anim-2-wipe-350-241"/>
          <p:cNvSpPr/>
          <p:nvPr/>
        </p:nvSpPr>
        <p:spPr>
          <a:xfrm>
            <a:off x="5257800" y="3538728"/>
            <a:ext cx="430296" cy="237744"/>
          </a:xfrm>
          <a:prstGeom prst="rect">
            <a:avLst/>
          </a:prstGeom>
          <a:solidFill>
            <a:srgbClr val="D97706"/>
          </a:solidFill>
          <a:ln/>
        </p:spPr>
      </p:sp>
      <p:sp>
        <p:nvSpPr>
          <p:cNvPr id="39" name="anim-2-fade-400-242"/>
          <p:cNvSpPr txBox="1"/>
          <p:nvPr/>
        </p:nvSpPr>
        <p:spPr>
          <a:xfrm>
            <a:off x="5742960" y="3520440"/>
            <a:ext cx="548640" cy="274320"/>
          </a:xfrm>
          <a:prstGeom prst="rect">
            <a:avLst/>
          </a:prstGeom>
          <a:noFill/>
          <a:ln/>
        </p:spPr>
        <p:txBody>
          <a:bodyPr wrap="square" lIns="0" tIns="0" rIns="0" bIns="0" rtlCol="0" anchor="t"/>
          <a:lstStyle/>
          <a:p>
            <a:pPr indent="0" marL="0">
              <a:buNone/>
            </a:pPr>
            <a:r>
              <a:rPr lang="en-US" sz="1050" b="1" dirty="0">
                <a:solidFill>
                  <a:srgbClr val="D97706"/>
                </a:solidFill>
                <a:latin typeface="Inter" pitchFamily="34" charset="0"/>
                <a:ea typeface="Inter" pitchFamily="34" charset="-122"/>
                <a:cs typeface="Inter" pitchFamily="34" charset="-120"/>
              </a:rPr>
              <a:t>4.5</a:t>
            </a:r>
            <a:endParaRPr lang="en-US" sz="1050" dirty="0"/>
          </a:p>
        </p:txBody>
      </p:sp>
      <p:sp>
        <p:nvSpPr>
          <p:cNvPr id="40" name="anim-3-fade-300-243"/>
          <p:cNvSpPr txBox="1"/>
          <p:nvPr/>
        </p:nvSpPr>
        <p:spPr>
          <a:xfrm>
            <a:off x="8092440" y="3520440"/>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sofa</a:t>
            </a:r>
            <a:endParaRPr lang="en-US" sz="1100" dirty="0"/>
          </a:p>
        </p:txBody>
      </p:sp>
      <p:sp>
        <p:nvSpPr>
          <p:cNvPr id="41" name="anim-3-wipe-350-244"/>
          <p:cNvSpPr/>
          <p:nvPr/>
        </p:nvSpPr>
        <p:spPr>
          <a:xfrm>
            <a:off x="8961120" y="3538728"/>
            <a:ext cx="431052" cy="237744"/>
          </a:xfrm>
          <a:prstGeom prst="rect">
            <a:avLst/>
          </a:prstGeom>
          <a:solidFill>
            <a:srgbClr val="FDA4AF"/>
          </a:solidFill>
          <a:ln/>
        </p:spPr>
      </p:sp>
      <p:sp>
        <p:nvSpPr>
          <p:cNvPr id="42" name="anim-3-fade-400-245"/>
          <p:cNvSpPr txBox="1"/>
          <p:nvPr/>
        </p:nvSpPr>
        <p:spPr>
          <a:xfrm>
            <a:off x="9447036" y="3520440"/>
            <a:ext cx="457200" cy="274320"/>
          </a:xfrm>
          <a:prstGeom prst="rect">
            <a:avLst/>
          </a:prstGeom>
          <a:noFill/>
          <a:ln/>
        </p:spPr>
        <p:txBody>
          <a:bodyPr wrap="square" lIns="0" tIns="0" rIns="0" bIns="0" rtlCol="0" anchor="t"/>
          <a:lstStyle/>
          <a:p>
            <a:pPr indent="0" marL="0">
              <a:buNone/>
            </a:pPr>
            <a:r>
              <a:rPr lang="en-US" sz="1050" b="1" dirty="0">
                <a:solidFill>
                  <a:srgbClr val="E11D48"/>
                </a:solidFill>
                <a:latin typeface="Inter" pitchFamily="34" charset="0"/>
                <a:ea typeface="Inter" pitchFamily="34" charset="-122"/>
                <a:cs typeface="Inter" pitchFamily="34" charset="-120"/>
              </a:rPr>
              <a:t>14%</a:t>
            </a:r>
            <a:endParaRPr lang="en-US" sz="1050" dirty="0"/>
          </a:p>
        </p:txBody>
      </p:sp>
      <p:sp>
        <p:nvSpPr>
          <p:cNvPr id="43" name="anim-1-fade-450-246"/>
          <p:cNvSpPr txBox="1"/>
          <p:nvPr/>
        </p:nvSpPr>
        <p:spPr>
          <a:xfrm>
            <a:off x="685800" y="4050792"/>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banana</a:t>
            </a:r>
            <a:endParaRPr lang="en-US" sz="1100" dirty="0"/>
          </a:p>
        </p:txBody>
      </p:sp>
      <p:sp>
        <p:nvSpPr>
          <p:cNvPr id="44" name="anim-1-wipe-500-247"/>
          <p:cNvSpPr/>
          <p:nvPr/>
        </p:nvSpPr>
        <p:spPr>
          <a:xfrm>
            <a:off x="1581912" y="4069080"/>
            <a:ext cx="384048" cy="237744"/>
          </a:xfrm>
          <a:prstGeom prst="rect">
            <a:avLst/>
          </a:prstGeom>
          <a:solidFill>
            <a:srgbClr val="C4B5FD"/>
          </a:solidFill>
          <a:ln/>
        </p:spPr>
      </p:sp>
      <p:sp>
        <p:nvSpPr>
          <p:cNvPr id="45" name="anim-1-fade-550-248"/>
          <p:cNvSpPr txBox="1"/>
          <p:nvPr/>
        </p:nvSpPr>
        <p:spPr>
          <a:xfrm>
            <a:off x="2020824" y="4050792"/>
            <a:ext cx="457200" cy="274320"/>
          </a:xfrm>
          <a:prstGeom prst="rect">
            <a:avLst/>
          </a:prstGeom>
          <a:noFill/>
          <a:ln/>
        </p:spPr>
        <p:txBody>
          <a:bodyPr wrap="square" lIns="0" tIns="0" rIns="0" bIns="0" rtlCol="0" anchor="t"/>
          <a:lstStyle/>
          <a:p>
            <a:pPr indent="0" marL="0">
              <a:buNone/>
            </a:pPr>
            <a:r>
              <a:rPr lang="en-US" sz="1050" b="1" dirty="0">
                <a:solidFill>
                  <a:srgbClr val="7C3AED"/>
                </a:solidFill>
                <a:latin typeface="Inter" pitchFamily="34" charset="0"/>
                <a:ea typeface="Inter" pitchFamily="34" charset="-122"/>
                <a:cs typeface="Inter" pitchFamily="34" charset="-120"/>
              </a:rPr>
              <a:t>-1.0</a:t>
            </a:r>
            <a:endParaRPr lang="en-US" sz="1050" dirty="0"/>
          </a:p>
        </p:txBody>
      </p:sp>
      <p:sp>
        <p:nvSpPr>
          <p:cNvPr id="46" name="anim-2-fade-450-249"/>
          <p:cNvSpPr txBox="1"/>
          <p:nvPr/>
        </p:nvSpPr>
        <p:spPr>
          <a:xfrm>
            <a:off x="4389120" y="4050792"/>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banana</a:t>
            </a:r>
            <a:endParaRPr lang="en-US" sz="1100" dirty="0"/>
          </a:p>
        </p:txBody>
      </p:sp>
      <p:sp>
        <p:nvSpPr>
          <p:cNvPr id="47" name="anim-2-wipe-500-250"/>
          <p:cNvSpPr/>
          <p:nvPr/>
        </p:nvSpPr>
        <p:spPr>
          <a:xfrm>
            <a:off x="5257800" y="4069080"/>
            <a:ext cx="35321" cy="237744"/>
          </a:xfrm>
          <a:prstGeom prst="rect">
            <a:avLst/>
          </a:prstGeom>
          <a:solidFill>
            <a:srgbClr val="D97706"/>
          </a:solidFill>
          <a:ln/>
        </p:spPr>
      </p:sp>
      <p:sp>
        <p:nvSpPr>
          <p:cNvPr id="48" name="anim-2-fade-550-251"/>
          <p:cNvSpPr txBox="1"/>
          <p:nvPr/>
        </p:nvSpPr>
        <p:spPr>
          <a:xfrm>
            <a:off x="5347985" y="4050792"/>
            <a:ext cx="548640" cy="274320"/>
          </a:xfrm>
          <a:prstGeom prst="rect">
            <a:avLst/>
          </a:prstGeom>
          <a:noFill/>
          <a:ln/>
        </p:spPr>
        <p:txBody>
          <a:bodyPr wrap="square" lIns="0" tIns="0" rIns="0" bIns="0" rtlCol="0" anchor="t"/>
          <a:lstStyle/>
          <a:p>
            <a:pPr indent="0" marL="0">
              <a:buNone/>
            </a:pPr>
            <a:r>
              <a:rPr lang="en-US" sz="1050" b="1" dirty="0">
                <a:solidFill>
                  <a:srgbClr val="D97706"/>
                </a:solidFill>
                <a:latin typeface="Inter" pitchFamily="34" charset="0"/>
                <a:ea typeface="Inter" pitchFamily="34" charset="-122"/>
                <a:cs typeface="Inter" pitchFamily="34" charset="-120"/>
              </a:rPr>
              <a:t>0.37</a:t>
            </a:r>
            <a:endParaRPr lang="en-US" sz="1050" dirty="0"/>
          </a:p>
        </p:txBody>
      </p:sp>
      <p:sp>
        <p:nvSpPr>
          <p:cNvPr id="49" name="anim-3-fade-450-252"/>
          <p:cNvSpPr txBox="1"/>
          <p:nvPr/>
        </p:nvSpPr>
        <p:spPr>
          <a:xfrm>
            <a:off x="8092440" y="4050792"/>
            <a:ext cx="822960" cy="274320"/>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banana</a:t>
            </a:r>
            <a:endParaRPr lang="en-US" sz="1100" dirty="0"/>
          </a:p>
        </p:txBody>
      </p:sp>
      <p:sp>
        <p:nvSpPr>
          <p:cNvPr id="50" name="anim-3-wipe-500-253"/>
          <p:cNvSpPr/>
          <p:nvPr/>
        </p:nvSpPr>
        <p:spPr>
          <a:xfrm>
            <a:off x="8961120" y="4069080"/>
            <a:ext cx="35383" cy="237744"/>
          </a:xfrm>
          <a:prstGeom prst="rect">
            <a:avLst/>
          </a:prstGeom>
          <a:solidFill>
            <a:srgbClr val="FDA4AF"/>
          </a:solidFill>
          <a:ln/>
        </p:spPr>
      </p:sp>
      <p:sp>
        <p:nvSpPr>
          <p:cNvPr id="51" name="anim-3-fade-550-254"/>
          <p:cNvSpPr txBox="1"/>
          <p:nvPr/>
        </p:nvSpPr>
        <p:spPr>
          <a:xfrm>
            <a:off x="9051367" y="4050792"/>
            <a:ext cx="457200" cy="274320"/>
          </a:xfrm>
          <a:prstGeom prst="rect">
            <a:avLst/>
          </a:prstGeom>
          <a:noFill/>
          <a:ln/>
        </p:spPr>
        <p:txBody>
          <a:bodyPr wrap="square" lIns="0" tIns="0" rIns="0" bIns="0" rtlCol="0" anchor="t"/>
          <a:lstStyle/>
          <a:p>
            <a:pPr indent="0" marL="0">
              <a:buNone/>
            </a:pPr>
            <a:r>
              <a:rPr lang="en-US" sz="1050" b="1" dirty="0">
                <a:solidFill>
                  <a:srgbClr val="E11D48"/>
                </a:solidFill>
                <a:latin typeface="Inter" pitchFamily="34" charset="0"/>
                <a:ea typeface="Inter" pitchFamily="34" charset="-122"/>
                <a:cs typeface="Inter" pitchFamily="34" charset="-120"/>
              </a:rPr>
              <a:t>1%</a:t>
            </a:r>
            <a:endParaRPr lang="en-US" sz="1050" dirty="0"/>
          </a:p>
        </p:txBody>
      </p:sp>
      <p:sp>
        <p:nvSpPr>
          <p:cNvPr id="52" name="Shape 50"/>
          <p:cNvSpPr/>
          <p:nvPr/>
        </p:nvSpPr>
        <p:spPr>
          <a:xfrm>
            <a:off x="1965960" y="2377440"/>
            <a:ext cx="0" cy="2148840"/>
          </a:xfrm>
          <a:prstGeom prst="line">
            <a:avLst/>
          </a:prstGeom>
          <a:noFill/>
          <a:ln w="12700">
            <a:solidFill>
              <a:srgbClr val="CBD5E1"/>
            </a:solidFill>
            <a:prstDash val="solid"/>
          </a:ln>
        </p:spPr>
      </p:sp>
      <p:sp>
        <p:nvSpPr>
          <p:cNvPr id="53" name="Text 51"/>
          <p:cNvSpPr txBox="1"/>
          <p:nvPr/>
        </p:nvSpPr>
        <p:spPr>
          <a:xfrm>
            <a:off x="1874520" y="4480560"/>
            <a:ext cx="182880" cy="182880"/>
          </a:xfrm>
          <a:prstGeom prst="rect">
            <a:avLst/>
          </a:prstGeom>
          <a:noFill/>
          <a:ln/>
        </p:spPr>
        <p:txBody>
          <a:bodyPr wrap="square" lIns="0" tIns="0" rIns="0" bIns="0" rtlCol="0" anchor="t"/>
          <a:lstStyle/>
          <a:p>
            <a:pPr algn="ctr" indent="0" marL="0">
              <a:buNone/>
            </a:pPr>
            <a:r>
              <a:rPr lang="en-US" sz="800" dirty="0">
                <a:solidFill>
                  <a:srgbClr val="64748B"/>
                </a:solidFill>
                <a:latin typeface="Inter" pitchFamily="34" charset="0"/>
                <a:ea typeface="Inter" pitchFamily="34" charset="-122"/>
                <a:cs typeface="Inter" pitchFamily="34" charset="-120"/>
              </a:rPr>
              <a:t>0</a:t>
            </a:r>
            <a:endParaRPr lang="en-US" sz="800" dirty="0"/>
          </a:p>
        </p:txBody>
      </p:sp>
      <p:sp>
        <p:nvSpPr>
          <p:cNvPr id="54" name="anim-3-fade-700-255"/>
          <p:cNvSpPr txBox="1"/>
          <p:nvPr/>
        </p:nvSpPr>
        <p:spPr>
          <a:xfrm>
            <a:off x="8092440" y="4434840"/>
            <a:ext cx="3383280" cy="201168"/>
          </a:xfrm>
          <a:prstGeom prst="rect">
            <a:avLst/>
          </a:prstGeom>
          <a:noFill/>
          <a:ln/>
        </p:spPr>
        <p:txBody>
          <a:bodyPr wrap="square" lIns="0" tIns="0" rIns="0" bIns="0" rtlCol="0" anchor="t"/>
          <a:lstStyle/>
          <a:p>
            <a:pPr algn="r" indent="0" marL="0">
              <a:buNone/>
            </a:pPr>
            <a:r>
              <a:rPr lang="en-US" sz="950" b="1" dirty="0">
                <a:solidFill>
                  <a:srgbClr val="E11D48"/>
                </a:solidFill>
                <a:latin typeface="Inter" pitchFamily="34" charset="0"/>
                <a:ea typeface="Inter" pitchFamily="34" charset="-122"/>
                <a:cs typeface="Inter" pitchFamily="34" charset="-120"/>
              </a:rPr>
              <a:t>sum = 100%</a:t>
            </a:r>
            <a:endParaRPr lang="en-US" sz="950" dirty="0"/>
          </a:p>
        </p:txBody>
      </p:sp>
      <p:sp>
        <p:nvSpPr>
          <p:cNvPr id="55" name="anim-4-rise-0-256"/>
          <p:cNvSpPr/>
          <p:nvPr/>
        </p:nvSpPr>
        <p:spPr>
          <a:xfrm>
            <a:off x="548640" y="4937760"/>
            <a:ext cx="3566160" cy="1188720"/>
          </a:xfrm>
          <a:prstGeom prst="roundRect">
            <a:avLst>
              <a:gd name="adj" fmla="val 7692"/>
            </a:avLst>
          </a:prstGeom>
          <a:solidFill>
            <a:srgbClr val="FEF3C7"/>
          </a:solidFill>
          <a:ln/>
        </p:spPr>
        <p:txBody>
          <a:bodyPr wrap="square" lIns="127000" tIns="152400" rIns="152400" bIns="127000" rtlCol="0" anchor="t"/>
          <a:lstStyle/>
          <a:p>
            <a:pPr indent="0" marL="0">
              <a:buNone/>
            </a:pPr>
            <a:r>
              <a:rPr lang="en-US" sz="1200" b="1" dirty="0">
                <a:solidFill>
                  <a:srgbClr val="D97706"/>
                </a:solidFill>
                <a:latin typeface="Inter" pitchFamily="34" charset="0"/>
                <a:ea typeface="Inter" pitchFamily="34" charset="-122"/>
                <a:cs typeface="Inter" pitchFamily="34" charset="-120"/>
              </a:rPr>
              <a:t>Gaps get amplified</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A score just 1 point higher becomes about 2.7× more likely (e¹ ≈ 2.7). mat vs floor: 62% vs 23%.</a:t>
            </a:r>
            <a:endParaRPr lang="en-US" sz="1200" dirty="0"/>
          </a:p>
        </p:txBody>
      </p:sp>
      <p:sp>
        <p:nvSpPr>
          <p:cNvPr id="56" name="anim-4-rise-200-257"/>
          <p:cNvSpPr/>
          <p:nvPr/>
        </p:nvSpPr>
        <p:spPr>
          <a:xfrm>
            <a:off x="4306824" y="4937760"/>
            <a:ext cx="3566160" cy="1188720"/>
          </a:xfrm>
          <a:prstGeom prst="roundRect">
            <a:avLst>
              <a:gd name="adj" fmla="val 7692"/>
            </a:avLst>
          </a:prstGeom>
          <a:solidFill>
            <a:srgbClr val="FFE4E6"/>
          </a:solidFill>
          <a:ln/>
        </p:spPr>
        <p:txBody>
          <a:bodyPr wrap="square" lIns="127000" tIns="152400" rIns="152400" bIns="127000" rtlCol="0" anchor="t"/>
          <a:lstStyle/>
          <a:p>
            <a:pPr indent="0" marL="0">
              <a:buNone/>
            </a:pPr>
            <a:r>
              <a:rPr lang="en-US" sz="1200" b="1" dirty="0">
                <a:solidFill>
                  <a:srgbClr val="E11D48"/>
                </a:solidFill>
                <a:latin typeface="Inter" pitchFamily="34" charset="0"/>
                <a:ea typeface="Inter" pitchFamily="34" charset="-122"/>
                <a:cs typeface="Inter" pitchFamily="34" charset="-120"/>
              </a:rPr>
              <a:t>Temperature</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Divide scores by T first. T &lt; 1 makes the winner win bigger; T &gt; 1 flattens the odds.</a:t>
            </a:r>
            <a:endParaRPr lang="en-US" sz="1200" dirty="0"/>
          </a:p>
        </p:txBody>
      </p:sp>
      <p:sp>
        <p:nvSpPr>
          <p:cNvPr id="57" name="anim-4-rise-400-258"/>
          <p:cNvSpPr/>
          <p:nvPr/>
        </p:nvSpPr>
        <p:spPr>
          <a:xfrm>
            <a:off x="8065008" y="4937760"/>
            <a:ext cx="3566160" cy="1188720"/>
          </a:xfrm>
          <a:prstGeom prst="roundRect">
            <a:avLst>
              <a:gd name="adj" fmla="val 7692"/>
            </a:avLst>
          </a:prstGeom>
          <a:solidFill>
            <a:srgbClr val="EDE9FE"/>
          </a:solidFill>
          <a:ln/>
        </p:spPr>
        <p:txBody>
          <a:bodyPr wrap="square" lIns="127000" tIns="152400" rIns="152400" bIns="127000" rtlCol="0" anchor="t"/>
          <a:lstStyle/>
          <a:p>
            <a:pPr indent="0" marL="0">
              <a:buNone/>
            </a:pPr>
            <a:r>
              <a:rPr lang="en-US" sz="1200" b="1" dirty="0">
                <a:solidFill>
                  <a:srgbClr val="7C3AED"/>
                </a:solidFill>
                <a:latin typeface="Inter" pitchFamily="34" charset="0"/>
                <a:ea typeface="Inter" pitchFamily="34" charset="-122"/>
                <a:cs typeface="Inter" pitchFamily="34" charset="-120"/>
              </a:rPr>
              <a:t>Masking trick</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Set a score to −∞ and e^(−∞) = 0, so it gets exactly 0%. This is how attention hides the future.</a:t>
            </a:r>
            <a:endParaRPr lang="en-US" sz="12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2"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5"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8" presetID="22" presetClass="entr" presetSubtype="8" fill="hold" grpId="0" nodeType="withEffect">
                                  <p:stCondLst>
                                    <p:cond delay="5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9" dur="450"/>
                                        <p:tgtEl>
                                          <p:spTgt spid="17"/>
                                        </p:tgtEl>
                                      </p:cBhvr>
                                    </p:animEffect>
                                  </p:childTnLst>
                                </p:cTn>
                              </p:par>
                              <p:par>
                                <p:cTn id="21" presetID="10" presetClass="entr" presetSubtype="0" fill="hold" grpId="0" nodeType="withEffect">
                                  <p:stCondLst>
                                    <p:cond delay="1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4" presetID="10" presetClass="entr" presetSubtype="0" fill="hold" grpId="0" nodeType="withEffect">
                                  <p:stCondLst>
                                    <p:cond delay="150"/>
                                  </p:stCondLst>
                                  <p:childTnLst>
                                    <p:set>
                                      <p:cBhvr>
                                        <p:cTn id="23"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7" presetID="22" presetClass="entr" presetSubtype="8" fill="hold" grpId="0" nodeType="withEffect">
                                  <p:stCondLst>
                                    <p:cond delay="20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8" dur="450"/>
                                        <p:tgtEl>
                                          <p:spTgt spid="26"/>
                                        </p:tgtEl>
                                      </p:cBhvr>
                                    </p:animEffect>
                                  </p:childTnLst>
                                </p:cTn>
                              </p:par>
                              <p:par>
                                <p:cTn id="30" presetID="10" presetClass="entr" presetSubtype="0" fill="hold" grpId="0" nodeType="withEffect">
                                  <p:stCondLst>
                                    <p:cond delay="250"/>
                                  </p:stCondLst>
                                  <p:childTnLst>
                                    <p:set>
                                      <p:cBhvr>
                                        <p:cTn id="29"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3" presetID="10" presetClass="entr" presetSubtype="0" fill="hold" grpId="0" nodeType="withEffect">
                                  <p:stCondLst>
                                    <p:cond delay="300"/>
                                  </p:stCondLst>
                                  <p:childTnLst>
                                    <p:set>
                                      <p:cBhvr>
                                        <p:cTn id="32"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6" presetID="22" presetClass="entr" presetSubtype="8" fill="hold" grpId="0" nodeType="withEffect">
                                  <p:stCondLst>
                                    <p:cond delay="350"/>
                                  </p:stCondLst>
                                  <p:childTnLst>
                                    <p:set>
                                      <p:cBhvr>
                                        <p:cTn id="35" dur="1" fill="hold">
                                          <p:stCondLst>
                                            <p:cond delay="0"/>
                                          </p:stCondLst>
                                        </p:cTn>
                                        <p:tgtEl>
                                          <p:spTgt spid="35"/>
                                        </p:tgtEl>
                                        <p:attrNameLst>
                                          <p:attrName>style.visibility</p:attrName>
                                        </p:attrNameLst>
                                      </p:cBhvr>
                                      <p:to>
                                        <p:strVal val="visible"/>
                                      </p:to>
                                    </p:set>
                                    <p:animEffect transition="in" filter="wipe(left)">
                                      <p:cBhvr>
                                        <p:cTn id="37" dur="450"/>
                                        <p:tgtEl>
                                          <p:spTgt spid="35"/>
                                        </p:tgtEl>
                                      </p:cBhvr>
                                    </p:animEffect>
                                  </p:childTnLst>
                                </p:cTn>
                              </p:par>
                              <p:par>
                                <p:cTn id="39" presetID="10" presetClass="entr" presetSubtype="0" fill="hold" grpId="0" nodeType="withEffect">
                                  <p:stCondLst>
                                    <p:cond delay="400"/>
                                  </p:stCondLst>
                                  <p:childTnLst>
                                    <p:set>
                                      <p:cBhvr>
                                        <p:cTn id="38"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2" presetID="10" presetClass="entr" presetSubtype="0" fill="hold" grpId="0" nodeType="withEffect">
                                  <p:stCondLst>
                                    <p:cond delay="450"/>
                                  </p:stCondLst>
                                  <p:childTnLst>
                                    <p:set>
                                      <p:cBhvr>
                                        <p:cTn id="41"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5" presetID="22" presetClass="entr" presetSubtype="8" fill="hold" grpId="0" nodeType="withEffect">
                                  <p:stCondLst>
                                    <p:cond delay="500"/>
                                  </p:stCondLst>
                                  <p:childTnLst>
                                    <p:set>
                                      <p:cBhvr>
                                        <p:cTn id="44" dur="1" fill="hold">
                                          <p:stCondLst>
                                            <p:cond delay="0"/>
                                          </p:stCondLst>
                                        </p:cTn>
                                        <p:tgtEl>
                                          <p:spTgt spid="44"/>
                                        </p:tgtEl>
                                        <p:attrNameLst>
                                          <p:attrName>style.visibility</p:attrName>
                                        </p:attrNameLst>
                                      </p:cBhvr>
                                      <p:to>
                                        <p:strVal val="visible"/>
                                      </p:to>
                                    </p:set>
                                    <p:animEffect transition="in" filter="wipe(left)">
                                      <p:cBhvr>
                                        <p:cTn id="46" dur="450"/>
                                        <p:tgtEl>
                                          <p:spTgt spid="44"/>
                                        </p:tgtEl>
                                      </p:cBhvr>
                                    </p:animEffect>
                                  </p:childTnLst>
                                </p:cTn>
                              </p:par>
                              <p:par>
                                <p:cTn id="48" presetID="10" presetClass="entr" presetSubtype="0" fill="hold" grpId="0" nodeType="withEffect">
                                  <p:stCondLst>
                                    <p:cond delay="550"/>
                                  </p:stCondLst>
                                  <p:childTnLst>
                                    <p:set>
                                      <p:cBhvr>
                                        <p:cTn id="47" dur="1" fill="hold">
                                          <p:stCondLst>
                                            <p:cond delay="0"/>
                                          </p:stCondLst>
                                        </p:cTn>
                                        <p:tgtEl>
                                          <p:spTgt spid="45"/>
                                        </p:tgtEl>
                                        <p:attrNameLst>
                                          <p:attrName>style.visibility</p:attrName>
                                        </p:attrNameLst>
                                      </p:cBhvr>
                                      <p:to>
                                        <p:strVal val="visible"/>
                                      </p:to>
                                    </p:set>
                                    <p:animEffect transition="in" filter="fade">
                                      <p:cBhvr>
                                        <p:cTn id="49" dur="500"/>
                                        <p:tgtEl>
                                          <p:spTgt spid="45"/>
                                        </p:tgtEl>
                                      </p:cBhvr>
                                    </p:animEffect>
                                  </p:childTnLst>
                                </p:cTn>
                              </p:par>
                            </p:childTnLst>
                          </p:cTn>
                        </p:par>
                      </p:childTnLst>
                    </p:cTn>
                  </p:par>
                  <p:par>
                    <p:cTn id="50" fill="hold">
                      <p:stCondLst>
                        <p:cond delay="indefinite"/>
                      </p:stCondLst>
                      <p:childTnLst>
                        <p:par>
                          <p:cTn id="51" fill="hold">
                            <p:stCondLst>
                              <p:cond delay="0"/>
                            </p:stCondLst>
                            <p:childTnLst>
                              <p:par>
                                <p:cTn id="53" presetID="22" presetClass="entr" presetSubtype="8"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4" dur="450"/>
                                        <p:tgtEl>
                                          <p:spTgt spid="8"/>
                                        </p:tgtEl>
                                      </p:cBhvr>
                                    </p:animEffect>
                                  </p:childTnLst>
                                </p:cTn>
                              </p:par>
                              <p:par>
                                <p:cTn id="56" presetID="10" presetClass="entr" presetSubtype="0" fill="hold" grpId="0" nodeType="with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par>
                                <p:cTn id="59" presetID="10"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60" dur="500"/>
                                        <p:tgtEl>
                                          <p:spTgt spid="10"/>
                                        </p:tgtEl>
                                      </p:cBhvr>
                                    </p:animEffect>
                                  </p:childTnLst>
                                </p:cTn>
                              </p:par>
                              <p:par>
                                <p:cTn id="62" presetID="10"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3" dur="500"/>
                                        <p:tgtEl>
                                          <p:spTgt spid="11"/>
                                        </p:tgtEl>
                                      </p:cBhvr>
                                    </p:animEffect>
                                  </p:childTnLst>
                                </p:cTn>
                              </p:par>
                              <p:par>
                                <p:cTn id="65" presetID="10"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8" presetID="22" presetClass="entr" presetSubtype="8" fill="hold" grpId="0" nodeType="withEffect">
                                  <p:stCondLst>
                                    <p:cond delay="5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9" dur="450"/>
                                        <p:tgtEl>
                                          <p:spTgt spid="20"/>
                                        </p:tgtEl>
                                      </p:cBhvr>
                                    </p:animEffect>
                                  </p:childTnLst>
                                </p:cTn>
                              </p:par>
                              <p:par>
                                <p:cTn id="71" presetID="10" presetClass="entr" presetSubtype="0" fill="hold" grpId="0" nodeType="withEffect">
                                  <p:stCondLst>
                                    <p:cond delay="100"/>
                                  </p:stCondLst>
                                  <p:childTnLst>
                                    <p:set>
                                      <p:cBhvr>
                                        <p:cTn id="70"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4" presetID="10" presetClass="entr" presetSubtype="0" fill="hold" grpId="0" nodeType="withEffect">
                                  <p:stCondLst>
                                    <p:cond delay="150"/>
                                  </p:stCondLst>
                                  <p:childTnLst>
                                    <p:set>
                                      <p:cBhvr>
                                        <p:cTn id="73"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7" presetID="22" presetClass="entr" presetSubtype="8" fill="hold" grpId="0" nodeType="withEffect">
                                  <p:stCondLst>
                                    <p:cond delay="20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8" dur="450"/>
                                        <p:tgtEl>
                                          <p:spTgt spid="29"/>
                                        </p:tgtEl>
                                      </p:cBhvr>
                                    </p:animEffect>
                                  </p:childTnLst>
                                </p:cTn>
                              </p:par>
                              <p:par>
                                <p:cTn id="80" presetID="10" presetClass="entr" presetSubtype="0" fill="hold" grpId="0" nodeType="withEffect">
                                  <p:stCondLst>
                                    <p:cond delay="250"/>
                                  </p:stCondLst>
                                  <p:childTnLst>
                                    <p:set>
                                      <p:cBhvr>
                                        <p:cTn id="79"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3" presetID="10" presetClass="entr" presetSubtype="0" fill="hold" grpId="0" nodeType="withEffect">
                                  <p:stCondLst>
                                    <p:cond delay="300"/>
                                  </p:stCondLst>
                                  <p:childTnLst>
                                    <p:set>
                                      <p:cBhvr>
                                        <p:cTn id="82"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6" presetID="22" presetClass="entr" presetSubtype="8" fill="hold" grpId="0" nodeType="withEffect">
                                  <p:stCondLst>
                                    <p:cond delay="350"/>
                                  </p:stCondLst>
                                  <p:childTnLst>
                                    <p:set>
                                      <p:cBhvr>
                                        <p:cTn id="85" dur="1" fill="hold">
                                          <p:stCondLst>
                                            <p:cond delay="0"/>
                                          </p:stCondLst>
                                        </p:cTn>
                                        <p:tgtEl>
                                          <p:spTgt spid="38"/>
                                        </p:tgtEl>
                                        <p:attrNameLst>
                                          <p:attrName>style.visibility</p:attrName>
                                        </p:attrNameLst>
                                      </p:cBhvr>
                                      <p:to>
                                        <p:strVal val="visible"/>
                                      </p:to>
                                    </p:set>
                                    <p:animEffect transition="in" filter="wipe(left)">
                                      <p:cBhvr>
                                        <p:cTn id="87" dur="450"/>
                                        <p:tgtEl>
                                          <p:spTgt spid="38"/>
                                        </p:tgtEl>
                                      </p:cBhvr>
                                    </p:animEffect>
                                  </p:childTnLst>
                                </p:cTn>
                              </p:par>
                              <p:par>
                                <p:cTn id="89" presetID="10" presetClass="entr" presetSubtype="0" fill="hold" grpId="0" nodeType="withEffect">
                                  <p:stCondLst>
                                    <p:cond delay="400"/>
                                  </p:stCondLst>
                                  <p:childTnLst>
                                    <p:set>
                                      <p:cBhvr>
                                        <p:cTn id="88"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2" presetID="10" presetClass="entr" presetSubtype="0" fill="hold" grpId="0" nodeType="withEffect">
                                  <p:stCondLst>
                                    <p:cond delay="450"/>
                                  </p:stCondLst>
                                  <p:childTnLst>
                                    <p:set>
                                      <p:cBhvr>
                                        <p:cTn id="91" dur="1" fill="hold">
                                          <p:stCondLst>
                                            <p:cond delay="0"/>
                                          </p:stCondLst>
                                        </p:cTn>
                                        <p:tgtEl>
                                          <p:spTgt spid="46"/>
                                        </p:tgtEl>
                                        <p:attrNameLst>
                                          <p:attrName>style.visibility</p:attrName>
                                        </p:attrNameLst>
                                      </p:cBhvr>
                                      <p:to>
                                        <p:strVal val="visible"/>
                                      </p:to>
                                    </p:set>
                                    <p:animEffect transition="in" filter="fade">
                                      <p:cBhvr>
                                        <p:cTn id="93" dur="500"/>
                                        <p:tgtEl>
                                          <p:spTgt spid="46"/>
                                        </p:tgtEl>
                                      </p:cBhvr>
                                    </p:animEffect>
                                  </p:childTnLst>
                                </p:cTn>
                              </p:par>
                              <p:par>
                                <p:cTn id="95" presetID="22" presetClass="entr" presetSubtype="8" fill="hold" grpId="0" nodeType="withEffect">
                                  <p:stCondLst>
                                    <p:cond delay="500"/>
                                  </p:stCondLst>
                                  <p:childTnLst>
                                    <p:set>
                                      <p:cBhvr>
                                        <p:cTn id="94" dur="1" fill="hold">
                                          <p:stCondLst>
                                            <p:cond delay="0"/>
                                          </p:stCondLst>
                                        </p:cTn>
                                        <p:tgtEl>
                                          <p:spTgt spid="47"/>
                                        </p:tgtEl>
                                        <p:attrNameLst>
                                          <p:attrName>style.visibility</p:attrName>
                                        </p:attrNameLst>
                                      </p:cBhvr>
                                      <p:to>
                                        <p:strVal val="visible"/>
                                      </p:to>
                                    </p:set>
                                    <p:animEffect transition="in" filter="wipe(left)">
                                      <p:cBhvr>
                                        <p:cTn id="96" dur="450"/>
                                        <p:tgtEl>
                                          <p:spTgt spid="47"/>
                                        </p:tgtEl>
                                      </p:cBhvr>
                                    </p:animEffect>
                                  </p:childTnLst>
                                </p:cTn>
                              </p:par>
                              <p:par>
                                <p:cTn id="98" presetID="10" presetClass="entr" presetSubtype="0" fill="hold" grpId="0" nodeType="withEffect">
                                  <p:stCondLst>
                                    <p:cond delay="550"/>
                                  </p:stCondLst>
                                  <p:childTnLst>
                                    <p:set>
                                      <p:cBhvr>
                                        <p:cTn id="97"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childTnLst>
                                </p:cTn>
                              </p:par>
                            </p:childTnLst>
                          </p:cTn>
                        </p:par>
                      </p:childTnLst>
                    </p:cTn>
                  </p:par>
                  <p:par>
                    <p:cTn id="100" fill="hold">
                      <p:stCondLst>
                        <p:cond delay="indefinite"/>
                      </p:stCondLst>
                      <p:childTnLst>
                        <p:par>
                          <p:cTn id="101" fill="hold">
                            <p:stCondLst>
                              <p:cond delay="0"/>
                            </p:stCondLst>
                            <p:childTnLst>
                              <p:par>
                                <p:cTn id="103" presetID="22" presetClass="entr" presetSubtype="8" fill="hold" grpId="0" nodeType="clickEffect">
                                  <p:stCondLst>
                                    <p:cond delay="0"/>
                                  </p:stCondLst>
                                  <p:childTnLst>
                                    <p:set>
                                      <p:cBhvr>
                                        <p:cTn id="102" dur="1" fill="hold">
                                          <p:stCondLst>
                                            <p:cond delay="0"/>
                                          </p:stCondLst>
                                        </p:cTn>
                                        <p:tgtEl>
                                          <p:spTgt spid="12"/>
                                        </p:tgtEl>
                                        <p:attrNameLst>
                                          <p:attrName>style.visibility</p:attrName>
                                        </p:attrNameLst>
                                      </p:cBhvr>
                                      <p:to>
                                        <p:strVal val="visible"/>
                                      </p:to>
                                    </p:set>
                                    <p:animEffect transition="in" filter="wipe(left)">
                                      <p:cBhvr>
                                        <p:cTn id="104" dur="450"/>
                                        <p:tgtEl>
                                          <p:spTgt spid="12"/>
                                        </p:tgtEl>
                                      </p:cBhvr>
                                    </p:animEffect>
                                  </p:childTnLst>
                                </p:cTn>
                              </p:par>
                              <p:par>
                                <p:cTn id="106" presetID="10" presetClass="entr" presetSubtype="0" fill="hold" grpId="0" nodeType="withEffect">
                                  <p:stCondLst>
                                    <p:cond delay="0"/>
                                  </p:stCondLst>
                                  <p:childTnLst>
                                    <p:set>
                                      <p:cBhvr>
                                        <p:cTn id="105" dur="1" fill="hold">
                                          <p:stCondLst>
                                            <p:cond delay="0"/>
                                          </p:stCondLst>
                                        </p:cTn>
                                        <p:tgtEl>
                                          <p:spTgt spid="13"/>
                                        </p:tgtEl>
                                        <p:attrNameLst>
                                          <p:attrName>style.visibility</p:attrName>
                                        </p:attrNameLst>
                                      </p:cBhvr>
                                      <p:to>
                                        <p:strVal val="visible"/>
                                      </p:to>
                                    </p:set>
                                    <p:animEffect transition="in" filter="fade">
                                      <p:cBhvr>
                                        <p:cTn id="107" dur="500"/>
                                        <p:tgtEl>
                                          <p:spTgt spid="13"/>
                                        </p:tgtEl>
                                      </p:cBhvr>
                                    </p:animEffect>
                                  </p:childTnLst>
                                </p:cTn>
                              </p:par>
                              <p:par>
                                <p:cTn id="109" presetID="10" presetClass="entr" presetSubtype="0" fill="hold" grpId="0"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10" dur="500"/>
                                        <p:tgtEl>
                                          <p:spTgt spid="14"/>
                                        </p:tgtEl>
                                      </p:cBhvr>
                                    </p:animEffect>
                                  </p:childTnLst>
                                </p:cTn>
                              </p:par>
                              <p:par>
                                <p:cTn id="112" presetID="10" presetClass="entr" presetSubtype="0" fill="hold" grpId="0" nodeType="with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fade">
                                      <p:cBhvr>
                                        <p:cTn id="113" dur="500"/>
                                        <p:tgtEl>
                                          <p:spTgt spid="15"/>
                                        </p:tgtEl>
                                      </p:cBhvr>
                                    </p:animEffect>
                                  </p:childTnLst>
                                </p:cTn>
                              </p:par>
                              <p:par>
                                <p:cTn id="115" presetID="10" presetClass="entr" presetSubtype="0" fill="hold" grpId="0" nodeType="with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6" dur="500"/>
                                        <p:tgtEl>
                                          <p:spTgt spid="22"/>
                                        </p:tgtEl>
                                      </p:cBhvr>
                                    </p:animEffect>
                                  </p:childTnLst>
                                </p:cTn>
                              </p:par>
                              <p:par>
                                <p:cTn id="118" presetID="22" presetClass="entr" presetSubtype="8" fill="hold" grpId="0" nodeType="withEffect">
                                  <p:stCondLst>
                                    <p:cond delay="50"/>
                                  </p:stCondLst>
                                  <p:childTnLst>
                                    <p:set>
                                      <p:cBhvr>
                                        <p:cTn id="117" dur="1" fill="hold">
                                          <p:stCondLst>
                                            <p:cond delay="0"/>
                                          </p:stCondLst>
                                        </p:cTn>
                                        <p:tgtEl>
                                          <p:spTgt spid="23"/>
                                        </p:tgtEl>
                                        <p:attrNameLst>
                                          <p:attrName>style.visibility</p:attrName>
                                        </p:attrNameLst>
                                      </p:cBhvr>
                                      <p:to>
                                        <p:strVal val="visible"/>
                                      </p:to>
                                    </p:set>
                                    <p:animEffect transition="in" filter="wipe(left)">
                                      <p:cBhvr>
                                        <p:cTn id="119" dur="450"/>
                                        <p:tgtEl>
                                          <p:spTgt spid="23"/>
                                        </p:tgtEl>
                                      </p:cBhvr>
                                    </p:animEffect>
                                  </p:childTnLst>
                                </p:cTn>
                              </p:par>
                              <p:par>
                                <p:cTn id="121" presetID="10" presetClass="entr" presetSubtype="0" fill="hold" grpId="0" nodeType="withEffect">
                                  <p:stCondLst>
                                    <p:cond delay="10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2" dur="500"/>
                                        <p:tgtEl>
                                          <p:spTgt spid="24"/>
                                        </p:tgtEl>
                                      </p:cBhvr>
                                    </p:animEffect>
                                  </p:childTnLst>
                                </p:cTn>
                              </p:par>
                              <p:par>
                                <p:cTn id="124" presetID="10" presetClass="entr" presetSubtype="0" fill="hold" grpId="0" nodeType="withEffect">
                                  <p:stCondLst>
                                    <p:cond delay="15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500"/>
                                        <p:tgtEl>
                                          <p:spTgt spid="31"/>
                                        </p:tgtEl>
                                      </p:cBhvr>
                                    </p:animEffect>
                                  </p:childTnLst>
                                </p:cTn>
                              </p:par>
                              <p:par>
                                <p:cTn id="127" presetID="22" presetClass="entr" presetSubtype="8" fill="hold" grpId="0" nodeType="withEffect">
                                  <p:stCondLst>
                                    <p:cond delay="200"/>
                                  </p:stCondLst>
                                  <p:childTnLst>
                                    <p:set>
                                      <p:cBhvr>
                                        <p:cTn id="126" dur="1" fill="hold">
                                          <p:stCondLst>
                                            <p:cond delay="0"/>
                                          </p:stCondLst>
                                        </p:cTn>
                                        <p:tgtEl>
                                          <p:spTgt spid="32"/>
                                        </p:tgtEl>
                                        <p:attrNameLst>
                                          <p:attrName>style.visibility</p:attrName>
                                        </p:attrNameLst>
                                      </p:cBhvr>
                                      <p:to>
                                        <p:strVal val="visible"/>
                                      </p:to>
                                    </p:set>
                                    <p:animEffect transition="in" filter="wipe(left)">
                                      <p:cBhvr>
                                        <p:cTn id="128" dur="450"/>
                                        <p:tgtEl>
                                          <p:spTgt spid="32"/>
                                        </p:tgtEl>
                                      </p:cBhvr>
                                    </p:animEffect>
                                  </p:childTnLst>
                                </p:cTn>
                              </p:par>
                              <p:par>
                                <p:cTn id="130" presetID="10" presetClass="entr" presetSubtype="0" fill="hold" grpId="0" nodeType="withEffect">
                                  <p:stCondLst>
                                    <p:cond delay="25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1" dur="500"/>
                                        <p:tgtEl>
                                          <p:spTgt spid="33"/>
                                        </p:tgtEl>
                                      </p:cBhvr>
                                    </p:animEffect>
                                  </p:childTnLst>
                                </p:cTn>
                              </p:par>
                              <p:par>
                                <p:cTn id="133" presetID="10" presetClass="entr" presetSubtype="0" fill="hold" grpId="0" nodeType="withEffect">
                                  <p:stCondLst>
                                    <p:cond delay="300"/>
                                  </p:stCondLst>
                                  <p:childTnLst>
                                    <p:set>
                                      <p:cBhvr>
                                        <p:cTn id="132" dur="1" fill="hold">
                                          <p:stCondLst>
                                            <p:cond delay="0"/>
                                          </p:stCondLst>
                                        </p:cTn>
                                        <p:tgtEl>
                                          <p:spTgt spid="40"/>
                                        </p:tgtEl>
                                        <p:attrNameLst>
                                          <p:attrName>style.visibility</p:attrName>
                                        </p:attrNameLst>
                                      </p:cBhvr>
                                      <p:to>
                                        <p:strVal val="visible"/>
                                      </p:to>
                                    </p:set>
                                    <p:animEffect transition="in" filter="fade">
                                      <p:cBhvr>
                                        <p:cTn id="134" dur="500"/>
                                        <p:tgtEl>
                                          <p:spTgt spid="40"/>
                                        </p:tgtEl>
                                      </p:cBhvr>
                                    </p:animEffect>
                                  </p:childTnLst>
                                </p:cTn>
                              </p:par>
                              <p:par>
                                <p:cTn id="136" presetID="22" presetClass="entr" presetSubtype="8" fill="hold" grpId="0" nodeType="withEffect">
                                  <p:stCondLst>
                                    <p:cond delay="350"/>
                                  </p:stCondLst>
                                  <p:childTnLst>
                                    <p:set>
                                      <p:cBhvr>
                                        <p:cTn id="135" dur="1" fill="hold">
                                          <p:stCondLst>
                                            <p:cond delay="0"/>
                                          </p:stCondLst>
                                        </p:cTn>
                                        <p:tgtEl>
                                          <p:spTgt spid="41"/>
                                        </p:tgtEl>
                                        <p:attrNameLst>
                                          <p:attrName>style.visibility</p:attrName>
                                        </p:attrNameLst>
                                      </p:cBhvr>
                                      <p:to>
                                        <p:strVal val="visible"/>
                                      </p:to>
                                    </p:set>
                                    <p:animEffect transition="in" filter="wipe(left)">
                                      <p:cBhvr>
                                        <p:cTn id="137" dur="450"/>
                                        <p:tgtEl>
                                          <p:spTgt spid="41"/>
                                        </p:tgtEl>
                                      </p:cBhvr>
                                    </p:animEffect>
                                  </p:childTnLst>
                                </p:cTn>
                              </p:par>
                              <p:par>
                                <p:cTn id="139" presetID="10" presetClass="entr" presetSubtype="0" fill="hold" grpId="0" nodeType="withEffect">
                                  <p:stCondLst>
                                    <p:cond delay="400"/>
                                  </p:stCondLst>
                                  <p:childTnLst>
                                    <p:set>
                                      <p:cBhvr>
                                        <p:cTn id="138"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2" presetID="10" presetClass="entr" presetSubtype="0" fill="hold" grpId="0" nodeType="withEffect">
                                  <p:stCondLst>
                                    <p:cond delay="45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3" dur="500"/>
                                        <p:tgtEl>
                                          <p:spTgt spid="49"/>
                                        </p:tgtEl>
                                      </p:cBhvr>
                                    </p:animEffect>
                                  </p:childTnLst>
                                </p:cTn>
                              </p:par>
                              <p:par>
                                <p:cTn id="145" presetID="22" presetClass="entr" presetSubtype="8" fill="hold" grpId="0" nodeType="withEffect">
                                  <p:stCondLst>
                                    <p:cond delay="500"/>
                                  </p:stCondLst>
                                  <p:childTnLst>
                                    <p:set>
                                      <p:cBhvr>
                                        <p:cTn id="144" dur="1" fill="hold">
                                          <p:stCondLst>
                                            <p:cond delay="0"/>
                                          </p:stCondLst>
                                        </p:cTn>
                                        <p:tgtEl>
                                          <p:spTgt spid="50"/>
                                        </p:tgtEl>
                                        <p:attrNameLst>
                                          <p:attrName>style.visibility</p:attrName>
                                        </p:attrNameLst>
                                      </p:cBhvr>
                                      <p:to>
                                        <p:strVal val="visible"/>
                                      </p:to>
                                    </p:set>
                                    <p:animEffect transition="in" filter="wipe(left)">
                                      <p:cBhvr>
                                        <p:cTn id="146" dur="450"/>
                                        <p:tgtEl>
                                          <p:spTgt spid="50"/>
                                        </p:tgtEl>
                                      </p:cBhvr>
                                    </p:animEffect>
                                  </p:childTnLst>
                                </p:cTn>
                              </p:par>
                              <p:par>
                                <p:cTn id="148" presetID="10" presetClass="entr" presetSubtype="0" fill="hold" grpId="0" nodeType="withEffect">
                                  <p:stCondLst>
                                    <p:cond delay="55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9" dur="500"/>
                                        <p:tgtEl>
                                          <p:spTgt spid="51"/>
                                        </p:tgtEl>
                                      </p:cBhvr>
                                    </p:animEffect>
                                  </p:childTnLst>
                                </p:cTn>
                              </p:par>
                              <p:par>
                                <p:cTn id="151" presetID="10" presetClass="entr" presetSubtype="0" fill="hold" grpId="0" nodeType="withEffect">
                                  <p:stCondLst>
                                    <p:cond delay="70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2" dur="500"/>
                                        <p:tgtEl>
                                          <p:spTgt spid="54"/>
                                        </p:tgtEl>
                                      </p:cBhvr>
                                    </p:animEffect>
                                  </p:childTnLst>
                                </p:cTn>
                              </p:par>
                            </p:childTnLst>
                          </p:cTn>
                        </p:par>
                      </p:childTnLst>
                    </p:cTn>
                  </p:par>
                  <p:par>
                    <p:cTn id="153" fill="hold">
                      <p:stCondLst>
                        <p:cond delay="indefinite"/>
                      </p:stCondLst>
                      <p:childTnLst>
                        <p:par>
                          <p:cTn id="154" fill="hold">
                            <p:stCondLst>
                              <p:cond delay="0"/>
                            </p:stCondLst>
                            <p:childTnLst>
                              <p:par>
                                <p:cTn id="156" presetID="42" presetClass="entr" presetSubtype="0" fill="hold" grpId="0" nodeType="click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7" dur="500"/>
                                        <p:tgtEl>
                                          <p:spTgt spid="55"/>
                                        </p:tgtEl>
                                      </p:cBhvr>
                                    </p:animEffect>
                                    <p:anim calcmode="lin" valueType="num">
                                      <p:cBhvr>
                                        <p:cTn id="158" dur="500" fill="hold"/>
                                        <p:tgtEl>
                                          <p:spTgt spid="55"/>
                                        </p:tgtEl>
                                        <p:attrNameLst>
                                          <p:attrName>ppt_x</p:attrName>
                                        </p:attrNameLst>
                                      </p:cBhvr>
                                      <p:tavLst>
                                        <p:tav tm="0">
                                          <p:val>
                                            <p:strVal val="#ppt_x"/>
                                          </p:val>
                                        </p:tav>
                                        <p:tav tm="100000">
                                          <p:val>
                                            <p:strVal val="#ppt_x"/>
                                          </p:val>
                                        </p:tav>
                                      </p:tavLst>
                                    </p:anim>
                                    <p:anim calcmode="lin" valueType="num">
                                      <p:cBhvr>
                                        <p:cTn id="159" dur="500" fill="hold"/>
                                        <p:tgtEl>
                                          <p:spTgt spid="55"/>
                                        </p:tgtEl>
                                        <p:attrNameLst>
                                          <p:attrName>ppt_y</p:attrName>
                                        </p:attrNameLst>
                                      </p:cBhvr>
                                      <p:tavLst>
                                        <p:tav tm="0">
                                          <p:val>
                                            <p:strVal val="#ppt_y+0.06"/>
                                          </p:val>
                                        </p:tav>
                                        <p:tav tm="100000">
                                          <p:val>
                                            <p:strVal val="#ppt_y"/>
                                          </p:val>
                                        </p:tav>
                                      </p:tavLst>
                                    </p:anim>
                                  </p:childTnLst>
                                </p:cTn>
                              </p:par>
                              <p:par>
                                <p:cTn id="161" presetID="42" presetClass="entr" presetSubtype="0" fill="hold" grpId="0" nodeType="withEffect">
                                  <p:stCondLst>
                                    <p:cond delay="20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2" dur="500"/>
                                        <p:tgtEl>
                                          <p:spTgt spid="56"/>
                                        </p:tgtEl>
                                      </p:cBhvr>
                                    </p:animEffect>
                                    <p:anim calcmode="lin" valueType="num">
                                      <p:cBhvr>
                                        <p:cTn id="163" dur="500" fill="hold"/>
                                        <p:tgtEl>
                                          <p:spTgt spid="56"/>
                                        </p:tgtEl>
                                        <p:attrNameLst>
                                          <p:attrName>ppt_x</p:attrName>
                                        </p:attrNameLst>
                                      </p:cBhvr>
                                      <p:tavLst>
                                        <p:tav tm="0">
                                          <p:val>
                                            <p:strVal val="#ppt_x"/>
                                          </p:val>
                                        </p:tav>
                                        <p:tav tm="100000">
                                          <p:val>
                                            <p:strVal val="#ppt_x"/>
                                          </p:val>
                                        </p:tav>
                                      </p:tavLst>
                                    </p:anim>
                                    <p:anim calcmode="lin" valueType="num">
                                      <p:cBhvr>
                                        <p:cTn id="164" dur="500" fill="hold"/>
                                        <p:tgtEl>
                                          <p:spTgt spid="56"/>
                                        </p:tgtEl>
                                        <p:attrNameLst>
                                          <p:attrName>ppt_y</p:attrName>
                                        </p:attrNameLst>
                                      </p:cBhvr>
                                      <p:tavLst>
                                        <p:tav tm="0">
                                          <p:val>
                                            <p:strVal val="#ppt_y+0.06"/>
                                          </p:val>
                                        </p:tav>
                                        <p:tav tm="100000">
                                          <p:val>
                                            <p:strVal val="#ppt_y"/>
                                          </p:val>
                                        </p:tav>
                                      </p:tavLst>
                                    </p:anim>
                                  </p:childTnLst>
                                </p:cTn>
                              </p:par>
                              <p:par>
                                <p:cTn id="166" presetID="42" presetClass="entr" presetSubtype="0" fill="hold" grpId="0" nodeType="withEffect">
                                  <p:stCondLst>
                                    <p:cond delay="400"/>
                                  </p:stCondLst>
                                  <p:childTnLst>
                                    <p:set>
                                      <p:cBhvr>
                                        <p:cTn id="165" dur="1" fill="hold">
                                          <p:stCondLst>
                                            <p:cond delay="0"/>
                                          </p:stCondLst>
                                        </p:cTn>
                                        <p:tgtEl>
                                          <p:spTgt spid="57"/>
                                        </p:tgtEl>
                                        <p:attrNameLst>
                                          <p:attrName>style.visibility</p:attrName>
                                        </p:attrNameLst>
                                      </p:cBhvr>
                                      <p:to>
                                        <p:strVal val="visible"/>
                                      </p:to>
                                    </p:set>
                                    <p:animEffect transition="in" filter="fade">
                                      <p:cBhvr>
                                        <p:cTn id="167" dur="500"/>
                                        <p:tgtEl>
                                          <p:spTgt spid="57"/>
                                        </p:tgtEl>
                                      </p:cBhvr>
                                    </p:animEffect>
                                    <p:anim calcmode="lin" valueType="num">
                                      <p:cBhvr>
                                        <p:cTn id="168" dur="500" fill="hold"/>
                                        <p:tgtEl>
                                          <p:spTgt spid="57"/>
                                        </p:tgtEl>
                                        <p:attrNameLst>
                                          <p:attrName>ppt_x</p:attrName>
                                        </p:attrNameLst>
                                      </p:cBhvr>
                                      <p:tavLst>
                                        <p:tav tm="0">
                                          <p:val>
                                            <p:strVal val="#ppt_x"/>
                                          </p:val>
                                        </p:tav>
                                        <p:tav tm="100000">
                                          <p:val>
                                            <p:strVal val="#ppt_x"/>
                                          </p:val>
                                        </p:tav>
                                      </p:tavLst>
                                    </p:anim>
                                    <p:anim calcmode="lin" valueType="num">
                                      <p:cBhvr>
                                        <p:cTn id="169" dur="500" fill="hold"/>
                                        <p:tgtEl>
                                          <p:spTgt spid="5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4" grpId="0" animBg="1"/>
      <p:bldP spid="55" grpId="0" animBg="1"/>
      <p:bldP spid="56" grpId="0" animBg="1"/>
      <p:bldP spid="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E11D48"/>
                </a:solidFill>
                <a:latin typeface="Inter" pitchFamily="34" charset="0"/>
                <a:ea typeface="Inter" pitchFamily="34" charset="-122"/>
                <a:cs typeface="Inter" pitchFamily="34" charset="-120"/>
              </a:rPr>
              <a:t>07 · THE JOB</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The decoder’s job: guess the next token, again and again</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It reads everything written so far, predicts one token, adds it to the text — and repeats.</a:t>
            </a:r>
            <a:endParaRPr lang="en-US" sz="1300" dirty="0"/>
          </a:p>
        </p:txBody>
      </p:sp>
      <p:sp>
        <p:nvSpPr>
          <p:cNvPr id="5" name="anim-1-fade-0-259"/>
          <p:cNvSpPr txBox="1"/>
          <p:nvPr/>
        </p:nvSpPr>
        <p:spPr>
          <a:xfrm>
            <a:off x="548640" y="2075688"/>
            <a:ext cx="731520" cy="228600"/>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Step 1</a:t>
            </a:r>
            <a:endParaRPr lang="en-US" sz="1000" dirty="0"/>
          </a:p>
        </p:txBody>
      </p:sp>
      <p:sp>
        <p:nvSpPr>
          <p:cNvPr id="6" name="anim-1-fade-60-260"/>
          <p:cNvSpPr/>
          <p:nvPr/>
        </p:nvSpPr>
        <p:spPr>
          <a:xfrm>
            <a:off x="1325880" y="196596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7" name="anim-1-fade-120-261"/>
          <p:cNvSpPr/>
          <p:nvPr/>
        </p:nvSpPr>
        <p:spPr>
          <a:xfrm>
            <a:off x="1968886" y="196596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cat</a:t>
            </a:r>
            <a:endParaRPr lang="en-US" sz="1300" dirty="0"/>
          </a:p>
        </p:txBody>
      </p:sp>
      <p:sp>
        <p:nvSpPr>
          <p:cNvPr id="8" name="anim-1-fade-180-262"/>
          <p:cNvSpPr/>
          <p:nvPr/>
        </p:nvSpPr>
        <p:spPr>
          <a:xfrm>
            <a:off x="2611892" y="196596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sat</a:t>
            </a:r>
            <a:endParaRPr lang="en-US" sz="1300" dirty="0"/>
          </a:p>
        </p:txBody>
      </p:sp>
      <p:sp>
        <p:nvSpPr>
          <p:cNvPr id="9" name="anim-1-fade-240-263"/>
          <p:cNvSpPr/>
          <p:nvPr/>
        </p:nvSpPr>
        <p:spPr>
          <a:xfrm>
            <a:off x="3254898" y="1965960"/>
            <a:ext cx="465247"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on</a:t>
            </a:r>
            <a:endParaRPr lang="en-US" sz="1300" dirty="0"/>
          </a:p>
        </p:txBody>
      </p:sp>
      <p:sp>
        <p:nvSpPr>
          <p:cNvPr id="10" name="anim-1-fade-300-264"/>
          <p:cNvSpPr/>
          <p:nvPr/>
        </p:nvSpPr>
        <p:spPr>
          <a:xfrm>
            <a:off x="3793297" y="196596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11" name="anim-1-fade-360-265"/>
          <p:cNvSpPr/>
          <p:nvPr/>
        </p:nvSpPr>
        <p:spPr>
          <a:xfrm>
            <a:off x="4472879" y="2176272"/>
            <a:ext cx="347472" cy="0"/>
          </a:xfrm>
          <a:prstGeom prst="line">
            <a:avLst/>
          </a:prstGeom>
          <a:noFill/>
          <a:ln w="22225">
            <a:solidFill>
              <a:srgbClr val="E11D48"/>
            </a:solidFill>
            <a:prstDash val="solid"/>
            <a:tailEnd type="triangle"/>
          </a:ln>
        </p:spPr>
      </p:sp>
      <p:sp>
        <p:nvSpPr>
          <p:cNvPr id="12" name="anim-1-zoom-500-266"/>
          <p:cNvSpPr/>
          <p:nvPr/>
        </p:nvSpPr>
        <p:spPr>
          <a:xfrm>
            <a:off x="4893503" y="1965960"/>
            <a:ext cx="569854" cy="420624"/>
          </a:xfrm>
          <a:prstGeom prst="roundRect">
            <a:avLst>
              <a:gd name="adj" fmla="val 15217"/>
            </a:avLst>
          </a:prstGeom>
          <a:solidFill>
            <a:srgbClr val="E11D48"/>
          </a:solidFill>
          <a:ln w="12700">
            <a:solidFill>
              <a:srgbClr val="E11D48"/>
            </a:solid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mat</a:t>
            </a:r>
            <a:endParaRPr lang="en-US" sz="1300" dirty="0"/>
          </a:p>
        </p:txBody>
      </p:sp>
      <p:sp>
        <p:nvSpPr>
          <p:cNvPr id="13" name="anim-2-fade-0-267"/>
          <p:cNvSpPr txBox="1"/>
          <p:nvPr/>
        </p:nvSpPr>
        <p:spPr>
          <a:xfrm>
            <a:off x="548640" y="3035808"/>
            <a:ext cx="731520" cy="228600"/>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Step 2</a:t>
            </a:r>
            <a:endParaRPr lang="en-US" sz="1000" dirty="0"/>
          </a:p>
        </p:txBody>
      </p:sp>
      <p:sp>
        <p:nvSpPr>
          <p:cNvPr id="14" name="anim-2-fade-60-268"/>
          <p:cNvSpPr/>
          <p:nvPr/>
        </p:nvSpPr>
        <p:spPr>
          <a:xfrm>
            <a:off x="1325880" y="292608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15" name="anim-2-fade-120-269"/>
          <p:cNvSpPr/>
          <p:nvPr/>
        </p:nvSpPr>
        <p:spPr>
          <a:xfrm>
            <a:off x="1968886" y="292608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cat</a:t>
            </a:r>
            <a:endParaRPr lang="en-US" sz="1300" dirty="0"/>
          </a:p>
        </p:txBody>
      </p:sp>
      <p:sp>
        <p:nvSpPr>
          <p:cNvPr id="16" name="anim-2-fade-180-270"/>
          <p:cNvSpPr/>
          <p:nvPr/>
        </p:nvSpPr>
        <p:spPr>
          <a:xfrm>
            <a:off x="2611892" y="292608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sat</a:t>
            </a:r>
            <a:endParaRPr lang="en-US" sz="1300" dirty="0"/>
          </a:p>
        </p:txBody>
      </p:sp>
      <p:sp>
        <p:nvSpPr>
          <p:cNvPr id="17" name="anim-2-fade-240-271"/>
          <p:cNvSpPr/>
          <p:nvPr/>
        </p:nvSpPr>
        <p:spPr>
          <a:xfrm>
            <a:off x="3254898" y="2926080"/>
            <a:ext cx="465247"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on</a:t>
            </a:r>
            <a:endParaRPr lang="en-US" sz="1300" dirty="0"/>
          </a:p>
        </p:txBody>
      </p:sp>
      <p:sp>
        <p:nvSpPr>
          <p:cNvPr id="18" name="anim-2-fade-300-272"/>
          <p:cNvSpPr/>
          <p:nvPr/>
        </p:nvSpPr>
        <p:spPr>
          <a:xfrm>
            <a:off x="3793297" y="292608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19" name="anim-2-fade-360-273"/>
          <p:cNvSpPr/>
          <p:nvPr/>
        </p:nvSpPr>
        <p:spPr>
          <a:xfrm>
            <a:off x="4436303" y="2926080"/>
            <a:ext cx="569854" cy="420624"/>
          </a:xfrm>
          <a:prstGeom prst="roundRect">
            <a:avLst>
              <a:gd name="adj" fmla="val 15217"/>
            </a:avLst>
          </a:prstGeom>
          <a:solidFill>
            <a:srgbClr val="FFE4E6"/>
          </a:solidFill>
          <a:ln w="12700">
            <a:solidFill>
              <a:srgbClr val="E11D48"/>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mat</a:t>
            </a:r>
            <a:endParaRPr lang="en-US" sz="1300" dirty="0"/>
          </a:p>
        </p:txBody>
      </p:sp>
      <p:sp>
        <p:nvSpPr>
          <p:cNvPr id="20" name="anim-2-fade-420-274"/>
          <p:cNvSpPr/>
          <p:nvPr/>
        </p:nvSpPr>
        <p:spPr>
          <a:xfrm>
            <a:off x="5115885" y="3136392"/>
            <a:ext cx="347472" cy="0"/>
          </a:xfrm>
          <a:prstGeom prst="line">
            <a:avLst/>
          </a:prstGeom>
          <a:noFill/>
          <a:ln w="22225">
            <a:solidFill>
              <a:srgbClr val="E11D48"/>
            </a:solidFill>
            <a:prstDash val="solid"/>
            <a:tailEnd type="triangle"/>
          </a:ln>
        </p:spPr>
      </p:sp>
      <p:sp>
        <p:nvSpPr>
          <p:cNvPr id="21" name="anim-2-zoom-500-275"/>
          <p:cNvSpPr/>
          <p:nvPr/>
        </p:nvSpPr>
        <p:spPr>
          <a:xfrm>
            <a:off x="5536509" y="2926080"/>
            <a:ext cx="384048" cy="420624"/>
          </a:xfrm>
          <a:prstGeom prst="roundRect">
            <a:avLst>
              <a:gd name="adj" fmla="val 16667"/>
            </a:avLst>
          </a:prstGeom>
          <a:solidFill>
            <a:srgbClr val="E11D48"/>
          </a:solidFill>
          <a:ln w="12700">
            <a:solidFill>
              <a:srgbClr val="E11D48"/>
            </a:solid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a:t>
            </a:r>
            <a:endParaRPr lang="en-US" sz="1300" dirty="0"/>
          </a:p>
        </p:txBody>
      </p:sp>
      <p:sp>
        <p:nvSpPr>
          <p:cNvPr id="22" name="anim-3-fade-0-276"/>
          <p:cNvSpPr txBox="1"/>
          <p:nvPr/>
        </p:nvSpPr>
        <p:spPr>
          <a:xfrm>
            <a:off x="548640" y="3995928"/>
            <a:ext cx="731520" cy="228600"/>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Step 3</a:t>
            </a:r>
            <a:endParaRPr lang="en-US" sz="1000" dirty="0"/>
          </a:p>
        </p:txBody>
      </p:sp>
      <p:sp>
        <p:nvSpPr>
          <p:cNvPr id="23" name="anim-3-fade-60-277"/>
          <p:cNvSpPr/>
          <p:nvPr/>
        </p:nvSpPr>
        <p:spPr>
          <a:xfrm>
            <a:off x="1325880" y="388620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24" name="anim-3-fade-120-278"/>
          <p:cNvSpPr/>
          <p:nvPr/>
        </p:nvSpPr>
        <p:spPr>
          <a:xfrm>
            <a:off x="1968886" y="388620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cat</a:t>
            </a:r>
            <a:endParaRPr lang="en-US" sz="1300" dirty="0"/>
          </a:p>
        </p:txBody>
      </p:sp>
      <p:sp>
        <p:nvSpPr>
          <p:cNvPr id="25" name="anim-3-fade-180-279"/>
          <p:cNvSpPr/>
          <p:nvPr/>
        </p:nvSpPr>
        <p:spPr>
          <a:xfrm>
            <a:off x="2611892" y="388620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sat</a:t>
            </a:r>
            <a:endParaRPr lang="en-US" sz="1300" dirty="0"/>
          </a:p>
        </p:txBody>
      </p:sp>
      <p:sp>
        <p:nvSpPr>
          <p:cNvPr id="26" name="anim-3-fade-240-280"/>
          <p:cNvSpPr/>
          <p:nvPr/>
        </p:nvSpPr>
        <p:spPr>
          <a:xfrm>
            <a:off x="3254898" y="3886200"/>
            <a:ext cx="465247"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on</a:t>
            </a:r>
            <a:endParaRPr lang="en-US" sz="1300" dirty="0"/>
          </a:p>
        </p:txBody>
      </p:sp>
      <p:sp>
        <p:nvSpPr>
          <p:cNvPr id="27" name="anim-3-fade-300-281"/>
          <p:cNvSpPr/>
          <p:nvPr/>
        </p:nvSpPr>
        <p:spPr>
          <a:xfrm>
            <a:off x="3793297" y="3886200"/>
            <a:ext cx="569854" cy="420624"/>
          </a:xfrm>
          <a:prstGeom prst="roundRect">
            <a:avLst>
              <a:gd name="adj" fmla="val 15217"/>
            </a:avLst>
          </a:prstGeom>
          <a:solidFill>
            <a:srgbClr val="FFFFFF"/>
          </a:solidFill>
          <a:ln w="12700">
            <a:solidFill>
              <a:srgbClr val="CBD5E1"/>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28" name="anim-3-fade-360-282"/>
          <p:cNvSpPr/>
          <p:nvPr/>
        </p:nvSpPr>
        <p:spPr>
          <a:xfrm>
            <a:off x="4436303" y="3886200"/>
            <a:ext cx="569854" cy="420624"/>
          </a:xfrm>
          <a:prstGeom prst="roundRect">
            <a:avLst>
              <a:gd name="adj" fmla="val 15217"/>
            </a:avLst>
          </a:prstGeom>
          <a:solidFill>
            <a:srgbClr val="FFE4E6"/>
          </a:solidFill>
          <a:ln w="12700">
            <a:solidFill>
              <a:srgbClr val="E11D48"/>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mat</a:t>
            </a:r>
            <a:endParaRPr lang="en-US" sz="1300" dirty="0"/>
          </a:p>
        </p:txBody>
      </p:sp>
      <p:sp>
        <p:nvSpPr>
          <p:cNvPr id="29" name="anim-3-fade-420-283"/>
          <p:cNvSpPr/>
          <p:nvPr/>
        </p:nvSpPr>
        <p:spPr>
          <a:xfrm>
            <a:off x="5079309" y="3886200"/>
            <a:ext cx="384048" cy="420624"/>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a:t>
            </a:r>
            <a:endParaRPr lang="en-US" sz="1300" dirty="0"/>
          </a:p>
        </p:txBody>
      </p:sp>
      <p:sp>
        <p:nvSpPr>
          <p:cNvPr id="30" name="anim-3-fade-480-284"/>
          <p:cNvSpPr/>
          <p:nvPr/>
        </p:nvSpPr>
        <p:spPr>
          <a:xfrm>
            <a:off x="5573085" y="4096512"/>
            <a:ext cx="347472" cy="0"/>
          </a:xfrm>
          <a:prstGeom prst="line">
            <a:avLst/>
          </a:prstGeom>
          <a:noFill/>
          <a:ln w="22225">
            <a:solidFill>
              <a:srgbClr val="E11D48"/>
            </a:solidFill>
            <a:prstDash val="solid"/>
            <a:tailEnd type="triangle"/>
          </a:ln>
        </p:spPr>
      </p:sp>
      <p:sp>
        <p:nvSpPr>
          <p:cNvPr id="31" name="anim-3-zoom-500-285"/>
          <p:cNvSpPr/>
          <p:nvPr/>
        </p:nvSpPr>
        <p:spPr>
          <a:xfrm>
            <a:off x="5993709" y="3886200"/>
            <a:ext cx="779069" cy="420624"/>
          </a:xfrm>
          <a:prstGeom prst="roundRect">
            <a:avLst>
              <a:gd name="adj" fmla="val 15217"/>
            </a:avLst>
          </a:prstGeom>
          <a:solidFill>
            <a:srgbClr val="E11D48"/>
          </a:solidFill>
          <a:ln w="12700">
            <a:solidFill>
              <a:srgbClr val="E11D48"/>
            </a:solid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&lt;end&gt;</a:t>
            </a:r>
            <a:endParaRPr lang="en-US" sz="1300" dirty="0"/>
          </a:p>
        </p:txBody>
      </p:sp>
      <p:sp>
        <p:nvSpPr>
          <p:cNvPr id="32" name="anim-2-wipe-0-286"/>
          <p:cNvSpPr/>
          <p:nvPr/>
        </p:nvSpPr>
        <p:spPr>
          <a:xfrm flipH="1">
            <a:off x="4663440" y="2432304"/>
            <a:ext cx="777240" cy="448056"/>
          </a:xfrm>
          <a:prstGeom prst="line">
            <a:avLst/>
          </a:prstGeom>
          <a:noFill/>
          <a:ln w="15875">
            <a:solidFill>
              <a:srgbClr val="E11D48"/>
            </a:solidFill>
            <a:prstDash val="dash"/>
            <a:tailEnd type="triangle"/>
          </a:ln>
        </p:spPr>
      </p:sp>
      <p:sp>
        <p:nvSpPr>
          <p:cNvPr id="33" name="anim-2-fade-0-287"/>
          <p:cNvSpPr txBox="1"/>
          <p:nvPr/>
        </p:nvSpPr>
        <p:spPr>
          <a:xfrm>
            <a:off x="5623560" y="2487168"/>
            <a:ext cx="1463040" cy="228600"/>
          </a:xfrm>
          <a:prstGeom prst="rect">
            <a:avLst/>
          </a:prstGeom>
          <a:noFill/>
          <a:ln/>
        </p:spPr>
        <p:txBody>
          <a:bodyPr wrap="square" lIns="0" tIns="0" rIns="0" bIns="0" rtlCol="0" anchor="t"/>
          <a:lstStyle/>
          <a:p>
            <a:pPr indent="0" marL="0">
              <a:buNone/>
            </a:pPr>
            <a:r>
              <a:rPr lang="en-US" sz="950" i="1" dirty="0">
                <a:solidFill>
                  <a:srgbClr val="E11D48"/>
                </a:solidFill>
                <a:latin typeface="Inter" pitchFamily="34" charset="0"/>
                <a:ea typeface="Inter" pitchFamily="34" charset="-122"/>
                <a:cs typeface="Inter" pitchFamily="34" charset="-120"/>
              </a:rPr>
              <a:t>feed it back in</a:t>
            </a:r>
            <a:endParaRPr lang="en-US" sz="950" dirty="0"/>
          </a:p>
        </p:txBody>
      </p:sp>
      <p:sp>
        <p:nvSpPr>
          <p:cNvPr id="34" name="anim-3-wipe-0-288"/>
          <p:cNvSpPr/>
          <p:nvPr/>
        </p:nvSpPr>
        <p:spPr>
          <a:xfrm flipH="1">
            <a:off x="5138928" y="3392424"/>
            <a:ext cx="667512" cy="448056"/>
          </a:xfrm>
          <a:prstGeom prst="line">
            <a:avLst/>
          </a:prstGeom>
          <a:noFill/>
          <a:ln w="15875">
            <a:solidFill>
              <a:srgbClr val="E11D48"/>
            </a:solidFill>
            <a:prstDash val="dash"/>
            <a:tailEnd type="triangle"/>
          </a:ln>
        </p:spPr>
      </p:sp>
      <p:sp>
        <p:nvSpPr>
          <p:cNvPr id="35" name="Text 33"/>
          <p:cNvSpPr/>
          <p:nvPr/>
        </p:nvSpPr>
        <p:spPr>
          <a:xfrm>
            <a:off x="1325880" y="4846320"/>
            <a:ext cx="292608" cy="219456"/>
          </a:xfrm>
          <a:prstGeom prst="roundRect">
            <a:avLst>
              <a:gd name="adj" fmla="val 29167"/>
            </a:avLst>
          </a:prstGeom>
          <a:solidFill>
            <a:srgbClr val="FFFFFF"/>
          </a:solidFill>
          <a:ln w="12700">
            <a:solidFill>
              <a:srgbClr val="CBD5E1"/>
            </a:solidFill>
          </a:ln>
        </p:spPr>
        <p:txBody>
          <a:bodyPr wrap="square" lIns="0" tIns="0" rIns="0" bIns="0" rtlCol="0" anchor="ctr"/>
          <a:lstStyle/>
          <a:p>
            <a:pPr algn="ctr" indent="0" marL="0">
              <a:buNone/>
            </a:pPr>
            <a:endParaRPr lang="en-US" sz="1300" dirty="0"/>
          </a:p>
        </p:txBody>
      </p:sp>
      <p:sp>
        <p:nvSpPr>
          <p:cNvPr id="36" name="Text 34"/>
          <p:cNvSpPr txBox="1"/>
          <p:nvPr/>
        </p:nvSpPr>
        <p:spPr>
          <a:xfrm>
            <a:off x="1691640" y="4855464"/>
            <a:ext cx="182880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words we started with</a:t>
            </a:r>
            <a:endParaRPr lang="en-US" sz="950" dirty="0"/>
          </a:p>
        </p:txBody>
      </p:sp>
      <p:sp>
        <p:nvSpPr>
          <p:cNvPr id="37" name="Text 35"/>
          <p:cNvSpPr/>
          <p:nvPr/>
        </p:nvSpPr>
        <p:spPr>
          <a:xfrm>
            <a:off x="3520440" y="4846320"/>
            <a:ext cx="292608" cy="219456"/>
          </a:xfrm>
          <a:prstGeom prst="roundRect">
            <a:avLst>
              <a:gd name="adj" fmla="val 29167"/>
            </a:avLst>
          </a:prstGeom>
          <a:solidFill>
            <a:srgbClr val="FFE4E6"/>
          </a:solidFill>
          <a:ln w="12700">
            <a:solidFill>
              <a:srgbClr val="E11D48"/>
            </a:solidFill>
          </a:ln>
        </p:spPr>
        <p:txBody>
          <a:bodyPr wrap="square" lIns="0" tIns="0" rIns="0" bIns="0" rtlCol="0" anchor="ctr"/>
          <a:lstStyle/>
          <a:p>
            <a:pPr algn="ctr" indent="0" marL="0">
              <a:buNone/>
            </a:pPr>
            <a:endParaRPr lang="en-US" sz="1300" dirty="0"/>
          </a:p>
        </p:txBody>
      </p:sp>
      <p:sp>
        <p:nvSpPr>
          <p:cNvPr id="38" name="Text 36"/>
          <p:cNvSpPr txBox="1"/>
          <p:nvPr/>
        </p:nvSpPr>
        <p:spPr>
          <a:xfrm>
            <a:off x="3886200" y="4855464"/>
            <a:ext cx="219456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words the model wrote earlier</a:t>
            </a:r>
            <a:endParaRPr lang="en-US" sz="950" dirty="0"/>
          </a:p>
        </p:txBody>
      </p:sp>
      <p:sp>
        <p:nvSpPr>
          <p:cNvPr id="39" name="Text 37"/>
          <p:cNvSpPr/>
          <p:nvPr/>
        </p:nvSpPr>
        <p:spPr>
          <a:xfrm>
            <a:off x="1325880" y="5166360"/>
            <a:ext cx="292608" cy="219456"/>
          </a:xfrm>
          <a:prstGeom prst="roundRect">
            <a:avLst>
              <a:gd name="adj" fmla="val 29167"/>
            </a:avLst>
          </a:prstGeom>
          <a:solidFill>
            <a:srgbClr val="E11D48"/>
          </a:solidFill>
          <a:ln w="12700">
            <a:solidFill>
              <a:srgbClr val="E11D48"/>
            </a:solidFill>
          </a:ln>
        </p:spPr>
        <p:txBody>
          <a:bodyPr wrap="square" lIns="0" tIns="0" rIns="0" bIns="0" rtlCol="0" anchor="ctr"/>
          <a:lstStyle/>
          <a:p>
            <a:pPr algn="ctr" indent="0" marL="0">
              <a:buNone/>
            </a:pPr>
            <a:endParaRPr lang="en-US" sz="1300" dirty="0"/>
          </a:p>
        </p:txBody>
      </p:sp>
      <p:sp>
        <p:nvSpPr>
          <p:cNvPr id="40" name="Text 38"/>
          <p:cNvSpPr txBox="1"/>
          <p:nvPr/>
        </p:nvSpPr>
        <p:spPr>
          <a:xfrm>
            <a:off x="1691640" y="5175504"/>
            <a:ext cx="274320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the new prediction at this step</a:t>
            </a:r>
            <a:endParaRPr lang="en-US" sz="950" dirty="0"/>
          </a:p>
        </p:txBody>
      </p:sp>
      <p:sp>
        <p:nvSpPr>
          <p:cNvPr id="41" name="anim-4-rise-0-289"/>
          <p:cNvSpPr/>
          <p:nvPr/>
        </p:nvSpPr>
        <p:spPr>
          <a:xfrm>
            <a:off x="7589520" y="1920240"/>
            <a:ext cx="4023360" cy="1325880"/>
          </a:xfrm>
          <a:prstGeom prst="roundRect">
            <a:avLst>
              <a:gd name="adj" fmla="val 6897"/>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Autoregressive</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“auto” = self,  “regressive” = predicting from earlier values.</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The model’s own outputs become its next inputs.</a:t>
            </a:r>
            <a:endParaRPr lang="en-US" sz="1300" dirty="0"/>
          </a:p>
        </p:txBody>
      </p:sp>
      <p:sp>
        <p:nvSpPr>
          <p:cNvPr id="42" name="anim-4-rise-200-290"/>
          <p:cNvSpPr/>
          <p:nvPr/>
        </p:nvSpPr>
        <p:spPr>
          <a:xfrm>
            <a:off x="7589520" y="3429000"/>
            <a:ext cx="4023360" cy="1325880"/>
          </a:xfrm>
          <a:prstGeom prst="roundRect">
            <a:avLst>
              <a:gd name="adj" fmla="val 6897"/>
            </a:avLst>
          </a:prstGeom>
          <a:solidFill>
            <a:srgbClr val="FEF3C7"/>
          </a:solidFill>
          <a:ln/>
        </p:spPr>
        <p:txBody>
          <a:bodyPr wrap="square" lIns="127000" tIns="152400" rIns="152400" bIns="127000" rtlCol="0" anchor="t"/>
          <a:lstStyle/>
          <a:p>
            <a:pPr indent="0" marL="0">
              <a:buNone/>
            </a:pPr>
            <a:r>
              <a:rPr lang="en-US" sz="1300" b="1" dirty="0">
                <a:solidFill>
                  <a:srgbClr val="D97706"/>
                </a:solidFill>
                <a:latin typeface="Inter" pitchFamily="34" charset="0"/>
                <a:ea typeface="Inter" pitchFamily="34" charset="-122"/>
                <a:cs typeface="Inter" pitchFamily="34" charset="-120"/>
              </a:rPr>
              <a:t>Everyday analogy</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Your phone keyboard suggests a word. Tap it, and it suggests another.</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An LLM is that loop — with a far deeper sense of context.</a:t>
            </a:r>
            <a:endParaRPr lang="en-US" sz="1300" dirty="0"/>
          </a:p>
        </p:txBody>
      </p:sp>
      <p:sp>
        <p:nvSpPr>
          <p:cNvPr id="43" name="anim-4-rise-400-291"/>
          <p:cNvSpPr/>
          <p:nvPr/>
        </p:nvSpPr>
        <p:spPr>
          <a:xfrm>
            <a:off x="7589520" y="4937760"/>
            <a:ext cx="4023360" cy="1188720"/>
          </a:xfrm>
          <a:prstGeom prst="roundRect">
            <a:avLst>
              <a:gd name="adj" fmla="val 7692"/>
            </a:avLst>
          </a:prstGeom>
          <a:solidFill>
            <a:srgbClr val="F1F5F9"/>
          </a:solidFill>
          <a:ln/>
        </p:spPr>
        <p:txBody>
          <a:bodyPr wrap="square" lIns="127000" tIns="152400" rIns="152400" bIns="127000" rtlCol="0" anchor="t"/>
          <a:lstStyle/>
          <a:p>
            <a:pPr indent="0" marL="0">
              <a:buNone/>
            </a:pPr>
            <a:r>
              <a:rPr lang="en-US" sz="1300" b="1" dirty="0">
                <a:solidFill>
                  <a:srgbClr val="0F172A"/>
                </a:solidFill>
                <a:latin typeface="Inter" pitchFamily="34" charset="0"/>
                <a:ea typeface="Inter" pitchFamily="34" charset="-122"/>
                <a:cs typeface="Inter" pitchFamily="34" charset="-120"/>
              </a:rPr>
              <a:t>What’s a token?</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A word or word-piece from a fixed vocabulary.</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“unbelievable” → “un” + “believ” + “able”</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60"/>
                                  </p:stCondLst>
                                  <p:childTnLst>
                                    <p:set>
                                      <p:cBhvr>
                                        <p:cTn id="8"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2" presetID="10" presetClass="entr" presetSubtype="0" fill="hold" grpId="0" nodeType="withEffect">
                                  <p:stCondLst>
                                    <p:cond delay="120"/>
                                  </p:stCondLst>
                                  <p:childTnLst>
                                    <p:set>
                                      <p:cBhvr>
                                        <p:cTn id="11"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5" presetID="10" presetClass="entr" presetSubtype="0" fill="hold" grpId="0" nodeType="withEffect">
                                  <p:stCondLst>
                                    <p:cond delay="180"/>
                                  </p:stCondLst>
                                  <p:childTnLst>
                                    <p:set>
                                      <p:cBhvr>
                                        <p:cTn id="14"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8" presetID="10" presetClass="entr" presetSubtype="0" fill="hold" grpId="0" nodeType="withEffect">
                                  <p:stCondLst>
                                    <p:cond delay="240"/>
                                  </p:stCondLst>
                                  <p:childTnLst>
                                    <p:set>
                                      <p:cBhvr>
                                        <p:cTn id="17"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1" presetID="10" presetClass="entr" presetSubtype="0"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4" presetID="10" presetClass="entr" presetSubtype="0" fill="hold" grpId="0" nodeType="withEffect">
                                  <p:stCondLst>
                                    <p:cond delay="36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7" presetID="53" presetClass="entr" presetSubtype="16" fill="hold" grpId="0" nodeType="withEffect">
                                  <p:stCondLst>
                                    <p:cond delay="500"/>
                                  </p:stCondLst>
                                  <p:childTnLst>
                                    <p:set>
                                      <p:cBhvr>
                                        <p:cTn id="26"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4"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7" presetID="22" presetClass="entr" presetSubtype="8"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8" dur="450"/>
                                        <p:tgtEl>
                                          <p:spTgt spid="32"/>
                                        </p:tgtEl>
                                      </p:cBhvr>
                                    </p:animEffect>
                                  </p:childTnLst>
                                </p:cTn>
                              </p:par>
                              <p:par>
                                <p:cTn id="40"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par>
                                <p:cTn id="43" presetID="10" presetClass="entr" presetSubtype="0" fill="hold" grpId="0" nodeType="withEffect">
                                  <p:stCondLst>
                                    <p:cond delay="60"/>
                                  </p:stCondLst>
                                  <p:childTnLst>
                                    <p:set>
                                      <p:cBhvr>
                                        <p:cTn id="42"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6" presetID="10" presetClass="entr" presetSubtype="0" fill="hold" grpId="0" nodeType="withEffect">
                                  <p:stCondLst>
                                    <p:cond delay="120"/>
                                  </p:stCondLst>
                                  <p:childTnLst>
                                    <p:set>
                                      <p:cBhvr>
                                        <p:cTn id="45"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9" presetID="10" presetClass="entr" presetSubtype="0" fill="hold" grpId="0" nodeType="withEffect">
                                  <p:stCondLst>
                                    <p:cond delay="18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2" presetID="10" presetClass="entr" presetSubtype="0" fill="hold" grpId="0" nodeType="withEffect">
                                  <p:stCondLst>
                                    <p:cond delay="240"/>
                                  </p:stCondLst>
                                  <p:childTnLst>
                                    <p:set>
                                      <p:cBhvr>
                                        <p:cTn id="51"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5" presetID="10" presetClass="entr" presetSubtype="0" fill="hold" grpId="0" nodeType="withEffect">
                                  <p:stCondLst>
                                    <p:cond delay="300"/>
                                  </p:stCondLst>
                                  <p:childTnLst>
                                    <p:set>
                                      <p:cBhvr>
                                        <p:cTn id="54"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8" presetID="10" presetClass="entr" presetSubtype="0" fill="hold" grpId="0" nodeType="withEffect">
                                  <p:stCondLst>
                                    <p:cond delay="360"/>
                                  </p:stCondLst>
                                  <p:childTnLst>
                                    <p:set>
                                      <p:cBhvr>
                                        <p:cTn id="57"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1" presetID="10" presetClass="entr" presetSubtype="0" fill="hold" grpId="0" nodeType="withEffect">
                                  <p:stCondLst>
                                    <p:cond delay="420"/>
                                  </p:stCondLst>
                                  <p:childTnLst>
                                    <p:set>
                                      <p:cBhvr>
                                        <p:cTn id="60"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4" presetID="53" presetClass="entr" presetSubtype="16" fill="hold" grpId="0" nodeType="withEffect">
                                  <p:stCondLst>
                                    <p:cond delay="500"/>
                                  </p:stCondLst>
                                  <p:childTnLst>
                                    <p:set>
                                      <p:cBhvr>
                                        <p:cTn id="63"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1"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par>
                                <p:cTn id="74" presetID="22" presetClass="entr" presetSubtype="8"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left)">
                                      <p:cBhvr>
                                        <p:cTn id="75" dur="450"/>
                                        <p:tgtEl>
                                          <p:spTgt spid="34"/>
                                        </p:tgtEl>
                                      </p:cBhvr>
                                    </p:animEffect>
                                  </p:childTnLst>
                                </p:cTn>
                              </p:par>
                              <p:par>
                                <p:cTn id="77" presetID="10" presetClass="entr" presetSubtype="0" fill="hold" grpId="0" nodeType="withEffect">
                                  <p:stCondLst>
                                    <p:cond delay="60"/>
                                  </p:stCondLst>
                                  <p:childTnLst>
                                    <p:set>
                                      <p:cBhvr>
                                        <p:cTn id="76"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80" presetID="10" presetClass="entr" presetSubtype="0" fill="hold" grpId="0" nodeType="withEffect">
                                  <p:stCondLst>
                                    <p:cond delay="120"/>
                                  </p:stCondLst>
                                  <p:childTnLst>
                                    <p:set>
                                      <p:cBhvr>
                                        <p:cTn id="79"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3" presetID="10" presetClass="entr" presetSubtype="0" fill="hold" grpId="0" nodeType="withEffect">
                                  <p:stCondLst>
                                    <p:cond delay="180"/>
                                  </p:stCondLst>
                                  <p:childTnLst>
                                    <p:set>
                                      <p:cBhvr>
                                        <p:cTn id="82"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6" presetID="10" presetClass="entr" presetSubtype="0" fill="hold" grpId="0" nodeType="withEffect">
                                  <p:stCondLst>
                                    <p:cond delay="240"/>
                                  </p:stCondLst>
                                  <p:childTnLst>
                                    <p:set>
                                      <p:cBhvr>
                                        <p:cTn id="85"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89" presetID="10" presetClass="entr" presetSubtype="0" fill="hold" grpId="0" nodeType="withEffect">
                                  <p:stCondLst>
                                    <p:cond delay="300"/>
                                  </p:stCondLst>
                                  <p:childTnLst>
                                    <p:set>
                                      <p:cBhvr>
                                        <p:cTn id="88"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par>
                                <p:cTn id="92" presetID="10" presetClass="entr" presetSubtype="0" fill="hold" grpId="0" nodeType="withEffect">
                                  <p:stCondLst>
                                    <p:cond delay="360"/>
                                  </p:stCondLst>
                                  <p:childTnLst>
                                    <p:set>
                                      <p:cBhvr>
                                        <p:cTn id="91"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par>
                                <p:cTn id="95" presetID="10" presetClass="entr" presetSubtype="0" fill="hold" grpId="0" nodeType="withEffect">
                                  <p:stCondLst>
                                    <p:cond delay="420"/>
                                  </p:stCondLst>
                                  <p:childTnLst>
                                    <p:set>
                                      <p:cBhvr>
                                        <p:cTn id="94"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8" presetID="10" presetClass="entr" presetSubtype="0" fill="hold" grpId="0" nodeType="withEffect">
                                  <p:stCondLst>
                                    <p:cond delay="480"/>
                                  </p:stCondLst>
                                  <p:childTnLst>
                                    <p:set>
                                      <p:cBhvr>
                                        <p:cTn id="97" dur="1" fill="hold">
                                          <p:stCondLst>
                                            <p:cond delay="0"/>
                                          </p:stCondLst>
                                        </p:cTn>
                                        <p:tgtEl>
                                          <p:spTgt spid="30"/>
                                        </p:tgtEl>
                                        <p:attrNameLst>
                                          <p:attrName>style.visibility</p:attrName>
                                        </p:attrNameLst>
                                      </p:cBhvr>
                                      <p:to>
                                        <p:strVal val="visible"/>
                                      </p:to>
                                    </p:set>
                                    <p:animEffect transition="in" filter="fade">
                                      <p:cBhvr>
                                        <p:cTn id="99" dur="500"/>
                                        <p:tgtEl>
                                          <p:spTgt spid="30"/>
                                        </p:tgtEl>
                                      </p:cBhvr>
                                    </p:animEffect>
                                  </p:childTnLst>
                                </p:cTn>
                              </p:par>
                              <p:par>
                                <p:cTn id="101" presetID="53" presetClass="entr" presetSubtype="16" fill="hold" grpId="0" nodeType="withEffect">
                                  <p:stCondLst>
                                    <p:cond delay="500"/>
                                  </p:stCondLst>
                                  <p:childTnLst>
                                    <p:set>
                                      <p:cBhvr>
                                        <p:cTn id="100" dur="1" fill="hold">
                                          <p:stCondLst>
                                            <p:cond delay="0"/>
                                          </p:stCondLst>
                                        </p:cTn>
                                        <p:tgtEl>
                                          <p:spTgt spid="31"/>
                                        </p:tgtEl>
                                        <p:attrNameLst>
                                          <p:attrName>style.visibility</p:attrName>
                                        </p:attrNameLst>
                                      </p:cBhvr>
                                      <p:to>
                                        <p:strVal val="visible"/>
                                      </p:to>
                                    </p:set>
                                    <p:anim calcmode="lin" valueType="num">
                                      <p:cBhvr>
                                        <p:cTn id="102" dur="500" fill="hold"/>
                                        <p:tgtEl>
                                          <p:spTgt spid="31"/>
                                        </p:tgtEl>
                                        <p:attrNameLst>
                                          <p:attrName>ppt_w</p:attrName>
                                        </p:attrNameLst>
                                      </p:cBhvr>
                                      <p:tavLst>
                                        <p:tav tm="0">
                                          <p:val>
                                            <p:fltVal val="0"/>
                                          </p:val>
                                        </p:tav>
                                        <p:tav tm="100000">
                                          <p:val>
                                            <p:strVal val="#ppt_w"/>
                                          </p:val>
                                        </p:tav>
                                      </p:tavLst>
                                    </p:anim>
                                    <p:anim calcmode="lin" valueType="num">
                                      <p:cBhvr>
                                        <p:cTn id="103" dur="500" fill="hold"/>
                                        <p:tgtEl>
                                          <p:spTgt spid="31"/>
                                        </p:tgtEl>
                                        <p:attrNameLst>
                                          <p:attrName>ppt_h</p:attrName>
                                        </p:attrNameLst>
                                      </p:cBhvr>
                                      <p:tavLst>
                                        <p:tav tm="0">
                                          <p:val>
                                            <p:fltVal val="0"/>
                                          </p:val>
                                        </p:tav>
                                        <p:tav tm="100000">
                                          <p:val>
                                            <p:strVal val="#ppt_h"/>
                                          </p:val>
                                        </p:tav>
                                      </p:tavLst>
                                    </p:anim>
                                    <p:animEffect transition="in" filter="fade">
                                      <p:cBhvr>
                                        <p:cTn id="104" dur="500"/>
                                        <p:tgtEl>
                                          <p:spTgt spid="31"/>
                                        </p:tgtEl>
                                      </p:cBhvr>
                                    </p:animEffect>
                                  </p:childTnLst>
                                </p:cTn>
                              </p:par>
                            </p:childTnLst>
                          </p:cTn>
                        </p:par>
                      </p:childTnLst>
                    </p:cTn>
                  </p:par>
                  <p:par>
                    <p:cTn id="105" fill="hold">
                      <p:stCondLst>
                        <p:cond delay="indefinite"/>
                      </p:stCondLst>
                      <p:childTnLst>
                        <p:par>
                          <p:cTn id="106" fill="hold">
                            <p:stCondLst>
                              <p:cond delay="0"/>
                            </p:stCondLst>
                            <p:childTnLst>
                              <p:par>
                                <p:cTn id="108" presetID="42" presetClass="entr" presetSubtype="0" fill="hold" grpId="0" nodeType="click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anim calcmode="lin" valueType="num">
                                      <p:cBhvr>
                                        <p:cTn id="110" dur="500" fill="hold"/>
                                        <p:tgtEl>
                                          <p:spTgt spid="41"/>
                                        </p:tgtEl>
                                        <p:attrNameLst>
                                          <p:attrName>ppt_x</p:attrName>
                                        </p:attrNameLst>
                                      </p:cBhvr>
                                      <p:tavLst>
                                        <p:tav tm="0">
                                          <p:val>
                                            <p:strVal val="#ppt_x"/>
                                          </p:val>
                                        </p:tav>
                                        <p:tav tm="100000">
                                          <p:val>
                                            <p:strVal val="#ppt_x"/>
                                          </p:val>
                                        </p:tav>
                                      </p:tavLst>
                                    </p:anim>
                                    <p:anim calcmode="lin" valueType="num">
                                      <p:cBhvr>
                                        <p:cTn id="111" dur="500" fill="hold"/>
                                        <p:tgtEl>
                                          <p:spTgt spid="41"/>
                                        </p:tgtEl>
                                        <p:attrNameLst>
                                          <p:attrName>ppt_y</p:attrName>
                                        </p:attrNameLst>
                                      </p:cBhvr>
                                      <p:tavLst>
                                        <p:tav tm="0">
                                          <p:val>
                                            <p:strVal val="#ppt_y+0.06"/>
                                          </p:val>
                                        </p:tav>
                                        <p:tav tm="100000">
                                          <p:val>
                                            <p:strVal val="#ppt_y"/>
                                          </p:val>
                                        </p:tav>
                                      </p:tavLst>
                                    </p:anim>
                                  </p:childTnLst>
                                </p:cTn>
                              </p:par>
                              <p:par>
                                <p:cTn id="113" presetID="42" presetClass="entr" presetSubtype="0" fill="hold" grpId="0" nodeType="withEffect">
                                  <p:stCondLst>
                                    <p:cond delay="20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4" dur="500"/>
                                        <p:tgtEl>
                                          <p:spTgt spid="42"/>
                                        </p:tgtEl>
                                      </p:cBhvr>
                                    </p:animEffect>
                                    <p:anim calcmode="lin" valueType="num">
                                      <p:cBhvr>
                                        <p:cTn id="115" dur="500" fill="hold"/>
                                        <p:tgtEl>
                                          <p:spTgt spid="42"/>
                                        </p:tgtEl>
                                        <p:attrNameLst>
                                          <p:attrName>ppt_x</p:attrName>
                                        </p:attrNameLst>
                                      </p:cBhvr>
                                      <p:tavLst>
                                        <p:tav tm="0">
                                          <p:val>
                                            <p:strVal val="#ppt_x"/>
                                          </p:val>
                                        </p:tav>
                                        <p:tav tm="100000">
                                          <p:val>
                                            <p:strVal val="#ppt_x"/>
                                          </p:val>
                                        </p:tav>
                                      </p:tavLst>
                                    </p:anim>
                                    <p:anim calcmode="lin" valueType="num">
                                      <p:cBhvr>
                                        <p:cTn id="116" dur="500" fill="hold"/>
                                        <p:tgtEl>
                                          <p:spTgt spid="42"/>
                                        </p:tgtEl>
                                        <p:attrNameLst>
                                          <p:attrName>ppt_y</p:attrName>
                                        </p:attrNameLst>
                                      </p:cBhvr>
                                      <p:tavLst>
                                        <p:tav tm="0">
                                          <p:val>
                                            <p:strVal val="#ppt_y+0.06"/>
                                          </p:val>
                                        </p:tav>
                                        <p:tav tm="100000">
                                          <p:val>
                                            <p:strVal val="#ppt_y"/>
                                          </p:val>
                                        </p:tav>
                                      </p:tavLst>
                                    </p:anim>
                                  </p:childTnLst>
                                </p:cTn>
                              </p:par>
                              <p:par>
                                <p:cTn id="118" presetID="42" presetClass="entr" presetSubtype="0" fill="hold" grpId="0" nodeType="withEffect">
                                  <p:stCondLst>
                                    <p:cond delay="40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9" dur="500"/>
                                        <p:tgtEl>
                                          <p:spTgt spid="43"/>
                                        </p:tgtEl>
                                      </p:cBhvr>
                                    </p:animEffect>
                                    <p:anim calcmode="lin" valueType="num">
                                      <p:cBhvr>
                                        <p:cTn id="120" dur="500" fill="hold"/>
                                        <p:tgtEl>
                                          <p:spTgt spid="43"/>
                                        </p:tgtEl>
                                        <p:attrNameLst>
                                          <p:attrName>ppt_x</p:attrName>
                                        </p:attrNameLst>
                                      </p:cBhvr>
                                      <p:tavLst>
                                        <p:tav tm="0">
                                          <p:val>
                                            <p:strVal val="#ppt_x"/>
                                          </p:val>
                                        </p:tav>
                                        <p:tav tm="100000">
                                          <p:val>
                                            <p:strVal val="#ppt_x"/>
                                          </p:val>
                                        </p:tav>
                                      </p:tavLst>
                                    </p:anim>
                                    <p:anim calcmode="lin" valueType="num">
                                      <p:cBhvr>
                                        <p:cTn id="121" dur="500" fill="hold"/>
                                        <p:tgtEl>
                                          <p:spTgt spid="43"/>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D97706"/>
                </a:solidFill>
                <a:latin typeface="Inter" pitchFamily="34" charset="0"/>
                <a:ea typeface="Inter" pitchFamily="34" charset="-122"/>
                <a:cs typeface="Inter" pitchFamily="34" charset="-120"/>
              </a:rPr>
              <a:t>08 · FROM TEXT TO VECTORS</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From text to vectors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Neural networks only do math on numbers, so each token becomes a list of numbers (a vector).</a:t>
            </a:r>
            <a:endParaRPr lang="en-US" sz="1300" dirty="0"/>
          </a:p>
        </p:txBody>
      </p:sp>
      <p:sp>
        <p:nvSpPr>
          <p:cNvPr id="5" name="anim-1-fade-0-292"/>
          <p:cNvSpPr txBox="1"/>
          <p:nvPr/>
        </p:nvSpPr>
        <p:spPr>
          <a:xfrm>
            <a:off x="548640" y="1874520"/>
            <a:ext cx="1737360" cy="274320"/>
          </a:xfrm>
          <a:prstGeom prst="rect">
            <a:avLst/>
          </a:prstGeom>
          <a:noFill/>
          <a:ln/>
        </p:spPr>
        <p:txBody>
          <a:bodyPr wrap="square" lIns="0" tIns="0" rIns="0" bIns="0" rtlCol="0" anchor="t"/>
          <a:lstStyle/>
          <a:p>
            <a:pPr indent="0" marL="0">
              <a:buNone/>
            </a:pPr>
            <a:r>
              <a:rPr lang="en-US" sz="1100" b="1" dirty="0">
                <a:solidFill>
                  <a:srgbClr val="D97706"/>
                </a:solidFill>
                <a:latin typeface="Inter" pitchFamily="34" charset="0"/>
                <a:ea typeface="Inter" pitchFamily="34" charset="-122"/>
                <a:cs typeface="Inter" pitchFamily="34" charset="-120"/>
              </a:rPr>
              <a:t>Token</a:t>
            </a:r>
            <a:endParaRPr lang="en-US" sz="1100" dirty="0"/>
          </a:p>
        </p:txBody>
      </p:sp>
      <p:sp>
        <p:nvSpPr>
          <p:cNvPr id="6" name="anim-1-fade-0-293"/>
          <p:cNvSpPr txBox="1"/>
          <p:nvPr/>
        </p:nvSpPr>
        <p:spPr>
          <a:xfrm>
            <a:off x="548640" y="2423160"/>
            <a:ext cx="1737360" cy="274320"/>
          </a:xfrm>
          <a:prstGeom prst="rect">
            <a:avLst/>
          </a:prstGeom>
          <a:noFill/>
          <a:ln/>
        </p:spPr>
        <p:txBody>
          <a:bodyPr wrap="square" lIns="0" tIns="0" rIns="0" bIns="0" rtlCol="0" anchor="t"/>
          <a:lstStyle/>
          <a:p>
            <a:pPr indent="0" marL="0">
              <a:buNone/>
            </a:pPr>
            <a:r>
              <a:rPr lang="en-US" sz="1100" b="1" dirty="0">
                <a:solidFill>
                  <a:srgbClr val="64748B"/>
                </a:solidFill>
                <a:latin typeface="Inter" pitchFamily="34" charset="0"/>
                <a:ea typeface="Inter" pitchFamily="34" charset="-122"/>
                <a:cs typeface="Inter" pitchFamily="34" charset="-120"/>
              </a:rPr>
              <a:t>Token ID</a:t>
            </a:r>
            <a:endParaRPr lang="en-US" sz="1100" dirty="0"/>
          </a:p>
        </p:txBody>
      </p:sp>
      <p:sp>
        <p:nvSpPr>
          <p:cNvPr id="7" name="anim-2-fade-0-294"/>
          <p:cNvSpPr txBox="1"/>
          <p:nvPr/>
        </p:nvSpPr>
        <p:spPr>
          <a:xfrm>
            <a:off x="548640" y="2880360"/>
            <a:ext cx="1737360" cy="274320"/>
          </a:xfrm>
          <a:prstGeom prst="rect">
            <a:avLst/>
          </a:prstGeom>
          <a:noFill/>
          <a:ln/>
        </p:spPr>
        <p:txBody>
          <a:bodyPr wrap="square" lIns="0" tIns="0" rIns="0" bIns="0" rtlCol="0" anchor="t"/>
          <a:lstStyle/>
          <a:p>
            <a:pPr indent="0" marL="0">
              <a:buNone/>
            </a:pPr>
            <a:r>
              <a:rPr lang="en-US" sz="1100" b="1" dirty="0">
                <a:solidFill>
                  <a:srgbClr val="D97706"/>
                </a:solidFill>
                <a:latin typeface="Inter" pitchFamily="34" charset="0"/>
                <a:ea typeface="Inter" pitchFamily="34" charset="-122"/>
                <a:cs typeface="Inter" pitchFamily="34" charset="-120"/>
              </a:rPr>
              <a:t>Token embedding</a:t>
            </a:r>
            <a:endParaRPr lang="en-US" sz="1100" dirty="0"/>
          </a:p>
        </p:txBody>
      </p:sp>
      <p:sp>
        <p:nvSpPr>
          <p:cNvPr id="8" name="anim-3-fade-0-295"/>
          <p:cNvSpPr txBox="1"/>
          <p:nvPr/>
        </p:nvSpPr>
        <p:spPr>
          <a:xfrm>
            <a:off x="548640" y="3566160"/>
            <a:ext cx="1737360" cy="274320"/>
          </a:xfrm>
          <a:prstGeom prst="rect">
            <a:avLst/>
          </a:prstGeom>
          <a:noFill/>
          <a:ln/>
        </p:spPr>
        <p:txBody>
          <a:bodyPr wrap="square" lIns="0" tIns="0" rIns="0" bIns="0" rtlCol="0" anchor="t"/>
          <a:lstStyle/>
          <a:p>
            <a:pPr indent="0" marL="0">
              <a:buNone/>
            </a:pPr>
            <a:r>
              <a:rPr lang="en-US" sz="1100" b="1" dirty="0">
                <a:solidFill>
                  <a:srgbClr val="2563EB"/>
                </a:solidFill>
                <a:latin typeface="Inter" pitchFamily="34" charset="0"/>
                <a:ea typeface="Inter" pitchFamily="34" charset="-122"/>
                <a:cs typeface="Inter" pitchFamily="34" charset="-120"/>
              </a:rPr>
              <a:t>Position vector</a:t>
            </a:r>
            <a:endParaRPr lang="en-US" sz="1100" dirty="0"/>
          </a:p>
        </p:txBody>
      </p:sp>
      <p:sp>
        <p:nvSpPr>
          <p:cNvPr id="9" name="anim-4-fade-0-296"/>
          <p:cNvSpPr txBox="1"/>
          <p:nvPr/>
        </p:nvSpPr>
        <p:spPr>
          <a:xfrm>
            <a:off x="548640" y="4251960"/>
            <a:ext cx="1737360" cy="274320"/>
          </a:xfrm>
          <a:prstGeom prst="rect">
            <a:avLst/>
          </a:prstGeom>
          <a:noFill/>
          <a:ln/>
        </p:spPr>
        <p:txBody>
          <a:bodyPr wrap="square" lIns="0" tIns="0" rIns="0" bIns="0" rtlCol="0" anchor="t"/>
          <a:lstStyle/>
          <a:p>
            <a:pPr indent="0" marL="0">
              <a:buNone/>
            </a:pPr>
            <a:r>
              <a:rPr lang="en-US" sz="1100" b="1" dirty="0">
                <a:solidFill>
                  <a:srgbClr val="7C3AED"/>
                </a:solidFill>
                <a:latin typeface="Inter" pitchFamily="34" charset="0"/>
                <a:ea typeface="Inter" pitchFamily="34" charset="-122"/>
                <a:cs typeface="Inter" pitchFamily="34" charset="-120"/>
              </a:rPr>
              <a:t>Input vector</a:t>
            </a:r>
            <a:endParaRPr lang="en-US" sz="1100" dirty="0"/>
          </a:p>
        </p:txBody>
      </p:sp>
      <p:sp>
        <p:nvSpPr>
          <p:cNvPr id="10" name="anim-1-rise-0-297"/>
          <p:cNvSpPr/>
          <p:nvPr/>
        </p:nvSpPr>
        <p:spPr>
          <a:xfrm>
            <a:off x="2606040" y="1828800"/>
            <a:ext cx="1463040" cy="402336"/>
          </a:xfrm>
          <a:prstGeom prst="roundRect">
            <a:avLst>
              <a:gd name="adj" fmla="val 15909"/>
            </a:avLst>
          </a:prstGeom>
          <a:solidFill>
            <a:srgbClr val="FEF3C7"/>
          </a:solidFill>
          <a:ln w="12700">
            <a:solidFill>
              <a:srgbClr val="D97706"/>
            </a:solidFill>
          </a:ln>
        </p:spPr>
        <p:txBody>
          <a:bodyPr wrap="square" lIns="0" tIns="0" rIns="0" bIns="0" rtlCol="0" anchor="ctr"/>
          <a:lstStyle/>
          <a:p>
            <a:pPr algn="ctr" indent="0" marL="0">
              <a:buNone/>
            </a:pPr>
            <a:r>
              <a:rPr lang="en-US" sz="1400" b="1" dirty="0">
                <a:solidFill>
                  <a:srgbClr val="0F172A"/>
                </a:solidFill>
                <a:latin typeface="Inter" pitchFamily="34" charset="0"/>
                <a:ea typeface="Inter" pitchFamily="34" charset="-122"/>
                <a:cs typeface="Inter" pitchFamily="34" charset="-120"/>
              </a:rPr>
              <a:t>The</a:t>
            </a:r>
            <a:endParaRPr lang="en-US" sz="1400" dirty="0"/>
          </a:p>
        </p:txBody>
      </p:sp>
      <p:sp>
        <p:nvSpPr>
          <p:cNvPr id="11" name="anim-1-fade-400-298"/>
          <p:cNvSpPr txBox="1"/>
          <p:nvPr/>
        </p:nvSpPr>
        <p:spPr>
          <a:xfrm>
            <a:off x="2606040" y="2395728"/>
            <a:ext cx="1463040" cy="256032"/>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464</a:t>
            </a:r>
            <a:endParaRPr lang="en-US" sz="1100" dirty="0"/>
          </a:p>
        </p:txBody>
      </p:sp>
      <p:sp>
        <p:nvSpPr>
          <p:cNvPr id="12" name="anim-2-fade-0-299"/>
          <p:cNvSpPr/>
          <p:nvPr/>
        </p:nvSpPr>
        <p:spPr>
          <a:xfrm>
            <a:off x="2468880" y="2852928"/>
            <a:ext cx="182880" cy="274320"/>
          </a:xfrm>
          <a:prstGeom prst="rect">
            <a:avLst/>
          </a:prstGeom>
          <a:solidFill>
            <a:srgbClr val="6A6DF2"/>
          </a:solidFill>
          <a:ln w="6350">
            <a:solidFill>
              <a:srgbClr val="FFFFFF"/>
            </a:solidFill>
            <a:prstDash val="solid"/>
          </a:ln>
        </p:spPr>
      </p:sp>
      <p:sp>
        <p:nvSpPr>
          <p:cNvPr id="13" name="anim-2-fade-0-300"/>
          <p:cNvSpPr/>
          <p:nvPr/>
        </p:nvSpPr>
        <p:spPr>
          <a:xfrm>
            <a:off x="2679192" y="2852928"/>
            <a:ext cx="182880" cy="274320"/>
          </a:xfrm>
          <a:prstGeom prst="rect">
            <a:avLst/>
          </a:prstGeom>
          <a:solidFill>
            <a:srgbClr val="F1CDA3"/>
          </a:solidFill>
          <a:ln w="6350">
            <a:solidFill>
              <a:srgbClr val="FFFFFF"/>
            </a:solidFill>
            <a:prstDash val="solid"/>
          </a:ln>
        </p:spPr>
      </p:sp>
      <p:sp>
        <p:nvSpPr>
          <p:cNvPr id="14" name="anim-2-fade-0-301"/>
          <p:cNvSpPr/>
          <p:nvPr/>
        </p:nvSpPr>
        <p:spPr>
          <a:xfrm>
            <a:off x="2889504" y="2852928"/>
            <a:ext cx="182880" cy="274320"/>
          </a:xfrm>
          <a:prstGeom prst="rect">
            <a:avLst/>
          </a:prstGeom>
          <a:solidFill>
            <a:srgbClr val="E0E1FC"/>
          </a:solidFill>
          <a:ln w="6350">
            <a:solidFill>
              <a:srgbClr val="FFFFFF"/>
            </a:solidFill>
            <a:prstDash val="solid"/>
          </a:ln>
        </p:spPr>
      </p:sp>
      <p:sp>
        <p:nvSpPr>
          <p:cNvPr id="15" name="anim-2-fade-0-302"/>
          <p:cNvSpPr/>
          <p:nvPr/>
        </p:nvSpPr>
        <p:spPr>
          <a:xfrm>
            <a:off x="3099816" y="2852928"/>
            <a:ext cx="182880" cy="274320"/>
          </a:xfrm>
          <a:prstGeom prst="rect">
            <a:avLst/>
          </a:prstGeom>
          <a:solidFill>
            <a:srgbClr val="7679F3"/>
          </a:solidFill>
          <a:ln w="6350">
            <a:solidFill>
              <a:srgbClr val="FFFFFF"/>
            </a:solidFill>
            <a:prstDash val="solid"/>
          </a:ln>
        </p:spPr>
      </p:sp>
      <p:sp>
        <p:nvSpPr>
          <p:cNvPr id="16" name="anim-2-fade-0-303"/>
          <p:cNvSpPr/>
          <p:nvPr/>
        </p:nvSpPr>
        <p:spPr>
          <a:xfrm>
            <a:off x="3310128" y="2852928"/>
            <a:ext cx="182880" cy="274320"/>
          </a:xfrm>
          <a:prstGeom prst="rect">
            <a:avLst/>
          </a:prstGeom>
          <a:solidFill>
            <a:srgbClr val="6A6DF2"/>
          </a:solidFill>
          <a:ln w="6350">
            <a:solidFill>
              <a:srgbClr val="FFFFFF"/>
            </a:solidFill>
            <a:prstDash val="solid"/>
          </a:ln>
        </p:spPr>
      </p:sp>
      <p:sp>
        <p:nvSpPr>
          <p:cNvPr id="17" name="anim-2-fade-0-304"/>
          <p:cNvSpPr/>
          <p:nvPr/>
        </p:nvSpPr>
        <p:spPr>
          <a:xfrm>
            <a:off x="3520440" y="2852928"/>
            <a:ext cx="182880" cy="274320"/>
          </a:xfrm>
          <a:prstGeom prst="rect">
            <a:avLst/>
          </a:prstGeom>
          <a:solidFill>
            <a:srgbClr val="E49D4B"/>
          </a:solidFill>
          <a:ln w="6350">
            <a:solidFill>
              <a:srgbClr val="FFFFFF"/>
            </a:solidFill>
            <a:prstDash val="solid"/>
          </a:ln>
        </p:spPr>
      </p:sp>
      <p:sp>
        <p:nvSpPr>
          <p:cNvPr id="18" name="anim-2-fade-0-305"/>
          <p:cNvSpPr/>
          <p:nvPr/>
        </p:nvSpPr>
        <p:spPr>
          <a:xfrm>
            <a:off x="3730752" y="2852928"/>
            <a:ext cx="182880" cy="274320"/>
          </a:xfrm>
          <a:prstGeom prst="rect">
            <a:avLst/>
          </a:prstGeom>
          <a:solidFill>
            <a:srgbClr val="DD841F"/>
          </a:solidFill>
          <a:ln w="6350">
            <a:solidFill>
              <a:srgbClr val="FFFFFF"/>
            </a:solidFill>
            <a:prstDash val="solid"/>
          </a:ln>
        </p:spPr>
      </p:sp>
      <p:sp>
        <p:nvSpPr>
          <p:cNvPr id="19" name="anim-2-fade-0-306"/>
          <p:cNvSpPr/>
          <p:nvPr/>
        </p:nvSpPr>
        <p:spPr>
          <a:xfrm>
            <a:off x="3941064" y="2852928"/>
            <a:ext cx="182880" cy="274320"/>
          </a:xfrm>
          <a:prstGeom prst="rect">
            <a:avLst/>
          </a:prstGeom>
          <a:solidFill>
            <a:srgbClr val="DA790B"/>
          </a:solidFill>
          <a:ln w="6350">
            <a:solidFill>
              <a:srgbClr val="FFFFFF"/>
            </a:solidFill>
            <a:prstDash val="solid"/>
          </a:ln>
        </p:spPr>
      </p:sp>
      <p:sp>
        <p:nvSpPr>
          <p:cNvPr id="20" name="anim-3-fade-0-307"/>
          <p:cNvSpPr txBox="1"/>
          <p:nvPr/>
        </p:nvSpPr>
        <p:spPr>
          <a:xfrm>
            <a:off x="3154680" y="31729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21" name="anim-3-fade-0-308"/>
          <p:cNvSpPr/>
          <p:nvPr/>
        </p:nvSpPr>
        <p:spPr>
          <a:xfrm>
            <a:off x="2468880" y="3538728"/>
            <a:ext cx="182880" cy="274320"/>
          </a:xfrm>
          <a:prstGeom prst="rect">
            <a:avLst/>
          </a:prstGeom>
          <a:solidFill>
            <a:srgbClr val="DEE8FC"/>
          </a:solidFill>
          <a:ln w="6350">
            <a:solidFill>
              <a:srgbClr val="FFFFFF"/>
            </a:solidFill>
            <a:prstDash val="solid"/>
          </a:ln>
        </p:spPr>
      </p:sp>
      <p:sp>
        <p:nvSpPr>
          <p:cNvPr id="22" name="anim-3-fade-0-309"/>
          <p:cNvSpPr/>
          <p:nvPr/>
        </p:nvSpPr>
        <p:spPr>
          <a:xfrm>
            <a:off x="2679192" y="3538728"/>
            <a:ext cx="182880" cy="274320"/>
          </a:xfrm>
          <a:prstGeom prst="rect">
            <a:avLst/>
          </a:prstGeom>
          <a:solidFill>
            <a:srgbClr val="2563EB"/>
          </a:solidFill>
          <a:ln w="6350">
            <a:solidFill>
              <a:srgbClr val="FFFFFF"/>
            </a:solidFill>
            <a:prstDash val="solid"/>
          </a:ln>
        </p:spPr>
      </p:sp>
      <p:sp>
        <p:nvSpPr>
          <p:cNvPr id="23" name="anim-3-fade-0-310"/>
          <p:cNvSpPr/>
          <p:nvPr/>
        </p:nvSpPr>
        <p:spPr>
          <a:xfrm>
            <a:off x="2889504" y="3538728"/>
            <a:ext cx="182880" cy="274320"/>
          </a:xfrm>
          <a:prstGeom prst="rect">
            <a:avLst/>
          </a:prstGeom>
          <a:solidFill>
            <a:srgbClr val="DEE8FC"/>
          </a:solidFill>
          <a:ln w="6350">
            <a:solidFill>
              <a:srgbClr val="FFFFFF"/>
            </a:solidFill>
            <a:prstDash val="solid"/>
          </a:ln>
        </p:spPr>
      </p:sp>
      <p:sp>
        <p:nvSpPr>
          <p:cNvPr id="24" name="anim-3-fade-0-311"/>
          <p:cNvSpPr/>
          <p:nvPr/>
        </p:nvSpPr>
        <p:spPr>
          <a:xfrm>
            <a:off x="3099816" y="3538728"/>
            <a:ext cx="182880" cy="274320"/>
          </a:xfrm>
          <a:prstGeom prst="rect">
            <a:avLst/>
          </a:prstGeom>
          <a:solidFill>
            <a:srgbClr val="2563EB"/>
          </a:solidFill>
          <a:ln w="6350">
            <a:solidFill>
              <a:srgbClr val="FFFFFF"/>
            </a:solidFill>
            <a:prstDash val="solid"/>
          </a:ln>
        </p:spPr>
      </p:sp>
      <p:sp>
        <p:nvSpPr>
          <p:cNvPr id="25" name="anim-3-fade-0-312"/>
          <p:cNvSpPr/>
          <p:nvPr/>
        </p:nvSpPr>
        <p:spPr>
          <a:xfrm>
            <a:off x="3310128" y="3538728"/>
            <a:ext cx="182880" cy="274320"/>
          </a:xfrm>
          <a:prstGeom prst="rect">
            <a:avLst/>
          </a:prstGeom>
          <a:solidFill>
            <a:srgbClr val="DEE8FC"/>
          </a:solidFill>
          <a:ln w="6350">
            <a:solidFill>
              <a:srgbClr val="FFFFFF"/>
            </a:solidFill>
            <a:prstDash val="solid"/>
          </a:ln>
        </p:spPr>
      </p:sp>
      <p:sp>
        <p:nvSpPr>
          <p:cNvPr id="26" name="anim-3-fade-0-313"/>
          <p:cNvSpPr/>
          <p:nvPr/>
        </p:nvSpPr>
        <p:spPr>
          <a:xfrm>
            <a:off x="3520440" y="3538728"/>
            <a:ext cx="182880" cy="274320"/>
          </a:xfrm>
          <a:prstGeom prst="rect">
            <a:avLst/>
          </a:prstGeom>
          <a:solidFill>
            <a:srgbClr val="2563EB"/>
          </a:solidFill>
          <a:ln w="6350">
            <a:solidFill>
              <a:srgbClr val="FFFFFF"/>
            </a:solidFill>
            <a:prstDash val="solid"/>
          </a:ln>
        </p:spPr>
      </p:sp>
      <p:sp>
        <p:nvSpPr>
          <p:cNvPr id="27" name="anim-3-fade-0-314"/>
          <p:cNvSpPr/>
          <p:nvPr/>
        </p:nvSpPr>
        <p:spPr>
          <a:xfrm>
            <a:off x="3730752" y="3538728"/>
            <a:ext cx="182880" cy="274320"/>
          </a:xfrm>
          <a:prstGeom prst="rect">
            <a:avLst/>
          </a:prstGeom>
          <a:solidFill>
            <a:srgbClr val="DEE8FC"/>
          </a:solidFill>
          <a:ln w="6350">
            <a:solidFill>
              <a:srgbClr val="FFFFFF"/>
            </a:solidFill>
            <a:prstDash val="solid"/>
          </a:ln>
        </p:spPr>
      </p:sp>
      <p:sp>
        <p:nvSpPr>
          <p:cNvPr id="28" name="anim-3-fade-0-315"/>
          <p:cNvSpPr/>
          <p:nvPr/>
        </p:nvSpPr>
        <p:spPr>
          <a:xfrm>
            <a:off x="3941064" y="3538728"/>
            <a:ext cx="182880" cy="274320"/>
          </a:xfrm>
          <a:prstGeom prst="rect">
            <a:avLst/>
          </a:prstGeom>
          <a:solidFill>
            <a:srgbClr val="2563EB"/>
          </a:solidFill>
          <a:ln w="6350">
            <a:solidFill>
              <a:srgbClr val="FFFFFF"/>
            </a:solidFill>
            <a:prstDash val="solid"/>
          </a:ln>
        </p:spPr>
      </p:sp>
      <p:sp>
        <p:nvSpPr>
          <p:cNvPr id="29" name="anim-4-fade-0-316"/>
          <p:cNvSpPr txBox="1"/>
          <p:nvPr/>
        </p:nvSpPr>
        <p:spPr>
          <a:xfrm>
            <a:off x="3154680" y="38587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30" name="anim-4-fade-0-317"/>
          <p:cNvSpPr/>
          <p:nvPr/>
        </p:nvSpPr>
        <p:spPr>
          <a:xfrm>
            <a:off x="2468880" y="4224528"/>
            <a:ext cx="182880" cy="274320"/>
          </a:xfrm>
          <a:prstGeom prst="rect">
            <a:avLst/>
          </a:prstGeom>
          <a:solidFill>
            <a:srgbClr val="A4ABF7"/>
          </a:solidFill>
          <a:ln w="6350">
            <a:solidFill>
              <a:srgbClr val="FFFFFF"/>
            </a:solidFill>
            <a:prstDash val="solid"/>
          </a:ln>
        </p:spPr>
      </p:sp>
      <p:sp>
        <p:nvSpPr>
          <p:cNvPr id="31" name="anim-4-fade-0-318"/>
          <p:cNvSpPr/>
          <p:nvPr/>
        </p:nvSpPr>
        <p:spPr>
          <a:xfrm>
            <a:off x="2679192" y="4224528"/>
            <a:ext cx="182880" cy="274320"/>
          </a:xfrm>
          <a:prstGeom prst="rect">
            <a:avLst/>
          </a:prstGeom>
          <a:solidFill>
            <a:srgbClr val="8B98C7"/>
          </a:solidFill>
          <a:ln w="6350">
            <a:solidFill>
              <a:srgbClr val="FFFFFF"/>
            </a:solidFill>
            <a:prstDash val="solid"/>
          </a:ln>
        </p:spPr>
      </p:sp>
      <p:sp>
        <p:nvSpPr>
          <p:cNvPr id="32" name="anim-4-fade-0-319"/>
          <p:cNvSpPr/>
          <p:nvPr/>
        </p:nvSpPr>
        <p:spPr>
          <a:xfrm>
            <a:off x="2889504" y="4224528"/>
            <a:ext cx="182880" cy="274320"/>
          </a:xfrm>
          <a:prstGeom prst="rect">
            <a:avLst/>
          </a:prstGeom>
          <a:solidFill>
            <a:srgbClr val="DFE5FC"/>
          </a:solidFill>
          <a:ln w="6350">
            <a:solidFill>
              <a:srgbClr val="FFFFFF"/>
            </a:solidFill>
            <a:prstDash val="solid"/>
          </a:ln>
        </p:spPr>
      </p:sp>
      <p:sp>
        <p:nvSpPr>
          <p:cNvPr id="33" name="anim-4-fade-0-320"/>
          <p:cNvSpPr/>
          <p:nvPr/>
        </p:nvSpPr>
        <p:spPr>
          <a:xfrm>
            <a:off x="3099816" y="4224528"/>
            <a:ext cx="182880" cy="274320"/>
          </a:xfrm>
          <a:prstGeom prst="rect">
            <a:avLst/>
          </a:prstGeom>
          <a:solidFill>
            <a:srgbClr val="4E6EEF"/>
          </a:solidFill>
          <a:ln w="6350">
            <a:solidFill>
              <a:srgbClr val="FFFFFF"/>
            </a:solidFill>
            <a:prstDash val="solid"/>
          </a:ln>
        </p:spPr>
      </p:sp>
      <p:sp>
        <p:nvSpPr>
          <p:cNvPr id="34" name="anim-4-fade-0-321"/>
          <p:cNvSpPr/>
          <p:nvPr/>
        </p:nvSpPr>
        <p:spPr>
          <a:xfrm>
            <a:off x="3310128" y="4224528"/>
            <a:ext cx="182880" cy="274320"/>
          </a:xfrm>
          <a:prstGeom prst="rect">
            <a:avLst/>
          </a:prstGeom>
          <a:solidFill>
            <a:srgbClr val="A4ABF7"/>
          </a:solidFill>
          <a:ln w="6350">
            <a:solidFill>
              <a:srgbClr val="FFFFFF"/>
            </a:solidFill>
            <a:prstDash val="solid"/>
          </a:ln>
        </p:spPr>
      </p:sp>
      <p:sp>
        <p:nvSpPr>
          <p:cNvPr id="35" name="anim-4-fade-0-322"/>
          <p:cNvSpPr/>
          <p:nvPr/>
        </p:nvSpPr>
        <p:spPr>
          <a:xfrm>
            <a:off x="3520440" y="4224528"/>
            <a:ext cx="182880" cy="274320"/>
          </a:xfrm>
          <a:prstGeom prst="rect">
            <a:avLst/>
          </a:prstGeom>
          <a:solidFill>
            <a:srgbClr val="85809B"/>
          </a:solidFill>
          <a:ln w="6350">
            <a:solidFill>
              <a:srgbClr val="FFFFFF"/>
            </a:solidFill>
            <a:prstDash val="solid"/>
          </a:ln>
        </p:spPr>
      </p:sp>
      <p:sp>
        <p:nvSpPr>
          <p:cNvPr id="36" name="anim-4-fade-0-323"/>
          <p:cNvSpPr/>
          <p:nvPr/>
        </p:nvSpPr>
        <p:spPr>
          <a:xfrm>
            <a:off x="3730752" y="4224528"/>
            <a:ext cx="182880" cy="274320"/>
          </a:xfrm>
          <a:prstGeom prst="rect">
            <a:avLst/>
          </a:prstGeom>
          <a:solidFill>
            <a:srgbClr val="DEB68E"/>
          </a:solidFill>
          <a:ln w="6350">
            <a:solidFill>
              <a:srgbClr val="FFFFFF"/>
            </a:solidFill>
            <a:prstDash val="solid"/>
          </a:ln>
        </p:spPr>
      </p:sp>
      <p:sp>
        <p:nvSpPr>
          <p:cNvPr id="37" name="anim-4-fade-0-324"/>
          <p:cNvSpPr/>
          <p:nvPr/>
        </p:nvSpPr>
        <p:spPr>
          <a:xfrm>
            <a:off x="3941064" y="4224528"/>
            <a:ext cx="182880" cy="274320"/>
          </a:xfrm>
          <a:prstGeom prst="rect">
            <a:avLst/>
          </a:prstGeom>
          <a:solidFill>
            <a:srgbClr val="806E7B"/>
          </a:solidFill>
          <a:ln w="6350">
            <a:solidFill>
              <a:srgbClr val="FFFFFF"/>
            </a:solidFill>
            <a:prstDash val="solid"/>
          </a:ln>
        </p:spPr>
      </p:sp>
      <p:sp>
        <p:nvSpPr>
          <p:cNvPr id="38" name="anim-3-fade-0-325"/>
          <p:cNvSpPr txBox="1"/>
          <p:nvPr/>
        </p:nvSpPr>
        <p:spPr>
          <a:xfrm>
            <a:off x="2606040" y="3886200"/>
            <a:ext cx="548640" cy="201168"/>
          </a:xfrm>
          <a:prstGeom prst="rect">
            <a:avLst/>
          </a:prstGeom>
          <a:noFill/>
          <a:ln/>
        </p:spPr>
        <p:txBody>
          <a:bodyPr wrap="square" lIns="0" tIns="0" rIns="0" bIns="0" rtlCol="0" anchor="t"/>
          <a:lstStyle/>
          <a:p>
            <a:pPr indent="0" marL="0">
              <a:buNone/>
            </a:pPr>
            <a:r>
              <a:rPr lang="en-US" sz="850" dirty="0">
                <a:solidFill>
                  <a:srgbClr val="2563EB"/>
                </a:solidFill>
                <a:latin typeface="Inter" pitchFamily="34" charset="0"/>
                <a:ea typeface="Inter" pitchFamily="34" charset="-122"/>
                <a:cs typeface="Inter" pitchFamily="34" charset="-120"/>
              </a:rPr>
              <a:t>pos 0</a:t>
            </a:r>
            <a:endParaRPr lang="en-US" sz="850" dirty="0"/>
          </a:p>
        </p:txBody>
      </p:sp>
      <p:sp>
        <p:nvSpPr>
          <p:cNvPr id="39" name="anim-1-rise-120-326"/>
          <p:cNvSpPr/>
          <p:nvPr/>
        </p:nvSpPr>
        <p:spPr>
          <a:xfrm>
            <a:off x="4434840" y="1828800"/>
            <a:ext cx="1463040" cy="402336"/>
          </a:xfrm>
          <a:prstGeom prst="roundRect">
            <a:avLst>
              <a:gd name="adj" fmla="val 15909"/>
            </a:avLst>
          </a:prstGeom>
          <a:solidFill>
            <a:srgbClr val="FEF3C7"/>
          </a:solidFill>
          <a:ln w="12700">
            <a:solidFill>
              <a:srgbClr val="D97706"/>
            </a:solidFill>
          </a:ln>
        </p:spPr>
        <p:txBody>
          <a:bodyPr wrap="square" lIns="0" tIns="0" rIns="0" bIns="0" rtlCol="0" anchor="ctr"/>
          <a:lstStyle/>
          <a:p>
            <a:pPr algn="ctr" indent="0" marL="0">
              <a:buNone/>
            </a:pPr>
            <a:r>
              <a:rPr lang="en-US" sz="1400" b="1" dirty="0">
                <a:solidFill>
                  <a:srgbClr val="0F172A"/>
                </a:solidFill>
                <a:latin typeface="Inter" pitchFamily="34" charset="0"/>
                <a:ea typeface="Inter" pitchFamily="34" charset="-122"/>
                <a:cs typeface="Inter" pitchFamily="34" charset="-120"/>
              </a:rPr>
              <a:t>cat</a:t>
            </a:r>
            <a:endParaRPr lang="en-US" sz="1400" dirty="0"/>
          </a:p>
        </p:txBody>
      </p:sp>
      <p:sp>
        <p:nvSpPr>
          <p:cNvPr id="40" name="anim-1-fade-520-327"/>
          <p:cNvSpPr txBox="1"/>
          <p:nvPr/>
        </p:nvSpPr>
        <p:spPr>
          <a:xfrm>
            <a:off x="4434840" y="2395728"/>
            <a:ext cx="1463040" cy="256032"/>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3797</a:t>
            </a:r>
            <a:endParaRPr lang="en-US" sz="1100" dirty="0"/>
          </a:p>
        </p:txBody>
      </p:sp>
      <p:sp>
        <p:nvSpPr>
          <p:cNvPr id="41" name="anim-2-fade-120-328"/>
          <p:cNvSpPr/>
          <p:nvPr/>
        </p:nvSpPr>
        <p:spPr>
          <a:xfrm>
            <a:off x="4297680" y="2852928"/>
            <a:ext cx="182880" cy="274320"/>
          </a:xfrm>
          <a:prstGeom prst="rect">
            <a:avLst/>
          </a:prstGeom>
          <a:solidFill>
            <a:srgbClr val="9A9CF6"/>
          </a:solidFill>
          <a:ln w="6350">
            <a:solidFill>
              <a:srgbClr val="FFFFFF"/>
            </a:solidFill>
            <a:prstDash val="solid"/>
          </a:ln>
        </p:spPr>
      </p:sp>
      <p:sp>
        <p:nvSpPr>
          <p:cNvPr id="42" name="anim-2-fade-120-329"/>
          <p:cNvSpPr/>
          <p:nvPr/>
        </p:nvSpPr>
        <p:spPr>
          <a:xfrm>
            <a:off x="4507992" y="2852928"/>
            <a:ext cx="182880" cy="274320"/>
          </a:xfrm>
          <a:prstGeom prst="rect">
            <a:avLst/>
          </a:prstGeom>
          <a:solidFill>
            <a:srgbClr val="F7E2CA"/>
          </a:solidFill>
          <a:ln w="6350">
            <a:solidFill>
              <a:srgbClr val="FFFFFF"/>
            </a:solidFill>
            <a:prstDash val="solid"/>
          </a:ln>
        </p:spPr>
      </p:sp>
      <p:sp>
        <p:nvSpPr>
          <p:cNvPr id="43" name="anim-2-fade-120-330"/>
          <p:cNvSpPr/>
          <p:nvPr/>
        </p:nvSpPr>
        <p:spPr>
          <a:xfrm>
            <a:off x="4718304" y="2852928"/>
            <a:ext cx="182880" cy="274320"/>
          </a:xfrm>
          <a:prstGeom prst="rect">
            <a:avLst/>
          </a:prstGeom>
          <a:solidFill>
            <a:srgbClr val="F9EAD9"/>
          </a:solidFill>
          <a:ln w="6350">
            <a:solidFill>
              <a:srgbClr val="FFFFFF"/>
            </a:solidFill>
            <a:prstDash val="solid"/>
          </a:ln>
        </p:spPr>
      </p:sp>
      <p:sp>
        <p:nvSpPr>
          <p:cNvPr id="44" name="anim-2-fade-120-331"/>
          <p:cNvSpPr/>
          <p:nvPr/>
        </p:nvSpPr>
        <p:spPr>
          <a:xfrm>
            <a:off x="4928616" y="2852928"/>
            <a:ext cx="182880" cy="274320"/>
          </a:xfrm>
          <a:prstGeom prst="rect">
            <a:avLst/>
          </a:prstGeom>
          <a:solidFill>
            <a:srgbClr val="E39C4B"/>
          </a:solidFill>
          <a:ln w="6350">
            <a:solidFill>
              <a:srgbClr val="FFFFFF"/>
            </a:solidFill>
            <a:prstDash val="solid"/>
          </a:ln>
        </p:spPr>
      </p:sp>
      <p:sp>
        <p:nvSpPr>
          <p:cNvPr id="45" name="anim-2-fade-120-332"/>
          <p:cNvSpPr/>
          <p:nvPr/>
        </p:nvSpPr>
        <p:spPr>
          <a:xfrm>
            <a:off x="5138928" y="2852928"/>
            <a:ext cx="182880" cy="274320"/>
          </a:xfrm>
          <a:prstGeom prst="rect">
            <a:avLst/>
          </a:prstGeom>
          <a:solidFill>
            <a:srgbClr val="686BF1"/>
          </a:solidFill>
          <a:ln w="6350">
            <a:solidFill>
              <a:srgbClr val="FFFFFF"/>
            </a:solidFill>
            <a:prstDash val="solid"/>
          </a:ln>
        </p:spPr>
      </p:sp>
      <p:sp>
        <p:nvSpPr>
          <p:cNvPr id="46" name="anim-2-fade-120-333"/>
          <p:cNvSpPr/>
          <p:nvPr/>
        </p:nvSpPr>
        <p:spPr>
          <a:xfrm>
            <a:off x="5349240" y="2852928"/>
            <a:ext cx="182880" cy="274320"/>
          </a:xfrm>
          <a:prstGeom prst="rect">
            <a:avLst/>
          </a:prstGeom>
          <a:solidFill>
            <a:srgbClr val="C6C7FA"/>
          </a:solidFill>
          <a:ln w="6350">
            <a:solidFill>
              <a:srgbClr val="FFFFFF"/>
            </a:solidFill>
            <a:prstDash val="solid"/>
          </a:ln>
        </p:spPr>
      </p:sp>
      <p:sp>
        <p:nvSpPr>
          <p:cNvPr id="47" name="anim-2-fade-120-334"/>
          <p:cNvSpPr/>
          <p:nvPr/>
        </p:nvSpPr>
        <p:spPr>
          <a:xfrm>
            <a:off x="5559552" y="2852928"/>
            <a:ext cx="182880" cy="274320"/>
          </a:xfrm>
          <a:prstGeom prst="rect">
            <a:avLst/>
          </a:prstGeom>
          <a:solidFill>
            <a:srgbClr val="F7E1C9"/>
          </a:solidFill>
          <a:ln w="6350">
            <a:solidFill>
              <a:srgbClr val="FFFFFF"/>
            </a:solidFill>
            <a:prstDash val="solid"/>
          </a:ln>
        </p:spPr>
      </p:sp>
      <p:sp>
        <p:nvSpPr>
          <p:cNvPr id="48" name="anim-2-fade-120-335"/>
          <p:cNvSpPr/>
          <p:nvPr/>
        </p:nvSpPr>
        <p:spPr>
          <a:xfrm>
            <a:off x="5769864" y="2852928"/>
            <a:ext cx="182880" cy="274320"/>
          </a:xfrm>
          <a:prstGeom prst="rect">
            <a:avLst/>
          </a:prstGeom>
          <a:solidFill>
            <a:srgbClr val="F4D8B7"/>
          </a:solidFill>
          <a:ln w="6350">
            <a:solidFill>
              <a:srgbClr val="FFFFFF"/>
            </a:solidFill>
            <a:prstDash val="solid"/>
          </a:ln>
        </p:spPr>
      </p:sp>
      <p:sp>
        <p:nvSpPr>
          <p:cNvPr id="49" name="anim-3-fade-0-336"/>
          <p:cNvSpPr txBox="1"/>
          <p:nvPr/>
        </p:nvSpPr>
        <p:spPr>
          <a:xfrm>
            <a:off x="4983480" y="31729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50" name="anim-3-fade-120-337"/>
          <p:cNvSpPr/>
          <p:nvPr/>
        </p:nvSpPr>
        <p:spPr>
          <a:xfrm>
            <a:off x="4297680" y="3538728"/>
            <a:ext cx="182880" cy="274320"/>
          </a:xfrm>
          <a:prstGeom prst="rect">
            <a:avLst/>
          </a:prstGeom>
          <a:solidFill>
            <a:srgbClr val="4278EE"/>
          </a:solidFill>
          <a:ln w="6350">
            <a:solidFill>
              <a:srgbClr val="FFFFFF"/>
            </a:solidFill>
            <a:prstDash val="solid"/>
          </a:ln>
        </p:spPr>
      </p:sp>
      <p:sp>
        <p:nvSpPr>
          <p:cNvPr id="51" name="anim-3-fade-120-338"/>
          <p:cNvSpPr/>
          <p:nvPr/>
        </p:nvSpPr>
        <p:spPr>
          <a:xfrm>
            <a:off x="4507992" y="3538728"/>
            <a:ext cx="182880" cy="274320"/>
          </a:xfrm>
          <a:prstGeom prst="rect">
            <a:avLst/>
          </a:prstGeom>
          <a:solidFill>
            <a:srgbClr val="4E80EF"/>
          </a:solidFill>
          <a:ln w="6350">
            <a:solidFill>
              <a:srgbClr val="FFFFFF"/>
            </a:solidFill>
            <a:prstDash val="solid"/>
          </a:ln>
        </p:spPr>
      </p:sp>
      <p:sp>
        <p:nvSpPr>
          <p:cNvPr id="52" name="anim-3-fade-120-339"/>
          <p:cNvSpPr/>
          <p:nvPr/>
        </p:nvSpPr>
        <p:spPr>
          <a:xfrm>
            <a:off x="4718304" y="3538728"/>
            <a:ext cx="182880" cy="274320"/>
          </a:xfrm>
          <a:prstGeom prst="rect">
            <a:avLst/>
          </a:prstGeom>
          <a:solidFill>
            <a:srgbClr val="8DADF5"/>
          </a:solidFill>
          <a:ln w="6350">
            <a:solidFill>
              <a:srgbClr val="FFFFFF"/>
            </a:solidFill>
            <a:prstDash val="solid"/>
          </a:ln>
        </p:spPr>
      </p:sp>
      <p:sp>
        <p:nvSpPr>
          <p:cNvPr id="53" name="anim-3-fade-120-340"/>
          <p:cNvSpPr/>
          <p:nvPr/>
        </p:nvSpPr>
        <p:spPr>
          <a:xfrm>
            <a:off x="4928616" y="3538728"/>
            <a:ext cx="182880" cy="274320"/>
          </a:xfrm>
          <a:prstGeom prst="rect">
            <a:avLst/>
          </a:prstGeom>
          <a:solidFill>
            <a:srgbClr val="2E69EC"/>
          </a:solidFill>
          <a:ln w="6350">
            <a:solidFill>
              <a:srgbClr val="FFFFFF"/>
            </a:solidFill>
            <a:prstDash val="solid"/>
          </a:ln>
        </p:spPr>
      </p:sp>
      <p:sp>
        <p:nvSpPr>
          <p:cNvPr id="54" name="anim-3-fade-120-341"/>
          <p:cNvSpPr/>
          <p:nvPr/>
        </p:nvSpPr>
        <p:spPr>
          <a:xfrm>
            <a:off x="5138928" y="3538728"/>
            <a:ext cx="182880" cy="274320"/>
          </a:xfrm>
          <a:prstGeom prst="rect">
            <a:avLst/>
          </a:prstGeom>
          <a:solidFill>
            <a:srgbClr val="B8CCF9"/>
          </a:solidFill>
          <a:ln w="6350">
            <a:solidFill>
              <a:srgbClr val="FFFFFF"/>
            </a:solidFill>
            <a:prstDash val="solid"/>
          </a:ln>
        </p:spPr>
      </p:sp>
      <p:sp>
        <p:nvSpPr>
          <p:cNvPr id="55" name="anim-3-fade-120-342"/>
          <p:cNvSpPr/>
          <p:nvPr/>
        </p:nvSpPr>
        <p:spPr>
          <a:xfrm>
            <a:off x="5349240" y="3538728"/>
            <a:ext cx="182880" cy="274320"/>
          </a:xfrm>
          <a:prstGeom prst="rect">
            <a:avLst/>
          </a:prstGeom>
          <a:solidFill>
            <a:srgbClr val="2764EB"/>
          </a:solidFill>
          <a:ln w="6350">
            <a:solidFill>
              <a:srgbClr val="FFFFFF"/>
            </a:solidFill>
            <a:prstDash val="solid"/>
          </a:ln>
        </p:spPr>
      </p:sp>
      <p:sp>
        <p:nvSpPr>
          <p:cNvPr id="56" name="anim-3-fade-120-343"/>
          <p:cNvSpPr/>
          <p:nvPr/>
        </p:nvSpPr>
        <p:spPr>
          <a:xfrm>
            <a:off x="5559552" y="3538728"/>
            <a:ext cx="182880" cy="274320"/>
          </a:xfrm>
          <a:prstGeom prst="rect">
            <a:avLst/>
          </a:prstGeom>
          <a:solidFill>
            <a:srgbClr val="CDDBFA"/>
          </a:solidFill>
          <a:ln w="6350">
            <a:solidFill>
              <a:srgbClr val="FFFFFF"/>
            </a:solidFill>
            <a:prstDash val="solid"/>
          </a:ln>
        </p:spPr>
      </p:sp>
      <p:sp>
        <p:nvSpPr>
          <p:cNvPr id="57" name="anim-3-fade-120-344"/>
          <p:cNvSpPr/>
          <p:nvPr/>
        </p:nvSpPr>
        <p:spPr>
          <a:xfrm>
            <a:off x="5769864" y="3538728"/>
            <a:ext cx="182880" cy="274320"/>
          </a:xfrm>
          <a:prstGeom prst="rect">
            <a:avLst/>
          </a:prstGeom>
          <a:solidFill>
            <a:srgbClr val="2563EB"/>
          </a:solidFill>
          <a:ln w="6350">
            <a:solidFill>
              <a:srgbClr val="FFFFFF"/>
            </a:solidFill>
            <a:prstDash val="solid"/>
          </a:ln>
        </p:spPr>
      </p:sp>
      <p:sp>
        <p:nvSpPr>
          <p:cNvPr id="58" name="anim-4-fade-0-345"/>
          <p:cNvSpPr txBox="1"/>
          <p:nvPr/>
        </p:nvSpPr>
        <p:spPr>
          <a:xfrm>
            <a:off x="4983480" y="38587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59" name="anim-4-fade-120-346"/>
          <p:cNvSpPr/>
          <p:nvPr/>
        </p:nvSpPr>
        <p:spPr>
          <a:xfrm>
            <a:off x="4297680" y="4224528"/>
            <a:ext cx="182880" cy="274320"/>
          </a:xfrm>
          <a:prstGeom prst="rect">
            <a:avLst/>
          </a:prstGeom>
          <a:solidFill>
            <a:srgbClr val="6E8AF2"/>
          </a:solidFill>
          <a:ln w="6350">
            <a:solidFill>
              <a:srgbClr val="FFFFFF"/>
            </a:solidFill>
            <a:prstDash val="solid"/>
          </a:ln>
        </p:spPr>
      </p:sp>
      <p:sp>
        <p:nvSpPr>
          <p:cNvPr id="60" name="anim-4-fade-120-347"/>
          <p:cNvSpPr/>
          <p:nvPr/>
        </p:nvSpPr>
        <p:spPr>
          <a:xfrm>
            <a:off x="4507992" y="4224528"/>
            <a:ext cx="182880" cy="274320"/>
          </a:xfrm>
          <a:prstGeom prst="rect">
            <a:avLst/>
          </a:prstGeom>
          <a:solidFill>
            <a:srgbClr val="A3B1DD"/>
          </a:solidFill>
          <a:ln w="6350">
            <a:solidFill>
              <a:srgbClr val="FFFFFF"/>
            </a:solidFill>
            <a:prstDash val="solid"/>
          </a:ln>
        </p:spPr>
      </p:sp>
      <p:sp>
        <p:nvSpPr>
          <p:cNvPr id="61" name="anim-4-fade-120-348"/>
          <p:cNvSpPr/>
          <p:nvPr/>
        </p:nvSpPr>
        <p:spPr>
          <a:xfrm>
            <a:off x="4718304" y="4224528"/>
            <a:ext cx="182880" cy="274320"/>
          </a:xfrm>
          <a:prstGeom prst="rect">
            <a:avLst/>
          </a:prstGeom>
          <a:solidFill>
            <a:srgbClr val="C3CCE7"/>
          </a:solidFill>
          <a:ln w="6350">
            <a:solidFill>
              <a:srgbClr val="FFFFFF"/>
            </a:solidFill>
            <a:prstDash val="solid"/>
          </a:ln>
        </p:spPr>
      </p:sp>
      <p:sp>
        <p:nvSpPr>
          <p:cNvPr id="62" name="anim-4-fade-120-349"/>
          <p:cNvSpPr/>
          <p:nvPr/>
        </p:nvSpPr>
        <p:spPr>
          <a:xfrm>
            <a:off x="4928616" y="4224528"/>
            <a:ext cx="182880" cy="274320"/>
          </a:xfrm>
          <a:prstGeom prst="rect">
            <a:avLst/>
          </a:prstGeom>
          <a:solidFill>
            <a:srgbClr val="89839C"/>
          </a:solidFill>
          <a:ln w="6350">
            <a:solidFill>
              <a:srgbClr val="FFFFFF"/>
            </a:solidFill>
            <a:prstDash val="solid"/>
          </a:ln>
        </p:spPr>
      </p:sp>
      <p:sp>
        <p:nvSpPr>
          <p:cNvPr id="63" name="anim-4-fade-120-350"/>
          <p:cNvSpPr/>
          <p:nvPr/>
        </p:nvSpPr>
        <p:spPr>
          <a:xfrm>
            <a:off x="5138928" y="4224528"/>
            <a:ext cx="182880" cy="274320"/>
          </a:xfrm>
          <a:prstGeom prst="rect">
            <a:avLst/>
          </a:prstGeom>
          <a:solidFill>
            <a:srgbClr val="909CF5"/>
          </a:solidFill>
          <a:ln w="6350">
            <a:solidFill>
              <a:srgbClr val="FFFFFF"/>
            </a:solidFill>
            <a:prstDash val="solid"/>
          </a:ln>
        </p:spPr>
      </p:sp>
      <p:sp>
        <p:nvSpPr>
          <p:cNvPr id="64" name="anim-4-fade-120-351"/>
          <p:cNvSpPr/>
          <p:nvPr/>
        </p:nvSpPr>
        <p:spPr>
          <a:xfrm>
            <a:off x="5349240" y="4224528"/>
            <a:ext cx="182880" cy="274320"/>
          </a:xfrm>
          <a:prstGeom prst="rect">
            <a:avLst/>
          </a:prstGeom>
          <a:solidFill>
            <a:srgbClr val="7796F3"/>
          </a:solidFill>
          <a:ln w="6350">
            <a:solidFill>
              <a:srgbClr val="FFFFFF"/>
            </a:solidFill>
            <a:prstDash val="solid"/>
          </a:ln>
        </p:spPr>
      </p:sp>
      <p:sp>
        <p:nvSpPr>
          <p:cNvPr id="65" name="anim-4-fade-120-352"/>
          <p:cNvSpPr/>
          <p:nvPr/>
        </p:nvSpPr>
        <p:spPr>
          <a:xfrm>
            <a:off x="5559552" y="4224528"/>
            <a:ext cx="182880" cy="274320"/>
          </a:xfrm>
          <a:prstGeom prst="rect">
            <a:avLst/>
          </a:prstGeom>
          <a:solidFill>
            <a:srgbClr val="E2DEE2"/>
          </a:solidFill>
          <a:ln w="6350">
            <a:solidFill>
              <a:srgbClr val="FFFFFF"/>
            </a:solidFill>
            <a:prstDash val="solid"/>
          </a:ln>
        </p:spPr>
      </p:sp>
      <p:sp>
        <p:nvSpPr>
          <p:cNvPr id="66" name="anim-4-fade-120-353"/>
          <p:cNvSpPr/>
          <p:nvPr/>
        </p:nvSpPr>
        <p:spPr>
          <a:xfrm>
            <a:off x="5769864" y="4224528"/>
            <a:ext cx="182880" cy="274320"/>
          </a:xfrm>
          <a:prstGeom prst="rect">
            <a:avLst/>
          </a:prstGeom>
          <a:solidFill>
            <a:srgbClr val="8D9ED1"/>
          </a:solidFill>
          <a:ln w="6350">
            <a:solidFill>
              <a:srgbClr val="FFFFFF"/>
            </a:solidFill>
            <a:prstDash val="solid"/>
          </a:ln>
        </p:spPr>
      </p:sp>
      <p:sp>
        <p:nvSpPr>
          <p:cNvPr id="67" name="anim-3-fade-120-354"/>
          <p:cNvSpPr txBox="1"/>
          <p:nvPr/>
        </p:nvSpPr>
        <p:spPr>
          <a:xfrm>
            <a:off x="4434840" y="3886200"/>
            <a:ext cx="548640" cy="201168"/>
          </a:xfrm>
          <a:prstGeom prst="rect">
            <a:avLst/>
          </a:prstGeom>
          <a:noFill/>
          <a:ln/>
        </p:spPr>
        <p:txBody>
          <a:bodyPr wrap="square" lIns="0" tIns="0" rIns="0" bIns="0" rtlCol="0" anchor="t"/>
          <a:lstStyle/>
          <a:p>
            <a:pPr indent="0" marL="0">
              <a:buNone/>
            </a:pPr>
            <a:r>
              <a:rPr lang="en-US" sz="850" dirty="0">
                <a:solidFill>
                  <a:srgbClr val="2563EB"/>
                </a:solidFill>
                <a:latin typeface="Inter" pitchFamily="34" charset="0"/>
                <a:ea typeface="Inter" pitchFamily="34" charset="-122"/>
                <a:cs typeface="Inter" pitchFamily="34" charset="-120"/>
              </a:rPr>
              <a:t>pos 1</a:t>
            </a:r>
            <a:endParaRPr lang="en-US" sz="850" dirty="0"/>
          </a:p>
        </p:txBody>
      </p:sp>
      <p:sp>
        <p:nvSpPr>
          <p:cNvPr id="68" name="anim-1-rise-240-355"/>
          <p:cNvSpPr/>
          <p:nvPr/>
        </p:nvSpPr>
        <p:spPr>
          <a:xfrm>
            <a:off x="6263640" y="1828800"/>
            <a:ext cx="1463040" cy="402336"/>
          </a:xfrm>
          <a:prstGeom prst="roundRect">
            <a:avLst>
              <a:gd name="adj" fmla="val 15909"/>
            </a:avLst>
          </a:prstGeom>
          <a:solidFill>
            <a:srgbClr val="FEF3C7"/>
          </a:solidFill>
          <a:ln w="12700">
            <a:solidFill>
              <a:srgbClr val="D97706"/>
            </a:solidFill>
          </a:ln>
        </p:spPr>
        <p:txBody>
          <a:bodyPr wrap="square" lIns="0" tIns="0" rIns="0" bIns="0" rtlCol="0" anchor="ctr"/>
          <a:lstStyle/>
          <a:p>
            <a:pPr algn="ctr" indent="0" marL="0">
              <a:buNone/>
            </a:pPr>
            <a:r>
              <a:rPr lang="en-US" sz="1400" b="1" dirty="0">
                <a:solidFill>
                  <a:srgbClr val="0F172A"/>
                </a:solidFill>
                <a:latin typeface="Inter" pitchFamily="34" charset="0"/>
                <a:ea typeface="Inter" pitchFamily="34" charset="-122"/>
                <a:cs typeface="Inter" pitchFamily="34" charset="-120"/>
              </a:rPr>
              <a:t>sat</a:t>
            </a:r>
            <a:endParaRPr lang="en-US" sz="1400" dirty="0"/>
          </a:p>
        </p:txBody>
      </p:sp>
      <p:sp>
        <p:nvSpPr>
          <p:cNvPr id="69" name="anim-1-fade-640-356"/>
          <p:cNvSpPr txBox="1"/>
          <p:nvPr/>
        </p:nvSpPr>
        <p:spPr>
          <a:xfrm>
            <a:off x="6263640" y="2395728"/>
            <a:ext cx="1463040" cy="256032"/>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3332</a:t>
            </a:r>
            <a:endParaRPr lang="en-US" sz="1100" dirty="0"/>
          </a:p>
        </p:txBody>
      </p:sp>
      <p:sp>
        <p:nvSpPr>
          <p:cNvPr id="70" name="anim-2-fade-240-357"/>
          <p:cNvSpPr/>
          <p:nvPr/>
        </p:nvSpPr>
        <p:spPr>
          <a:xfrm>
            <a:off x="6126480" y="2852928"/>
            <a:ext cx="182880" cy="274320"/>
          </a:xfrm>
          <a:prstGeom prst="rect">
            <a:avLst/>
          </a:prstGeom>
          <a:solidFill>
            <a:srgbClr val="9395F5"/>
          </a:solidFill>
          <a:ln w="6350">
            <a:solidFill>
              <a:srgbClr val="FFFFFF"/>
            </a:solidFill>
            <a:prstDash val="solid"/>
          </a:ln>
        </p:spPr>
      </p:sp>
      <p:sp>
        <p:nvSpPr>
          <p:cNvPr id="71" name="anim-2-fade-240-358"/>
          <p:cNvSpPr/>
          <p:nvPr/>
        </p:nvSpPr>
        <p:spPr>
          <a:xfrm>
            <a:off x="6336792" y="2852928"/>
            <a:ext cx="182880" cy="274320"/>
          </a:xfrm>
          <a:prstGeom prst="rect">
            <a:avLst/>
          </a:prstGeom>
          <a:solidFill>
            <a:srgbClr val="C8C9FA"/>
          </a:solidFill>
          <a:ln w="6350">
            <a:solidFill>
              <a:srgbClr val="FFFFFF"/>
            </a:solidFill>
            <a:prstDash val="solid"/>
          </a:ln>
        </p:spPr>
      </p:sp>
      <p:sp>
        <p:nvSpPr>
          <p:cNvPr id="72" name="anim-2-fade-240-359"/>
          <p:cNvSpPr/>
          <p:nvPr/>
        </p:nvSpPr>
        <p:spPr>
          <a:xfrm>
            <a:off x="6547104" y="2852928"/>
            <a:ext cx="182880" cy="274320"/>
          </a:xfrm>
          <a:prstGeom prst="rect">
            <a:avLst/>
          </a:prstGeom>
          <a:solidFill>
            <a:srgbClr val="6467F1"/>
          </a:solidFill>
          <a:ln w="6350">
            <a:solidFill>
              <a:srgbClr val="FFFFFF"/>
            </a:solidFill>
            <a:prstDash val="solid"/>
          </a:ln>
        </p:spPr>
      </p:sp>
      <p:sp>
        <p:nvSpPr>
          <p:cNvPr id="73" name="anim-2-fade-240-360"/>
          <p:cNvSpPr/>
          <p:nvPr/>
        </p:nvSpPr>
        <p:spPr>
          <a:xfrm>
            <a:off x="6757416" y="2852928"/>
            <a:ext cx="182880" cy="274320"/>
          </a:xfrm>
          <a:prstGeom prst="rect">
            <a:avLst/>
          </a:prstGeom>
          <a:solidFill>
            <a:srgbClr val="DD8723"/>
          </a:solidFill>
          <a:ln w="6350">
            <a:solidFill>
              <a:srgbClr val="FFFFFF"/>
            </a:solidFill>
            <a:prstDash val="solid"/>
          </a:ln>
        </p:spPr>
      </p:sp>
      <p:sp>
        <p:nvSpPr>
          <p:cNvPr id="74" name="anim-2-fade-240-361"/>
          <p:cNvSpPr/>
          <p:nvPr/>
        </p:nvSpPr>
        <p:spPr>
          <a:xfrm>
            <a:off x="6967728" y="2852928"/>
            <a:ext cx="182880" cy="274320"/>
          </a:xfrm>
          <a:prstGeom prst="rect">
            <a:avLst/>
          </a:prstGeom>
          <a:solidFill>
            <a:srgbClr val="E29741"/>
          </a:solidFill>
          <a:ln w="6350">
            <a:solidFill>
              <a:srgbClr val="FFFFFF"/>
            </a:solidFill>
            <a:prstDash val="solid"/>
          </a:ln>
        </p:spPr>
      </p:sp>
      <p:sp>
        <p:nvSpPr>
          <p:cNvPr id="75" name="anim-2-fade-240-362"/>
          <p:cNvSpPr/>
          <p:nvPr/>
        </p:nvSpPr>
        <p:spPr>
          <a:xfrm>
            <a:off x="7178040" y="2852928"/>
            <a:ext cx="182880" cy="274320"/>
          </a:xfrm>
          <a:prstGeom prst="rect">
            <a:avLst/>
          </a:prstGeom>
          <a:solidFill>
            <a:srgbClr val="EFC596"/>
          </a:solidFill>
          <a:ln w="6350">
            <a:solidFill>
              <a:srgbClr val="FFFFFF"/>
            </a:solidFill>
            <a:prstDash val="solid"/>
          </a:ln>
        </p:spPr>
      </p:sp>
      <p:sp>
        <p:nvSpPr>
          <p:cNvPr id="76" name="anim-2-fade-240-363"/>
          <p:cNvSpPr/>
          <p:nvPr/>
        </p:nvSpPr>
        <p:spPr>
          <a:xfrm>
            <a:off x="7388352" y="2852928"/>
            <a:ext cx="182880" cy="274320"/>
          </a:xfrm>
          <a:prstGeom prst="rect">
            <a:avLst/>
          </a:prstGeom>
          <a:solidFill>
            <a:srgbClr val="D0D1FB"/>
          </a:solidFill>
          <a:ln w="6350">
            <a:solidFill>
              <a:srgbClr val="FFFFFF"/>
            </a:solidFill>
            <a:prstDash val="solid"/>
          </a:ln>
        </p:spPr>
      </p:sp>
      <p:sp>
        <p:nvSpPr>
          <p:cNvPr id="77" name="anim-2-fade-240-364"/>
          <p:cNvSpPr/>
          <p:nvPr/>
        </p:nvSpPr>
        <p:spPr>
          <a:xfrm>
            <a:off x="7598664" y="2852928"/>
            <a:ext cx="182880" cy="274320"/>
          </a:xfrm>
          <a:prstGeom prst="rect">
            <a:avLst/>
          </a:prstGeom>
          <a:solidFill>
            <a:srgbClr val="E1933A"/>
          </a:solidFill>
          <a:ln w="6350">
            <a:solidFill>
              <a:srgbClr val="FFFFFF"/>
            </a:solidFill>
            <a:prstDash val="solid"/>
          </a:ln>
        </p:spPr>
      </p:sp>
      <p:sp>
        <p:nvSpPr>
          <p:cNvPr id="78" name="anim-3-fade-0-365"/>
          <p:cNvSpPr txBox="1"/>
          <p:nvPr/>
        </p:nvSpPr>
        <p:spPr>
          <a:xfrm>
            <a:off x="6812280" y="31729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79" name="anim-3-fade-240-366"/>
          <p:cNvSpPr/>
          <p:nvPr/>
        </p:nvSpPr>
        <p:spPr>
          <a:xfrm>
            <a:off x="6126480" y="3538728"/>
            <a:ext cx="182880" cy="274320"/>
          </a:xfrm>
          <a:prstGeom prst="rect">
            <a:avLst/>
          </a:prstGeom>
          <a:solidFill>
            <a:srgbClr val="366FED"/>
          </a:solidFill>
          <a:ln w="6350">
            <a:solidFill>
              <a:srgbClr val="FFFFFF"/>
            </a:solidFill>
            <a:prstDash val="solid"/>
          </a:ln>
        </p:spPr>
      </p:sp>
      <p:sp>
        <p:nvSpPr>
          <p:cNvPr id="80" name="anim-3-fade-240-367"/>
          <p:cNvSpPr/>
          <p:nvPr/>
        </p:nvSpPr>
        <p:spPr>
          <a:xfrm>
            <a:off x="6336792" y="3538728"/>
            <a:ext cx="182880" cy="274320"/>
          </a:xfrm>
          <a:prstGeom prst="rect">
            <a:avLst/>
          </a:prstGeom>
          <a:solidFill>
            <a:srgbClr val="B5CAF8"/>
          </a:solidFill>
          <a:ln w="6350">
            <a:solidFill>
              <a:srgbClr val="FFFFFF"/>
            </a:solidFill>
            <a:prstDash val="solid"/>
          </a:ln>
        </p:spPr>
      </p:sp>
      <p:sp>
        <p:nvSpPr>
          <p:cNvPr id="81" name="anim-3-fade-240-368"/>
          <p:cNvSpPr/>
          <p:nvPr/>
        </p:nvSpPr>
        <p:spPr>
          <a:xfrm>
            <a:off x="6547104" y="3538728"/>
            <a:ext cx="182880" cy="274320"/>
          </a:xfrm>
          <a:prstGeom prst="rect">
            <a:avLst/>
          </a:prstGeom>
          <a:solidFill>
            <a:srgbClr val="4C7FEF"/>
          </a:solidFill>
          <a:ln w="6350">
            <a:solidFill>
              <a:srgbClr val="FFFFFF"/>
            </a:solidFill>
            <a:prstDash val="solid"/>
          </a:ln>
        </p:spPr>
      </p:sp>
      <p:sp>
        <p:nvSpPr>
          <p:cNvPr id="82" name="anim-3-fade-240-369"/>
          <p:cNvSpPr/>
          <p:nvPr/>
        </p:nvSpPr>
        <p:spPr>
          <a:xfrm>
            <a:off x="6757416" y="3538728"/>
            <a:ext cx="182880" cy="274320"/>
          </a:xfrm>
          <a:prstGeom prst="rect">
            <a:avLst/>
          </a:prstGeom>
          <a:solidFill>
            <a:srgbClr val="477BEE"/>
          </a:solidFill>
          <a:ln w="6350">
            <a:solidFill>
              <a:srgbClr val="FFFFFF"/>
            </a:solidFill>
            <a:prstDash val="solid"/>
          </a:ln>
        </p:spPr>
      </p:sp>
      <p:sp>
        <p:nvSpPr>
          <p:cNvPr id="83" name="anim-3-fade-240-370"/>
          <p:cNvSpPr/>
          <p:nvPr/>
        </p:nvSpPr>
        <p:spPr>
          <a:xfrm>
            <a:off x="6967728" y="3538728"/>
            <a:ext cx="182880" cy="274320"/>
          </a:xfrm>
          <a:prstGeom prst="rect">
            <a:avLst/>
          </a:prstGeom>
          <a:solidFill>
            <a:srgbClr val="94B2F5"/>
          </a:solidFill>
          <a:ln w="6350">
            <a:solidFill>
              <a:srgbClr val="FFFFFF"/>
            </a:solidFill>
            <a:prstDash val="solid"/>
          </a:ln>
        </p:spPr>
      </p:sp>
      <p:sp>
        <p:nvSpPr>
          <p:cNvPr id="84" name="anim-3-fade-240-371"/>
          <p:cNvSpPr/>
          <p:nvPr/>
        </p:nvSpPr>
        <p:spPr>
          <a:xfrm>
            <a:off x="7178040" y="3538728"/>
            <a:ext cx="182880" cy="274320"/>
          </a:xfrm>
          <a:prstGeom prst="rect">
            <a:avLst/>
          </a:prstGeom>
          <a:solidFill>
            <a:srgbClr val="2C68EC"/>
          </a:solidFill>
          <a:ln w="6350">
            <a:solidFill>
              <a:srgbClr val="FFFFFF"/>
            </a:solidFill>
            <a:prstDash val="solid"/>
          </a:ln>
        </p:spPr>
      </p:sp>
      <p:sp>
        <p:nvSpPr>
          <p:cNvPr id="85" name="anim-3-fade-240-372"/>
          <p:cNvSpPr/>
          <p:nvPr/>
        </p:nvSpPr>
        <p:spPr>
          <a:xfrm>
            <a:off x="7388352" y="3538728"/>
            <a:ext cx="182880" cy="274320"/>
          </a:xfrm>
          <a:prstGeom prst="rect">
            <a:avLst/>
          </a:prstGeom>
          <a:solidFill>
            <a:srgbClr val="BCCFF9"/>
          </a:solidFill>
          <a:ln w="6350">
            <a:solidFill>
              <a:srgbClr val="FFFFFF"/>
            </a:solidFill>
            <a:prstDash val="solid"/>
          </a:ln>
        </p:spPr>
      </p:sp>
      <p:sp>
        <p:nvSpPr>
          <p:cNvPr id="86" name="anim-3-fade-240-373"/>
          <p:cNvSpPr/>
          <p:nvPr/>
        </p:nvSpPr>
        <p:spPr>
          <a:xfrm>
            <a:off x="7598664" y="3538728"/>
            <a:ext cx="182880" cy="274320"/>
          </a:xfrm>
          <a:prstGeom prst="rect">
            <a:avLst/>
          </a:prstGeom>
          <a:solidFill>
            <a:srgbClr val="2664EB"/>
          </a:solidFill>
          <a:ln w="6350">
            <a:solidFill>
              <a:srgbClr val="FFFFFF"/>
            </a:solidFill>
            <a:prstDash val="solid"/>
          </a:ln>
        </p:spPr>
      </p:sp>
      <p:sp>
        <p:nvSpPr>
          <p:cNvPr id="87" name="anim-4-fade-0-374"/>
          <p:cNvSpPr txBox="1"/>
          <p:nvPr/>
        </p:nvSpPr>
        <p:spPr>
          <a:xfrm>
            <a:off x="6812280" y="38587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88" name="anim-4-fade-240-375"/>
          <p:cNvSpPr/>
          <p:nvPr/>
        </p:nvSpPr>
        <p:spPr>
          <a:xfrm>
            <a:off x="6126480" y="4224528"/>
            <a:ext cx="182880" cy="274320"/>
          </a:xfrm>
          <a:prstGeom prst="rect">
            <a:avLst/>
          </a:prstGeom>
          <a:solidFill>
            <a:srgbClr val="6582F1"/>
          </a:solidFill>
          <a:ln w="6350">
            <a:solidFill>
              <a:srgbClr val="FFFFFF"/>
            </a:solidFill>
            <a:prstDash val="solid"/>
          </a:ln>
        </p:spPr>
      </p:sp>
      <p:sp>
        <p:nvSpPr>
          <p:cNvPr id="89" name="anim-4-fade-240-376"/>
          <p:cNvSpPr/>
          <p:nvPr/>
        </p:nvSpPr>
        <p:spPr>
          <a:xfrm>
            <a:off x="6336792" y="4224528"/>
            <a:ext cx="182880" cy="274320"/>
          </a:xfrm>
          <a:prstGeom prst="rect">
            <a:avLst/>
          </a:prstGeom>
          <a:solidFill>
            <a:srgbClr val="BFCAF9"/>
          </a:solidFill>
          <a:ln w="6350">
            <a:solidFill>
              <a:srgbClr val="FFFFFF"/>
            </a:solidFill>
            <a:prstDash val="solid"/>
          </a:ln>
        </p:spPr>
      </p:sp>
      <p:sp>
        <p:nvSpPr>
          <p:cNvPr id="90" name="anim-4-fade-240-377"/>
          <p:cNvSpPr/>
          <p:nvPr/>
        </p:nvSpPr>
        <p:spPr>
          <a:xfrm>
            <a:off x="6547104" y="4224528"/>
            <a:ext cx="182880" cy="274320"/>
          </a:xfrm>
          <a:prstGeom prst="rect">
            <a:avLst/>
          </a:prstGeom>
          <a:solidFill>
            <a:srgbClr val="5873F0"/>
          </a:solidFill>
          <a:ln w="6350">
            <a:solidFill>
              <a:srgbClr val="FFFFFF"/>
            </a:solidFill>
            <a:prstDash val="solid"/>
          </a:ln>
        </p:spPr>
      </p:sp>
      <p:sp>
        <p:nvSpPr>
          <p:cNvPr id="91" name="anim-4-fade-240-378"/>
          <p:cNvSpPr/>
          <p:nvPr/>
        </p:nvSpPr>
        <p:spPr>
          <a:xfrm>
            <a:off x="6757416" y="4224528"/>
            <a:ext cx="182880" cy="274320"/>
          </a:xfrm>
          <a:prstGeom prst="rect">
            <a:avLst/>
          </a:prstGeom>
          <a:solidFill>
            <a:srgbClr val="928189"/>
          </a:solidFill>
          <a:ln w="6350">
            <a:solidFill>
              <a:srgbClr val="FFFFFF"/>
            </a:solidFill>
            <a:prstDash val="solid"/>
          </a:ln>
        </p:spPr>
      </p:sp>
      <p:sp>
        <p:nvSpPr>
          <p:cNvPr id="92" name="anim-4-fade-240-379"/>
          <p:cNvSpPr/>
          <p:nvPr/>
        </p:nvSpPr>
        <p:spPr>
          <a:xfrm>
            <a:off x="6967728" y="4224528"/>
            <a:ext cx="182880" cy="274320"/>
          </a:xfrm>
          <a:prstGeom prst="rect">
            <a:avLst/>
          </a:prstGeom>
          <a:solidFill>
            <a:srgbClr val="BBA59B"/>
          </a:solidFill>
          <a:ln w="6350">
            <a:solidFill>
              <a:srgbClr val="FFFFFF"/>
            </a:solidFill>
            <a:prstDash val="solid"/>
          </a:ln>
        </p:spPr>
      </p:sp>
      <p:sp>
        <p:nvSpPr>
          <p:cNvPr id="93" name="anim-4-fade-240-380"/>
          <p:cNvSpPr/>
          <p:nvPr/>
        </p:nvSpPr>
        <p:spPr>
          <a:xfrm>
            <a:off x="7178040" y="4224528"/>
            <a:ext cx="182880" cy="274320"/>
          </a:xfrm>
          <a:prstGeom prst="rect">
            <a:avLst/>
          </a:prstGeom>
          <a:solidFill>
            <a:srgbClr val="8E97C1"/>
          </a:solidFill>
          <a:ln w="6350">
            <a:solidFill>
              <a:srgbClr val="FFFFFF"/>
            </a:solidFill>
            <a:prstDash val="solid"/>
          </a:ln>
        </p:spPr>
      </p:sp>
      <p:sp>
        <p:nvSpPr>
          <p:cNvPr id="94" name="anim-4-fade-240-381"/>
          <p:cNvSpPr/>
          <p:nvPr/>
        </p:nvSpPr>
        <p:spPr>
          <a:xfrm>
            <a:off x="7388352" y="4224528"/>
            <a:ext cx="182880" cy="274320"/>
          </a:xfrm>
          <a:prstGeom prst="rect">
            <a:avLst/>
          </a:prstGeom>
          <a:solidFill>
            <a:srgbClr val="C6D0FA"/>
          </a:solidFill>
          <a:ln w="6350">
            <a:solidFill>
              <a:srgbClr val="FFFFFF"/>
            </a:solidFill>
            <a:prstDash val="solid"/>
          </a:ln>
        </p:spPr>
      </p:sp>
      <p:sp>
        <p:nvSpPr>
          <p:cNvPr id="95" name="anim-4-fade-240-382"/>
          <p:cNvSpPr/>
          <p:nvPr/>
        </p:nvSpPr>
        <p:spPr>
          <a:xfrm>
            <a:off x="7598664" y="4224528"/>
            <a:ext cx="182880" cy="274320"/>
          </a:xfrm>
          <a:prstGeom prst="rect">
            <a:avLst/>
          </a:prstGeom>
          <a:solidFill>
            <a:srgbClr val="847C93"/>
          </a:solidFill>
          <a:ln w="6350">
            <a:solidFill>
              <a:srgbClr val="FFFFFF"/>
            </a:solidFill>
            <a:prstDash val="solid"/>
          </a:ln>
        </p:spPr>
      </p:sp>
      <p:sp>
        <p:nvSpPr>
          <p:cNvPr id="96" name="anim-3-fade-240-383"/>
          <p:cNvSpPr txBox="1"/>
          <p:nvPr/>
        </p:nvSpPr>
        <p:spPr>
          <a:xfrm>
            <a:off x="6263640" y="3886200"/>
            <a:ext cx="548640" cy="201168"/>
          </a:xfrm>
          <a:prstGeom prst="rect">
            <a:avLst/>
          </a:prstGeom>
          <a:noFill/>
          <a:ln/>
        </p:spPr>
        <p:txBody>
          <a:bodyPr wrap="square" lIns="0" tIns="0" rIns="0" bIns="0" rtlCol="0" anchor="t"/>
          <a:lstStyle/>
          <a:p>
            <a:pPr indent="0" marL="0">
              <a:buNone/>
            </a:pPr>
            <a:r>
              <a:rPr lang="en-US" sz="850" dirty="0">
                <a:solidFill>
                  <a:srgbClr val="2563EB"/>
                </a:solidFill>
                <a:latin typeface="Inter" pitchFamily="34" charset="0"/>
                <a:ea typeface="Inter" pitchFamily="34" charset="-122"/>
                <a:cs typeface="Inter" pitchFamily="34" charset="-120"/>
              </a:rPr>
              <a:t>pos 2</a:t>
            </a:r>
            <a:endParaRPr lang="en-US" sz="850" dirty="0"/>
          </a:p>
        </p:txBody>
      </p:sp>
      <p:sp>
        <p:nvSpPr>
          <p:cNvPr id="97" name="anim-1-rise-360-384"/>
          <p:cNvSpPr/>
          <p:nvPr/>
        </p:nvSpPr>
        <p:spPr>
          <a:xfrm>
            <a:off x="8092440" y="1828800"/>
            <a:ext cx="1463040" cy="402336"/>
          </a:xfrm>
          <a:prstGeom prst="roundRect">
            <a:avLst>
              <a:gd name="adj" fmla="val 15909"/>
            </a:avLst>
          </a:prstGeom>
          <a:solidFill>
            <a:srgbClr val="FEF3C7"/>
          </a:solidFill>
          <a:ln w="12700">
            <a:solidFill>
              <a:srgbClr val="D97706"/>
            </a:solidFill>
          </a:ln>
        </p:spPr>
        <p:txBody>
          <a:bodyPr wrap="square" lIns="0" tIns="0" rIns="0" bIns="0" rtlCol="0" anchor="ctr"/>
          <a:lstStyle/>
          <a:p>
            <a:pPr algn="ctr" indent="0" marL="0">
              <a:buNone/>
            </a:pPr>
            <a:r>
              <a:rPr lang="en-US" sz="1400" b="1" dirty="0">
                <a:solidFill>
                  <a:srgbClr val="0F172A"/>
                </a:solidFill>
                <a:latin typeface="Inter" pitchFamily="34" charset="0"/>
                <a:ea typeface="Inter" pitchFamily="34" charset="-122"/>
                <a:cs typeface="Inter" pitchFamily="34" charset="-120"/>
              </a:rPr>
              <a:t>on</a:t>
            </a:r>
            <a:endParaRPr lang="en-US" sz="1400" dirty="0"/>
          </a:p>
        </p:txBody>
      </p:sp>
      <p:sp>
        <p:nvSpPr>
          <p:cNvPr id="98" name="anim-1-fade-760-385"/>
          <p:cNvSpPr txBox="1"/>
          <p:nvPr/>
        </p:nvSpPr>
        <p:spPr>
          <a:xfrm>
            <a:off x="8092440" y="2395728"/>
            <a:ext cx="1463040" cy="256032"/>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319</a:t>
            </a:r>
            <a:endParaRPr lang="en-US" sz="1100" dirty="0"/>
          </a:p>
        </p:txBody>
      </p:sp>
      <p:sp>
        <p:nvSpPr>
          <p:cNvPr id="99" name="anim-2-fade-360-386"/>
          <p:cNvSpPr/>
          <p:nvPr/>
        </p:nvSpPr>
        <p:spPr>
          <a:xfrm>
            <a:off x="7955280" y="2852928"/>
            <a:ext cx="182880" cy="274320"/>
          </a:xfrm>
          <a:prstGeom prst="rect">
            <a:avLst/>
          </a:prstGeom>
          <a:solidFill>
            <a:srgbClr val="686BF1"/>
          </a:solidFill>
          <a:ln w="6350">
            <a:solidFill>
              <a:srgbClr val="FFFFFF"/>
            </a:solidFill>
            <a:prstDash val="solid"/>
          </a:ln>
        </p:spPr>
      </p:sp>
      <p:sp>
        <p:nvSpPr>
          <p:cNvPr id="100" name="anim-2-fade-360-387"/>
          <p:cNvSpPr/>
          <p:nvPr/>
        </p:nvSpPr>
        <p:spPr>
          <a:xfrm>
            <a:off x="8165592" y="2852928"/>
            <a:ext cx="182880" cy="274320"/>
          </a:xfrm>
          <a:prstGeom prst="rect">
            <a:avLst/>
          </a:prstGeom>
          <a:solidFill>
            <a:srgbClr val="8285F4"/>
          </a:solidFill>
          <a:ln w="6350">
            <a:solidFill>
              <a:srgbClr val="FFFFFF"/>
            </a:solidFill>
            <a:prstDash val="solid"/>
          </a:ln>
        </p:spPr>
      </p:sp>
      <p:sp>
        <p:nvSpPr>
          <p:cNvPr id="101" name="anim-2-fade-360-388"/>
          <p:cNvSpPr/>
          <p:nvPr/>
        </p:nvSpPr>
        <p:spPr>
          <a:xfrm>
            <a:off x="8375904" y="2852928"/>
            <a:ext cx="182880" cy="274320"/>
          </a:xfrm>
          <a:prstGeom prst="rect">
            <a:avLst/>
          </a:prstGeom>
          <a:solidFill>
            <a:srgbClr val="F7E3CB"/>
          </a:solidFill>
          <a:ln w="6350">
            <a:solidFill>
              <a:srgbClr val="FFFFFF"/>
            </a:solidFill>
            <a:prstDash val="solid"/>
          </a:ln>
        </p:spPr>
      </p:sp>
      <p:sp>
        <p:nvSpPr>
          <p:cNvPr id="102" name="anim-2-fade-360-389"/>
          <p:cNvSpPr/>
          <p:nvPr/>
        </p:nvSpPr>
        <p:spPr>
          <a:xfrm>
            <a:off x="8586216" y="2852928"/>
            <a:ext cx="182880" cy="274320"/>
          </a:xfrm>
          <a:prstGeom prst="rect">
            <a:avLst/>
          </a:prstGeom>
          <a:solidFill>
            <a:srgbClr val="F7E1C8"/>
          </a:solidFill>
          <a:ln w="6350">
            <a:solidFill>
              <a:srgbClr val="FFFFFF"/>
            </a:solidFill>
            <a:prstDash val="solid"/>
          </a:ln>
        </p:spPr>
      </p:sp>
      <p:sp>
        <p:nvSpPr>
          <p:cNvPr id="103" name="anim-2-fade-360-390"/>
          <p:cNvSpPr/>
          <p:nvPr/>
        </p:nvSpPr>
        <p:spPr>
          <a:xfrm>
            <a:off x="8796528" y="2852928"/>
            <a:ext cx="182880" cy="274320"/>
          </a:xfrm>
          <a:prstGeom prst="rect">
            <a:avLst/>
          </a:prstGeom>
          <a:solidFill>
            <a:srgbClr val="AAACF7"/>
          </a:solidFill>
          <a:ln w="6350">
            <a:solidFill>
              <a:srgbClr val="FFFFFF"/>
            </a:solidFill>
            <a:prstDash val="solid"/>
          </a:ln>
        </p:spPr>
      </p:sp>
      <p:sp>
        <p:nvSpPr>
          <p:cNvPr id="104" name="anim-2-fade-360-391"/>
          <p:cNvSpPr/>
          <p:nvPr/>
        </p:nvSpPr>
        <p:spPr>
          <a:xfrm>
            <a:off x="9006840" y="2852928"/>
            <a:ext cx="182880" cy="274320"/>
          </a:xfrm>
          <a:prstGeom prst="rect">
            <a:avLst/>
          </a:prstGeom>
          <a:solidFill>
            <a:srgbClr val="F3D5B2"/>
          </a:solidFill>
          <a:ln w="6350">
            <a:solidFill>
              <a:srgbClr val="FFFFFF"/>
            </a:solidFill>
            <a:prstDash val="solid"/>
          </a:ln>
        </p:spPr>
      </p:sp>
      <p:sp>
        <p:nvSpPr>
          <p:cNvPr id="105" name="anim-2-fade-360-392"/>
          <p:cNvSpPr/>
          <p:nvPr/>
        </p:nvSpPr>
        <p:spPr>
          <a:xfrm>
            <a:off x="9217152" y="2852928"/>
            <a:ext cx="182880" cy="274320"/>
          </a:xfrm>
          <a:prstGeom prst="rect">
            <a:avLst/>
          </a:prstGeom>
          <a:solidFill>
            <a:srgbClr val="9698F6"/>
          </a:solidFill>
          <a:ln w="6350">
            <a:solidFill>
              <a:srgbClr val="FFFFFF"/>
            </a:solidFill>
            <a:prstDash val="solid"/>
          </a:ln>
        </p:spPr>
      </p:sp>
      <p:sp>
        <p:nvSpPr>
          <p:cNvPr id="106" name="anim-2-fade-360-393"/>
          <p:cNvSpPr/>
          <p:nvPr/>
        </p:nvSpPr>
        <p:spPr>
          <a:xfrm>
            <a:off x="9427464" y="2852928"/>
            <a:ext cx="182880" cy="274320"/>
          </a:xfrm>
          <a:prstGeom prst="rect">
            <a:avLst/>
          </a:prstGeom>
          <a:solidFill>
            <a:srgbClr val="DD851F"/>
          </a:solidFill>
          <a:ln w="6350">
            <a:solidFill>
              <a:srgbClr val="FFFFFF"/>
            </a:solidFill>
            <a:prstDash val="solid"/>
          </a:ln>
        </p:spPr>
      </p:sp>
      <p:sp>
        <p:nvSpPr>
          <p:cNvPr id="107" name="anim-3-fade-0-394"/>
          <p:cNvSpPr txBox="1"/>
          <p:nvPr/>
        </p:nvSpPr>
        <p:spPr>
          <a:xfrm>
            <a:off x="8641080" y="31729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108" name="anim-3-fade-360-395"/>
          <p:cNvSpPr/>
          <p:nvPr/>
        </p:nvSpPr>
        <p:spPr>
          <a:xfrm>
            <a:off x="7955280" y="3538728"/>
            <a:ext cx="182880" cy="274320"/>
          </a:xfrm>
          <a:prstGeom prst="rect">
            <a:avLst/>
          </a:prstGeom>
          <a:solidFill>
            <a:srgbClr val="C4D5FA"/>
          </a:solidFill>
          <a:ln w="6350">
            <a:solidFill>
              <a:srgbClr val="FFFFFF"/>
            </a:solidFill>
            <a:prstDash val="solid"/>
          </a:ln>
        </p:spPr>
      </p:sp>
      <p:sp>
        <p:nvSpPr>
          <p:cNvPr id="109" name="anim-3-fade-360-396"/>
          <p:cNvSpPr/>
          <p:nvPr/>
        </p:nvSpPr>
        <p:spPr>
          <a:xfrm>
            <a:off x="8165592" y="3538728"/>
            <a:ext cx="182880" cy="274320"/>
          </a:xfrm>
          <a:prstGeom prst="rect">
            <a:avLst/>
          </a:prstGeom>
          <a:solidFill>
            <a:srgbClr val="C7E1FE"/>
          </a:solidFill>
          <a:ln w="6350">
            <a:solidFill>
              <a:srgbClr val="FFFFFF"/>
            </a:solidFill>
            <a:prstDash val="solid"/>
          </a:ln>
        </p:spPr>
      </p:sp>
      <p:sp>
        <p:nvSpPr>
          <p:cNvPr id="110" name="anim-3-fade-360-397"/>
          <p:cNvSpPr/>
          <p:nvPr/>
        </p:nvSpPr>
        <p:spPr>
          <a:xfrm>
            <a:off x="8375904" y="3538728"/>
            <a:ext cx="182880" cy="274320"/>
          </a:xfrm>
          <a:prstGeom prst="rect">
            <a:avLst/>
          </a:prstGeom>
          <a:solidFill>
            <a:srgbClr val="2966EB"/>
          </a:solidFill>
          <a:ln w="6350">
            <a:solidFill>
              <a:srgbClr val="FFFFFF"/>
            </a:solidFill>
            <a:prstDash val="solid"/>
          </a:ln>
        </p:spPr>
      </p:sp>
      <p:sp>
        <p:nvSpPr>
          <p:cNvPr id="111" name="anim-3-fade-360-398"/>
          <p:cNvSpPr/>
          <p:nvPr/>
        </p:nvSpPr>
        <p:spPr>
          <a:xfrm>
            <a:off x="8586216" y="3538728"/>
            <a:ext cx="182880" cy="274320"/>
          </a:xfrm>
          <a:prstGeom prst="rect">
            <a:avLst/>
          </a:prstGeom>
          <a:solidFill>
            <a:srgbClr val="6E97F2"/>
          </a:solidFill>
          <a:ln w="6350">
            <a:solidFill>
              <a:srgbClr val="FFFFFF"/>
            </a:solidFill>
            <a:prstDash val="solid"/>
          </a:ln>
        </p:spPr>
      </p:sp>
      <p:sp>
        <p:nvSpPr>
          <p:cNvPr id="112" name="anim-3-fade-360-399"/>
          <p:cNvSpPr/>
          <p:nvPr/>
        </p:nvSpPr>
        <p:spPr>
          <a:xfrm>
            <a:off x="8796528" y="3538728"/>
            <a:ext cx="182880" cy="274320"/>
          </a:xfrm>
          <a:prstGeom prst="rect">
            <a:avLst/>
          </a:prstGeom>
          <a:solidFill>
            <a:srgbClr val="739BF2"/>
          </a:solidFill>
          <a:ln w="6350">
            <a:solidFill>
              <a:srgbClr val="FFFFFF"/>
            </a:solidFill>
            <a:prstDash val="solid"/>
          </a:ln>
        </p:spPr>
      </p:sp>
      <p:sp>
        <p:nvSpPr>
          <p:cNvPr id="113" name="anim-3-fade-360-400"/>
          <p:cNvSpPr/>
          <p:nvPr/>
        </p:nvSpPr>
        <p:spPr>
          <a:xfrm>
            <a:off x="9006840" y="3538728"/>
            <a:ext cx="182880" cy="274320"/>
          </a:xfrm>
          <a:prstGeom prst="rect">
            <a:avLst/>
          </a:prstGeom>
          <a:solidFill>
            <a:srgbClr val="356EEC"/>
          </a:solidFill>
          <a:ln w="6350">
            <a:solidFill>
              <a:srgbClr val="FFFFFF"/>
            </a:solidFill>
            <a:prstDash val="solid"/>
          </a:ln>
        </p:spPr>
      </p:sp>
      <p:sp>
        <p:nvSpPr>
          <p:cNvPr id="114" name="anim-3-fade-360-401"/>
          <p:cNvSpPr/>
          <p:nvPr/>
        </p:nvSpPr>
        <p:spPr>
          <a:xfrm>
            <a:off x="9217152" y="3538728"/>
            <a:ext cx="182880" cy="274320"/>
          </a:xfrm>
          <a:prstGeom prst="rect">
            <a:avLst/>
          </a:prstGeom>
          <a:solidFill>
            <a:srgbClr val="ABC3F7"/>
          </a:solidFill>
          <a:ln w="6350">
            <a:solidFill>
              <a:srgbClr val="FFFFFF"/>
            </a:solidFill>
            <a:prstDash val="solid"/>
          </a:ln>
        </p:spPr>
      </p:sp>
      <p:sp>
        <p:nvSpPr>
          <p:cNvPr id="115" name="anim-3-fade-360-402"/>
          <p:cNvSpPr/>
          <p:nvPr/>
        </p:nvSpPr>
        <p:spPr>
          <a:xfrm>
            <a:off x="9427464" y="3538728"/>
            <a:ext cx="182880" cy="274320"/>
          </a:xfrm>
          <a:prstGeom prst="rect">
            <a:avLst/>
          </a:prstGeom>
          <a:solidFill>
            <a:srgbClr val="2865EB"/>
          </a:solidFill>
          <a:ln w="6350">
            <a:solidFill>
              <a:srgbClr val="FFFFFF"/>
            </a:solidFill>
            <a:prstDash val="solid"/>
          </a:ln>
        </p:spPr>
      </p:sp>
      <p:sp>
        <p:nvSpPr>
          <p:cNvPr id="116" name="anim-4-fade-0-403"/>
          <p:cNvSpPr txBox="1"/>
          <p:nvPr/>
        </p:nvSpPr>
        <p:spPr>
          <a:xfrm>
            <a:off x="8641080" y="38587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117" name="anim-4-fade-360-404"/>
          <p:cNvSpPr/>
          <p:nvPr/>
        </p:nvSpPr>
        <p:spPr>
          <a:xfrm>
            <a:off x="7955280" y="4224528"/>
            <a:ext cx="182880" cy="274320"/>
          </a:xfrm>
          <a:prstGeom prst="rect">
            <a:avLst/>
          </a:prstGeom>
          <a:solidFill>
            <a:srgbClr val="96A0F6"/>
          </a:solidFill>
          <a:ln w="6350">
            <a:solidFill>
              <a:srgbClr val="FFFFFF"/>
            </a:solidFill>
            <a:prstDash val="solid"/>
          </a:ln>
        </p:spPr>
      </p:sp>
      <p:sp>
        <p:nvSpPr>
          <p:cNvPr id="118" name="anim-4-fade-360-405"/>
          <p:cNvSpPr/>
          <p:nvPr/>
        </p:nvSpPr>
        <p:spPr>
          <a:xfrm>
            <a:off x="8165592" y="4224528"/>
            <a:ext cx="182880" cy="274320"/>
          </a:xfrm>
          <a:prstGeom prst="rect">
            <a:avLst/>
          </a:prstGeom>
          <a:solidFill>
            <a:srgbClr val="A5B3F9"/>
          </a:solidFill>
          <a:ln w="6350">
            <a:solidFill>
              <a:srgbClr val="FFFFFF"/>
            </a:solidFill>
            <a:prstDash val="solid"/>
          </a:ln>
        </p:spPr>
      </p:sp>
      <p:sp>
        <p:nvSpPr>
          <p:cNvPr id="119" name="anim-4-fade-360-406"/>
          <p:cNvSpPr/>
          <p:nvPr/>
        </p:nvSpPr>
        <p:spPr>
          <a:xfrm>
            <a:off x="8375904" y="4224528"/>
            <a:ext cx="182880" cy="274320"/>
          </a:xfrm>
          <a:prstGeom prst="rect">
            <a:avLst/>
          </a:prstGeom>
          <a:solidFill>
            <a:srgbClr val="90A5DB"/>
          </a:solidFill>
          <a:ln w="6350">
            <a:solidFill>
              <a:srgbClr val="FFFFFF"/>
            </a:solidFill>
            <a:prstDash val="solid"/>
          </a:ln>
        </p:spPr>
      </p:sp>
      <p:sp>
        <p:nvSpPr>
          <p:cNvPr id="120" name="anim-4-fade-360-407"/>
          <p:cNvSpPr/>
          <p:nvPr/>
        </p:nvSpPr>
        <p:spPr>
          <a:xfrm>
            <a:off x="8586216" y="4224528"/>
            <a:ext cx="182880" cy="274320"/>
          </a:xfrm>
          <a:prstGeom prst="rect">
            <a:avLst/>
          </a:prstGeom>
          <a:solidFill>
            <a:srgbClr val="B3BCDD"/>
          </a:solidFill>
          <a:ln w="6350">
            <a:solidFill>
              <a:srgbClr val="FFFFFF"/>
            </a:solidFill>
            <a:prstDash val="solid"/>
          </a:ln>
        </p:spPr>
      </p:sp>
      <p:sp>
        <p:nvSpPr>
          <p:cNvPr id="121" name="anim-4-fade-360-408"/>
          <p:cNvSpPr/>
          <p:nvPr/>
        </p:nvSpPr>
        <p:spPr>
          <a:xfrm>
            <a:off x="8796528" y="4224528"/>
            <a:ext cx="182880" cy="274320"/>
          </a:xfrm>
          <a:prstGeom prst="rect">
            <a:avLst/>
          </a:prstGeom>
          <a:solidFill>
            <a:srgbClr val="8FA4F5"/>
          </a:solidFill>
          <a:ln w="6350">
            <a:solidFill>
              <a:srgbClr val="FFFFFF"/>
            </a:solidFill>
            <a:prstDash val="solid"/>
          </a:ln>
        </p:spPr>
      </p:sp>
      <p:sp>
        <p:nvSpPr>
          <p:cNvPr id="122" name="anim-4-fade-360-409"/>
          <p:cNvSpPr/>
          <p:nvPr/>
        </p:nvSpPr>
        <p:spPr>
          <a:xfrm>
            <a:off x="9006840" y="4224528"/>
            <a:ext cx="182880" cy="274320"/>
          </a:xfrm>
          <a:prstGeom prst="rect">
            <a:avLst/>
          </a:prstGeom>
          <a:solidFill>
            <a:srgbClr val="94A2CF"/>
          </a:solidFill>
          <a:ln w="6350">
            <a:solidFill>
              <a:srgbClr val="FFFFFF"/>
            </a:solidFill>
            <a:prstDash val="solid"/>
          </a:ln>
        </p:spPr>
      </p:sp>
      <p:sp>
        <p:nvSpPr>
          <p:cNvPr id="123" name="anim-4-fade-360-410"/>
          <p:cNvSpPr/>
          <p:nvPr/>
        </p:nvSpPr>
        <p:spPr>
          <a:xfrm>
            <a:off x="9217152" y="4224528"/>
            <a:ext cx="182880" cy="274320"/>
          </a:xfrm>
          <a:prstGeom prst="rect">
            <a:avLst/>
          </a:prstGeom>
          <a:solidFill>
            <a:srgbClr val="A1AEF7"/>
          </a:solidFill>
          <a:ln w="6350">
            <a:solidFill>
              <a:srgbClr val="FFFFFF"/>
            </a:solidFill>
            <a:prstDash val="solid"/>
          </a:ln>
        </p:spPr>
      </p:sp>
      <p:sp>
        <p:nvSpPr>
          <p:cNvPr id="124" name="anim-4-fade-360-411"/>
          <p:cNvSpPr/>
          <p:nvPr/>
        </p:nvSpPr>
        <p:spPr>
          <a:xfrm>
            <a:off x="9427464" y="4224528"/>
            <a:ext cx="182880" cy="274320"/>
          </a:xfrm>
          <a:prstGeom prst="rect">
            <a:avLst/>
          </a:prstGeom>
          <a:solidFill>
            <a:srgbClr val="837585"/>
          </a:solidFill>
          <a:ln w="6350">
            <a:solidFill>
              <a:srgbClr val="FFFFFF"/>
            </a:solidFill>
            <a:prstDash val="solid"/>
          </a:ln>
        </p:spPr>
      </p:sp>
      <p:sp>
        <p:nvSpPr>
          <p:cNvPr id="125" name="anim-3-fade-360-412"/>
          <p:cNvSpPr txBox="1"/>
          <p:nvPr/>
        </p:nvSpPr>
        <p:spPr>
          <a:xfrm>
            <a:off x="8092440" y="3886200"/>
            <a:ext cx="548640" cy="201168"/>
          </a:xfrm>
          <a:prstGeom prst="rect">
            <a:avLst/>
          </a:prstGeom>
          <a:noFill/>
          <a:ln/>
        </p:spPr>
        <p:txBody>
          <a:bodyPr wrap="square" lIns="0" tIns="0" rIns="0" bIns="0" rtlCol="0" anchor="t"/>
          <a:lstStyle/>
          <a:p>
            <a:pPr indent="0" marL="0">
              <a:buNone/>
            </a:pPr>
            <a:r>
              <a:rPr lang="en-US" sz="850" dirty="0">
                <a:solidFill>
                  <a:srgbClr val="2563EB"/>
                </a:solidFill>
                <a:latin typeface="Inter" pitchFamily="34" charset="0"/>
                <a:ea typeface="Inter" pitchFamily="34" charset="-122"/>
                <a:cs typeface="Inter" pitchFamily="34" charset="-120"/>
              </a:rPr>
              <a:t>pos 3</a:t>
            </a:r>
            <a:endParaRPr lang="en-US" sz="850" dirty="0"/>
          </a:p>
        </p:txBody>
      </p:sp>
      <p:sp>
        <p:nvSpPr>
          <p:cNvPr id="126" name="anim-1-rise-480-413"/>
          <p:cNvSpPr/>
          <p:nvPr/>
        </p:nvSpPr>
        <p:spPr>
          <a:xfrm>
            <a:off x="9921240" y="1828800"/>
            <a:ext cx="1463040" cy="402336"/>
          </a:xfrm>
          <a:prstGeom prst="roundRect">
            <a:avLst>
              <a:gd name="adj" fmla="val 15909"/>
            </a:avLst>
          </a:prstGeom>
          <a:solidFill>
            <a:srgbClr val="FEF3C7"/>
          </a:solidFill>
          <a:ln w="12700">
            <a:solidFill>
              <a:srgbClr val="D97706"/>
            </a:solidFill>
          </a:ln>
        </p:spPr>
        <p:txBody>
          <a:bodyPr wrap="square" lIns="0" tIns="0" rIns="0" bIns="0" rtlCol="0" anchor="ctr"/>
          <a:lstStyle/>
          <a:p>
            <a:pPr algn="ctr" indent="0" marL="0">
              <a:buNone/>
            </a:pPr>
            <a:r>
              <a:rPr lang="en-US" sz="1400" b="1" dirty="0">
                <a:solidFill>
                  <a:srgbClr val="0F172A"/>
                </a:solidFill>
                <a:latin typeface="Inter" pitchFamily="34" charset="0"/>
                <a:ea typeface="Inter" pitchFamily="34" charset="-122"/>
                <a:cs typeface="Inter" pitchFamily="34" charset="-120"/>
              </a:rPr>
              <a:t>the</a:t>
            </a:r>
            <a:endParaRPr lang="en-US" sz="1400" dirty="0"/>
          </a:p>
        </p:txBody>
      </p:sp>
      <p:sp>
        <p:nvSpPr>
          <p:cNvPr id="127" name="anim-1-fade-880-414"/>
          <p:cNvSpPr txBox="1"/>
          <p:nvPr/>
        </p:nvSpPr>
        <p:spPr>
          <a:xfrm>
            <a:off x="9921240" y="2395728"/>
            <a:ext cx="1463040" cy="256032"/>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262</a:t>
            </a:r>
            <a:endParaRPr lang="en-US" sz="1100" dirty="0"/>
          </a:p>
        </p:txBody>
      </p:sp>
      <p:sp>
        <p:nvSpPr>
          <p:cNvPr id="128" name="anim-2-fade-480-415"/>
          <p:cNvSpPr/>
          <p:nvPr/>
        </p:nvSpPr>
        <p:spPr>
          <a:xfrm>
            <a:off x="9784080" y="2852928"/>
            <a:ext cx="182880" cy="274320"/>
          </a:xfrm>
          <a:prstGeom prst="rect">
            <a:avLst/>
          </a:prstGeom>
          <a:solidFill>
            <a:srgbClr val="676AF1"/>
          </a:solidFill>
          <a:ln w="6350">
            <a:solidFill>
              <a:srgbClr val="FFFFFF"/>
            </a:solidFill>
            <a:prstDash val="solid"/>
          </a:ln>
        </p:spPr>
      </p:sp>
      <p:sp>
        <p:nvSpPr>
          <p:cNvPr id="129" name="anim-2-fade-480-416"/>
          <p:cNvSpPr/>
          <p:nvPr/>
        </p:nvSpPr>
        <p:spPr>
          <a:xfrm>
            <a:off x="9994392" y="2852928"/>
            <a:ext cx="182880" cy="274320"/>
          </a:xfrm>
          <a:prstGeom prst="rect">
            <a:avLst/>
          </a:prstGeom>
          <a:solidFill>
            <a:srgbClr val="F1CBA1"/>
          </a:solidFill>
          <a:ln w="6350">
            <a:solidFill>
              <a:srgbClr val="FFFFFF"/>
            </a:solidFill>
            <a:prstDash val="solid"/>
          </a:ln>
        </p:spPr>
      </p:sp>
      <p:sp>
        <p:nvSpPr>
          <p:cNvPr id="130" name="anim-2-fade-480-417"/>
          <p:cNvSpPr/>
          <p:nvPr/>
        </p:nvSpPr>
        <p:spPr>
          <a:xfrm>
            <a:off x="10204704" y="2852928"/>
            <a:ext cx="182880" cy="274320"/>
          </a:xfrm>
          <a:prstGeom prst="rect">
            <a:avLst/>
          </a:prstGeom>
          <a:solidFill>
            <a:srgbClr val="6F72F2"/>
          </a:solidFill>
          <a:ln w="6350">
            <a:solidFill>
              <a:srgbClr val="FFFFFF"/>
            </a:solidFill>
            <a:prstDash val="solid"/>
          </a:ln>
        </p:spPr>
      </p:sp>
      <p:sp>
        <p:nvSpPr>
          <p:cNvPr id="131" name="anim-2-fade-480-418"/>
          <p:cNvSpPr/>
          <p:nvPr/>
        </p:nvSpPr>
        <p:spPr>
          <a:xfrm>
            <a:off x="10415016" y="2852928"/>
            <a:ext cx="182880" cy="274320"/>
          </a:xfrm>
          <a:prstGeom prst="rect">
            <a:avLst/>
          </a:prstGeom>
          <a:solidFill>
            <a:srgbClr val="F7E1C9"/>
          </a:solidFill>
          <a:ln w="6350">
            <a:solidFill>
              <a:srgbClr val="FFFFFF"/>
            </a:solidFill>
            <a:prstDash val="solid"/>
          </a:ln>
        </p:spPr>
      </p:sp>
      <p:sp>
        <p:nvSpPr>
          <p:cNvPr id="132" name="anim-2-fade-480-419"/>
          <p:cNvSpPr/>
          <p:nvPr/>
        </p:nvSpPr>
        <p:spPr>
          <a:xfrm>
            <a:off x="10625328" y="2852928"/>
            <a:ext cx="182880" cy="274320"/>
          </a:xfrm>
          <a:prstGeom prst="rect">
            <a:avLst/>
          </a:prstGeom>
          <a:solidFill>
            <a:srgbClr val="EDBE88"/>
          </a:solidFill>
          <a:ln w="6350">
            <a:solidFill>
              <a:srgbClr val="FFFFFF"/>
            </a:solidFill>
            <a:prstDash val="solid"/>
          </a:ln>
        </p:spPr>
      </p:sp>
      <p:sp>
        <p:nvSpPr>
          <p:cNvPr id="133" name="anim-2-fade-480-420"/>
          <p:cNvSpPr/>
          <p:nvPr/>
        </p:nvSpPr>
        <p:spPr>
          <a:xfrm>
            <a:off x="10835640" y="2852928"/>
            <a:ext cx="182880" cy="274320"/>
          </a:xfrm>
          <a:prstGeom prst="rect">
            <a:avLst/>
          </a:prstGeom>
          <a:solidFill>
            <a:srgbClr val="9FA1F6"/>
          </a:solidFill>
          <a:ln w="6350">
            <a:solidFill>
              <a:srgbClr val="FFFFFF"/>
            </a:solidFill>
            <a:prstDash val="solid"/>
          </a:ln>
        </p:spPr>
      </p:sp>
      <p:sp>
        <p:nvSpPr>
          <p:cNvPr id="134" name="anim-2-fade-480-421"/>
          <p:cNvSpPr/>
          <p:nvPr/>
        </p:nvSpPr>
        <p:spPr>
          <a:xfrm>
            <a:off x="11045952" y="2852928"/>
            <a:ext cx="182880" cy="274320"/>
          </a:xfrm>
          <a:prstGeom prst="rect">
            <a:avLst/>
          </a:prstGeom>
          <a:solidFill>
            <a:srgbClr val="D3D3FB"/>
          </a:solidFill>
          <a:ln w="6350">
            <a:solidFill>
              <a:srgbClr val="FFFFFF"/>
            </a:solidFill>
            <a:prstDash val="solid"/>
          </a:ln>
        </p:spPr>
      </p:sp>
      <p:sp>
        <p:nvSpPr>
          <p:cNvPr id="135" name="anim-2-fade-480-422"/>
          <p:cNvSpPr/>
          <p:nvPr/>
        </p:nvSpPr>
        <p:spPr>
          <a:xfrm>
            <a:off x="11256264" y="2852928"/>
            <a:ext cx="182880" cy="274320"/>
          </a:xfrm>
          <a:prstGeom prst="rect">
            <a:avLst/>
          </a:prstGeom>
          <a:solidFill>
            <a:srgbClr val="7779F3"/>
          </a:solidFill>
          <a:ln w="6350">
            <a:solidFill>
              <a:srgbClr val="FFFFFF"/>
            </a:solidFill>
            <a:prstDash val="solid"/>
          </a:ln>
        </p:spPr>
      </p:sp>
      <p:sp>
        <p:nvSpPr>
          <p:cNvPr id="136" name="anim-3-fade-0-423"/>
          <p:cNvSpPr txBox="1"/>
          <p:nvPr/>
        </p:nvSpPr>
        <p:spPr>
          <a:xfrm>
            <a:off x="10469880" y="31729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137" name="anim-3-fade-480-424"/>
          <p:cNvSpPr/>
          <p:nvPr/>
        </p:nvSpPr>
        <p:spPr>
          <a:xfrm>
            <a:off x="9784080" y="3538728"/>
            <a:ext cx="182880" cy="274320"/>
          </a:xfrm>
          <a:prstGeom prst="rect">
            <a:avLst/>
          </a:prstGeom>
          <a:solidFill>
            <a:srgbClr val="A9D1FD"/>
          </a:solidFill>
          <a:ln w="6350">
            <a:solidFill>
              <a:srgbClr val="FFFFFF"/>
            </a:solidFill>
            <a:prstDash val="solid"/>
          </a:ln>
        </p:spPr>
      </p:sp>
      <p:sp>
        <p:nvSpPr>
          <p:cNvPr id="138" name="anim-3-fade-480-425"/>
          <p:cNvSpPr/>
          <p:nvPr/>
        </p:nvSpPr>
        <p:spPr>
          <a:xfrm>
            <a:off x="9994392" y="3538728"/>
            <a:ext cx="182880" cy="274320"/>
          </a:xfrm>
          <a:prstGeom prst="rect">
            <a:avLst/>
          </a:prstGeom>
          <a:solidFill>
            <a:srgbClr val="9CCAFD"/>
          </a:solidFill>
          <a:ln w="6350">
            <a:solidFill>
              <a:srgbClr val="FFFFFF"/>
            </a:solidFill>
            <a:prstDash val="solid"/>
          </a:ln>
        </p:spPr>
      </p:sp>
      <p:sp>
        <p:nvSpPr>
          <p:cNvPr id="139" name="anim-3-fade-480-426"/>
          <p:cNvSpPr/>
          <p:nvPr/>
        </p:nvSpPr>
        <p:spPr>
          <a:xfrm>
            <a:off x="10204704" y="3538728"/>
            <a:ext cx="182880" cy="274320"/>
          </a:xfrm>
          <a:prstGeom prst="rect">
            <a:avLst/>
          </a:prstGeom>
          <a:solidFill>
            <a:srgbClr val="2B67EC"/>
          </a:solidFill>
          <a:ln w="6350">
            <a:solidFill>
              <a:srgbClr val="FFFFFF"/>
            </a:solidFill>
            <a:prstDash val="solid"/>
          </a:ln>
        </p:spPr>
      </p:sp>
      <p:sp>
        <p:nvSpPr>
          <p:cNvPr id="140" name="anim-3-fade-480-427"/>
          <p:cNvSpPr/>
          <p:nvPr/>
        </p:nvSpPr>
        <p:spPr>
          <a:xfrm>
            <a:off x="10415016" y="3538728"/>
            <a:ext cx="182880" cy="274320"/>
          </a:xfrm>
          <a:prstGeom prst="rect">
            <a:avLst/>
          </a:prstGeom>
          <a:solidFill>
            <a:srgbClr val="A0BBF6"/>
          </a:solidFill>
          <a:ln w="6350">
            <a:solidFill>
              <a:srgbClr val="FFFFFF"/>
            </a:solidFill>
            <a:prstDash val="solid"/>
          </a:ln>
        </p:spPr>
      </p:sp>
      <p:sp>
        <p:nvSpPr>
          <p:cNvPr id="141" name="anim-3-fade-480-428"/>
          <p:cNvSpPr/>
          <p:nvPr/>
        </p:nvSpPr>
        <p:spPr>
          <a:xfrm>
            <a:off x="10625328" y="3538728"/>
            <a:ext cx="182880" cy="274320"/>
          </a:xfrm>
          <a:prstGeom prst="rect">
            <a:avLst/>
          </a:prstGeom>
          <a:solidFill>
            <a:srgbClr val="5686EF"/>
          </a:solidFill>
          <a:ln w="6350">
            <a:solidFill>
              <a:srgbClr val="FFFFFF"/>
            </a:solidFill>
            <a:prstDash val="solid"/>
          </a:ln>
        </p:spPr>
      </p:sp>
      <p:sp>
        <p:nvSpPr>
          <p:cNvPr id="142" name="anim-3-fade-480-429"/>
          <p:cNvSpPr/>
          <p:nvPr/>
        </p:nvSpPr>
        <p:spPr>
          <a:xfrm>
            <a:off x="10835640" y="3538728"/>
            <a:ext cx="182880" cy="274320"/>
          </a:xfrm>
          <a:prstGeom prst="rect">
            <a:avLst/>
          </a:prstGeom>
          <a:solidFill>
            <a:srgbClr val="4177EE"/>
          </a:solidFill>
          <a:ln w="6350">
            <a:solidFill>
              <a:srgbClr val="FFFFFF"/>
            </a:solidFill>
            <a:prstDash val="solid"/>
          </a:ln>
        </p:spPr>
      </p:sp>
      <p:sp>
        <p:nvSpPr>
          <p:cNvPr id="143" name="anim-3-fade-480-430"/>
          <p:cNvSpPr/>
          <p:nvPr/>
        </p:nvSpPr>
        <p:spPr>
          <a:xfrm>
            <a:off x="11045952" y="3538728"/>
            <a:ext cx="182880" cy="274320"/>
          </a:xfrm>
          <a:prstGeom prst="rect">
            <a:avLst/>
          </a:prstGeom>
          <a:solidFill>
            <a:srgbClr val="9AB7F6"/>
          </a:solidFill>
          <a:ln w="6350">
            <a:solidFill>
              <a:srgbClr val="FFFFFF"/>
            </a:solidFill>
            <a:prstDash val="solid"/>
          </a:ln>
        </p:spPr>
      </p:sp>
      <p:sp>
        <p:nvSpPr>
          <p:cNvPr id="144" name="anim-3-fade-480-431"/>
          <p:cNvSpPr/>
          <p:nvPr/>
        </p:nvSpPr>
        <p:spPr>
          <a:xfrm>
            <a:off x="11256264" y="3538728"/>
            <a:ext cx="182880" cy="274320"/>
          </a:xfrm>
          <a:prstGeom prst="rect">
            <a:avLst/>
          </a:prstGeom>
          <a:solidFill>
            <a:srgbClr val="2B67EC"/>
          </a:solidFill>
          <a:ln w="6350">
            <a:solidFill>
              <a:srgbClr val="FFFFFF"/>
            </a:solidFill>
            <a:prstDash val="solid"/>
          </a:ln>
        </p:spPr>
      </p:sp>
      <p:sp>
        <p:nvSpPr>
          <p:cNvPr id="145" name="anim-4-fade-0-432"/>
          <p:cNvSpPr txBox="1"/>
          <p:nvPr/>
        </p:nvSpPr>
        <p:spPr>
          <a:xfrm>
            <a:off x="10469880" y="3858768"/>
            <a:ext cx="365760" cy="292608"/>
          </a:xfrm>
          <a:prstGeom prst="rect">
            <a:avLst/>
          </a:prstGeom>
          <a:noFill/>
          <a:ln/>
        </p:spPr>
        <p:txBody>
          <a:bodyPr wrap="square" lIns="0" tIns="0" rIns="0" bIns="0" rtlCol="0" anchor="t"/>
          <a:lstStyle/>
          <a:p>
            <a:pPr algn="ctr" indent="0" marL="0">
              <a:buNone/>
            </a:pPr>
            <a:r>
              <a:rPr lang="en-US" sz="1400" b="1" dirty="0">
                <a:solidFill>
                  <a:srgbClr val="64748B"/>
                </a:solidFill>
                <a:latin typeface="Inter" pitchFamily="34" charset="0"/>
                <a:ea typeface="Inter" pitchFamily="34" charset="-122"/>
                <a:cs typeface="Inter" pitchFamily="34" charset="-120"/>
              </a:rPr>
              <a:t>=</a:t>
            </a:r>
            <a:endParaRPr lang="en-US" sz="1400" dirty="0"/>
          </a:p>
        </p:txBody>
      </p:sp>
      <p:sp>
        <p:nvSpPr>
          <p:cNvPr id="146" name="anim-4-fade-480-433"/>
          <p:cNvSpPr/>
          <p:nvPr/>
        </p:nvSpPr>
        <p:spPr>
          <a:xfrm>
            <a:off x="9784080" y="4224528"/>
            <a:ext cx="182880" cy="274320"/>
          </a:xfrm>
          <a:prstGeom prst="rect">
            <a:avLst/>
          </a:prstGeom>
          <a:solidFill>
            <a:srgbClr val="889EF7"/>
          </a:solidFill>
          <a:ln w="6350">
            <a:solidFill>
              <a:srgbClr val="FFFFFF"/>
            </a:solidFill>
            <a:prstDash val="solid"/>
          </a:ln>
        </p:spPr>
      </p:sp>
      <p:sp>
        <p:nvSpPr>
          <p:cNvPr id="147" name="anim-4-fade-480-434"/>
          <p:cNvSpPr/>
          <p:nvPr/>
        </p:nvSpPr>
        <p:spPr>
          <a:xfrm>
            <a:off x="9994392" y="4224528"/>
            <a:ext cx="182880" cy="274320"/>
          </a:xfrm>
          <a:prstGeom prst="rect">
            <a:avLst/>
          </a:prstGeom>
          <a:solidFill>
            <a:srgbClr val="C7CBCF"/>
          </a:solidFill>
          <a:ln w="6350">
            <a:solidFill>
              <a:srgbClr val="FFFFFF"/>
            </a:solidFill>
            <a:prstDash val="solid"/>
          </a:ln>
        </p:spPr>
      </p:sp>
      <p:sp>
        <p:nvSpPr>
          <p:cNvPr id="148" name="anim-4-fade-480-435"/>
          <p:cNvSpPr/>
          <p:nvPr/>
        </p:nvSpPr>
        <p:spPr>
          <a:xfrm>
            <a:off x="10204704" y="4224528"/>
            <a:ext cx="182880" cy="274320"/>
          </a:xfrm>
          <a:prstGeom prst="rect">
            <a:avLst/>
          </a:prstGeom>
          <a:solidFill>
            <a:srgbClr val="4D6DEF"/>
          </a:solidFill>
          <a:ln w="6350">
            <a:solidFill>
              <a:srgbClr val="FFFFFF"/>
            </a:solidFill>
            <a:prstDash val="solid"/>
          </a:ln>
        </p:spPr>
      </p:sp>
      <p:sp>
        <p:nvSpPr>
          <p:cNvPr id="149" name="anim-4-fade-480-436"/>
          <p:cNvSpPr/>
          <p:nvPr/>
        </p:nvSpPr>
        <p:spPr>
          <a:xfrm>
            <a:off x="10415016" y="4224528"/>
            <a:ext cx="182880" cy="274320"/>
          </a:xfrm>
          <a:prstGeom prst="rect">
            <a:avLst/>
          </a:prstGeom>
          <a:solidFill>
            <a:srgbClr val="CCCEE0"/>
          </a:solidFill>
          <a:ln w="6350">
            <a:solidFill>
              <a:srgbClr val="FFFFFF"/>
            </a:solidFill>
            <a:prstDash val="solid"/>
          </a:ln>
        </p:spPr>
      </p:sp>
      <p:sp>
        <p:nvSpPr>
          <p:cNvPr id="150" name="anim-4-fade-480-437"/>
          <p:cNvSpPr/>
          <p:nvPr/>
        </p:nvSpPr>
        <p:spPr>
          <a:xfrm>
            <a:off x="10625328" y="4224528"/>
            <a:ext cx="182880" cy="274320"/>
          </a:xfrm>
          <a:prstGeom prst="rect">
            <a:avLst/>
          </a:prstGeom>
          <a:solidFill>
            <a:srgbClr val="A2A2BC"/>
          </a:solidFill>
          <a:ln w="6350">
            <a:solidFill>
              <a:srgbClr val="FFFFFF"/>
            </a:solidFill>
            <a:prstDash val="solid"/>
          </a:ln>
        </p:spPr>
      </p:sp>
      <p:sp>
        <p:nvSpPr>
          <p:cNvPr id="151" name="anim-4-fade-480-438"/>
          <p:cNvSpPr/>
          <p:nvPr/>
        </p:nvSpPr>
        <p:spPr>
          <a:xfrm>
            <a:off x="10835640" y="4224528"/>
            <a:ext cx="182880" cy="274320"/>
          </a:xfrm>
          <a:prstGeom prst="rect">
            <a:avLst/>
          </a:prstGeom>
          <a:solidFill>
            <a:srgbClr val="708CF2"/>
          </a:solidFill>
          <a:ln w="6350">
            <a:solidFill>
              <a:srgbClr val="FFFFFF"/>
            </a:solidFill>
            <a:prstDash val="solid"/>
          </a:ln>
        </p:spPr>
      </p:sp>
      <p:sp>
        <p:nvSpPr>
          <p:cNvPr id="152" name="anim-4-fade-480-439"/>
          <p:cNvSpPr/>
          <p:nvPr/>
        </p:nvSpPr>
        <p:spPr>
          <a:xfrm>
            <a:off x="11045952" y="4224528"/>
            <a:ext cx="182880" cy="274320"/>
          </a:xfrm>
          <a:prstGeom prst="rect">
            <a:avLst/>
          </a:prstGeom>
          <a:solidFill>
            <a:srgbClr val="B7C5F9"/>
          </a:solidFill>
          <a:ln w="6350">
            <a:solidFill>
              <a:srgbClr val="FFFFFF"/>
            </a:solidFill>
            <a:prstDash val="solid"/>
          </a:ln>
        </p:spPr>
      </p:sp>
      <p:sp>
        <p:nvSpPr>
          <p:cNvPr id="153" name="anim-4-fade-480-440"/>
          <p:cNvSpPr/>
          <p:nvPr/>
        </p:nvSpPr>
        <p:spPr>
          <a:xfrm>
            <a:off x="11256264" y="4224528"/>
            <a:ext cx="182880" cy="274320"/>
          </a:xfrm>
          <a:prstGeom prst="rect">
            <a:avLst/>
          </a:prstGeom>
          <a:solidFill>
            <a:srgbClr val="5170F0"/>
          </a:solidFill>
          <a:ln w="6350">
            <a:solidFill>
              <a:srgbClr val="FFFFFF"/>
            </a:solidFill>
            <a:prstDash val="solid"/>
          </a:ln>
        </p:spPr>
      </p:sp>
      <p:sp>
        <p:nvSpPr>
          <p:cNvPr id="154" name="anim-3-fade-480-441"/>
          <p:cNvSpPr txBox="1"/>
          <p:nvPr/>
        </p:nvSpPr>
        <p:spPr>
          <a:xfrm>
            <a:off x="9921240" y="3886200"/>
            <a:ext cx="548640" cy="201168"/>
          </a:xfrm>
          <a:prstGeom prst="rect">
            <a:avLst/>
          </a:prstGeom>
          <a:noFill/>
          <a:ln/>
        </p:spPr>
        <p:txBody>
          <a:bodyPr wrap="square" lIns="0" tIns="0" rIns="0" bIns="0" rtlCol="0" anchor="t"/>
          <a:lstStyle/>
          <a:p>
            <a:pPr indent="0" marL="0">
              <a:buNone/>
            </a:pPr>
            <a:r>
              <a:rPr lang="en-US" sz="850" dirty="0">
                <a:solidFill>
                  <a:srgbClr val="2563EB"/>
                </a:solidFill>
                <a:latin typeface="Inter" pitchFamily="34" charset="0"/>
                <a:ea typeface="Inter" pitchFamily="34" charset="-122"/>
                <a:cs typeface="Inter" pitchFamily="34" charset="-120"/>
              </a:rPr>
              <a:t>pos 4</a:t>
            </a:r>
            <a:endParaRPr lang="en-US" sz="850" dirty="0"/>
          </a:p>
        </p:txBody>
      </p:sp>
      <p:sp>
        <p:nvSpPr>
          <p:cNvPr id="155" name="Text 153"/>
          <p:cNvSpPr txBox="1"/>
          <p:nvPr/>
        </p:nvSpPr>
        <p:spPr>
          <a:xfrm>
            <a:off x="9692640" y="4590288"/>
            <a:ext cx="1920240" cy="201168"/>
          </a:xfrm>
          <a:prstGeom prst="rect">
            <a:avLst/>
          </a:prstGeom>
          <a:noFill/>
          <a:ln/>
        </p:spPr>
        <p:txBody>
          <a:bodyPr wrap="square" lIns="0" tIns="0" rIns="0" bIns="0" rtlCol="0" anchor="t"/>
          <a:lstStyle/>
          <a:p>
            <a:pPr algn="r" indent="0" marL="0">
              <a:buNone/>
            </a:pPr>
            <a:r>
              <a:rPr lang="en-US" sz="850" i="1" dirty="0">
                <a:solidFill>
                  <a:srgbClr val="94A3B8"/>
                </a:solidFill>
                <a:latin typeface="Inter" pitchFamily="34" charset="0"/>
                <a:ea typeface="Inter" pitchFamily="34" charset="-122"/>
                <a:cs typeface="Inter" pitchFamily="34" charset="-120"/>
              </a:rPr>
              <a:t>8 numbers shown; GPT-2 uses 768</a:t>
            </a:r>
            <a:endParaRPr lang="en-US" sz="850" dirty="0"/>
          </a:p>
        </p:txBody>
      </p:sp>
      <p:sp>
        <p:nvSpPr>
          <p:cNvPr id="156" name="anim-1-rise-600-442"/>
          <p:cNvSpPr/>
          <p:nvPr/>
        </p:nvSpPr>
        <p:spPr>
          <a:xfrm>
            <a:off x="548640" y="4983480"/>
            <a:ext cx="3566160" cy="1051560"/>
          </a:xfrm>
          <a:prstGeom prst="roundRect">
            <a:avLst>
              <a:gd name="adj" fmla="val 8696"/>
            </a:avLst>
          </a:prstGeom>
          <a:solidFill>
            <a:srgbClr val="FEF3C7"/>
          </a:solidFill>
          <a:ln/>
        </p:spPr>
        <p:txBody>
          <a:bodyPr wrap="square" lIns="127000" tIns="152400" rIns="152400" bIns="127000" rtlCol="0" anchor="t"/>
          <a:lstStyle/>
          <a:p>
            <a:pPr indent="0" marL="0">
              <a:buNone/>
            </a:pPr>
            <a:r>
              <a:rPr lang="en-US" sz="1300" b="1" dirty="0">
                <a:solidFill>
                  <a:srgbClr val="D97706"/>
                </a:solidFill>
                <a:latin typeface="Inter" pitchFamily="34" charset="0"/>
                <a:ea typeface="Inter" pitchFamily="34" charset="-122"/>
                <a:cs typeface="Inter" pitchFamily="34" charset="-120"/>
              </a:rPr>
              <a:t>① Tokenize</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Split text into pieces from a fixed vocabulary (50,257 in GPT-2). Each piece has an ID.</a:t>
            </a:r>
            <a:endParaRPr lang="en-US" sz="1300" dirty="0"/>
          </a:p>
        </p:txBody>
      </p:sp>
      <p:sp>
        <p:nvSpPr>
          <p:cNvPr id="157" name="anim-2-rise-600-443"/>
          <p:cNvSpPr/>
          <p:nvPr/>
        </p:nvSpPr>
        <p:spPr>
          <a:xfrm>
            <a:off x="4306824" y="4983480"/>
            <a:ext cx="3566160" cy="1051560"/>
          </a:xfrm>
          <a:prstGeom prst="roundRect">
            <a:avLst>
              <a:gd name="adj" fmla="val 8696"/>
            </a:avLst>
          </a:prstGeom>
          <a:solidFill>
            <a:srgbClr val="FEF3C7"/>
          </a:solidFill>
          <a:ln/>
        </p:spPr>
        <p:txBody>
          <a:bodyPr wrap="square" lIns="127000" tIns="152400" rIns="152400" bIns="127000" rtlCol="0" anchor="t"/>
          <a:lstStyle/>
          <a:p>
            <a:pPr indent="0" marL="0">
              <a:buNone/>
            </a:pPr>
            <a:r>
              <a:rPr lang="en-US" sz="1300" b="1" dirty="0">
                <a:solidFill>
                  <a:srgbClr val="D97706"/>
                </a:solidFill>
                <a:latin typeface="Inter" pitchFamily="34" charset="0"/>
                <a:ea typeface="Inter" pitchFamily="34" charset="-122"/>
                <a:cs typeface="Inter" pitchFamily="34" charset="-120"/>
              </a:rPr>
              <a:t>② Look up the embedding</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A giant learned table: one row per token. Similar words end up with similar rows (cat ≈ kitten).</a:t>
            </a:r>
            <a:endParaRPr lang="en-US" sz="1300" dirty="0"/>
          </a:p>
        </p:txBody>
      </p:sp>
      <p:sp>
        <p:nvSpPr>
          <p:cNvPr id="158" name="anim-3-rise-600-444"/>
          <p:cNvSpPr/>
          <p:nvPr/>
        </p:nvSpPr>
        <p:spPr>
          <a:xfrm>
            <a:off x="8065008" y="4983480"/>
            <a:ext cx="3566160" cy="1051560"/>
          </a:xfrm>
          <a:prstGeom prst="roundRect">
            <a:avLst>
              <a:gd name="adj" fmla="val 8696"/>
            </a:avLst>
          </a:prstGeom>
          <a:solidFill>
            <a:srgbClr val="DBEAFE"/>
          </a:solidFill>
          <a:ln/>
        </p:spPr>
        <p:txBody>
          <a:bodyPr wrap="square" lIns="127000" tIns="152400" rIns="152400" bIns="127000" rtlCol="0" anchor="t"/>
          <a:lstStyle/>
          <a:p>
            <a:pPr indent="0" marL="0">
              <a:buNone/>
            </a:pPr>
            <a:r>
              <a:rPr lang="en-US" sz="1300" b="1" dirty="0">
                <a:solidFill>
                  <a:srgbClr val="2563EB"/>
                </a:solidFill>
                <a:latin typeface="Inter" pitchFamily="34" charset="0"/>
                <a:ea typeface="Inter" pitchFamily="34" charset="-122"/>
                <a:cs typeface="Inter" pitchFamily="34" charset="-120"/>
              </a:rPr>
              <a:t>③ Add position</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Attention alone ignores order. Without positions, “cat sat on mat” = “mat sat on cat”.</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2"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anim calcmode="lin" valueType="num">
                                      <p:cBhvr>
                                        <p:cTn id="14" dur="500" fill="hold"/>
                                        <p:tgtEl>
                                          <p:spTgt spid="10"/>
                                        </p:tgtEl>
                                        <p:attrNameLst>
                                          <p:attrName>ppt_x</p:attrName>
                                        </p:attrNameLst>
                                      </p:cBhvr>
                                      <p:tavLst>
                                        <p:tav tm="0">
                                          <p:val>
                                            <p:strVal val="#ppt_x"/>
                                          </p:val>
                                        </p:tav>
                                        <p:tav tm="100000">
                                          <p:val>
                                            <p:strVal val="#ppt_x"/>
                                          </p:val>
                                        </p:tav>
                                      </p:tavLst>
                                    </p:anim>
                                    <p:anim calcmode="lin" valueType="num">
                                      <p:cBhvr>
                                        <p:cTn id="15" dur="500" fill="hold"/>
                                        <p:tgtEl>
                                          <p:spTgt spid="10"/>
                                        </p:tgtEl>
                                        <p:attrNameLst>
                                          <p:attrName>ppt_y</p:attrName>
                                        </p:attrNameLst>
                                      </p:cBhvr>
                                      <p:tavLst>
                                        <p:tav tm="0">
                                          <p:val>
                                            <p:strVal val="#ppt_y+0.06"/>
                                          </p:val>
                                        </p:tav>
                                        <p:tav tm="100000">
                                          <p:val>
                                            <p:strVal val="#ppt_y"/>
                                          </p:val>
                                        </p:tav>
                                      </p:tavLst>
                                    </p:anim>
                                  </p:childTnLst>
                                </p:cTn>
                              </p:par>
                              <p:par>
                                <p:cTn id="17" presetID="42" presetClass="entr" presetSubtype="0" fill="hold" grpId="0" nodeType="withEffect">
                                  <p:stCondLst>
                                    <p:cond delay="120"/>
                                  </p:stCondLst>
                                  <p:childTnLst>
                                    <p:set>
                                      <p:cBhvr>
                                        <p:cTn id="16"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anim calcmode="lin" valueType="num">
                                      <p:cBhvr>
                                        <p:cTn id="19" dur="500" fill="hold"/>
                                        <p:tgtEl>
                                          <p:spTgt spid="39"/>
                                        </p:tgtEl>
                                        <p:attrNameLst>
                                          <p:attrName>ppt_x</p:attrName>
                                        </p:attrNameLst>
                                      </p:cBhvr>
                                      <p:tavLst>
                                        <p:tav tm="0">
                                          <p:val>
                                            <p:strVal val="#ppt_x"/>
                                          </p:val>
                                        </p:tav>
                                        <p:tav tm="100000">
                                          <p:val>
                                            <p:strVal val="#ppt_x"/>
                                          </p:val>
                                        </p:tav>
                                      </p:tavLst>
                                    </p:anim>
                                    <p:anim calcmode="lin" valueType="num">
                                      <p:cBhvr>
                                        <p:cTn id="20" dur="500" fill="hold"/>
                                        <p:tgtEl>
                                          <p:spTgt spid="39"/>
                                        </p:tgtEl>
                                        <p:attrNameLst>
                                          <p:attrName>ppt_y</p:attrName>
                                        </p:attrNameLst>
                                      </p:cBhvr>
                                      <p:tavLst>
                                        <p:tav tm="0">
                                          <p:val>
                                            <p:strVal val="#ppt_y+0.06"/>
                                          </p:val>
                                        </p:tav>
                                        <p:tav tm="100000">
                                          <p:val>
                                            <p:strVal val="#ppt_y"/>
                                          </p:val>
                                        </p:tav>
                                      </p:tavLst>
                                    </p:anim>
                                  </p:childTnLst>
                                </p:cTn>
                              </p:par>
                              <p:par>
                                <p:cTn id="22" presetID="42" presetClass="entr" presetSubtype="0" fill="hold" grpId="0" nodeType="withEffect">
                                  <p:stCondLst>
                                    <p:cond delay="240"/>
                                  </p:stCondLst>
                                  <p:childTnLst>
                                    <p:set>
                                      <p:cBhvr>
                                        <p:cTn id="21" dur="1" fill="hold">
                                          <p:stCondLst>
                                            <p:cond delay="0"/>
                                          </p:stCondLst>
                                        </p:cTn>
                                        <p:tgtEl>
                                          <p:spTgt spid="68"/>
                                        </p:tgtEl>
                                        <p:attrNameLst>
                                          <p:attrName>style.visibility</p:attrName>
                                        </p:attrNameLst>
                                      </p:cBhvr>
                                      <p:to>
                                        <p:strVal val="visible"/>
                                      </p:to>
                                    </p:set>
                                    <p:animEffect transition="in" filter="fade">
                                      <p:cBhvr>
                                        <p:cTn id="23" dur="500"/>
                                        <p:tgtEl>
                                          <p:spTgt spid="68"/>
                                        </p:tgtEl>
                                      </p:cBhvr>
                                    </p:animEffect>
                                    <p:anim calcmode="lin" valueType="num">
                                      <p:cBhvr>
                                        <p:cTn id="24" dur="500" fill="hold"/>
                                        <p:tgtEl>
                                          <p:spTgt spid="68"/>
                                        </p:tgtEl>
                                        <p:attrNameLst>
                                          <p:attrName>ppt_x</p:attrName>
                                        </p:attrNameLst>
                                      </p:cBhvr>
                                      <p:tavLst>
                                        <p:tav tm="0">
                                          <p:val>
                                            <p:strVal val="#ppt_x"/>
                                          </p:val>
                                        </p:tav>
                                        <p:tav tm="100000">
                                          <p:val>
                                            <p:strVal val="#ppt_x"/>
                                          </p:val>
                                        </p:tav>
                                      </p:tavLst>
                                    </p:anim>
                                    <p:anim calcmode="lin" valueType="num">
                                      <p:cBhvr>
                                        <p:cTn id="25" dur="500" fill="hold"/>
                                        <p:tgtEl>
                                          <p:spTgt spid="68"/>
                                        </p:tgtEl>
                                        <p:attrNameLst>
                                          <p:attrName>ppt_y</p:attrName>
                                        </p:attrNameLst>
                                      </p:cBhvr>
                                      <p:tavLst>
                                        <p:tav tm="0">
                                          <p:val>
                                            <p:strVal val="#ppt_y+0.06"/>
                                          </p:val>
                                        </p:tav>
                                        <p:tav tm="100000">
                                          <p:val>
                                            <p:strVal val="#ppt_y"/>
                                          </p:val>
                                        </p:tav>
                                      </p:tavLst>
                                    </p:anim>
                                  </p:childTnLst>
                                </p:cTn>
                              </p:par>
                              <p:par>
                                <p:cTn id="27" presetID="42" presetClass="entr" presetSubtype="0" fill="hold" grpId="0" nodeType="withEffect">
                                  <p:stCondLst>
                                    <p:cond delay="360"/>
                                  </p:stCondLst>
                                  <p:childTnLst>
                                    <p:set>
                                      <p:cBhvr>
                                        <p:cTn id="26" dur="1" fill="hold">
                                          <p:stCondLst>
                                            <p:cond delay="0"/>
                                          </p:stCondLst>
                                        </p:cTn>
                                        <p:tgtEl>
                                          <p:spTgt spid="97"/>
                                        </p:tgtEl>
                                        <p:attrNameLst>
                                          <p:attrName>style.visibility</p:attrName>
                                        </p:attrNameLst>
                                      </p:cBhvr>
                                      <p:to>
                                        <p:strVal val="visible"/>
                                      </p:to>
                                    </p:set>
                                    <p:animEffect transition="in" filter="fade">
                                      <p:cBhvr>
                                        <p:cTn id="28" dur="500"/>
                                        <p:tgtEl>
                                          <p:spTgt spid="97"/>
                                        </p:tgtEl>
                                      </p:cBhvr>
                                    </p:animEffect>
                                    <p:anim calcmode="lin" valueType="num">
                                      <p:cBhvr>
                                        <p:cTn id="29" dur="500" fill="hold"/>
                                        <p:tgtEl>
                                          <p:spTgt spid="97"/>
                                        </p:tgtEl>
                                        <p:attrNameLst>
                                          <p:attrName>ppt_x</p:attrName>
                                        </p:attrNameLst>
                                      </p:cBhvr>
                                      <p:tavLst>
                                        <p:tav tm="0">
                                          <p:val>
                                            <p:strVal val="#ppt_x"/>
                                          </p:val>
                                        </p:tav>
                                        <p:tav tm="100000">
                                          <p:val>
                                            <p:strVal val="#ppt_x"/>
                                          </p:val>
                                        </p:tav>
                                      </p:tavLst>
                                    </p:anim>
                                    <p:anim calcmode="lin" valueType="num">
                                      <p:cBhvr>
                                        <p:cTn id="30" dur="500" fill="hold"/>
                                        <p:tgtEl>
                                          <p:spTgt spid="97"/>
                                        </p:tgtEl>
                                        <p:attrNameLst>
                                          <p:attrName>ppt_y</p:attrName>
                                        </p:attrNameLst>
                                      </p:cBhvr>
                                      <p:tavLst>
                                        <p:tav tm="0">
                                          <p:val>
                                            <p:strVal val="#ppt_y+0.06"/>
                                          </p:val>
                                        </p:tav>
                                        <p:tav tm="100000">
                                          <p:val>
                                            <p:strVal val="#ppt_y"/>
                                          </p:val>
                                        </p:tav>
                                      </p:tavLst>
                                    </p:anim>
                                  </p:childTnLst>
                                </p:cTn>
                              </p:par>
                              <p:par>
                                <p:cTn id="32" presetID="10" presetClass="entr" presetSubtype="0" fill="hold" grpId="0" nodeType="withEffect">
                                  <p:stCondLst>
                                    <p:cond delay="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5" presetID="42" presetClass="entr" presetSubtype="0" fill="hold" grpId="0" nodeType="withEffect">
                                  <p:stCondLst>
                                    <p:cond delay="480"/>
                                  </p:stCondLst>
                                  <p:childTnLst>
                                    <p:set>
                                      <p:cBhvr>
                                        <p:cTn id="34" dur="1" fill="hold">
                                          <p:stCondLst>
                                            <p:cond delay="0"/>
                                          </p:stCondLst>
                                        </p:cTn>
                                        <p:tgtEl>
                                          <p:spTgt spid="126"/>
                                        </p:tgtEl>
                                        <p:attrNameLst>
                                          <p:attrName>style.visibility</p:attrName>
                                        </p:attrNameLst>
                                      </p:cBhvr>
                                      <p:to>
                                        <p:strVal val="visible"/>
                                      </p:to>
                                    </p:set>
                                    <p:animEffect transition="in" filter="fade">
                                      <p:cBhvr>
                                        <p:cTn id="36" dur="500"/>
                                        <p:tgtEl>
                                          <p:spTgt spid="126"/>
                                        </p:tgtEl>
                                      </p:cBhvr>
                                    </p:animEffect>
                                    <p:anim calcmode="lin" valueType="num">
                                      <p:cBhvr>
                                        <p:cTn id="37" dur="500" fill="hold"/>
                                        <p:tgtEl>
                                          <p:spTgt spid="126"/>
                                        </p:tgtEl>
                                        <p:attrNameLst>
                                          <p:attrName>ppt_x</p:attrName>
                                        </p:attrNameLst>
                                      </p:cBhvr>
                                      <p:tavLst>
                                        <p:tav tm="0">
                                          <p:val>
                                            <p:strVal val="#ppt_x"/>
                                          </p:val>
                                        </p:tav>
                                        <p:tav tm="100000">
                                          <p:val>
                                            <p:strVal val="#ppt_x"/>
                                          </p:val>
                                        </p:tav>
                                      </p:tavLst>
                                    </p:anim>
                                    <p:anim calcmode="lin" valueType="num">
                                      <p:cBhvr>
                                        <p:cTn id="38" dur="500" fill="hold"/>
                                        <p:tgtEl>
                                          <p:spTgt spid="126"/>
                                        </p:tgtEl>
                                        <p:attrNameLst>
                                          <p:attrName>ppt_y</p:attrName>
                                        </p:attrNameLst>
                                      </p:cBhvr>
                                      <p:tavLst>
                                        <p:tav tm="0">
                                          <p:val>
                                            <p:strVal val="#ppt_y+0.06"/>
                                          </p:val>
                                        </p:tav>
                                        <p:tav tm="100000">
                                          <p:val>
                                            <p:strVal val="#ppt_y"/>
                                          </p:val>
                                        </p:tav>
                                      </p:tavLst>
                                    </p:anim>
                                  </p:childTnLst>
                                </p:cTn>
                              </p:par>
                              <p:par>
                                <p:cTn id="40" presetID="10" presetClass="entr" presetSubtype="0" fill="hold" grpId="0" nodeType="withEffect">
                                  <p:stCondLst>
                                    <p:cond delay="520"/>
                                  </p:stCondLst>
                                  <p:childTnLst>
                                    <p:set>
                                      <p:cBhvr>
                                        <p:cTn id="39"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par>
                                <p:cTn id="43" presetID="42" presetClass="entr" presetSubtype="0" fill="hold" grpId="0" nodeType="withEffect">
                                  <p:stCondLst>
                                    <p:cond delay="600"/>
                                  </p:stCondLst>
                                  <p:childTnLst>
                                    <p:set>
                                      <p:cBhvr>
                                        <p:cTn id="42" dur="1" fill="hold">
                                          <p:stCondLst>
                                            <p:cond delay="0"/>
                                          </p:stCondLst>
                                        </p:cTn>
                                        <p:tgtEl>
                                          <p:spTgt spid="156"/>
                                        </p:tgtEl>
                                        <p:attrNameLst>
                                          <p:attrName>style.visibility</p:attrName>
                                        </p:attrNameLst>
                                      </p:cBhvr>
                                      <p:to>
                                        <p:strVal val="visible"/>
                                      </p:to>
                                    </p:set>
                                    <p:animEffect transition="in" filter="fade">
                                      <p:cBhvr>
                                        <p:cTn id="44" dur="500"/>
                                        <p:tgtEl>
                                          <p:spTgt spid="156"/>
                                        </p:tgtEl>
                                      </p:cBhvr>
                                    </p:animEffect>
                                    <p:anim calcmode="lin" valueType="num">
                                      <p:cBhvr>
                                        <p:cTn id="45" dur="500" fill="hold"/>
                                        <p:tgtEl>
                                          <p:spTgt spid="156"/>
                                        </p:tgtEl>
                                        <p:attrNameLst>
                                          <p:attrName>ppt_x</p:attrName>
                                        </p:attrNameLst>
                                      </p:cBhvr>
                                      <p:tavLst>
                                        <p:tav tm="0">
                                          <p:val>
                                            <p:strVal val="#ppt_x"/>
                                          </p:val>
                                        </p:tav>
                                        <p:tav tm="100000">
                                          <p:val>
                                            <p:strVal val="#ppt_x"/>
                                          </p:val>
                                        </p:tav>
                                      </p:tavLst>
                                    </p:anim>
                                    <p:anim calcmode="lin" valueType="num">
                                      <p:cBhvr>
                                        <p:cTn id="46" dur="500" fill="hold"/>
                                        <p:tgtEl>
                                          <p:spTgt spid="156"/>
                                        </p:tgtEl>
                                        <p:attrNameLst>
                                          <p:attrName>ppt_y</p:attrName>
                                        </p:attrNameLst>
                                      </p:cBhvr>
                                      <p:tavLst>
                                        <p:tav tm="0">
                                          <p:val>
                                            <p:strVal val="#ppt_y+0.06"/>
                                          </p:val>
                                        </p:tav>
                                        <p:tav tm="100000">
                                          <p:val>
                                            <p:strVal val="#ppt_y"/>
                                          </p:val>
                                        </p:tav>
                                      </p:tavLst>
                                    </p:anim>
                                  </p:childTnLst>
                                </p:cTn>
                              </p:par>
                              <p:par>
                                <p:cTn id="48" presetID="10" presetClass="entr" presetSubtype="0" fill="hold" grpId="0" nodeType="withEffect">
                                  <p:stCondLst>
                                    <p:cond delay="640"/>
                                  </p:stCondLst>
                                  <p:childTnLst>
                                    <p:set>
                                      <p:cBhvr>
                                        <p:cTn id="47" dur="1" fill="hold">
                                          <p:stCondLst>
                                            <p:cond delay="0"/>
                                          </p:stCondLst>
                                        </p:cTn>
                                        <p:tgtEl>
                                          <p:spTgt spid="69"/>
                                        </p:tgtEl>
                                        <p:attrNameLst>
                                          <p:attrName>style.visibility</p:attrName>
                                        </p:attrNameLst>
                                      </p:cBhvr>
                                      <p:to>
                                        <p:strVal val="visible"/>
                                      </p:to>
                                    </p:set>
                                    <p:animEffect transition="in" filter="fade">
                                      <p:cBhvr>
                                        <p:cTn id="49" dur="500"/>
                                        <p:tgtEl>
                                          <p:spTgt spid="69"/>
                                        </p:tgtEl>
                                      </p:cBhvr>
                                    </p:animEffect>
                                  </p:childTnLst>
                                </p:cTn>
                              </p:par>
                              <p:par>
                                <p:cTn id="51" presetID="10" presetClass="entr" presetSubtype="0" fill="hold" grpId="0" nodeType="withEffect">
                                  <p:stCondLst>
                                    <p:cond delay="760"/>
                                  </p:stCondLst>
                                  <p:childTnLst>
                                    <p:set>
                                      <p:cBhvr>
                                        <p:cTn id="50" dur="1" fill="hold">
                                          <p:stCondLst>
                                            <p:cond delay="0"/>
                                          </p:stCondLst>
                                        </p:cTn>
                                        <p:tgtEl>
                                          <p:spTgt spid="98"/>
                                        </p:tgtEl>
                                        <p:attrNameLst>
                                          <p:attrName>style.visibility</p:attrName>
                                        </p:attrNameLst>
                                      </p:cBhvr>
                                      <p:to>
                                        <p:strVal val="visible"/>
                                      </p:to>
                                    </p:set>
                                    <p:animEffect transition="in" filter="fade">
                                      <p:cBhvr>
                                        <p:cTn id="52" dur="500"/>
                                        <p:tgtEl>
                                          <p:spTgt spid="98"/>
                                        </p:tgtEl>
                                      </p:cBhvr>
                                    </p:animEffect>
                                  </p:childTnLst>
                                </p:cTn>
                              </p:par>
                              <p:par>
                                <p:cTn id="54" presetID="10" presetClass="entr" presetSubtype="0" fill="hold" grpId="0" nodeType="withEffect">
                                  <p:stCondLst>
                                    <p:cond delay="880"/>
                                  </p:stCondLst>
                                  <p:childTnLst>
                                    <p:set>
                                      <p:cBhvr>
                                        <p:cTn id="53" dur="1" fill="hold">
                                          <p:stCondLst>
                                            <p:cond delay="0"/>
                                          </p:stCondLst>
                                        </p:cTn>
                                        <p:tgtEl>
                                          <p:spTgt spid="127"/>
                                        </p:tgtEl>
                                        <p:attrNameLst>
                                          <p:attrName>style.visibility</p:attrName>
                                        </p:attrNameLst>
                                      </p:cBhvr>
                                      <p:to>
                                        <p:strVal val="visible"/>
                                      </p:to>
                                    </p:set>
                                    <p:animEffect transition="in" filter="fade">
                                      <p:cBhvr>
                                        <p:cTn id="55" dur="500"/>
                                        <p:tgtEl>
                                          <p:spTgt spid="127"/>
                                        </p:tgtEl>
                                      </p:cBhvr>
                                    </p:animEffect>
                                  </p:childTnLst>
                                </p:cTn>
                              </p:par>
                            </p:childTnLst>
                          </p:cTn>
                        </p:par>
                      </p:childTnLst>
                    </p:cTn>
                  </p:par>
                  <p:par>
                    <p:cTn id="56" fill="hold">
                      <p:stCondLst>
                        <p:cond delay="indefinite"/>
                      </p:stCondLst>
                      <p:childTnLst>
                        <p:par>
                          <p:cTn id="57" fill="hold">
                            <p:stCondLst>
                              <p:cond delay="0"/>
                            </p:stCondLst>
                            <p:childTnLst>
                              <p:par>
                                <p:cTn id="59" presetID="10"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par>
                                <p:cTn id="62" presetID="10"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par>
                                <p:cTn id="65" presetID="10"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par>
                                <p:cTn id="68" presetID="10"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1" presetID="10"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2" dur="500"/>
                                        <p:tgtEl>
                                          <p:spTgt spid="15"/>
                                        </p:tgtEl>
                                      </p:cBhvr>
                                    </p:animEffect>
                                  </p:childTnLst>
                                </p:cTn>
                              </p:par>
                              <p:par>
                                <p:cTn id="74" presetID="10"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childTnLst>
                                </p:cTn>
                              </p:par>
                              <p:par>
                                <p:cTn id="77" presetID="10" presetClass="entr" presetSubtype="0"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par>
                                <p:cTn id="80" presetID="10" presetClass="entr" presetSubtype="0"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childTnLst>
                                </p:cTn>
                              </p:par>
                              <p:par>
                                <p:cTn id="83" presetID="10"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4" dur="500"/>
                                        <p:tgtEl>
                                          <p:spTgt spid="19"/>
                                        </p:tgtEl>
                                      </p:cBhvr>
                                    </p:animEffect>
                                  </p:childTnLst>
                                </p:cTn>
                              </p:par>
                              <p:par>
                                <p:cTn id="86" presetID="10" presetClass="entr" presetSubtype="0" fill="hold" grpId="0" nodeType="withEffect">
                                  <p:stCondLst>
                                    <p:cond delay="120"/>
                                  </p:stCondLst>
                                  <p:childTnLst>
                                    <p:set>
                                      <p:cBhvr>
                                        <p:cTn id="85"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par>
                                <p:cTn id="89" presetID="10" presetClass="entr" presetSubtype="0" fill="hold" grpId="0" nodeType="withEffect">
                                  <p:stCondLst>
                                    <p:cond delay="120"/>
                                  </p:stCondLst>
                                  <p:childTnLst>
                                    <p:set>
                                      <p:cBhvr>
                                        <p:cTn id="88" dur="1" fill="hold">
                                          <p:stCondLst>
                                            <p:cond delay="0"/>
                                          </p:stCondLst>
                                        </p:cTn>
                                        <p:tgtEl>
                                          <p:spTgt spid="42"/>
                                        </p:tgtEl>
                                        <p:attrNameLst>
                                          <p:attrName>style.visibility</p:attrName>
                                        </p:attrNameLst>
                                      </p:cBhvr>
                                      <p:to>
                                        <p:strVal val="visible"/>
                                      </p:to>
                                    </p:set>
                                    <p:animEffect transition="in" filter="fade">
                                      <p:cBhvr>
                                        <p:cTn id="90" dur="500"/>
                                        <p:tgtEl>
                                          <p:spTgt spid="42"/>
                                        </p:tgtEl>
                                      </p:cBhvr>
                                    </p:animEffect>
                                  </p:childTnLst>
                                </p:cTn>
                              </p:par>
                              <p:par>
                                <p:cTn id="92" presetID="10" presetClass="entr" presetSubtype="0" fill="hold" grpId="0" nodeType="withEffect">
                                  <p:stCondLst>
                                    <p:cond delay="120"/>
                                  </p:stCondLst>
                                  <p:childTnLst>
                                    <p:set>
                                      <p:cBhvr>
                                        <p:cTn id="91" dur="1" fill="hold">
                                          <p:stCondLst>
                                            <p:cond delay="0"/>
                                          </p:stCondLst>
                                        </p:cTn>
                                        <p:tgtEl>
                                          <p:spTgt spid="43"/>
                                        </p:tgtEl>
                                        <p:attrNameLst>
                                          <p:attrName>style.visibility</p:attrName>
                                        </p:attrNameLst>
                                      </p:cBhvr>
                                      <p:to>
                                        <p:strVal val="visible"/>
                                      </p:to>
                                    </p:set>
                                    <p:animEffect transition="in" filter="fade">
                                      <p:cBhvr>
                                        <p:cTn id="93" dur="500"/>
                                        <p:tgtEl>
                                          <p:spTgt spid="43"/>
                                        </p:tgtEl>
                                      </p:cBhvr>
                                    </p:animEffect>
                                  </p:childTnLst>
                                </p:cTn>
                              </p:par>
                              <p:par>
                                <p:cTn id="95" presetID="10" presetClass="entr" presetSubtype="0" fill="hold" grpId="0" nodeType="withEffect">
                                  <p:stCondLst>
                                    <p:cond delay="120"/>
                                  </p:stCondLst>
                                  <p:childTnLst>
                                    <p:set>
                                      <p:cBhvr>
                                        <p:cTn id="94" dur="1" fill="hold">
                                          <p:stCondLst>
                                            <p:cond delay="0"/>
                                          </p:stCondLst>
                                        </p:cTn>
                                        <p:tgtEl>
                                          <p:spTgt spid="44"/>
                                        </p:tgtEl>
                                        <p:attrNameLst>
                                          <p:attrName>style.visibility</p:attrName>
                                        </p:attrNameLst>
                                      </p:cBhvr>
                                      <p:to>
                                        <p:strVal val="visible"/>
                                      </p:to>
                                    </p:set>
                                    <p:animEffect transition="in" filter="fade">
                                      <p:cBhvr>
                                        <p:cTn id="96" dur="500"/>
                                        <p:tgtEl>
                                          <p:spTgt spid="44"/>
                                        </p:tgtEl>
                                      </p:cBhvr>
                                    </p:animEffect>
                                  </p:childTnLst>
                                </p:cTn>
                              </p:par>
                              <p:par>
                                <p:cTn id="98" presetID="10" presetClass="entr" presetSubtype="0" fill="hold" grpId="0" nodeType="withEffect">
                                  <p:stCondLst>
                                    <p:cond delay="120"/>
                                  </p:stCondLst>
                                  <p:childTnLst>
                                    <p:set>
                                      <p:cBhvr>
                                        <p:cTn id="97" dur="1" fill="hold">
                                          <p:stCondLst>
                                            <p:cond delay="0"/>
                                          </p:stCondLst>
                                        </p:cTn>
                                        <p:tgtEl>
                                          <p:spTgt spid="45"/>
                                        </p:tgtEl>
                                        <p:attrNameLst>
                                          <p:attrName>style.visibility</p:attrName>
                                        </p:attrNameLst>
                                      </p:cBhvr>
                                      <p:to>
                                        <p:strVal val="visible"/>
                                      </p:to>
                                    </p:set>
                                    <p:animEffect transition="in" filter="fade">
                                      <p:cBhvr>
                                        <p:cTn id="99" dur="500"/>
                                        <p:tgtEl>
                                          <p:spTgt spid="45"/>
                                        </p:tgtEl>
                                      </p:cBhvr>
                                    </p:animEffect>
                                  </p:childTnLst>
                                </p:cTn>
                              </p:par>
                              <p:par>
                                <p:cTn id="101" presetID="10" presetClass="entr" presetSubtype="0" fill="hold" grpId="0" nodeType="withEffect">
                                  <p:stCondLst>
                                    <p:cond delay="12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2" dur="500"/>
                                        <p:tgtEl>
                                          <p:spTgt spid="46"/>
                                        </p:tgtEl>
                                      </p:cBhvr>
                                    </p:animEffect>
                                  </p:childTnLst>
                                </p:cTn>
                              </p:par>
                              <p:par>
                                <p:cTn id="104" presetID="10" presetClass="entr" presetSubtype="0" fill="hold" grpId="0" nodeType="withEffect">
                                  <p:stCondLst>
                                    <p:cond delay="12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5" dur="500"/>
                                        <p:tgtEl>
                                          <p:spTgt spid="47"/>
                                        </p:tgtEl>
                                      </p:cBhvr>
                                    </p:animEffect>
                                  </p:childTnLst>
                                </p:cTn>
                              </p:par>
                              <p:par>
                                <p:cTn id="107" presetID="10" presetClass="entr" presetSubtype="0" fill="hold" grpId="0" nodeType="withEffect">
                                  <p:stCondLst>
                                    <p:cond delay="12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8" dur="500"/>
                                        <p:tgtEl>
                                          <p:spTgt spid="48"/>
                                        </p:tgtEl>
                                      </p:cBhvr>
                                    </p:animEffect>
                                  </p:childTnLst>
                                </p:cTn>
                              </p:par>
                              <p:par>
                                <p:cTn id="110" presetID="10" presetClass="entr" presetSubtype="0" fill="hold" grpId="0" nodeType="withEffect">
                                  <p:stCondLst>
                                    <p:cond delay="240"/>
                                  </p:stCondLst>
                                  <p:childTnLst>
                                    <p:set>
                                      <p:cBhvr>
                                        <p:cTn id="109" dur="1" fill="hold">
                                          <p:stCondLst>
                                            <p:cond delay="0"/>
                                          </p:stCondLst>
                                        </p:cTn>
                                        <p:tgtEl>
                                          <p:spTgt spid="70"/>
                                        </p:tgtEl>
                                        <p:attrNameLst>
                                          <p:attrName>style.visibility</p:attrName>
                                        </p:attrNameLst>
                                      </p:cBhvr>
                                      <p:to>
                                        <p:strVal val="visible"/>
                                      </p:to>
                                    </p:set>
                                    <p:animEffect transition="in" filter="fade">
                                      <p:cBhvr>
                                        <p:cTn id="111" dur="500"/>
                                        <p:tgtEl>
                                          <p:spTgt spid="70"/>
                                        </p:tgtEl>
                                      </p:cBhvr>
                                    </p:animEffect>
                                  </p:childTnLst>
                                </p:cTn>
                              </p:par>
                              <p:par>
                                <p:cTn id="113" presetID="10" presetClass="entr" presetSubtype="0" fill="hold" grpId="0" nodeType="withEffect">
                                  <p:stCondLst>
                                    <p:cond delay="240"/>
                                  </p:stCondLst>
                                  <p:childTnLst>
                                    <p:set>
                                      <p:cBhvr>
                                        <p:cTn id="112" dur="1" fill="hold">
                                          <p:stCondLst>
                                            <p:cond delay="0"/>
                                          </p:stCondLst>
                                        </p:cTn>
                                        <p:tgtEl>
                                          <p:spTgt spid="71"/>
                                        </p:tgtEl>
                                        <p:attrNameLst>
                                          <p:attrName>style.visibility</p:attrName>
                                        </p:attrNameLst>
                                      </p:cBhvr>
                                      <p:to>
                                        <p:strVal val="visible"/>
                                      </p:to>
                                    </p:set>
                                    <p:animEffect transition="in" filter="fade">
                                      <p:cBhvr>
                                        <p:cTn id="114" dur="500"/>
                                        <p:tgtEl>
                                          <p:spTgt spid="71"/>
                                        </p:tgtEl>
                                      </p:cBhvr>
                                    </p:animEffect>
                                  </p:childTnLst>
                                </p:cTn>
                              </p:par>
                              <p:par>
                                <p:cTn id="116" presetID="10" presetClass="entr" presetSubtype="0" fill="hold" grpId="0" nodeType="withEffect">
                                  <p:stCondLst>
                                    <p:cond delay="240"/>
                                  </p:stCondLst>
                                  <p:childTnLst>
                                    <p:set>
                                      <p:cBhvr>
                                        <p:cTn id="115" dur="1" fill="hold">
                                          <p:stCondLst>
                                            <p:cond delay="0"/>
                                          </p:stCondLst>
                                        </p:cTn>
                                        <p:tgtEl>
                                          <p:spTgt spid="72"/>
                                        </p:tgtEl>
                                        <p:attrNameLst>
                                          <p:attrName>style.visibility</p:attrName>
                                        </p:attrNameLst>
                                      </p:cBhvr>
                                      <p:to>
                                        <p:strVal val="visible"/>
                                      </p:to>
                                    </p:set>
                                    <p:animEffect transition="in" filter="fade">
                                      <p:cBhvr>
                                        <p:cTn id="117" dur="500"/>
                                        <p:tgtEl>
                                          <p:spTgt spid="72"/>
                                        </p:tgtEl>
                                      </p:cBhvr>
                                    </p:animEffect>
                                  </p:childTnLst>
                                </p:cTn>
                              </p:par>
                              <p:par>
                                <p:cTn id="119" presetID="10" presetClass="entr" presetSubtype="0" fill="hold" grpId="0" nodeType="withEffect">
                                  <p:stCondLst>
                                    <p:cond delay="240"/>
                                  </p:stCondLst>
                                  <p:childTnLst>
                                    <p:set>
                                      <p:cBhvr>
                                        <p:cTn id="118" dur="1" fill="hold">
                                          <p:stCondLst>
                                            <p:cond delay="0"/>
                                          </p:stCondLst>
                                        </p:cTn>
                                        <p:tgtEl>
                                          <p:spTgt spid="73"/>
                                        </p:tgtEl>
                                        <p:attrNameLst>
                                          <p:attrName>style.visibility</p:attrName>
                                        </p:attrNameLst>
                                      </p:cBhvr>
                                      <p:to>
                                        <p:strVal val="visible"/>
                                      </p:to>
                                    </p:set>
                                    <p:animEffect transition="in" filter="fade">
                                      <p:cBhvr>
                                        <p:cTn id="120" dur="500"/>
                                        <p:tgtEl>
                                          <p:spTgt spid="73"/>
                                        </p:tgtEl>
                                      </p:cBhvr>
                                    </p:animEffect>
                                  </p:childTnLst>
                                </p:cTn>
                              </p:par>
                              <p:par>
                                <p:cTn id="122" presetID="10" presetClass="entr" presetSubtype="0" fill="hold" grpId="0" nodeType="withEffect">
                                  <p:stCondLst>
                                    <p:cond delay="240"/>
                                  </p:stCondLst>
                                  <p:childTnLst>
                                    <p:set>
                                      <p:cBhvr>
                                        <p:cTn id="121" dur="1" fill="hold">
                                          <p:stCondLst>
                                            <p:cond delay="0"/>
                                          </p:stCondLst>
                                        </p:cTn>
                                        <p:tgtEl>
                                          <p:spTgt spid="74"/>
                                        </p:tgtEl>
                                        <p:attrNameLst>
                                          <p:attrName>style.visibility</p:attrName>
                                        </p:attrNameLst>
                                      </p:cBhvr>
                                      <p:to>
                                        <p:strVal val="visible"/>
                                      </p:to>
                                    </p:set>
                                    <p:animEffect transition="in" filter="fade">
                                      <p:cBhvr>
                                        <p:cTn id="123" dur="500"/>
                                        <p:tgtEl>
                                          <p:spTgt spid="74"/>
                                        </p:tgtEl>
                                      </p:cBhvr>
                                    </p:animEffect>
                                  </p:childTnLst>
                                </p:cTn>
                              </p:par>
                              <p:par>
                                <p:cTn id="125" presetID="10" presetClass="entr" presetSubtype="0" fill="hold" grpId="0" nodeType="withEffect">
                                  <p:stCondLst>
                                    <p:cond delay="240"/>
                                  </p:stCondLst>
                                  <p:childTnLst>
                                    <p:set>
                                      <p:cBhvr>
                                        <p:cTn id="124" dur="1" fill="hold">
                                          <p:stCondLst>
                                            <p:cond delay="0"/>
                                          </p:stCondLst>
                                        </p:cTn>
                                        <p:tgtEl>
                                          <p:spTgt spid="75"/>
                                        </p:tgtEl>
                                        <p:attrNameLst>
                                          <p:attrName>style.visibility</p:attrName>
                                        </p:attrNameLst>
                                      </p:cBhvr>
                                      <p:to>
                                        <p:strVal val="visible"/>
                                      </p:to>
                                    </p:set>
                                    <p:animEffect transition="in" filter="fade">
                                      <p:cBhvr>
                                        <p:cTn id="126" dur="500"/>
                                        <p:tgtEl>
                                          <p:spTgt spid="75"/>
                                        </p:tgtEl>
                                      </p:cBhvr>
                                    </p:animEffect>
                                  </p:childTnLst>
                                </p:cTn>
                              </p:par>
                              <p:par>
                                <p:cTn id="128" presetID="10" presetClass="entr" presetSubtype="0" fill="hold" grpId="0" nodeType="withEffect">
                                  <p:stCondLst>
                                    <p:cond delay="240"/>
                                  </p:stCondLst>
                                  <p:childTnLst>
                                    <p:set>
                                      <p:cBhvr>
                                        <p:cTn id="127" dur="1" fill="hold">
                                          <p:stCondLst>
                                            <p:cond delay="0"/>
                                          </p:stCondLst>
                                        </p:cTn>
                                        <p:tgtEl>
                                          <p:spTgt spid="76"/>
                                        </p:tgtEl>
                                        <p:attrNameLst>
                                          <p:attrName>style.visibility</p:attrName>
                                        </p:attrNameLst>
                                      </p:cBhvr>
                                      <p:to>
                                        <p:strVal val="visible"/>
                                      </p:to>
                                    </p:set>
                                    <p:animEffect transition="in" filter="fade">
                                      <p:cBhvr>
                                        <p:cTn id="129" dur="500"/>
                                        <p:tgtEl>
                                          <p:spTgt spid="76"/>
                                        </p:tgtEl>
                                      </p:cBhvr>
                                    </p:animEffect>
                                  </p:childTnLst>
                                </p:cTn>
                              </p:par>
                              <p:par>
                                <p:cTn id="131" presetID="10" presetClass="entr" presetSubtype="0" fill="hold" grpId="0" nodeType="withEffect">
                                  <p:stCondLst>
                                    <p:cond delay="240"/>
                                  </p:stCondLst>
                                  <p:childTnLst>
                                    <p:set>
                                      <p:cBhvr>
                                        <p:cTn id="130" dur="1" fill="hold">
                                          <p:stCondLst>
                                            <p:cond delay="0"/>
                                          </p:stCondLst>
                                        </p:cTn>
                                        <p:tgtEl>
                                          <p:spTgt spid="77"/>
                                        </p:tgtEl>
                                        <p:attrNameLst>
                                          <p:attrName>style.visibility</p:attrName>
                                        </p:attrNameLst>
                                      </p:cBhvr>
                                      <p:to>
                                        <p:strVal val="visible"/>
                                      </p:to>
                                    </p:set>
                                    <p:animEffect transition="in" filter="fade">
                                      <p:cBhvr>
                                        <p:cTn id="132" dur="500"/>
                                        <p:tgtEl>
                                          <p:spTgt spid="77"/>
                                        </p:tgtEl>
                                      </p:cBhvr>
                                    </p:animEffect>
                                  </p:childTnLst>
                                </p:cTn>
                              </p:par>
                              <p:par>
                                <p:cTn id="134" presetID="10" presetClass="entr" presetSubtype="0" fill="hold" grpId="0" nodeType="withEffect">
                                  <p:stCondLst>
                                    <p:cond delay="360"/>
                                  </p:stCondLst>
                                  <p:childTnLst>
                                    <p:set>
                                      <p:cBhvr>
                                        <p:cTn id="133" dur="1" fill="hold">
                                          <p:stCondLst>
                                            <p:cond delay="0"/>
                                          </p:stCondLst>
                                        </p:cTn>
                                        <p:tgtEl>
                                          <p:spTgt spid="99"/>
                                        </p:tgtEl>
                                        <p:attrNameLst>
                                          <p:attrName>style.visibility</p:attrName>
                                        </p:attrNameLst>
                                      </p:cBhvr>
                                      <p:to>
                                        <p:strVal val="visible"/>
                                      </p:to>
                                    </p:set>
                                    <p:animEffect transition="in" filter="fade">
                                      <p:cBhvr>
                                        <p:cTn id="135" dur="500"/>
                                        <p:tgtEl>
                                          <p:spTgt spid="99"/>
                                        </p:tgtEl>
                                      </p:cBhvr>
                                    </p:animEffect>
                                  </p:childTnLst>
                                </p:cTn>
                              </p:par>
                              <p:par>
                                <p:cTn id="137" presetID="10" presetClass="entr" presetSubtype="0" fill="hold" grpId="0" nodeType="withEffect">
                                  <p:stCondLst>
                                    <p:cond delay="360"/>
                                  </p:stCondLst>
                                  <p:childTnLst>
                                    <p:set>
                                      <p:cBhvr>
                                        <p:cTn id="136" dur="1" fill="hold">
                                          <p:stCondLst>
                                            <p:cond delay="0"/>
                                          </p:stCondLst>
                                        </p:cTn>
                                        <p:tgtEl>
                                          <p:spTgt spid="100"/>
                                        </p:tgtEl>
                                        <p:attrNameLst>
                                          <p:attrName>style.visibility</p:attrName>
                                        </p:attrNameLst>
                                      </p:cBhvr>
                                      <p:to>
                                        <p:strVal val="visible"/>
                                      </p:to>
                                    </p:set>
                                    <p:animEffect transition="in" filter="fade">
                                      <p:cBhvr>
                                        <p:cTn id="138" dur="500"/>
                                        <p:tgtEl>
                                          <p:spTgt spid="100"/>
                                        </p:tgtEl>
                                      </p:cBhvr>
                                    </p:animEffect>
                                  </p:childTnLst>
                                </p:cTn>
                              </p:par>
                              <p:par>
                                <p:cTn id="140" presetID="10" presetClass="entr" presetSubtype="0" fill="hold" grpId="0" nodeType="withEffect">
                                  <p:stCondLst>
                                    <p:cond delay="360"/>
                                  </p:stCondLst>
                                  <p:childTnLst>
                                    <p:set>
                                      <p:cBhvr>
                                        <p:cTn id="139" dur="1" fill="hold">
                                          <p:stCondLst>
                                            <p:cond delay="0"/>
                                          </p:stCondLst>
                                        </p:cTn>
                                        <p:tgtEl>
                                          <p:spTgt spid="101"/>
                                        </p:tgtEl>
                                        <p:attrNameLst>
                                          <p:attrName>style.visibility</p:attrName>
                                        </p:attrNameLst>
                                      </p:cBhvr>
                                      <p:to>
                                        <p:strVal val="visible"/>
                                      </p:to>
                                    </p:set>
                                    <p:animEffect transition="in" filter="fade">
                                      <p:cBhvr>
                                        <p:cTn id="141" dur="500"/>
                                        <p:tgtEl>
                                          <p:spTgt spid="101"/>
                                        </p:tgtEl>
                                      </p:cBhvr>
                                    </p:animEffect>
                                  </p:childTnLst>
                                </p:cTn>
                              </p:par>
                              <p:par>
                                <p:cTn id="143" presetID="10" presetClass="entr" presetSubtype="0" fill="hold" grpId="0" nodeType="withEffect">
                                  <p:stCondLst>
                                    <p:cond delay="360"/>
                                  </p:stCondLst>
                                  <p:childTnLst>
                                    <p:set>
                                      <p:cBhvr>
                                        <p:cTn id="142" dur="1" fill="hold">
                                          <p:stCondLst>
                                            <p:cond delay="0"/>
                                          </p:stCondLst>
                                        </p:cTn>
                                        <p:tgtEl>
                                          <p:spTgt spid="102"/>
                                        </p:tgtEl>
                                        <p:attrNameLst>
                                          <p:attrName>style.visibility</p:attrName>
                                        </p:attrNameLst>
                                      </p:cBhvr>
                                      <p:to>
                                        <p:strVal val="visible"/>
                                      </p:to>
                                    </p:set>
                                    <p:animEffect transition="in" filter="fade">
                                      <p:cBhvr>
                                        <p:cTn id="144" dur="500"/>
                                        <p:tgtEl>
                                          <p:spTgt spid="102"/>
                                        </p:tgtEl>
                                      </p:cBhvr>
                                    </p:animEffect>
                                  </p:childTnLst>
                                </p:cTn>
                              </p:par>
                              <p:par>
                                <p:cTn id="146" presetID="10" presetClass="entr" presetSubtype="0" fill="hold" grpId="0" nodeType="withEffect">
                                  <p:stCondLst>
                                    <p:cond delay="360"/>
                                  </p:stCondLst>
                                  <p:childTnLst>
                                    <p:set>
                                      <p:cBhvr>
                                        <p:cTn id="145" dur="1" fill="hold">
                                          <p:stCondLst>
                                            <p:cond delay="0"/>
                                          </p:stCondLst>
                                        </p:cTn>
                                        <p:tgtEl>
                                          <p:spTgt spid="103"/>
                                        </p:tgtEl>
                                        <p:attrNameLst>
                                          <p:attrName>style.visibility</p:attrName>
                                        </p:attrNameLst>
                                      </p:cBhvr>
                                      <p:to>
                                        <p:strVal val="visible"/>
                                      </p:to>
                                    </p:set>
                                    <p:animEffect transition="in" filter="fade">
                                      <p:cBhvr>
                                        <p:cTn id="147" dur="500"/>
                                        <p:tgtEl>
                                          <p:spTgt spid="103"/>
                                        </p:tgtEl>
                                      </p:cBhvr>
                                    </p:animEffect>
                                  </p:childTnLst>
                                </p:cTn>
                              </p:par>
                              <p:par>
                                <p:cTn id="149" presetID="10" presetClass="entr" presetSubtype="0" fill="hold" grpId="0" nodeType="withEffect">
                                  <p:stCondLst>
                                    <p:cond delay="360"/>
                                  </p:stCondLst>
                                  <p:childTnLst>
                                    <p:set>
                                      <p:cBhvr>
                                        <p:cTn id="148" dur="1" fill="hold">
                                          <p:stCondLst>
                                            <p:cond delay="0"/>
                                          </p:stCondLst>
                                        </p:cTn>
                                        <p:tgtEl>
                                          <p:spTgt spid="104"/>
                                        </p:tgtEl>
                                        <p:attrNameLst>
                                          <p:attrName>style.visibility</p:attrName>
                                        </p:attrNameLst>
                                      </p:cBhvr>
                                      <p:to>
                                        <p:strVal val="visible"/>
                                      </p:to>
                                    </p:set>
                                    <p:animEffect transition="in" filter="fade">
                                      <p:cBhvr>
                                        <p:cTn id="150" dur="500"/>
                                        <p:tgtEl>
                                          <p:spTgt spid="104"/>
                                        </p:tgtEl>
                                      </p:cBhvr>
                                    </p:animEffect>
                                  </p:childTnLst>
                                </p:cTn>
                              </p:par>
                              <p:par>
                                <p:cTn id="152" presetID="10" presetClass="entr" presetSubtype="0" fill="hold" grpId="0" nodeType="withEffect">
                                  <p:stCondLst>
                                    <p:cond delay="360"/>
                                  </p:stCondLst>
                                  <p:childTnLst>
                                    <p:set>
                                      <p:cBhvr>
                                        <p:cTn id="151" dur="1" fill="hold">
                                          <p:stCondLst>
                                            <p:cond delay="0"/>
                                          </p:stCondLst>
                                        </p:cTn>
                                        <p:tgtEl>
                                          <p:spTgt spid="105"/>
                                        </p:tgtEl>
                                        <p:attrNameLst>
                                          <p:attrName>style.visibility</p:attrName>
                                        </p:attrNameLst>
                                      </p:cBhvr>
                                      <p:to>
                                        <p:strVal val="visible"/>
                                      </p:to>
                                    </p:set>
                                    <p:animEffect transition="in" filter="fade">
                                      <p:cBhvr>
                                        <p:cTn id="153" dur="500"/>
                                        <p:tgtEl>
                                          <p:spTgt spid="105"/>
                                        </p:tgtEl>
                                      </p:cBhvr>
                                    </p:animEffect>
                                  </p:childTnLst>
                                </p:cTn>
                              </p:par>
                              <p:par>
                                <p:cTn id="155" presetID="10" presetClass="entr" presetSubtype="0" fill="hold" grpId="0" nodeType="withEffect">
                                  <p:stCondLst>
                                    <p:cond delay="360"/>
                                  </p:stCondLst>
                                  <p:childTnLst>
                                    <p:set>
                                      <p:cBhvr>
                                        <p:cTn id="154" dur="1" fill="hold">
                                          <p:stCondLst>
                                            <p:cond delay="0"/>
                                          </p:stCondLst>
                                        </p:cTn>
                                        <p:tgtEl>
                                          <p:spTgt spid="106"/>
                                        </p:tgtEl>
                                        <p:attrNameLst>
                                          <p:attrName>style.visibility</p:attrName>
                                        </p:attrNameLst>
                                      </p:cBhvr>
                                      <p:to>
                                        <p:strVal val="visible"/>
                                      </p:to>
                                    </p:set>
                                    <p:animEffect transition="in" filter="fade">
                                      <p:cBhvr>
                                        <p:cTn id="156" dur="500"/>
                                        <p:tgtEl>
                                          <p:spTgt spid="106"/>
                                        </p:tgtEl>
                                      </p:cBhvr>
                                    </p:animEffect>
                                  </p:childTnLst>
                                </p:cTn>
                              </p:par>
                              <p:par>
                                <p:cTn id="158" presetID="10" presetClass="entr" presetSubtype="0" fill="hold" grpId="0" nodeType="withEffect">
                                  <p:stCondLst>
                                    <p:cond delay="480"/>
                                  </p:stCondLst>
                                  <p:childTnLst>
                                    <p:set>
                                      <p:cBhvr>
                                        <p:cTn id="157" dur="1" fill="hold">
                                          <p:stCondLst>
                                            <p:cond delay="0"/>
                                          </p:stCondLst>
                                        </p:cTn>
                                        <p:tgtEl>
                                          <p:spTgt spid="128"/>
                                        </p:tgtEl>
                                        <p:attrNameLst>
                                          <p:attrName>style.visibility</p:attrName>
                                        </p:attrNameLst>
                                      </p:cBhvr>
                                      <p:to>
                                        <p:strVal val="visible"/>
                                      </p:to>
                                    </p:set>
                                    <p:animEffect transition="in" filter="fade">
                                      <p:cBhvr>
                                        <p:cTn id="159" dur="500"/>
                                        <p:tgtEl>
                                          <p:spTgt spid="128"/>
                                        </p:tgtEl>
                                      </p:cBhvr>
                                    </p:animEffect>
                                  </p:childTnLst>
                                </p:cTn>
                              </p:par>
                              <p:par>
                                <p:cTn id="161" presetID="10" presetClass="entr" presetSubtype="0" fill="hold" grpId="0" nodeType="withEffect">
                                  <p:stCondLst>
                                    <p:cond delay="480"/>
                                  </p:stCondLst>
                                  <p:childTnLst>
                                    <p:set>
                                      <p:cBhvr>
                                        <p:cTn id="160" dur="1" fill="hold">
                                          <p:stCondLst>
                                            <p:cond delay="0"/>
                                          </p:stCondLst>
                                        </p:cTn>
                                        <p:tgtEl>
                                          <p:spTgt spid="129"/>
                                        </p:tgtEl>
                                        <p:attrNameLst>
                                          <p:attrName>style.visibility</p:attrName>
                                        </p:attrNameLst>
                                      </p:cBhvr>
                                      <p:to>
                                        <p:strVal val="visible"/>
                                      </p:to>
                                    </p:set>
                                    <p:animEffect transition="in" filter="fade">
                                      <p:cBhvr>
                                        <p:cTn id="162" dur="500"/>
                                        <p:tgtEl>
                                          <p:spTgt spid="129"/>
                                        </p:tgtEl>
                                      </p:cBhvr>
                                    </p:animEffect>
                                  </p:childTnLst>
                                </p:cTn>
                              </p:par>
                              <p:par>
                                <p:cTn id="164" presetID="10" presetClass="entr" presetSubtype="0" fill="hold" grpId="0" nodeType="withEffect">
                                  <p:stCondLst>
                                    <p:cond delay="480"/>
                                  </p:stCondLst>
                                  <p:childTnLst>
                                    <p:set>
                                      <p:cBhvr>
                                        <p:cTn id="163" dur="1" fill="hold">
                                          <p:stCondLst>
                                            <p:cond delay="0"/>
                                          </p:stCondLst>
                                        </p:cTn>
                                        <p:tgtEl>
                                          <p:spTgt spid="130"/>
                                        </p:tgtEl>
                                        <p:attrNameLst>
                                          <p:attrName>style.visibility</p:attrName>
                                        </p:attrNameLst>
                                      </p:cBhvr>
                                      <p:to>
                                        <p:strVal val="visible"/>
                                      </p:to>
                                    </p:set>
                                    <p:animEffect transition="in" filter="fade">
                                      <p:cBhvr>
                                        <p:cTn id="165" dur="500"/>
                                        <p:tgtEl>
                                          <p:spTgt spid="130"/>
                                        </p:tgtEl>
                                      </p:cBhvr>
                                    </p:animEffect>
                                  </p:childTnLst>
                                </p:cTn>
                              </p:par>
                              <p:par>
                                <p:cTn id="167" presetID="10" presetClass="entr" presetSubtype="0" fill="hold" grpId="0" nodeType="withEffect">
                                  <p:stCondLst>
                                    <p:cond delay="480"/>
                                  </p:stCondLst>
                                  <p:childTnLst>
                                    <p:set>
                                      <p:cBhvr>
                                        <p:cTn id="166" dur="1" fill="hold">
                                          <p:stCondLst>
                                            <p:cond delay="0"/>
                                          </p:stCondLst>
                                        </p:cTn>
                                        <p:tgtEl>
                                          <p:spTgt spid="131"/>
                                        </p:tgtEl>
                                        <p:attrNameLst>
                                          <p:attrName>style.visibility</p:attrName>
                                        </p:attrNameLst>
                                      </p:cBhvr>
                                      <p:to>
                                        <p:strVal val="visible"/>
                                      </p:to>
                                    </p:set>
                                    <p:animEffect transition="in" filter="fade">
                                      <p:cBhvr>
                                        <p:cTn id="168" dur="500"/>
                                        <p:tgtEl>
                                          <p:spTgt spid="131"/>
                                        </p:tgtEl>
                                      </p:cBhvr>
                                    </p:animEffect>
                                  </p:childTnLst>
                                </p:cTn>
                              </p:par>
                              <p:par>
                                <p:cTn id="170" presetID="10" presetClass="entr" presetSubtype="0" fill="hold" grpId="0" nodeType="withEffect">
                                  <p:stCondLst>
                                    <p:cond delay="480"/>
                                  </p:stCondLst>
                                  <p:childTnLst>
                                    <p:set>
                                      <p:cBhvr>
                                        <p:cTn id="169" dur="1" fill="hold">
                                          <p:stCondLst>
                                            <p:cond delay="0"/>
                                          </p:stCondLst>
                                        </p:cTn>
                                        <p:tgtEl>
                                          <p:spTgt spid="132"/>
                                        </p:tgtEl>
                                        <p:attrNameLst>
                                          <p:attrName>style.visibility</p:attrName>
                                        </p:attrNameLst>
                                      </p:cBhvr>
                                      <p:to>
                                        <p:strVal val="visible"/>
                                      </p:to>
                                    </p:set>
                                    <p:animEffect transition="in" filter="fade">
                                      <p:cBhvr>
                                        <p:cTn id="171" dur="500"/>
                                        <p:tgtEl>
                                          <p:spTgt spid="132"/>
                                        </p:tgtEl>
                                      </p:cBhvr>
                                    </p:animEffect>
                                  </p:childTnLst>
                                </p:cTn>
                              </p:par>
                              <p:par>
                                <p:cTn id="173" presetID="10" presetClass="entr" presetSubtype="0" fill="hold" grpId="0" nodeType="withEffect">
                                  <p:stCondLst>
                                    <p:cond delay="480"/>
                                  </p:stCondLst>
                                  <p:childTnLst>
                                    <p:set>
                                      <p:cBhvr>
                                        <p:cTn id="172" dur="1" fill="hold">
                                          <p:stCondLst>
                                            <p:cond delay="0"/>
                                          </p:stCondLst>
                                        </p:cTn>
                                        <p:tgtEl>
                                          <p:spTgt spid="133"/>
                                        </p:tgtEl>
                                        <p:attrNameLst>
                                          <p:attrName>style.visibility</p:attrName>
                                        </p:attrNameLst>
                                      </p:cBhvr>
                                      <p:to>
                                        <p:strVal val="visible"/>
                                      </p:to>
                                    </p:set>
                                    <p:animEffect transition="in" filter="fade">
                                      <p:cBhvr>
                                        <p:cTn id="174" dur="500"/>
                                        <p:tgtEl>
                                          <p:spTgt spid="133"/>
                                        </p:tgtEl>
                                      </p:cBhvr>
                                    </p:animEffect>
                                  </p:childTnLst>
                                </p:cTn>
                              </p:par>
                              <p:par>
                                <p:cTn id="176" presetID="10" presetClass="entr" presetSubtype="0" fill="hold" grpId="0" nodeType="withEffect">
                                  <p:stCondLst>
                                    <p:cond delay="480"/>
                                  </p:stCondLst>
                                  <p:childTnLst>
                                    <p:set>
                                      <p:cBhvr>
                                        <p:cTn id="175" dur="1" fill="hold">
                                          <p:stCondLst>
                                            <p:cond delay="0"/>
                                          </p:stCondLst>
                                        </p:cTn>
                                        <p:tgtEl>
                                          <p:spTgt spid="134"/>
                                        </p:tgtEl>
                                        <p:attrNameLst>
                                          <p:attrName>style.visibility</p:attrName>
                                        </p:attrNameLst>
                                      </p:cBhvr>
                                      <p:to>
                                        <p:strVal val="visible"/>
                                      </p:to>
                                    </p:set>
                                    <p:animEffect transition="in" filter="fade">
                                      <p:cBhvr>
                                        <p:cTn id="177" dur="500"/>
                                        <p:tgtEl>
                                          <p:spTgt spid="134"/>
                                        </p:tgtEl>
                                      </p:cBhvr>
                                    </p:animEffect>
                                  </p:childTnLst>
                                </p:cTn>
                              </p:par>
                              <p:par>
                                <p:cTn id="179" presetID="10" presetClass="entr" presetSubtype="0" fill="hold" grpId="0" nodeType="withEffect">
                                  <p:stCondLst>
                                    <p:cond delay="480"/>
                                  </p:stCondLst>
                                  <p:childTnLst>
                                    <p:set>
                                      <p:cBhvr>
                                        <p:cTn id="178" dur="1" fill="hold">
                                          <p:stCondLst>
                                            <p:cond delay="0"/>
                                          </p:stCondLst>
                                        </p:cTn>
                                        <p:tgtEl>
                                          <p:spTgt spid="135"/>
                                        </p:tgtEl>
                                        <p:attrNameLst>
                                          <p:attrName>style.visibility</p:attrName>
                                        </p:attrNameLst>
                                      </p:cBhvr>
                                      <p:to>
                                        <p:strVal val="visible"/>
                                      </p:to>
                                    </p:set>
                                    <p:animEffect transition="in" filter="fade">
                                      <p:cBhvr>
                                        <p:cTn id="180" dur="500"/>
                                        <p:tgtEl>
                                          <p:spTgt spid="135"/>
                                        </p:tgtEl>
                                      </p:cBhvr>
                                    </p:animEffect>
                                  </p:childTnLst>
                                </p:cTn>
                              </p:par>
                              <p:par>
                                <p:cTn id="182" presetID="42" presetClass="entr" presetSubtype="0" fill="hold" grpId="0" nodeType="withEffect">
                                  <p:stCondLst>
                                    <p:cond delay="600"/>
                                  </p:stCondLst>
                                  <p:childTnLst>
                                    <p:set>
                                      <p:cBhvr>
                                        <p:cTn id="181" dur="1" fill="hold">
                                          <p:stCondLst>
                                            <p:cond delay="0"/>
                                          </p:stCondLst>
                                        </p:cTn>
                                        <p:tgtEl>
                                          <p:spTgt spid="157"/>
                                        </p:tgtEl>
                                        <p:attrNameLst>
                                          <p:attrName>style.visibility</p:attrName>
                                        </p:attrNameLst>
                                      </p:cBhvr>
                                      <p:to>
                                        <p:strVal val="visible"/>
                                      </p:to>
                                    </p:set>
                                    <p:animEffect transition="in" filter="fade">
                                      <p:cBhvr>
                                        <p:cTn id="183" dur="500"/>
                                        <p:tgtEl>
                                          <p:spTgt spid="157"/>
                                        </p:tgtEl>
                                      </p:cBhvr>
                                    </p:animEffect>
                                    <p:anim calcmode="lin" valueType="num">
                                      <p:cBhvr>
                                        <p:cTn id="184" dur="500" fill="hold"/>
                                        <p:tgtEl>
                                          <p:spTgt spid="157"/>
                                        </p:tgtEl>
                                        <p:attrNameLst>
                                          <p:attrName>ppt_x</p:attrName>
                                        </p:attrNameLst>
                                      </p:cBhvr>
                                      <p:tavLst>
                                        <p:tav tm="0">
                                          <p:val>
                                            <p:strVal val="#ppt_x"/>
                                          </p:val>
                                        </p:tav>
                                        <p:tav tm="100000">
                                          <p:val>
                                            <p:strVal val="#ppt_x"/>
                                          </p:val>
                                        </p:tav>
                                      </p:tavLst>
                                    </p:anim>
                                    <p:anim calcmode="lin" valueType="num">
                                      <p:cBhvr>
                                        <p:cTn id="185" dur="500" fill="hold"/>
                                        <p:tgtEl>
                                          <p:spTgt spid="157"/>
                                        </p:tgtEl>
                                        <p:attrNameLst>
                                          <p:attrName>ppt_y</p:attrName>
                                        </p:attrNameLst>
                                      </p:cBhvr>
                                      <p:tavLst>
                                        <p:tav tm="0">
                                          <p:val>
                                            <p:strVal val="#ppt_y+0.06"/>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9" presetID="10" presetClass="entr" presetSubtype="0" fill="hold" grpId="0" nodeType="clickEffect">
                                  <p:stCondLst>
                                    <p:cond delay="0"/>
                                  </p:stCondLst>
                                  <p:childTnLst>
                                    <p:set>
                                      <p:cBhvr>
                                        <p:cTn id="188" dur="1" fill="hold">
                                          <p:stCondLst>
                                            <p:cond delay="0"/>
                                          </p:stCondLst>
                                        </p:cTn>
                                        <p:tgtEl>
                                          <p:spTgt spid="8"/>
                                        </p:tgtEl>
                                        <p:attrNameLst>
                                          <p:attrName>style.visibility</p:attrName>
                                        </p:attrNameLst>
                                      </p:cBhvr>
                                      <p:to>
                                        <p:strVal val="visible"/>
                                      </p:to>
                                    </p:set>
                                    <p:animEffect transition="in" filter="fade">
                                      <p:cBhvr>
                                        <p:cTn id="190" dur="500"/>
                                        <p:tgtEl>
                                          <p:spTgt spid="8"/>
                                        </p:tgtEl>
                                      </p:cBhvr>
                                    </p:animEffect>
                                  </p:childTnLst>
                                </p:cTn>
                              </p:par>
                              <p:par>
                                <p:cTn id="192" presetID="10" presetClass="entr" presetSubtype="0" fill="hold" grpId="0" nodeType="withEffect">
                                  <p:stCondLst>
                                    <p:cond delay="0"/>
                                  </p:stCondLst>
                                  <p:childTnLst>
                                    <p:set>
                                      <p:cBhvr>
                                        <p:cTn id="191" dur="1" fill="hold">
                                          <p:stCondLst>
                                            <p:cond delay="0"/>
                                          </p:stCondLst>
                                        </p:cTn>
                                        <p:tgtEl>
                                          <p:spTgt spid="20"/>
                                        </p:tgtEl>
                                        <p:attrNameLst>
                                          <p:attrName>style.visibility</p:attrName>
                                        </p:attrNameLst>
                                      </p:cBhvr>
                                      <p:to>
                                        <p:strVal val="visible"/>
                                      </p:to>
                                    </p:set>
                                    <p:animEffect transition="in" filter="fade">
                                      <p:cBhvr>
                                        <p:cTn id="193" dur="500"/>
                                        <p:tgtEl>
                                          <p:spTgt spid="20"/>
                                        </p:tgtEl>
                                      </p:cBhvr>
                                    </p:animEffect>
                                  </p:childTnLst>
                                </p:cTn>
                              </p:par>
                              <p:par>
                                <p:cTn id="195" presetID="10" presetClass="entr" presetSubtype="0" fill="hold" grpId="0" nodeType="withEffect">
                                  <p:stCondLst>
                                    <p:cond delay="0"/>
                                  </p:stCondLst>
                                  <p:childTnLst>
                                    <p:set>
                                      <p:cBhvr>
                                        <p:cTn id="194" dur="1" fill="hold">
                                          <p:stCondLst>
                                            <p:cond delay="0"/>
                                          </p:stCondLst>
                                        </p:cTn>
                                        <p:tgtEl>
                                          <p:spTgt spid="21"/>
                                        </p:tgtEl>
                                        <p:attrNameLst>
                                          <p:attrName>style.visibility</p:attrName>
                                        </p:attrNameLst>
                                      </p:cBhvr>
                                      <p:to>
                                        <p:strVal val="visible"/>
                                      </p:to>
                                    </p:set>
                                    <p:animEffect transition="in" filter="fade">
                                      <p:cBhvr>
                                        <p:cTn id="196" dur="500"/>
                                        <p:tgtEl>
                                          <p:spTgt spid="21"/>
                                        </p:tgtEl>
                                      </p:cBhvr>
                                    </p:animEffect>
                                  </p:childTnLst>
                                </p:cTn>
                              </p:par>
                              <p:par>
                                <p:cTn id="198" presetID="10" presetClass="entr" presetSubtype="0" fill="hold" grpId="0" nodeType="withEffect">
                                  <p:stCondLst>
                                    <p:cond delay="0"/>
                                  </p:stCondLst>
                                  <p:childTnLst>
                                    <p:set>
                                      <p:cBhvr>
                                        <p:cTn id="197" dur="1" fill="hold">
                                          <p:stCondLst>
                                            <p:cond delay="0"/>
                                          </p:stCondLst>
                                        </p:cTn>
                                        <p:tgtEl>
                                          <p:spTgt spid="22"/>
                                        </p:tgtEl>
                                        <p:attrNameLst>
                                          <p:attrName>style.visibility</p:attrName>
                                        </p:attrNameLst>
                                      </p:cBhvr>
                                      <p:to>
                                        <p:strVal val="visible"/>
                                      </p:to>
                                    </p:set>
                                    <p:animEffect transition="in" filter="fade">
                                      <p:cBhvr>
                                        <p:cTn id="199" dur="500"/>
                                        <p:tgtEl>
                                          <p:spTgt spid="22"/>
                                        </p:tgtEl>
                                      </p:cBhvr>
                                    </p:animEffect>
                                  </p:childTnLst>
                                </p:cTn>
                              </p:par>
                              <p:par>
                                <p:cTn id="201" presetID="10" presetClass="entr" presetSubtype="0" fill="hold" grpId="0" nodeType="withEffect">
                                  <p:stCondLst>
                                    <p:cond delay="0"/>
                                  </p:stCondLst>
                                  <p:childTnLst>
                                    <p:set>
                                      <p:cBhvr>
                                        <p:cTn id="200" dur="1" fill="hold">
                                          <p:stCondLst>
                                            <p:cond delay="0"/>
                                          </p:stCondLst>
                                        </p:cTn>
                                        <p:tgtEl>
                                          <p:spTgt spid="23"/>
                                        </p:tgtEl>
                                        <p:attrNameLst>
                                          <p:attrName>style.visibility</p:attrName>
                                        </p:attrNameLst>
                                      </p:cBhvr>
                                      <p:to>
                                        <p:strVal val="visible"/>
                                      </p:to>
                                    </p:set>
                                    <p:animEffect transition="in" filter="fade">
                                      <p:cBhvr>
                                        <p:cTn id="202" dur="500"/>
                                        <p:tgtEl>
                                          <p:spTgt spid="23"/>
                                        </p:tgtEl>
                                      </p:cBhvr>
                                    </p:animEffect>
                                  </p:childTnLst>
                                </p:cTn>
                              </p:par>
                              <p:par>
                                <p:cTn id="204" presetID="10" presetClass="entr" presetSubtype="0" fill="hold" grpId="0" nodeType="withEffect">
                                  <p:stCondLst>
                                    <p:cond delay="0"/>
                                  </p:stCondLst>
                                  <p:childTnLst>
                                    <p:set>
                                      <p:cBhvr>
                                        <p:cTn id="203" dur="1" fill="hold">
                                          <p:stCondLst>
                                            <p:cond delay="0"/>
                                          </p:stCondLst>
                                        </p:cTn>
                                        <p:tgtEl>
                                          <p:spTgt spid="24"/>
                                        </p:tgtEl>
                                        <p:attrNameLst>
                                          <p:attrName>style.visibility</p:attrName>
                                        </p:attrNameLst>
                                      </p:cBhvr>
                                      <p:to>
                                        <p:strVal val="visible"/>
                                      </p:to>
                                    </p:set>
                                    <p:animEffect transition="in" filter="fade">
                                      <p:cBhvr>
                                        <p:cTn id="205" dur="500"/>
                                        <p:tgtEl>
                                          <p:spTgt spid="24"/>
                                        </p:tgtEl>
                                      </p:cBhvr>
                                    </p:animEffect>
                                  </p:childTnLst>
                                </p:cTn>
                              </p:par>
                              <p:par>
                                <p:cTn id="207" presetID="10" presetClass="entr" presetSubtype="0" fill="hold" grpId="0" nodeType="withEffect">
                                  <p:stCondLst>
                                    <p:cond delay="0"/>
                                  </p:stCondLst>
                                  <p:childTnLst>
                                    <p:set>
                                      <p:cBhvr>
                                        <p:cTn id="206" dur="1" fill="hold">
                                          <p:stCondLst>
                                            <p:cond delay="0"/>
                                          </p:stCondLst>
                                        </p:cTn>
                                        <p:tgtEl>
                                          <p:spTgt spid="25"/>
                                        </p:tgtEl>
                                        <p:attrNameLst>
                                          <p:attrName>style.visibility</p:attrName>
                                        </p:attrNameLst>
                                      </p:cBhvr>
                                      <p:to>
                                        <p:strVal val="visible"/>
                                      </p:to>
                                    </p:set>
                                    <p:animEffect transition="in" filter="fade">
                                      <p:cBhvr>
                                        <p:cTn id="208" dur="500"/>
                                        <p:tgtEl>
                                          <p:spTgt spid="25"/>
                                        </p:tgtEl>
                                      </p:cBhvr>
                                    </p:animEffect>
                                  </p:childTnLst>
                                </p:cTn>
                              </p:par>
                              <p:par>
                                <p:cTn id="210" presetID="10" presetClass="entr" presetSubtype="0" fill="hold" grpId="0" nodeType="withEffect">
                                  <p:stCondLst>
                                    <p:cond delay="0"/>
                                  </p:stCondLst>
                                  <p:childTnLst>
                                    <p:set>
                                      <p:cBhvr>
                                        <p:cTn id="209" dur="1" fill="hold">
                                          <p:stCondLst>
                                            <p:cond delay="0"/>
                                          </p:stCondLst>
                                        </p:cTn>
                                        <p:tgtEl>
                                          <p:spTgt spid="26"/>
                                        </p:tgtEl>
                                        <p:attrNameLst>
                                          <p:attrName>style.visibility</p:attrName>
                                        </p:attrNameLst>
                                      </p:cBhvr>
                                      <p:to>
                                        <p:strVal val="visible"/>
                                      </p:to>
                                    </p:set>
                                    <p:animEffect transition="in" filter="fade">
                                      <p:cBhvr>
                                        <p:cTn id="211" dur="500"/>
                                        <p:tgtEl>
                                          <p:spTgt spid="26"/>
                                        </p:tgtEl>
                                      </p:cBhvr>
                                    </p:animEffect>
                                  </p:childTnLst>
                                </p:cTn>
                              </p:par>
                              <p:par>
                                <p:cTn id="213" presetID="10" presetClass="entr" presetSubtype="0" fill="hold" grpId="0" nodeType="withEffect">
                                  <p:stCondLst>
                                    <p:cond delay="0"/>
                                  </p:stCondLst>
                                  <p:childTnLst>
                                    <p:set>
                                      <p:cBhvr>
                                        <p:cTn id="212" dur="1" fill="hold">
                                          <p:stCondLst>
                                            <p:cond delay="0"/>
                                          </p:stCondLst>
                                        </p:cTn>
                                        <p:tgtEl>
                                          <p:spTgt spid="27"/>
                                        </p:tgtEl>
                                        <p:attrNameLst>
                                          <p:attrName>style.visibility</p:attrName>
                                        </p:attrNameLst>
                                      </p:cBhvr>
                                      <p:to>
                                        <p:strVal val="visible"/>
                                      </p:to>
                                    </p:set>
                                    <p:animEffect transition="in" filter="fade">
                                      <p:cBhvr>
                                        <p:cTn id="214" dur="500"/>
                                        <p:tgtEl>
                                          <p:spTgt spid="27"/>
                                        </p:tgtEl>
                                      </p:cBhvr>
                                    </p:animEffect>
                                  </p:childTnLst>
                                </p:cTn>
                              </p:par>
                              <p:par>
                                <p:cTn id="216" presetID="10" presetClass="entr" presetSubtype="0" fill="hold" grpId="0" nodeType="withEffect">
                                  <p:stCondLst>
                                    <p:cond delay="0"/>
                                  </p:stCondLst>
                                  <p:childTnLst>
                                    <p:set>
                                      <p:cBhvr>
                                        <p:cTn id="215" dur="1" fill="hold">
                                          <p:stCondLst>
                                            <p:cond delay="0"/>
                                          </p:stCondLst>
                                        </p:cTn>
                                        <p:tgtEl>
                                          <p:spTgt spid="28"/>
                                        </p:tgtEl>
                                        <p:attrNameLst>
                                          <p:attrName>style.visibility</p:attrName>
                                        </p:attrNameLst>
                                      </p:cBhvr>
                                      <p:to>
                                        <p:strVal val="visible"/>
                                      </p:to>
                                    </p:set>
                                    <p:animEffect transition="in" filter="fade">
                                      <p:cBhvr>
                                        <p:cTn id="217" dur="500"/>
                                        <p:tgtEl>
                                          <p:spTgt spid="28"/>
                                        </p:tgtEl>
                                      </p:cBhvr>
                                    </p:animEffect>
                                  </p:childTnLst>
                                </p:cTn>
                              </p:par>
                              <p:par>
                                <p:cTn id="219" presetID="10" presetClass="entr" presetSubtype="0" fill="hold" grpId="0" nodeType="withEffect">
                                  <p:stCondLst>
                                    <p:cond delay="0"/>
                                  </p:stCondLst>
                                  <p:childTnLst>
                                    <p:set>
                                      <p:cBhvr>
                                        <p:cTn id="218" dur="1" fill="hold">
                                          <p:stCondLst>
                                            <p:cond delay="0"/>
                                          </p:stCondLst>
                                        </p:cTn>
                                        <p:tgtEl>
                                          <p:spTgt spid="38"/>
                                        </p:tgtEl>
                                        <p:attrNameLst>
                                          <p:attrName>style.visibility</p:attrName>
                                        </p:attrNameLst>
                                      </p:cBhvr>
                                      <p:to>
                                        <p:strVal val="visible"/>
                                      </p:to>
                                    </p:set>
                                    <p:animEffect transition="in" filter="fade">
                                      <p:cBhvr>
                                        <p:cTn id="220" dur="500"/>
                                        <p:tgtEl>
                                          <p:spTgt spid="38"/>
                                        </p:tgtEl>
                                      </p:cBhvr>
                                    </p:animEffect>
                                  </p:childTnLst>
                                </p:cTn>
                              </p:par>
                              <p:par>
                                <p:cTn id="222" presetID="10" presetClass="entr" presetSubtype="0" fill="hold" grpId="0" nodeType="withEffect">
                                  <p:stCondLst>
                                    <p:cond delay="0"/>
                                  </p:stCondLst>
                                  <p:childTnLst>
                                    <p:set>
                                      <p:cBhvr>
                                        <p:cTn id="221" dur="1" fill="hold">
                                          <p:stCondLst>
                                            <p:cond delay="0"/>
                                          </p:stCondLst>
                                        </p:cTn>
                                        <p:tgtEl>
                                          <p:spTgt spid="49"/>
                                        </p:tgtEl>
                                        <p:attrNameLst>
                                          <p:attrName>style.visibility</p:attrName>
                                        </p:attrNameLst>
                                      </p:cBhvr>
                                      <p:to>
                                        <p:strVal val="visible"/>
                                      </p:to>
                                    </p:set>
                                    <p:animEffect transition="in" filter="fade">
                                      <p:cBhvr>
                                        <p:cTn id="223" dur="500"/>
                                        <p:tgtEl>
                                          <p:spTgt spid="49"/>
                                        </p:tgtEl>
                                      </p:cBhvr>
                                    </p:animEffect>
                                  </p:childTnLst>
                                </p:cTn>
                              </p:par>
                              <p:par>
                                <p:cTn id="225" presetID="10" presetClass="entr" presetSubtype="0" fill="hold" grpId="0" nodeType="withEffect">
                                  <p:stCondLst>
                                    <p:cond delay="0"/>
                                  </p:stCondLst>
                                  <p:childTnLst>
                                    <p:set>
                                      <p:cBhvr>
                                        <p:cTn id="224" dur="1" fill="hold">
                                          <p:stCondLst>
                                            <p:cond delay="0"/>
                                          </p:stCondLst>
                                        </p:cTn>
                                        <p:tgtEl>
                                          <p:spTgt spid="78"/>
                                        </p:tgtEl>
                                        <p:attrNameLst>
                                          <p:attrName>style.visibility</p:attrName>
                                        </p:attrNameLst>
                                      </p:cBhvr>
                                      <p:to>
                                        <p:strVal val="visible"/>
                                      </p:to>
                                    </p:set>
                                    <p:animEffect transition="in" filter="fade">
                                      <p:cBhvr>
                                        <p:cTn id="226" dur="500"/>
                                        <p:tgtEl>
                                          <p:spTgt spid="78"/>
                                        </p:tgtEl>
                                      </p:cBhvr>
                                    </p:animEffect>
                                  </p:childTnLst>
                                </p:cTn>
                              </p:par>
                              <p:par>
                                <p:cTn id="228" presetID="10" presetClass="entr" presetSubtype="0" fill="hold" grpId="0" nodeType="withEffect">
                                  <p:stCondLst>
                                    <p:cond delay="0"/>
                                  </p:stCondLst>
                                  <p:childTnLst>
                                    <p:set>
                                      <p:cBhvr>
                                        <p:cTn id="227" dur="1" fill="hold">
                                          <p:stCondLst>
                                            <p:cond delay="0"/>
                                          </p:stCondLst>
                                        </p:cTn>
                                        <p:tgtEl>
                                          <p:spTgt spid="107"/>
                                        </p:tgtEl>
                                        <p:attrNameLst>
                                          <p:attrName>style.visibility</p:attrName>
                                        </p:attrNameLst>
                                      </p:cBhvr>
                                      <p:to>
                                        <p:strVal val="visible"/>
                                      </p:to>
                                    </p:set>
                                    <p:animEffect transition="in" filter="fade">
                                      <p:cBhvr>
                                        <p:cTn id="229" dur="500"/>
                                        <p:tgtEl>
                                          <p:spTgt spid="107"/>
                                        </p:tgtEl>
                                      </p:cBhvr>
                                    </p:animEffect>
                                  </p:childTnLst>
                                </p:cTn>
                              </p:par>
                              <p:par>
                                <p:cTn id="231" presetID="10" presetClass="entr" presetSubtype="0" fill="hold" grpId="0" nodeType="withEffect">
                                  <p:stCondLst>
                                    <p:cond delay="0"/>
                                  </p:stCondLst>
                                  <p:childTnLst>
                                    <p:set>
                                      <p:cBhvr>
                                        <p:cTn id="230" dur="1" fill="hold">
                                          <p:stCondLst>
                                            <p:cond delay="0"/>
                                          </p:stCondLst>
                                        </p:cTn>
                                        <p:tgtEl>
                                          <p:spTgt spid="136"/>
                                        </p:tgtEl>
                                        <p:attrNameLst>
                                          <p:attrName>style.visibility</p:attrName>
                                        </p:attrNameLst>
                                      </p:cBhvr>
                                      <p:to>
                                        <p:strVal val="visible"/>
                                      </p:to>
                                    </p:set>
                                    <p:animEffect transition="in" filter="fade">
                                      <p:cBhvr>
                                        <p:cTn id="232" dur="500"/>
                                        <p:tgtEl>
                                          <p:spTgt spid="136"/>
                                        </p:tgtEl>
                                      </p:cBhvr>
                                    </p:animEffect>
                                  </p:childTnLst>
                                </p:cTn>
                              </p:par>
                              <p:par>
                                <p:cTn id="234" presetID="10" presetClass="entr" presetSubtype="0" fill="hold" grpId="0" nodeType="withEffect">
                                  <p:stCondLst>
                                    <p:cond delay="120"/>
                                  </p:stCondLst>
                                  <p:childTnLst>
                                    <p:set>
                                      <p:cBhvr>
                                        <p:cTn id="233" dur="1" fill="hold">
                                          <p:stCondLst>
                                            <p:cond delay="0"/>
                                          </p:stCondLst>
                                        </p:cTn>
                                        <p:tgtEl>
                                          <p:spTgt spid="50"/>
                                        </p:tgtEl>
                                        <p:attrNameLst>
                                          <p:attrName>style.visibility</p:attrName>
                                        </p:attrNameLst>
                                      </p:cBhvr>
                                      <p:to>
                                        <p:strVal val="visible"/>
                                      </p:to>
                                    </p:set>
                                    <p:animEffect transition="in" filter="fade">
                                      <p:cBhvr>
                                        <p:cTn id="235" dur="500"/>
                                        <p:tgtEl>
                                          <p:spTgt spid="50"/>
                                        </p:tgtEl>
                                      </p:cBhvr>
                                    </p:animEffect>
                                  </p:childTnLst>
                                </p:cTn>
                              </p:par>
                              <p:par>
                                <p:cTn id="237" presetID="10" presetClass="entr" presetSubtype="0" fill="hold" grpId="0" nodeType="withEffect">
                                  <p:stCondLst>
                                    <p:cond delay="120"/>
                                  </p:stCondLst>
                                  <p:childTnLst>
                                    <p:set>
                                      <p:cBhvr>
                                        <p:cTn id="236" dur="1" fill="hold">
                                          <p:stCondLst>
                                            <p:cond delay="0"/>
                                          </p:stCondLst>
                                        </p:cTn>
                                        <p:tgtEl>
                                          <p:spTgt spid="51"/>
                                        </p:tgtEl>
                                        <p:attrNameLst>
                                          <p:attrName>style.visibility</p:attrName>
                                        </p:attrNameLst>
                                      </p:cBhvr>
                                      <p:to>
                                        <p:strVal val="visible"/>
                                      </p:to>
                                    </p:set>
                                    <p:animEffect transition="in" filter="fade">
                                      <p:cBhvr>
                                        <p:cTn id="238" dur="500"/>
                                        <p:tgtEl>
                                          <p:spTgt spid="51"/>
                                        </p:tgtEl>
                                      </p:cBhvr>
                                    </p:animEffect>
                                  </p:childTnLst>
                                </p:cTn>
                              </p:par>
                              <p:par>
                                <p:cTn id="240" presetID="10" presetClass="entr" presetSubtype="0" fill="hold" grpId="0" nodeType="withEffect">
                                  <p:stCondLst>
                                    <p:cond delay="120"/>
                                  </p:stCondLst>
                                  <p:childTnLst>
                                    <p:set>
                                      <p:cBhvr>
                                        <p:cTn id="239" dur="1" fill="hold">
                                          <p:stCondLst>
                                            <p:cond delay="0"/>
                                          </p:stCondLst>
                                        </p:cTn>
                                        <p:tgtEl>
                                          <p:spTgt spid="52"/>
                                        </p:tgtEl>
                                        <p:attrNameLst>
                                          <p:attrName>style.visibility</p:attrName>
                                        </p:attrNameLst>
                                      </p:cBhvr>
                                      <p:to>
                                        <p:strVal val="visible"/>
                                      </p:to>
                                    </p:set>
                                    <p:animEffect transition="in" filter="fade">
                                      <p:cBhvr>
                                        <p:cTn id="241" dur="500"/>
                                        <p:tgtEl>
                                          <p:spTgt spid="52"/>
                                        </p:tgtEl>
                                      </p:cBhvr>
                                    </p:animEffect>
                                  </p:childTnLst>
                                </p:cTn>
                              </p:par>
                              <p:par>
                                <p:cTn id="243" presetID="10" presetClass="entr" presetSubtype="0" fill="hold" grpId="0" nodeType="withEffect">
                                  <p:stCondLst>
                                    <p:cond delay="120"/>
                                  </p:stCondLst>
                                  <p:childTnLst>
                                    <p:set>
                                      <p:cBhvr>
                                        <p:cTn id="242" dur="1" fill="hold">
                                          <p:stCondLst>
                                            <p:cond delay="0"/>
                                          </p:stCondLst>
                                        </p:cTn>
                                        <p:tgtEl>
                                          <p:spTgt spid="53"/>
                                        </p:tgtEl>
                                        <p:attrNameLst>
                                          <p:attrName>style.visibility</p:attrName>
                                        </p:attrNameLst>
                                      </p:cBhvr>
                                      <p:to>
                                        <p:strVal val="visible"/>
                                      </p:to>
                                    </p:set>
                                    <p:animEffect transition="in" filter="fade">
                                      <p:cBhvr>
                                        <p:cTn id="244" dur="500"/>
                                        <p:tgtEl>
                                          <p:spTgt spid="53"/>
                                        </p:tgtEl>
                                      </p:cBhvr>
                                    </p:animEffect>
                                  </p:childTnLst>
                                </p:cTn>
                              </p:par>
                              <p:par>
                                <p:cTn id="246" presetID="10" presetClass="entr" presetSubtype="0" fill="hold" grpId="0" nodeType="withEffect">
                                  <p:stCondLst>
                                    <p:cond delay="120"/>
                                  </p:stCondLst>
                                  <p:childTnLst>
                                    <p:set>
                                      <p:cBhvr>
                                        <p:cTn id="245" dur="1" fill="hold">
                                          <p:stCondLst>
                                            <p:cond delay="0"/>
                                          </p:stCondLst>
                                        </p:cTn>
                                        <p:tgtEl>
                                          <p:spTgt spid="54"/>
                                        </p:tgtEl>
                                        <p:attrNameLst>
                                          <p:attrName>style.visibility</p:attrName>
                                        </p:attrNameLst>
                                      </p:cBhvr>
                                      <p:to>
                                        <p:strVal val="visible"/>
                                      </p:to>
                                    </p:set>
                                    <p:animEffect transition="in" filter="fade">
                                      <p:cBhvr>
                                        <p:cTn id="247" dur="500"/>
                                        <p:tgtEl>
                                          <p:spTgt spid="54"/>
                                        </p:tgtEl>
                                      </p:cBhvr>
                                    </p:animEffect>
                                  </p:childTnLst>
                                </p:cTn>
                              </p:par>
                              <p:par>
                                <p:cTn id="249" presetID="10" presetClass="entr" presetSubtype="0" fill="hold" grpId="0" nodeType="withEffect">
                                  <p:stCondLst>
                                    <p:cond delay="120"/>
                                  </p:stCondLst>
                                  <p:childTnLst>
                                    <p:set>
                                      <p:cBhvr>
                                        <p:cTn id="248" dur="1" fill="hold">
                                          <p:stCondLst>
                                            <p:cond delay="0"/>
                                          </p:stCondLst>
                                        </p:cTn>
                                        <p:tgtEl>
                                          <p:spTgt spid="55"/>
                                        </p:tgtEl>
                                        <p:attrNameLst>
                                          <p:attrName>style.visibility</p:attrName>
                                        </p:attrNameLst>
                                      </p:cBhvr>
                                      <p:to>
                                        <p:strVal val="visible"/>
                                      </p:to>
                                    </p:set>
                                    <p:animEffect transition="in" filter="fade">
                                      <p:cBhvr>
                                        <p:cTn id="250" dur="500"/>
                                        <p:tgtEl>
                                          <p:spTgt spid="55"/>
                                        </p:tgtEl>
                                      </p:cBhvr>
                                    </p:animEffect>
                                  </p:childTnLst>
                                </p:cTn>
                              </p:par>
                              <p:par>
                                <p:cTn id="252" presetID="10" presetClass="entr" presetSubtype="0" fill="hold" grpId="0" nodeType="withEffect">
                                  <p:stCondLst>
                                    <p:cond delay="120"/>
                                  </p:stCondLst>
                                  <p:childTnLst>
                                    <p:set>
                                      <p:cBhvr>
                                        <p:cTn id="251" dur="1" fill="hold">
                                          <p:stCondLst>
                                            <p:cond delay="0"/>
                                          </p:stCondLst>
                                        </p:cTn>
                                        <p:tgtEl>
                                          <p:spTgt spid="56"/>
                                        </p:tgtEl>
                                        <p:attrNameLst>
                                          <p:attrName>style.visibility</p:attrName>
                                        </p:attrNameLst>
                                      </p:cBhvr>
                                      <p:to>
                                        <p:strVal val="visible"/>
                                      </p:to>
                                    </p:set>
                                    <p:animEffect transition="in" filter="fade">
                                      <p:cBhvr>
                                        <p:cTn id="253" dur="500"/>
                                        <p:tgtEl>
                                          <p:spTgt spid="56"/>
                                        </p:tgtEl>
                                      </p:cBhvr>
                                    </p:animEffect>
                                  </p:childTnLst>
                                </p:cTn>
                              </p:par>
                              <p:par>
                                <p:cTn id="255" presetID="10" presetClass="entr" presetSubtype="0" fill="hold" grpId="0" nodeType="withEffect">
                                  <p:stCondLst>
                                    <p:cond delay="120"/>
                                  </p:stCondLst>
                                  <p:childTnLst>
                                    <p:set>
                                      <p:cBhvr>
                                        <p:cTn id="254" dur="1" fill="hold">
                                          <p:stCondLst>
                                            <p:cond delay="0"/>
                                          </p:stCondLst>
                                        </p:cTn>
                                        <p:tgtEl>
                                          <p:spTgt spid="57"/>
                                        </p:tgtEl>
                                        <p:attrNameLst>
                                          <p:attrName>style.visibility</p:attrName>
                                        </p:attrNameLst>
                                      </p:cBhvr>
                                      <p:to>
                                        <p:strVal val="visible"/>
                                      </p:to>
                                    </p:set>
                                    <p:animEffect transition="in" filter="fade">
                                      <p:cBhvr>
                                        <p:cTn id="256" dur="500"/>
                                        <p:tgtEl>
                                          <p:spTgt spid="57"/>
                                        </p:tgtEl>
                                      </p:cBhvr>
                                    </p:animEffect>
                                  </p:childTnLst>
                                </p:cTn>
                              </p:par>
                              <p:par>
                                <p:cTn id="258" presetID="10" presetClass="entr" presetSubtype="0" fill="hold" grpId="0" nodeType="withEffect">
                                  <p:stCondLst>
                                    <p:cond delay="120"/>
                                  </p:stCondLst>
                                  <p:childTnLst>
                                    <p:set>
                                      <p:cBhvr>
                                        <p:cTn id="257" dur="1" fill="hold">
                                          <p:stCondLst>
                                            <p:cond delay="0"/>
                                          </p:stCondLst>
                                        </p:cTn>
                                        <p:tgtEl>
                                          <p:spTgt spid="67"/>
                                        </p:tgtEl>
                                        <p:attrNameLst>
                                          <p:attrName>style.visibility</p:attrName>
                                        </p:attrNameLst>
                                      </p:cBhvr>
                                      <p:to>
                                        <p:strVal val="visible"/>
                                      </p:to>
                                    </p:set>
                                    <p:animEffect transition="in" filter="fade">
                                      <p:cBhvr>
                                        <p:cTn id="259" dur="500"/>
                                        <p:tgtEl>
                                          <p:spTgt spid="67"/>
                                        </p:tgtEl>
                                      </p:cBhvr>
                                    </p:animEffect>
                                  </p:childTnLst>
                                </p:cTn>
                              </p:par>
                              <p:par>
                                <p:cTn id="261" presetID="10" presetClass="entr" presetSubtype="0" fill="hold" grpId="0" nodeType="withEffect">
                                  <p:stCondLst>
                                    <p:cond delay="240"/>
                                  </p:stCondLst>
                                  <p:childTnLst>
                                    <p:set>
                                      <p:cBhvr>
                                        <p:cTn id="260" dur="1" fill="hold">
                                          <p:stCondLst>
                                            <p:cond delay="0"/>
                                          </p:stCondLst>
                                        </p:cTn>
                                        <p:tgtEl>
                                          <p:spTgt spid="79"/>
                                        </p:tgtEl>
                                        <p:attrNameLst>
                                          <p:attrName>style.visibility</p:attrName>
                                        </p:attrNameLst>
                                      </p:cBhvr>
                                      <p:to>
                                        <p:strVal val="visible"/>
                                      </p:to>
                                    </p:set>
                                    <p:animEffect transition="in" filter="fade">
                                      <p:cBhvr>
                                        <p:cTn id="262" dur="500"/>
                                        <p:tgtEl>
                                          <p:spTgt spid="79"/>
                                        </p:tgtEl>
                                      </p:cBhvr>
                                    </p:animEffect>
                                  </p:childTnLst>
                                </p:cTn>
                              </p:par>
                              <p:par>
                                <p:cTn id="264" presetID="10" presetClass="entr" presetSubtype="0" fill="hold" grpId="0" nodeType="withEffect">
                                  <p:stCondLst>
                                    <p:cond delay="240"/>
                                  </p:stCondLst>
                                  <p:childTnLst>
                                    <p:set>
                                      <p:cBhvr>
                                        <p:cTn id="263" dur="1" fill="hold">
                                          <p:stCondLst>
                                            <p:cond delay="0"/>
                                          </p:stCondLst>
                                        </p:cTn>
                                        <p:tgtEl>
                                          <p:spTgt spid="80"/>
                                        </p:tgtEl>
                                        <p:attrNameLst>
                                          <p:attrName>style.visibility</p:attrName>
                                        </p:attrNameLst>
                                      </p:cBhvr>
                                      <p:to>
                                        <p:strVal val="visible"/>
                                      </p:to>
                                    </p:set>
                                    <p:animEffect transition="in" filter="fade">
                                      <p:cBhvr>
                                        <p:cTn id="265" dur="500"/>
                                        <p:tgtEl>
                                          <p:spTgt spid="80"/>
                                        </p:tgtEl>
                                      </p:cBhvr>
                                    </p:animEffect>
                                  </p:childTnLst>
                                </p:cTn>
                              </p:par>
                              <p:par>
                                <p:cTn id="267" presetID="10" presetClass="entr" presetSubtype="0" fill="hold" grpId="0" nodeType="withEffect">
                                  <p:stCondLst>
                                    <p:cond delay="240"/>
                                  </p:stCondLst>
                                  <p:childTnLst>
                                    <p:set>
                                      <p:cBhvr>
                                        <p:cTn id="266" dur="1" fill="hold">
                                          <p:stCondLst>
                                            <p:cond delay="0"/>
                                          </p:stCondLst>
                                        </p:cTn>
                                        <p:tgtEl>
                                          <p:spTgt spid="81"/>
                                        </p:tgtEl>
                                        <p:attrNameLst>
                                          <p:attrName>style.visibility</p:attrName>
                                        </p:attrNameLst>
                                      </p:cBhvr>
                                      <p:to>
                                        <p:strVal val="visible"/>
                                      </p:to>
                                    </p:set>
                                    <p:animEffect transition="in" filter="fade">
                                      <p:cBhvr>
                                        <p:cTn id="268" dur="500"/>
                                        <p:tgtEl>
                                          <p:spTgt spid="81"/>
                                        </p:tgtEl>
                                      </p:cBhvr>
                                    </p:animEffect>
                                  </p:childTnLst>
                                </p:cTn>
                              </p:par>
                              <p:par>
                                <p:cTn id="270" presetID="10" presetClass="entr" presetSubtype="0" fill="hold" grpId="0" nodeType="withEffect">
                                  <p:stCondLst>
                                    <p:cond delay="240"/>
                                  </p:stCondLst>
                                  <p:childTnLst>
                                    <p:set>
                                      <p:cBhvr>
                                        <p:cTn id="269" dur="1" fill="hold">
                                          <p:stCondLst>
                                            <p:cond delay="0"/>
                                          </p:stCondLst>
                                        </p:cTn>
                                        <p:tgtEl>
                                          <p:spTgt spid="82"/>
                                        </p:tgtEl>
                                        <p:attrNameLst>
                                          <p:attrName>style.visibility</p:attrName>
                                        </p:attrNameLst>
                                      </p:cBhvr>
                                      <p:to>
                                        <p:strVal val="visible"/>
                                      </p:to>
                                    </p:set>
                                    <p:animEffect transition="in" filter="fade">
                                      <p:cBhvr>
                                        <p:cTn id="271" dur="500"/>
                                        <p:tgtEl>
                                          <p:spTgt spid="82"/>
                                        </p:tgtEl>
                                      </p:cBhvr>
                                    </p:animEffect>
                                  </p:childTnLst>
                                </p:cTn>
                              </p:par>
                              <p:par>
                                <p:cTn id="273" presetID="10" presetClass="entr" presetSubtype="0" fill="hold" grpId="0" nodeType="withEffect">
                                  <p:stCondLst>
                                    <p:cond delay="240"/>
                                  </p:stCondLst>
                                  <p:childTnLst>
                                    <p:set>
                                      <p:cBhvr>
                                        <p:cTn id="272" dur="1" fill="hold">
                                          <p:stCondLst>
                                            <p:cond delay="0"/>
                                          </p:stCondLst>
                                        </p:cTn>
                                        <p:tgtEl>
                                          <p:spTgt spid="83"/>
                                        </p:tgtEl>
                                        <p:attrNameLst>
                                          <p:attrName>style.visibility</p:attrName>
                                        </p:attrNameLst>
                                      </p:cBhvr>
                                      <p:to>
                                        <p:strVal val="visible"/>
                                      </p:to>
                                    </p:set>
                                    <p:animEffect transition="in" filter="fade">
                                      <p:cBhvr>
                                        <p:cTn id="274" dur="500"/>
                                        <p:tgtEl>
                                          <p:spTgt spid="83"/>
                                        </p:tgtEl>
                                      </p:cBhvr>
                                    </p:animEffect>
                                  </p:childTnLst>
                                </p:cTn>
                              </p:par>
                              <p:par>
                                <p:cTn id="276" presetID="10" presetClass="entr" presetSubtype="0" fill="hold" grpId="0" nodeType="withEffect">
                                  <p:stCondLst>
                                    <p:cond delay="240"/>
                                  </p:stCondLst>
                                  <p:childTnLst>
                                    <p:set>
                                      <p:cBhvr>
                                        <p:cTn id="275" dur="1" fill="hold">
                                          <p:stCondLst>
                                            <p:cond delay="0"/>
                                          </p:stCondLst>
                                        </p:cTn>
                                        <p:tgtEl>
                                          <p:spTgt spid="84"/>
                                        </p:tgtEl>
                                        <p:attrNameLst>
                                          <p:attrName>style.visibility</p:attrName>
                                        </p:attrNameLst>
                                      </p:cBhvr>
                                      <p:to>
                                        <p:strVal val="visible"/>
                                      </p:to>
                                    </p:set>
                                    <p:animEffect transition="in" filter="fade">
                                      <p:cBhvr>
                                        <p:cTn id="277" dur="500"/>
                                        <p:tgtEl>
                                          <p:spTgt spid="84"/>
                                        </p:tgtEl>
                                      </p:cBhvr>
                                    </p:animEffect>
                                  </p:childTnLst>
                                </p:cTn>
                              </p:par>
                              <p:par>
                                <p:cTn id="279" presetID="10" presetClass="entr" presetSubtype="0" fill="hold" grpId="0" nodeType="withEffect">
                                  <p:stCondLst>
                                    <p:cond delay="240"/>
                                  </p:stCondLst>
                                  <p:childTnLst>
                                    <p:set>
                                      <p:cBhvr>
                                        <p:cTn id="278" dur="1" fill="hold">
                                          <p:stCondLst>
                                            <p:cond delay="0"/>
                                          </p:stCondLst>
                                        </p:cTn>
                                        <p:tgtEl>
                                          <p:spTgt spid="85"/>
                                        </p:tgtEl>
                                        <p:attrNameLst>
                                          <p:attrName>style.visibility</p:attrName>
                                        </p:attrNameLst>
                                      </p:cBhvr>
                                      <p:to>
                                        <p:strVal val="visible"/>
                                      </p:to>
                                    </p:set>
                                    <p:animEffect transition="in" filter="fade">
                                      <p:cBhvr>
                                        <p:cTn id="280" dur="500"/>
                                        <p:tgtEl>
                                          <p:spTgt spid="85"/>
                                        </p:tgtEl>
                                      </p:cBhvr>
                                    </p:animEffect>
                                  </p:childTnLst>
                                </p:cTn>
                              </p:par>
                              <p:par>
                                <p:cTn id="282" presetID="10" presetClass="entr" presetSubtype="0" fill="hold" grpId="0" nodeType="withEffect">
                                  <p:stCondLst>
                                    <p:cond delay="240"/>
                                  </p:stCondLst>
                                  <p:childTnLst>
                                    <p:set>
                                      <p:cBhvr>
                                        <p:cTn id="281" dur="1" fill="hold">
                                          <p:stCondLst>
                                            <p:cond delay="0"/>
                                          </p:stCondLst>
                                        </p:cTn>
                                        <p:tgtEl>
                                          <p:spTgt spid="86"/>
                                        </p:tgtEl>
                                        <p:attrNameLst>
                                          <p:attrName>style.visibility</p:attrName>
                                        </p:attrNameLst>
                                      </p:cBhvr>
                                      <p:to>
                                        <p:strVal val="visible"/>
                                      </p:to>
                                    </p:set>
                                    <p:animEffect transition="in" filter="fade">
                                      <p:cBhvr>
                                        <p:cTn id="283" dur="500"/>
                                        <p:tgtEl>
                                          <p:spTgt spid="86"/>
                                        </p:tgtEl>
                                      </p:cBhvr>
                                    </p:animEffect>
                                  </p:childTnLst>
                                </p:cTn>
                              </p:par>
                              <p:par>
                                <p:cTn id="285" presetID="10" presetClass="entr" presetSubtype="0" fill="hold" grpId="0" nodeType="withEffect">
                                  <p:stCondLst>
                                    <p:cond delay="24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6" dur="500"/>
                                        <p:tgtEl>
                                          <p:spTgt spid="96"/>
                                        </p:tgtEl>
                                      </p:cBhvr>
                                    </p:animEffect>
                                  </p:childTnLst>
                                </p:cTn>
                              </p:par>
                              <p:par>
                                <p:cTn id="288" presetID="10" presetClass="entr" presetSubtype="0" fill="hold" grpId="0" nodeType="withEffect">
                                  <p:stCondLst>
                                    <p:cond delay="360"/>
                                  </p:stCondLst>
                                  <p:childTnLst>
                                    <p:set>
                                      <p:cBhvr>
                                        <p:cTn id="287" dur="1" fill="hold">
                                          <p:stCondLst>
                                            <p:cond delay="0"/>
                                          </p:stCondLst>
                                        </p:cTn>
                                        <p:tgtEl>
                                          <p:spTgt spid="108"/>
                                        </p:tgtEl>
                                        <p:attrNameLst>
                                          <p:attrName>style.visibility</p:attrName>
                                        </p:attrNameLst>
                                      </p:cBhvr>
                                      <p:to>
                                        <p:strVal val="visible"/>
                                      </p:to>
                                    </p:set>
                                    <p:animEffect transition="in" filter="fade">
                                      <p:cBhvr>
                                        <p:cTn id="289" dur="500"/>
                                        <p:tgtEl>
                                          <p:spTgt spid="108"/>
                                        </p:tgtEl>
                                      </p:cBhvr>
                                    </p:animEffect>
                                  </p:childTnLst>
                                </p:cTn>
                              </p:par>
                              <p:par>
                                <p:cTn id="291" presetID="10" presetClass="entr" presetSubtype="0" fill="hold" grpId="0" nodeType="withEffect">
                                  <p:stCondLst>
                                    <p:cond delay="360"/>
                                  </p:stCondLst>
                                  <p:childTnLst>
                                    <p:set>
                                      <p:cBhvr>
                                        <p:cTn id="290" dur="1" fill="hold">
                                          <p:stCondLst>
                                            <p:cond delay="0"/>
                                          </p:stCondLst>
                                        </p:cTn>
                                        <p:tgtEl>
                                          <p:spTgt spid="109"/>
                                        </p:tgtEl>
                                        <p:attrNameLst>
                                          <p:attrName>style.visibility</p:attrName>
                                        </p:attrNameLst>
                                      </p:cBhvr>
                                      <p:to>
                                        <p:strVal val="visible"/>
                                      </p:to>
                                    </p:set>
                                    <p:animEffect transition="in" filter="fade">
                                      <p:cBhvr>
                                        <p:cTn id="292" dur="500"/>
                                        <p:tgtEl>
                                          <p:spTgt spid="109"/>
                                        </p:tgtEl>
                                      </p:cBhvr>
                                    </p:animEffect>
                                  </p:childTnLst>
                                </p:cTn>
                              </p:par>
                              <p:par>
                                <p:cTn id="294" presetID="10" presetClass="entr" presetSubtype="0" fill="hold" grpId="0" nodeType="withEffect">
                                  <p:stCondLst>
                                    <p:cond delay="360"/>
                                  </p:stCondLst>
                                  <p:childTnLst>
                                    <p:set>
                                      <p:cBhvr>
                                        <p:cTn id="293" dur="1" fill="hold">
                                          <p:stCondLst>
                                            <p:cond delay="0"/>
                                          </p:stCondLst>
                                        </p:cTn>
                                        <p:tgtEl>
                                          <p:spTgt spid="110"/>
                                        </p:tgtEl>
                                        <p:attrNameLst>
                                          <p:attrName>style.visibility</p:attrName>
                                        </p:attrNameLst>
                                      </p:cBhvr>
                                      <p:to>
                                        <p:strVal val="visible"/>
                                      </p:to>
                                    </p:set>
                                    <p:animEffect transition="in" filter="fade">
                                      <p:cBhvr>
                                        <p:cTn id="295" dur="500"/>
                                        <p:tgtEl>
                                          <p:spTgt spid="110"/>
                                        </p:tgtEl>
                                      </p:cBhvr>
                                    </p:animEffect>
                                  </p:childTnLst>
                                </p:cTn>
                              </p:par>
                              <p:par>
                                <p:cTn id="297" presetID="10" presetClass="entr" presetSubtype="0" fill="hold" grpId="0" nodeType="withEffect">
                                  <p:stCondLst>
                                    <p:cond delay="360"/>
                                  </p:stCondLst>
                                  <p:childTnLst>
                                    <p:set>
                                      <p:cBhvr>
                                        <p:cTn id="296" dur="1" fill="hold">
                                          <p:stCondLst>
                                            <p:cond delay="0"/>
                                          </p:stCondLst>
                                        </p:cTn>
                                        <p:tgtEl>
                                          <p:spTgt spid="111"/>
                                        </p:tgtEl>
                                        <p:attrNameLst>
                                          <p:attrName>style.visibility</p:attrName>
                                        </p:attrNameLst>
                                      </p:cBhvr>
                                      <p:to>
                                        <p:strVal val="visible"/>
                                      </p:to>
                                    </p:set>
                                    <p:animEffect transition="in" filter="fade">
                                      <p:cBhvr>
                                        <p:cTn id="298" dur="500"/>
                                        <p:tgtEl>
                                          <p:spTgt spid="111"/>
                                        </p:tgtEl>
                                      </p:cBhvr>
                                    </p:animEffect>
                                  </p:childTnLst>
                                </p:cTn>
                              </p:par>
                              <p:par>
                                <p:cTn id="300" presetID="10" presetClass="entr" presetSubtype="0" fill="hold" grpId="0" nodeType="withEffect">
                                  <p:stCondLst>
                                    <p:cond delay="360"/>
                                  </p:stCondLst>
                                  <p:childTnLst>
                                    <p:set>
                                      <p:cBhvr>
                                        <p:cTn id="299" dur="1" fill="hold">
                                          <p:stCondLst>
                                            <p:cond delay="0"/>
                                          </p:stCondLst>
                                        </p:cTn>
                                        <p:tgtEl>
                                          <p:spTgt spid="112"/>
                                        </p:tgtEl>
                                        <p:attrNameLst>
                                          <p:attrName>style.visibility</p:attrName>
                                        </p:attrNameLst>
                                      </p:cBhvr>
                                      <p:to>
                                        <p:strVal val="visible"/>
                                      </p:to>
                                    </p:set>
                                    <p:animEffect transition="in" filter="fade">
                                      <p:cBhvr>
                                        <p:cTn id="301" dur="500"/>
                                        <p:tgtEl>
                                          <p:spTgt spid="112"/>
                                        </p:tgtEl>
                                      </p:cBhvr>
                                    </p:animEffect>
                                  </p:childTnLst>
                                </p:cTn>
                              </p:par>
                              <p:par>
                                <p:cTn id="303" presetID="10" presetClass="entr" presetSubtype="0" fill="hold" grpId="0" nodeType="withEffect">
                                  <p:stCondLst>
                                    <p:cond delay="360"/>
                                  </p:stCondLst>
                                  <p:childTnLst>
                                    <p:set>
                                      <p:cBhvr>
                                        <p:cTn id="302" dur="1" fill="hold">
                                          <p:stCondLst>
                                            <p:cond delay="0"/>
                                          </p:stCondLst>
                                        </p:cTn>
                                        <p:tgtEl>
                                          <p:spTgt spid="113"/>
                                        </p:tgtEl>
                                        <p:attrNameLst>
                                          <p:attrName>style.visibility</p:attrName>
                                        </p:attrNameLst>
                                      </p:cBhvr>
                                      <p:to>
                                        <p:strVal val="visible"/>
                                      </p:to>
                                    </p:set>
                                    <p:animEffect transition="in" filter="fade">
                                      <p:cBhvr>
                                        <p:cTn id="304" dur="500"/>
                                        <p:tgtEl>
                                          <p:spTgt spid="113"/>
                                        </p:tgtEl>
                                      </p:cBhvr>
                                    </p:animEffect>
                                  </p:childTnLst>
                                </p:cTn>
                              </p:par>
                              <p:par>
                                <p:cTn id="306" presetID="10" presetClass="entr" presetSubtype="0" fill="hold" grpId="0" nodeType="withEffect">
                                  <p:stCondLst>
                                    <p:cond delay="360"/>
                                  </p:stCondLst>
                                  <p:childTnLst>
                                    <p:set>
                                      <p:cBhvr>
                                        <p:cTn id="305" dur="1" fill="hold">
                                          <p:stCondLst>
                                            <p:cond delay="0"/>
                                          </p:stCondLst>
                                        </p:cTn>
                                        <p:tgtEl>
                                          <p:spTgt spid="114"/>
                                        </p:tgtEl>
                                        <p:attrNameLst>
                                          <p:attrName>style.visibility</p:attrName>
                                        </p:attrNameLst>
                                      </p:cBhvr>
                                      <p:to>
                                        <p:strVal val="visible"/>
                                      </p:to>
                                    </p:set>
                                    <p:animEffect transition="in" filter="fade">
                                      <p:cBhvr>
                                        <p:cTn id="307" dur="500"/>
                                        <p:tgtEl>
                                          <p:spTgt spid="114"/>
                                        </p:tgtEl>
                                      </p:cBhvr>
                                    </p:animEffect>
                                  </p:childTnLst>
                                </p:cTn>
                              </p:par>
                              <p:par>
                                <p:cTn id="309" presetID="10" presetClass="entr" presetSubtype="0" fill="hold" grpId="0" nodeType="withEffect">
                                  <p:stCondLst>
                                    <p:cond delay="360"/>
                                  </p:stCondLst>
                                  <p:childTnLst>
                                    <p:set>
                                      <p:cBhvr>
                                        <p:cTn id="308" dur="1" fill="hold">
                                          <p:stCondLst>
                                            <p:cond delay="0"/>
                                          </p:stCondLst>
                                        </p:cTn>
                                        <p:tgtEl>
                                          <p:spTgt spid="115"/>
                                        </p:tgtEl>
                                        <p:attrNameLst>
                                          <p:attrName>style.visibility</p:attrName>
                                        </p:attrNameLst>
                                      </p:cBhvr>
                                      <p:to>
                                        <p:strVal val="visible"/>
                                      </p:to>
                                    </p:set>
                                    <p:animEffect transition="in" filter="fade">
                                      <p:cBhvr>
                                        <p:cTn id="310" dur="500"/>
                                        <p:tgtEl>
                                          <p:spTgt spid="115"/>
                                        </p:tgtEl>
                                      </p:cBhvr>
                                    </p:animEffect>
                                  </p:childTnLst>
                                </p:cTn>
                              </p:par>
                              <p:par>
                                <p:cTn id="312" presetID="10" presetClass="entr" presetSubtype="0" fill="hold" grpId="0" nodeType="withEffect">
                                  <p:stCondLst>
                                    <p:cond delay="360"/>
                                  </p:stCondLst>
                                  <p:childTnLst>
                                    <p:set>
                                      <p:cBhvr>
                                        <p:cTn id="311" dur="1" fill="hold">
                                          <p:stCondLst>
                                            <p:cond delay="0"/>
                                          </p:stCondLst>
                                        </p:cTn>
                                        <p:tgtEl>
                                          <p:spTgt spid="125"/>
                                        </p:tgtEl>
                                        <p:attrNameLst>
                                          <p:attrName>style.visibility</p:attrName>
                                        </p:attrNameLst>
                                      </p:cBhvr>
                                      <p:to>
                                        <p:strVal val="visible"/>
                                      </p:to>
                                    </p:set>
                                    <p:animEffect transition="in" filter="fade">
                                      <p:cBhvr>
                                        <p:cTn id="313" dur="500"/>
                                        <p:tgtEl>
                                          <p:spTgt spid="125"/>
                                        </p:tgtEl>
                                      </p:cBhvr>
                                    </p:animEffect>
                                  </p:childTnLst>
                                </p:cTn>
                              </p:par>
                              <p:par>
                                <p:cTn id="315" presetID="10" presetClass="entr" presetSubtype="0" fill="hold" grpId="0" nodeType="withEffect">
                                  <p:stCondLst>
                                    <p:cond delay="480"/>
                                  </p:stCondLst>
                                  <p:childTnLst>
                                    <p:set>
                                      <p:cBhvr>
                                        <p:cTn id="314" dur="1" fill="hold">
                                          <p:stCondLst>
                                            <p:cond delay="0"/>
                                          </p:stCondLst>
                                        </p:cTn>
                                        <p:tgtEl>
                                          <p:spTgt spid="137"/>
                                        </p:tgtEl>
                                        <p:attrNameLst>
                                          <p:attrName>style.visibility</p:attrName>
                                        </p:attrNameLst>
                                      </p:cBhvr>
                                      <p:to>
                                        <p:strVal val="visible"/>
                                      </p:to>
                                    </p:set>
                                    <p:animEffect transition="in" filter="fade">
                                      <p:cBhvr>
                                        <p:cTn id="316" dur="500"/>
                                        <p:tgtEl>
                                          <p:spTgt spid="137"/>
                                        </p:tgtEl>
                                      </p:cBhvr>
                                    </p:animEffect>
                                  </p:childTnLst>
                                </p:cTn>
                              </p:par>
                              <p:par>
                                <p:cTn id="318" presetID="10" presetClass="entr" presetSubtype="0" fill="hold" grpId="0" nodeType="withEffect">
                                  <p:stCondLst>
                                    <p:cond delay="480"/>
                                  </p:stCondLst>
                                  <p:childTnLst>
                                    <p:set>
                                      <p:cBhvr>
                                        <p:cTn id="317" dur="1" fill="hold">
                                          <p:stCondLst>
                                            <p:cond delay="0"/>
                                          </p:stCondLst>
                                        </p:cTn>
                                        <p:tgtEl>
                                          <p:spTgt spid="138"/>
                                        </p:tgtEl>
                                        <p:attrNameLst>
                                          <p:attrName>style.visibility</p:attrName>
                                        </p:attrNameLst>
                                      </p:cBhvr>
                                      <p:to>
                                        <p:strVal val="visible"/>
                                      </p:to>
                                    </p:set>
                                    <p:animEffect transition="in" filter="fade">
                                      <p:cBhvr>
                                        <p:cTn id="319" dur="500"/>
                                        <p:tgtEl>
                                          <p:spTgt spid="138"/>
                                        </p:tgtEl>
                                      </p:cBhvr>
                                    </p:animEffect>
                                  </p:childTnLst>
                                </p:cTn>
                              </p:par>
                              <p:par>
                                <p:cTn id="321" presetID="10" presetClass="entr" presetSubtype="0" fill="hold" grpId="0" nodeType="withEffect">
                                  <p:stCondLst>
                                    <p:cond delay="480"/>
                                  </p:stCondLst>
                                  <p:childTnLst>
                                    <p:set>
                                      <p:cBhvr>
                                        <p:cTn id="320" dur="1" fill="hold">
                                          <p:stCondLst>
                                            <p:cond delay="0"/>
                                          </p:stCondLst>
                                        </p:cTn>
                                        <p:tgtEl>
                                          <p:spTgt spid="139"/>
                                        </p:tgtEl>
                                        <p:attrNameLst>
                                          <p:attrName>style.visibility</p:attrName>
                                        </p:attrNameLst>
                                      </p:cBhvr>
                                      <p:to>
                                        <p:strVal val="visible"/>
                                      </p:to>
                                    </p:set>
                                    <p:animEffect transition="in" filter="fade">
                                      <p:cBhvr>
                                        <p:cTn id="322" dur="500"/>
                                        <p:tgtEl>
                                          <p:spTgt spid="139"/>
                                        </p:tgtEl>
                                      </p:cBhvr>
                                    </p:animEffect>
                                  </p:childTnLst>
                                </p:cTn>
                              </p:par>
                              <p:par>
                                <p:cTn id="324" presetID="10" presetClass="entr" presetSubtype="0" fill="hold" grpId="0" nodeType="withEffect">
                                  <p:stCondLst>
                                    <p:cond delay="480"/>
                                  </p:stCondLst>
                                  <p:childTnLst>
                                    <p:set>
                                      <p:cBhvr>
                                        <p:cTn id="323" dur="1" fill="hold">
                                          <p:stCondLst>
                                            <p:cond delay="0"/>
                                          </p:stCondLst>
                                        </p:cTn>
                                        <p:tgtEl>
                                          <p:spTgt spid="140"/>
                                        </p:tgtEl>
                                        <p:attrNameLst>
                                          <p:attrName>style.visibility</p:attrName>
                                        </p:attrNameLst>
                                      </p:cBhvr>
                                      <p:to>
                                        <p:strVal val="visible"/>
                                      </p:to>
                                    </p:set>
                                    <p:animEffect transition="in" filter="fade">
                                      <p:cBhvr>
                                        <p:cTn id="325" dur="500"/>
                                        <p:tgtEl>
                                          <p:spTgt spid="140"/>
                                        </p:tgtEl>
                                      </p:cBhvr>
                                    </p:animEffect>
                                  </p:childTnLst>
                                </p:cTn>
                              </p:par>
                              <p:par>
                                <p:cTn id="327" presetID="10" presetClass="entr" presetSubtype="0" fill="hold" grpId="0" nodeType="withEffect">
                                  <p:stCondLst>
                                    <p:cond delay="480"/>
                                  </p:stCondLst>
                                  <p:childTnLst>
                                    <p:set>
                                      <p:cBhvr>
                                        <p:cTn id="326" dur="1" fill="hold">
                                          <p:stCondLst>
                                            <p:cond delay="0"/>
                                          </p:stCondLst>
                                        </p:cTn>
                                        <p:tgtEl>
                                          <p:spTgt spid="141"/>
                                        </p:tgtEl>
                                        <p:attrNameLst>
                                          <p:attrName>style.visibility</p:attrName>
                                        </p:attrNameLst>
                                      </p:cBhvr>
                                      <p:to>
                                        <p:strVal val="visible"/>
                                      </p:to>
                                    </p:set>
                                    <p:animEffect transition="in" filter="fade">
                                      <p:cBhvr>
                                        <p:cTn id="328" dur="500"/>
                                        <p:tgtEl>
                                          <p:spTgt spid="141"/>
                                        </p:tgtEl>
                                      </p:cBhvr>
                                    </p:animEffect>
                                  </p:childTnLst>
                                </p:cTn>
                              </p:par>
                              <p:par>
                                <p:cTn id="330" presetID="10" presetClass="entr" presetSubtype="0" fill="hold" grpId="0" nodeType="withEffect">
                                  <p:stCondLst>
                                    <p:cond delay="480"/>
                                  </p:stCondLst>
                                  <p:childTnLst>
                                    <p:set>
                                      <p:cBhvr>
                                        <p:cTn id="329" dur="1" fill="hold">
                                          <p:stCondLst>
                                            <p:cond delay="0"/>
                                          </p:stCondLst>
                                        </p:cTn>
                                        <p:tgtEl>
                                          <p:spTgt spid="142"/>
                                        </p:tgtEl>
                                        <p:attrNameLst>
                                          <p:attrName>style.visibility</p:attrName>
                                        </p:attrNameLst>
                                      </p:cBhvr>
                                      <p:to>
                                        <p:strVal val="visible"/>
                                      </p:to>
                                    </p:set>
                                    <p:animEffect transition="in" filter="fade">
                                      <p:cBhvr>
                                        <p:cTn id="331" dur="500"/>
                                        <p:tgtEl>
                                          <p:spTgt spid="142"/>
                                        </p:tgtEl>
                                      </p:cBhvr>
                                    </p:animEffect>
                                  </p:childTnLst>
                                </p:cTn>
                              </p:par>
                              <p:par>
                                <p:cTn id="333" presetID="10" presetClass="entr" presetSubtype="0" fill="hold" grpId="0" nodeType="withEffect">
                                  <p:stCondLst>
                                    <p:cond delay="480"/>
                                  </p:stCondLst>
                                  <p:childTnLst>
                                    <p:set>
                                      <p:cBhvr>
                                        <p:cTn id="332" dur="1" fill="hold">
                                          <p:stCondLst>
                                            <p:cond delay="0"/>
                                          </p:stCondLst>
                                        </p:cTn>
                                        <p:tgtEl>
                                          <p:spTgt spid="143"/>
                                        </p:tgtEl>
                                        <p:attrNameLst>
                                          <p:attrName>style.visibility</p:attrName>
                                        </p:attrNameLst>
                                      </p:cBhvr>
                                      <p:to>
                                        <p:strVal val="visible"/>
                                      </p:to>
                                    </p:set>
                                    <p:animEffect transition="in" filter="fade">
                                      <p:cBhvr>
                                        <p:cTn id="334" dur="500"/>
                                        <p:tgtEl>
                                          <p:spTgt spid="143"/>
                                        </p:tgtEl>
                                      </p:cBhvr>
                                    </p:animEffect>
                                  </p:childTnLst>
                                </p:cTn>
                              </p:par>
                              <p:par>
                                <p:cTn id="336" presetID="10" presetClass="entr" presetSubtype="0" fill="hold" grpId="0" nodeType="withEffect">
                                  <p:stCondLst>
                                    <p:cond delay="480"/>
                                  </p:stCondLst>
                                  <p:childTnLst>
                                    <p:set>
                                      <p:cBhvr>
                                        <p:cTn id="335" dur="1" fill="hold">
                                          <p:stCondLst>
                                            <p:cond delay="0"/>
                                          </p:stCondLst>
                                        </p:cTn>
                                        <p:tgtEl>
                                          <p:spTgt spid="144"/>
                                        </p:tgtEl>
                                        <p:attrNameLst>
                                          <p:attrName>style.visibility</p:attrName>
                                        </p:attrNameLst>
                                      </p:cBhvr>
                                      <p:to>
                                        <p:strVal val="visible"/>
                                      </p:to>
                                    </p:set>
                                    <p:animEffect transition="in" filter="fade">
                                      <p:cBhvr>
                                        <p:cTn id="337" dur="500"/>
                                        <p:tgtEl>
                                          <p:spTgt spid="144"/>
                                        </p:tgtEl>
                                      </p:cBhvr>
                                    </p:animEffect>
                                  </p:childTnLst>
                                </p:cTn>
                              </p:par>
                              <p:par>
                                <p:cTn id="339" presetID="10" presetClass="entr" presetSubtype="0" fill="hold" grpId="0" nodeType="withEffect">
                                  <p:stCondLst>
                                    <p:cond delay="480"/>
                                  </p:stCondLst>
                                  <p:childTnLst>
                                    <p:set>
                                      <p:cBhvr>
                                        <p:cTn id="338" dur="1" fill="hold">
                                          <p:stCondLst>
                                            <p:cond delay="0"/>
                                          </p:stCondLst>
                                        </p:cTn>
                                        <p:tgtEl>
                                          <p:spTgt spid="154"/>
                                        </p:tgtEl>
                                        <p:attrNameLst>
                                          <p:attrName>style.visibility</p:attrName>
                                        </p:attrNameLst>
                                      </p:cBhvr>
                                      <p:to>
                                        <p:strVal val="visible"/>
                                      </p:to>
                                    </p:set>
                                    <p:animEffect transition="in" filter="fade">
                                      <p:cBhvr>
                                        <p:cTn id="340" dur="500"/>
                                        <p:tgtEl>
                                          <p:spTgt spid="154"/>
                                        </p:tgtEl>
                                      </p:cBhvr>
                                    </p:animEffect>
                                  </p:childTnLst>
                                </p:cTn>
                              </p:par>
                              <p:par>
                                <p:cTn id="342" presetID="42" presetClass="entr" presetSubtype="0" fill="hold" grpId="0" nodeType="withEffect">
                                  <p:stCondLst>
                                    <p:cond delay="600"/>
                                  </p:stCondLst>
                                  <p:childTnLst>
                                    <p:set>
                                      <p:cBhvr>
                                        <p:cTn id="341" dur="1" fill="hold">
                                          <p:stCondLst>
                                            <p:cond delay="0"/>
                                          </p:stCondLst>
                                        </p:cTn>
                                        <p:tgtEl>
                                          <p:spTgt spid="158"/>
                                        </p:tgtEl>
                                        <p:attrNameLst>
                                          <p:attrName>style.visibility</p:attrName>
                                        </p:attrNameLst>
                                      </p:cBhvr>
                                      <p:to>
                                        <p:strVal val="visible"/>
                                      </p:to>
                                    </p:set>
                                    <p:animEffect transition="in" filter="fade">
                                      <p:cBhvr>
                                        <p:cTn id="343" dur="500"/>
                                        <p:tgtEl>
                                          <p:spTgt spid="158"/>
                                        </p:tgtEl>
                                      </p:cBhvr>
                                    </p:animEffect>
                                    <p:anim calcmode="lin" valueType="num">
                                      <p:cBhvr>
                                        <p:cTn id="344" dur="500" fill="hold"/>
                                        <p:tgtEl>
                                          <p:spTgt spid="158"/>
                                        </p:tgtEl>
                                        <p:attrNameLst>
                                          <p:attrName>ppt_x</p:attrName>
                                        </p:attrNameLst>
                                      </p:cBhvr>
                                      <p:tavLst>
                                        <p:tav tm="0">
                                          <p:val>
                                            <p:strVal val="#ppt_x"/>
                                          </p:val>
                                        </p:tav>
                                        <p:tav tm="100000">
                                          <p:val>
                                            <p:strVal val="#ppt_x"/>
                                          </p:val>
                                        </p:tav>
                                      </p:tavLst>
                                    </p:anim>
                                    <p:anim calcmode="lin" valueType="num">
                                      <p:cBhvr>
                                        <p:cTn id="345" dur="500" fill="hold"/>
                                        <p:tgtEl>
                                          <p:spTgt spid="158"/>
                                        </p:tgtEl>
                                        <p:attrNameLst>
                                          <p:attrName>ppt_y</p:attrName>
                                        </p:attrNameLst>
                                      </p:cBhvr>
                                      <p:tavLst>
                                        <p:tav tm="0">
                                          <p:val>
                                            <p:strVal val="#ppt_y+0.06"/>
                                          </p:val>
                                        </p:tav>
                                        <p:tav tm="100000">
                                          <p:val>
                                            <p:strVal val="#ppt_y"/>
                                          </p:val>
                                        </p:tav>
                                      </p:tavLst>
                                    </p:anim>
                                  </p:childTnLst>
                                </p:cTn>
                              </p:par>
                            </p:childTnLst>
                          </p:cTn>
                        </p:par>
                      </p:childTnLst>
                    </p:cTn>
                  </p:par>
                  <p:par>
                    <p:cTn id="346" fill="hold">
                      <p:stCondLst>
                        <p:cond delay="indefinite"/>
                      </p:stCondLst>
                      <p:childTnLst>
                        <p:par>
                          <p:cTn id="347" fill="hold">
                            <p:stCondLst>
                              <p:cond delay="0"/>
                            </p:stCondLst>
                            <p:childTnLst>
                              <p:par>
                                <p:cTn id="349" presetID="10" presetClass="entr" presetSubtype="0" fill="hold" grpId="0" nodeType="clickEffect">
                                  <p:stCondLst>
                                    <p:cond delay="0"/>
                                  </p:stCondLst>
                                  <p:childTnLst>
                                    <p:set>
                                      <p:cBhvr>
                                        <p:cTn id="348" dur="1" fill="hold">
                                          <p:stCondLst>
                                            <p:cond delay="0"/>
                                          </p:stCondLst>
                                        </p:cTn>
                                        <p:tgtEl>
                                          <p:spTgt spid="9"/>
                                        </p:tgtEl>
                                        <p:attrNameLst>
                                          <p:attrName>style.visibility</p:attrName>
                                        </p:attrNameLst>
                                      </p:cBhvr>
                                      <p:to>
                                        <p:strVal val="visible"/>
                                      </p:to>
                                    </p:set>
                                    <p:animEffect transition="in" filter="fade">
                                      <p:cBhvr>
                                        <p:cTn id="350" dur="500"/>
                                        <p:tgtEl>
                                          <p:spTgt spid="9"/>
                                        </p:tgtEl>
                                      </p:cBhvr>
                                    </p:animEffect>
                                  </p:childTnLst>
                                </p:cTn>
                              </p:par>
                              <p:par>
                                <p:cTn id="352" presetID="10" presetClass="entr" presetSubtype="0" fill="hold" grpId="0" nodeType="withEffect">
                                  <p:stCondLst>
                                    <p:cond delay="0"/>
                                  </p:stCondLst>
                                  <p:childTnLst>
                                    <p:set>
                                      <p:cBhvr>
                                        <p:cTn id="351" dur="1" fill="hold">
                                          <p:stCondLst>
                                            <p:cond delay="0"/>
                                          </p:stCondLst>
                                        </p:cTn>
                                        <p:tgtEl>
                                          <p:spTgt spid="29"/>
                                        </p:tgtEl>
                                        <p:attrNameLst>
                                          <p:attrName>style.visibility</p:attrName>
                                        </p:attrNameLst>
                                      </p:cBhvr>
                                      <p:to>
                                        <p:strVal val="visible"/>
                                      </p:to>
                                    </p:set>
                                    <p:animEffect transition="in" filter="fade">
                                      <p:cBhvr>
                                        <p:cTn id="353" dur="500"/>
                                        <p:tgtEl>
                                          <p:spTgt spid="29"/>
                                        </p:tgtEl>
                                      </p:cBhvr>
                                    </p:animEffect>
                                  </p:childTnLst>
                                </p:cTn>
                              </p:par>
                              <p:par>
                                <p:cTn id="355" presetID="10" presetClass="entr" presetSubtype="0" fill="hold" grpId="0" nodeType="withEffect">
                                  <p:stCondLst>
                                    <p:cond delay="0"/>
                                  </p:stCondLst>
                                  <p:childTnLst>
                                    <p:set>
                                      <p:cBhvr>
                                        <p:cTn id="354" dur="1" fill="hold">
                                          <p:stCondLst>
                                            <p:cond delay="0"/>
                                          </p:stCondLst>
                                        </p:cTn>
                                        <p:tgtEl>
                                          <p:spTgt spid="30"/>
                                        </p:tgtEl>
                                        <p:attrNameLst>
                                          <p:attrName>style.visibility</p:attrName>
                                        </p:attrNameLst>
                                      </p:cBhvr>
                                      <p:to>
                                        <p:strVal val="visible"/>
                                      </p:to>
                                    </p:set>
                                    <p:animEffect transition="in" filter="fade">
                                      <p:cBhvr>
                                        <p:cTn id="356" dur="500"/>
                                        <p:tgtEl>
                                          <p:spTgt spid="30"/>
                                        </p:tgtEl>
                                      </p:cBhvr>
                                    </p:animEffect>
                                  </p:childTnLst>
                                </p:cTn>
                              </p:par>
                              <p:par>
                                <p:cTn id="358" presetID="10" presetClass="entr" presetSubtype="0" fill="hold" grpId="0" nodeType="withEffect">
                                  <p:stCondLst>
                                    <p:cond delay="0"/>
                                  </p:stCondLst>
                                  <p:childTnLst>
                                    <p:set>
                                      <p:cBhvr>
                                        <p:cTn id="357" dur="1" fill="hold">
                                          <p:stCondLst>
                                            <p:cond delay="0"/>
                                          </p:stCondLst>
                                        </p:cTn>
                                        <p:tgtEl>
                                          <p:spTgt spid="31"/>
                                        </p:tgtEl>
                                        <p:attrNameLst>
                                          <p:attrName>style.visibility</p:attrName>
                                        </p:attrNameLst>
                                      </p:cBhvr>
                                      <p:to>
                                        <p:strVal val="visible"/>
                                      </p:to>
                                    </p:set>
                                    <p:animEffect transition="in" filter="fade">
                                      <p:cBhvr>
                                        <p:cTn id="359" dur="500"/>
                                        <p:tgtEl>
                                          <p:spTgt spid="31"/>
                                        </p:tgtEl>
                                      </p:cBhvr>
                                    </p:animEffect>
                                  </p:childTnLst>
                                </p:cTn>
                              </p:par>
                              <p:par>
                                <p:cTn id="361" presetID="10" presetClass="entr" presetSubtype="0" fill="hold" grpId="0" nodeType="withEffect">
                                  <p:stCondLst>
                                    <p:cond delay="0"/>
                                  </p:stCondLst>
                                  <p:childTnLst>
                                    <p:set>
                                      <p:cBhvr>
                                        <p:cTn id="360" dur="1" fill="hold">
                                          <p:stCondLst>
                                            <p:cond delay="0"/>
                                          </p:stCondLst>
                                        </p:cTn>
                                        <p:tgtEl>
                                          <p:spTgt spid="32"/>
                                        </p:tgtEl>
                                        <p:attrNameLst>
                                          <p:attrName>style.visibility</p:attrName>
                                        </p:attrNameLst>
                                      </p:cBhvr>
                                      <p:to>
                                        <p:strVal val="visible"/>
                                      </p:to>
                                    </p:set>
                                    <p:animEffect transition="in" filter="fade">
                                      <p:cBhvr>
                                        <p:cTn id="362" dur="500"/>
                                        <p:tgtEl>
                                          <p:spTgt spid="32"/>
                                        </p:tgtEl>
                                      </p:cBhvr>
                                    </p:animEffect>
                                  </p:childTnLst>
                                </p:cTn>
                              </p:par>
                              <p:par>
                                <p:cTn id="364" presetID="10" presetClass="entr" presetSubtype="0" fill="hold" grpId="0" nodeType="withEffect">
                                  <p:stCondLst>
                                    <p:cond delay="0"/>
                                  </p:stCondLst>
                                  <p:childTnLst>
                                    <p:set>
                                      <p:cBhvr>
                                        <p:cTn id="363" dur="1" fill="hold">
                                          <p:stCondLst>
                                            <p:cond delay="0"/>
                                          </p:stCondLst>
                                        </p:cTn>
                                        <p:tgtEl>
                                          <p:spTgt spid="33"/>
                                        </p:tgtEl>
                                        <p:attrNameLst>
                                          <p:attrName>style.visibility</p:attrName>
                                        </p:attrNameLst>
                                      </p:cBhvr>
                                      <p:to>
                                        <p:strVal val="visible"/>
                                      </p:to>
                                    </p:set>
                                    <p:animEffect transition="in" filter="fade">
                                      <p:cBhvr>
                                        <p:cTn id="365" dur="500"/>
                                        <p:tgtEl>
                                          <p:spTgt spid="33"/>
                                        </p:tgtEl>
                                      </p:cBhvr>
                                    </p:animEffect>
                                  </p:childTnLst>
                                </p:cTn>
                              </p:par>
                              <p:par>
                                <p:cTn id="367" presetID="10" presetClass="entr" presetSubtype="0" fill="hold" grpId="0" nodeType="withEffect">
                                  <p:stCondLst>
                                    <p:cond delay="0"/>
                                  </p:stCondLst>
                                  <p:childTnLst>
                                    <p:set>
                                      <p:cBhvr>
                                        <p:cTn id="366" dur="1" fill="hold">
                                          <p:stCondLst>
                                            <p:cond delay="0"/>
                                          </p:stCondLst>
                                        </p:cTn>
                                        <p:tgtEl>
                                          <p:spTgt spid="34"/>
                                        </p:tgtEl>
                                        <p:attrNameLst>
                                          <p:attrName>style.visibility</p:attrName>
                                        </p:attrNameLst>
                                      </p:cBhvr>
                                      <p:to>
                                        <p:strVal val="visible"/>
                                      </p:to>
                                    </p:set>
                                    <p:animEffect transition="in" filter="fade">
                                      <p:cBhvr>
                                        <p:cTn id="368" dur="500"/>
                                        <p:tgtEl>
                                          <p:spTgt spid="34"/>
                                        </p:tgtEl>
                                      </p:cBhvr>
                                    </p:animEffect>
                                  </p:childTnLst>
                                </p:cTn>
                              </p:par>
                              <p:par>
                                <p:cTn id="370" presetID="10" presetClass="entr" presetSubtype="0" fill="hold" grpId="0" nodeType="withEffect">
                                  <p:stCondLst>
                                    <p:cond delay="0"/>
                                  </p:stCondLst>
                                  <p:childTnLst>
                                    <p:set>
                                      <p:cBhvr>
                                        <p:cTn id="369" dur="1" fill="hold">
                                          <p:stCondLst>
                                            <p:cond delay="0"/>
                                          </p:stCondLst>
                                        </p:cTn>
                                        <p:tgtEl>
                                          <p:spTgt spid="35"/>
                                        </p:tgtEl>
                                        <p:attrNameLst>
                                          <p:attrName>style.visibility</p:attrName>
                                        </p:attrNameLst>
                                      </p:cBhvr>
                                      <p:to>
                                        <p:strVal val="visible"/>
                                      </p:to>
                                    </p:set>
                                    <p:animEffect transition="in" filter="fade">
                                      <p:cBhvr>
                                        <p:cTn id="371" dur="500"/>
                                        <p:tgtEl>
                                          <p:spTgt spid="35"/>
                                        </p:tgtEl>
                                      </p:cBhvr>
                                    </p:animEffect>
                                  </p:childTnLst>
                                </p:cTn>
                              </p:par>
                              <p:par>
                                <p:cTn id="373" presetID="10" presetClass="entr" presetSubtype="0" fill="hold" grpId="0" nodeType="withEffect">
                                  <p:stCondLst>
                                    <p:cond delay="0"/>
                                  </p:stCondLst>
                                  <p:childTnLst>
                                    <p:set>
                                      <p:cBhvr>
                                        <p:cTn id="372" dur="1" fill="hold">
                                          <p:stCondLst>
                                            <p:cond delay="0"/>
                                          </p:stCondLst>
                                        </p:cTn>
                                        <p:tgtEl>
                                          <p:spTgt spid="36"/>
                                        </p:tgtEl>
                                        <p:attrNameLst>
                                          <p:attrName>style.visibility</p:attrName>
                                        </p:attrNameLst>
                                      </p:cBhvr>
                                      <p:to>
                                        <p:strVal val="visible"/>
                                      </p:to>
                                    </p:set>
                                    <p:animEffect transition="in" filter="fade">
                                      <p:cBhvr>
                                        <p:cTn id="374" dur="500"/>
                                        <p:tgtEl>
                                          <p:spTgt spid="36"/>
                                        </p:tgtEl>
                                      </p:cBhvr>
                                    </p:animEffect>
                                  </p:childTnLst>
                                </p:cTn>
                              </p:par>
                              <p:par>
                                <p:cTn id="376" presetID="10" presetClass="entr" presetSubtype="0" fill="hold" grpId="0" nodeType="withEffect">
                                  <p:stCondLst>
                                    <p:cond delay="0"/>
                                  </p:stCondLst>
                                  <p:childTnLst>
                                    <p:set>
                                      <p:cBhvr>
                                        <p:cTn id="375" dur="1" fill="hold">
                                          <p:stCondLst>
                                            <p:cond delay="0"/>
                                          </p:stCondLst>
                                        </p:cTn>
                                        <p:tgtEl>
                                          <p:spTgt spid="37"/>
                                        </p:tgtEl>
                                        <p:attrNameLst>
                                          <p:attrName>style.visibility</p:attrName>
                                        </p:attrNameLst>
                                      </p:cBhvr>
                                      <p:to>
                                        <p:strVal val="visible"/>
                                      </p:to>
                                    </p:set>
                                    <p:animEffect transition="in" filter="fade">
                                      <p:cBhvr>
                                        <p:cTn id="377" dur="500"/>
                                        <p:tgtEl>
                                          <p:spTgt spid="37"/>
                                        </p:tgtEl>
                                      </p:cBhvr>
                                    </p:animEffect>
                                  </p:childTnLst>
                                </p:cTn>
                              </p:par>
                              <p:par>
                                <p:cTn id="379" presetID="10" presetClass="entr" presetSubtype="0" fill="hold" grpId="0" nodeType="withEffect">
                                  <p:stCondLst>
                                    <p:cond delay="0"/>
                                  </p:stCondLst>
                                  <p:childTnLst>
                                    <p:set>
                                      <p:cBhvr>
                                        <p:cTn id="378" dur="1" fill="hold">
                                          <p:stCondLst>
                                            <p:cond delay="0"/>
                                          </p:stCondLst>
                                        </p:cTn>
                                        <p:tgtEl>
                                          <p:spTgt spid="58"/>
                                        </p:tgtEl>
                                        <p:attrNameLst>
                                          <p:attrName>style.visibility</p:attrName>
                                        </p:attrNameLst>
                                      </p:cBhvr>
                                      <p:to>
                                        <p:strVal val="visible"/>
                                      </p:to>
                                    </p:set>
                                    <p:animEffect transition="in" filter="fade">
                                      <p:cBhvr>
                                        <p:cTn id="380" dur="500"/>
                                        <p:tgtEl>
                                          <p:spTgt spid="58"/>
                                        </p:tgtEl>
                                      </p:cBhvr>
                                    </p:animEffect>
                                  </p:childTnLst>
                                </p:cTn>
                              </p:par>
                              <p:par>
                                <p:cTn id="382" presetID="10" presetClass="entr" presetSubtype="0" fill="hold" grpId="0" nodeType="withEffect">
                                  <p:stCondLst>
                                    <p:cond delay="0"/>
                                  </p:stCondLst>
                                  <p:childTnLst>
                                    <p:set>
                                      <p:cBhvr>
                                        <p:cTn id="381" dur="1" fill="hold">
                                          <p:stCondLst>
                                            <p:cond delay="0"/>
                                          </p:stCondLst>
                                        </p:cTn>
                                        <p:tgtEl>
                                          <p:spTgt spid="87"/>
                                        </p:tgtEl>
                                        <p:attrNameLst>
                                          <p:attrName>style.visibility</p:attrName>
                                        </p:attrNameLst>
                                      </p:cBhvr>
                                      <p:to>
                                        <p:strVal val="visible"/>
                                      </p:to>
                                    </p:set>
                                    <p:animEffect transition="in" filter="fade">
                                      <p:cBhvr>
                                        <p:cTn id="383" dur="500"/>
                                        <p:tgtEl>
                                          <p:spTgt spid="87"/>
                                        </p:tgtEl>
                                      </p:cBhvr>
                                    </p:animEffect>
                                  </p:childTnLst>
                                </p:cTn>
                              </p:par>
                              <p:par>
                                <p:cTn id="385" presetID="10" presetClass="entr" presetSubtype="0" fill="hold" grpId="0" nodeType="withEffect">
                                  <p:stCondLst>
                                    <p:cond delay="0"/>
                                  </p:stCondLst>
                                  <p:childTnLst>
                                    <p:set>
                                      <p:cBhvr>
                                        <p:cTn id="384" dur="1" fill="hold">
                                          <p:stCondLst>
                                            <p:cond delay="0"/>
                                          </p:stCondLst>
                                        </p:cTn>
                                        <p:tgtEl>
                                          <p:spTgt spid="116"/>
                                        </p:tgtEl>
                                        <p:attrNameLst>
                                          <p:attrName>style.visibility</p:attrName>
                                        </p:attrNameLst>
                                      </p:cBhvr>
                                      <p:to>
                                        <p:strVal val="visible"/>
                                      </p:to>
                                    </p:set>
                                    <p:animEffect transition="in" filter="fade">
                                      <p:cBhvr>
                                        <p:cTn id="386" dur="500"/>
                                        <p:tgtEl>
                                          <p:spTgt spid="116"/>
                                        </p:tgtEl>
                                      </p:cBhvr>
                                    </p:animEffect>
                                  </p:childTnLst>
                                </p:cTn>
                              </p:par>
                              <p:par>
                                <p:cTn id="388" presetID="10" presetClass="entr" presetSubtype="0" fill="hold" grpId="0" nodeType="withEffect">
                                  <p:stCondLst>
                                    <p:cond delay="0"/>
                                  </p:stCondLst>
                                  <p:childTnLst>
                                    <p:set>
                                      <p:cBhvr>
                                        <p:cTn id="387" dur="1" fill="hold">
                                          <p:stCondLst>
                                            <p:cond delay="0"/>
                                          </p:stCondLst>
                                        </p:cTn>
                                        <p:tgtEl>
                                          <p:spTgt spid="145"/>
                                        </p:tgtEl>
                                        <p:attrNameLst>
                                          <p:attrName>style.visibility</p:attrName>
                                        </p:attrNameLst>
                                      </p:cBhvr>
                                      <p:to>
                                        <p:strVal val="visible"/>
                                      </p:to>
                                    </p:set>
                                    <p:animEffect transition="in" filter="fade">
                                      <p:cBhvr>
                                        <p:cTn id="389" dur="500"/>
                                        <p:tgtEl>
                                          <p:spTgt spid="145"/>
                                        </p:tgtEl>
                                      </p:cBhvr>
                                    </p:animEffect>
                                  </p:childTnLst>
                                </p:cTn>
                              </p:par>
                              <p:par>
                                <p:cTn id="391" presetID="10" presetClass="entr" presetSubtype="0" fill="hold" grpId="0" nodeType="withEffect">
                                  <p:stCondLst>
                                    <p:cond delay="120"/>
                                  </p:stCondLst>
                                  <p:childTnLst>
                                    <p:set>
                                      <p:cBhvr>
                                        <p:cTn id="390" dur="1" fill="hold">
                                          <p:stCondLst>
                                            <p:cond delay="0"/>
                                          </p:stCondLst>
                                        </p:cTn>
                                        <p:tgtEl>
                                          <p:spTgt spid="59"/>
                                        </p:tgtEl>
                                        <p:attrNameLst>
                                          <p:attrName>style.visibility</p:attrName>
                                        </p:attrNameLst>
                                      </p:cBhvr>
                                      <p:to>
                                        <p:strVal val="visible"/>
                                      </p:to>
                                    </p:set>
                                    <p:animEffect transition="in" filter="fade">
                                      <p:cBhvr>
                                        <p:cTn id="392" dur="500"/>
                                        <p:tgtEl>
                                          <p:spTgt spid="59"/>
                                        </p:tgtEl>
                                      </p:cBhvr>
                                    </p:animEffect>
                                  </p:childTnLst>
                                </p:cTn>
                              </p:par>
                              <p:par>
                                <p:cTn id="394" presetID="10" presetClass="entr" presetSubtype="0" fill="hold" grpId="0" nodeType="withEffect">
                                  <p:stCondLst>
                                    <p:cond delay="120"/>
                                  </p:stCondLst>
                                  <p:childTnLst>
                                    <p:set>
                                      <p:cBhvr>
                                        <p:cTn id="393" dur="1" fill="hold">
                                          <p:stCondLst>
                                            <p:cond delay="0"/>
                                          </p:stCondLst>
                                        </p:cTn>
                                        <p:tgtEl>
                                          <p:spTgt spid="60"/>
                                        </p:tgtEl>
                                        <p:attrNameLst>
                                          <p:attrName>style.visibility</p:attrName>
                                        </p:attrNameLst>
                                      </p:cBhvr>
                                      <p:to>
                                        <p:strVal val="visible"/>
                                      </p:to>
                                    </p:set>
                                    <p:animEffect transition="in" filter="fade">
                                      <p:cBhvr>
                                        <p:cTn id="395" dur="500"/>
                                        <p:tgtEl>
                                          <p:spTgt spid="60"/>
                                        </p:tgtEl>
                                      </p:cBhvr>
                                    </p:animEffect>
                                  </p:childTnLst>
                                </p:cTn>
                              </p:par>
                              <p:par>
                                <p:cTn id="397" presetID="10" presetClass="entr" presetSubtype="0" fill="hold" grpId="0" nodeType="withEffect">
                                  <p:stCondLst>
                                    <p:cond delay="120"/>
                                  </p:stCondLst>
                                  <p:childTnLst>
                                    <p:set>
                                      <p:cBhvr>
                                        <p:cTn id="396" dur="1" fill="hold">
                                          <p:stCondLst>
                                            <p:cond delay="0"/>
                                          </p:stCondLst>
                                        </p:cTn>
                                        <p:tgtEl>
                                          <p:spTgt spid="61"/>
                                        </p:tgtEl>
                                        <p:attrNameLst>
                                          <p:attrName>style.visibility</p:attrName>
                                        </p:attrNameLst>
                                      </p:cBhvr>
                                      <p:to>
                                        <p:strVal val="visible"/>
                                      </p:to>
                                    </p:set>
                                    <p:animEffect transition="in" filter="fade">
                                      <p:cBhvr>
                                        <p:cTn id="398" dur="500"/>
                                        <p:tgtEl>
                                          <p:spTgt spid="61"/>
                                        </p:tgtEl>
                                      </p:cBhvr>
                                    </p:animEffect>
                                  </p:childTnLst>
                                </p:cTn>
                              </p:par>
                              <p:par>
                                <p:cTn id="400" presetID="10" presetClass="entr" presetSubtype="0" fill="hold" grpId="0" nodeType="withEffect">
                                  <p:stCondLst>
                                    <p:cond delay="120"/>
                                  </p:stCondLst>
                                  <p:childTnLst>
                                    <p:set>
                                      <p:cBhvr>
                                        <p:cTn id="399" dur="1" fill="hold">
                                          <p:stCondLst>
                                            <p:cond delay="0"/>
                                          </p:stCondLst>
                                        </p:cTn>
                                        <p:tgtEl>
                                          <p:spTgt spid="62"/>
                                        </p:tgtEl>
                                        <p:attrNameLst>
                                          <p:attrName>style.visibility</p:attrName>
                                        </p:attrNameLst>
                                      </p:cBhvr>
                                      <p:to>
                                        <p:strVal val="visible"/>
                                      </p:to>
                                    </p:set>
                                    <p:animEffect transition="in" filter="fade">
                                      <p:cBhvr>
                                        <p:cTn id="401" dur="500"/>
                                        <p:tgtEl>
                                          <p:spTgt spid="62"/>
                                        </p:tgtEl>
                                      </p:cBhvr>
                                    </p:animEffect>
                                  </p:childTnLst>
                                </p:cTn>
                              </p:par>
                              <p:par>
                                <p:cTn id="403" presetID="10" presetClass="entr" presetSubtype="0" fill="hold" grpId="0" nodeType="withEffect">
                                  <p:stCondLst>
                                    <p:cond delay="120"/>
                                  </p:stCondLst>
                                  <p:childTnLst>
                                    <p:set>
                                      <p:cBhvr>
                                        <p:cTn id="402" dur="1" fill="hold">
                                          <p:stCondLst>
                                            <p:cond delay="0"/>
                                          </p:stCondLst>
                                        </p:cTn>
                                        <p:tgtEl>
                                          <p:spTgt spid="63"/>
                                        </p:tgtEl>
                                        <p:attrNameLst>
                                          <p:attrName>style.visibility</p:attrName>
                                        </p:attrNameLst>
                                      </p:cBhvr>
                                      <p:to>
                                        <p:strVal val="visible"/>
                                      </p:to>
                                    </p:set>
                                    <p:animEffect transition="in" filter="fade">
                                      <p:cBhvr>
                                        <p:cTn id="404" dur="500"/>
                                        <p:tgtEl>
                                          <p:spTgt spid="63"/>
                                        </p:tgtEl>
                                      </p:cBhvr>
                                    </p:animEffect>
                                  </p:childTnLst>
                                </p:cTn>
                              </p:par>
                              <p:par>
                                <p:cTn id="406" presetID="10" presetClass="entr" presetSubtype="0" fill="hold" grpId="0" nodeType="withEffect">
                                  <p:stCondLst>
                                    <p:cond delay="120"/>
                                  </p:stCondLst>
                                  <p:childTnLst>
                                    <p:set>
                                      <p:cBhvr>
                                        <p:cTn id="405" dur="1" fill="hold">
                                          <p:stCondLst>
                                            <p:cond delay="0"/>
                                          </p:stCondLst>
                                        </p:cTn>
                                        <p:tgtEl>
                                          <p:spTgt spid="64"/>
                                        </p:tgtEl>
                                        <p:attrNameLst>
                                          <p:attrName>style.visibility</p:attrName>
                                        </p:attrNameLst>
                                      </p:cBhvr>
                                      <p:to>
                                        <p:strVal val="visible"/>
                                      </p:to>
                                    </p:set>
                                    <p:animEffect transition="in" filter="fade">
                                      <p:cBhvr>
                                        <p:cTn id="407" dur="500"/>
                                        <p:tgtEl>
                                          <p:spTgt spid="64"/>
                                        </p:tgtEl>
                                      </p:cBhvr>
                                    </p:animEffect>
                                  </p:childTnLst>
                                </p:cTn>
                              </p:par>
                              <p:par>
                                <p:cTn id="409" presetID="10" presetClass="entr" presetSubtype="0" fill="hold" grpId="0" nodeType="withEffect">
                                  <p:stCondLst>
                                    <p:cond delay="120"/>
                                  </p:stCondLst>
                                  <p:childTnLst>
                                    <p:set>
                                      <p:cBhvr>
                                        <p:cTn id="408" dur="1" fill="hold">
                                          <p:stCondLst>
                                            <p:cond delay="0"/>
                                          </p:stCondLst>
                                        </p:cTn>
                                        <p:tgtEl>
                                          <p:spTgt spid="65"/>
                                        </p:tgtEl>
                                        <p:attrNameLst>
                                          <p:attrName>style.visibility</p:attrName>
                                        </p:attrNameLst>
                                      </p:cBhvr>
                                      <p:to>
                                        <p:strVal val="visible"/>
                                      </p:to>
                                    </p:set>
                                    <p:animEffect transition="in" filter="fade">
                                      <p:cBhvr>
                                        <p:cTn id="410" dur="500"/>
                                        <p:tgtEl>
                                          <p:spTgt spid="65"/>
                                        </p:tgtEl>
                                      </p:cBhvr>
                                    </p:animEffect>
                                  </p:childTnLst>
                                </p:cTn>
                              </p:par>
                              <p:par>
                                <p:cTn id="412" presetID="10" presetClass="entr" presetSubtype="0" fill="hold" grpId="0" nodeType="withEffect">
                                  <p:stCondLst>
                                    <p:cond delay="120"/>
                                  </p:stCondLst>
                                  <p:childTnLst>
                                    <p:set>
                                      <p:cBhvr>
                                        <p:cTn id="411" dur="1" fill="hold">
                                          <p:stCondLst>
                                            <p:cond delay="0"/>
                                          </p:stCondLst>
                                        </p:cTn>
                                        <p:tgtEl>
                                          <p:spTgt spid="66"/>
                                        </p:tgtEl>
                                        <p:attrNameLst>
                                          <p:attrName>style.visibility</p:attrName>
                                        </p:attrNameLst>
                                      </p:cBhvr>
                                      <p:to>
                                        <p:strVal val="visible"/>
                                      </p:to>
                                    </p:set>
                                    <p:animEffect transition="in" filter="fade">
                                      <p:cBhvr>
                                        <p:cTn id="413" dur="500"/>
                                        <p:tgtEl>
                                          <p:spTgt spid="66"/>
                                        </p:tgtEl>
                                      </p:cBhvr>
                                    </p:animEffect>
                                  </p:childTnLst>
                                </p:cTn>
                              </p:par>
                              <p:par>
                                <p:cTn id="415" presetID="10" presetClass="entr" presetSubtype="0" fill="hold" grpId="0" nodeType="withEffect">
                                  <p:stCondLst>
                                    <p:cond delay="240"/>
                                  </p:stCondLst>
                                  <p:childTnLst>
                                    <p:set>
                                      <p:cBhvr>
                                        <p:cTn id="414" dur="1" fill="hold">
                                          <p:stCondLst>
                                            <p:cond delay="0"/>
                                          </p:stCondLst>
                                        </p:cTn>
                                        <p:tgtEl>
                                          <p:spTgt spid="88"/>
                                        </p:tgtEl>
                                        <p:attrNameLst>
                                          <p:attrName>style.visibility</p:attrName>
                                        </p:attrNameLst>
                                      </p:cBhvr>
                                      <p:to>
                                        <p:strVal val="visible"/>
                                      </p:to>
                                    </p:set>
                                    <p:animEffect transition="in" filter="fade">
                                      <p:cBhvr>
                                        <p:cTn id="416" dur="500"/>
                                        <p:tgtEl>
                                          <p:spTgt spid="88"/>
                                        </p:tgtEl>
                                      </p:cBhvr>
                                    </p:animEffect>
                                  </p:childTnLst>
                                </p:cTn>
                              </p:par>
                              <p:par>
                                <p:cTn id="418" presetID="10" presetClass="entr" presetSubtype="0" fill="hold" grpId="0" nodeType="withEffect">
                                  <p:stCondLst>
                                    <p:cond delay="240"/>
                                  </p:stCondLst>
                                  <p:childTnLst>
                                    <p:set>
                                      <p:cBhvr>
                                        <p:cTn id="417" dur="1" fill="hold">
                                          <p:stCondLst>
                                            <p:cond delay="0"/>
                                          </p:stCondLst>
                                        </p:cTn>
                                        <p:tgtEl>
                                          <p:spTgt spid="89"/>
                                        </p:tgtEl>
                                        <p:attrNameLst>
                                          <p:attrName>style.visibility</p:attrName>
                                        </p:attrNameLst>
                                      </p:cBhvr>
                                      <p:to>
                                        <p:strVal val="visible"/>
                                      </p:to>
                                    </p:set>
                                    <p:animEffect transition="in" filter="fade">
                                      <p:cBhvr>
                                        <p:cTn id="419" dur="500"/>
                                        <p:tgtEl>
                                          <p:spTgt spid="89"/>
                                        </p:tgtEl>
                                      </p:cBhvr>
                                    </p:animEffect>
                                  </p:childTnLst>
                                </p:cTn>
                              </p:par>
                              <p:par>
                                <p:cTn id="421" presetID="10" presetClass="entr" presetSubtype="0" fill="hold" grpId="0" nodeType="withEffect">
                                  <p:stCondLst>
                                    <p:cond delay="240"/>
                                  </p:stCondLst>
                                  <p:childTnLst>
                                    <p:set>
                                      <p:cBhvr>
                                        <p:cTn id="420" dur="1" fill="hold">
                                          <p:stCondLst>
                                            <p:cond delay="0"/>
                                          </p:stCondLst>
                                        </p:cTn>
                                        <p:tgtEl>
                                          <p:spTgt spid="90"/>
                                        </p:tgtEl>
                                        <p:attrNameLst>
                                          <p:attrName>style.visibility</p:attrName>
                                        </p:attrNameLst>
                                      </p:cBhvr>
                                      <p:to>
                                        <p:strVal val="visible"/>
                                      </p:to>
                                    </p:set>
                                    <p:animEffect transition="in" filter="fade">
                                      <p:cBhvr>
                                        <p:cTn id="422" dur="500"/>
                                        <p:tgtEl>
                                          <p:spTgt spid="90"/>
                                        </p:tgtEl>
                                      </p:cBhvr>
                                    </p:animEffect>
                                  </p:childTnLst>
                                </p:cTn>
                              </p:par>
                              <p:par>
                                <p:cTn id="424" presetID="10" presetClass="entr" presetSubtype="0" fill="hold" grpId="0" nodeType="withEffect">
                                  <p:stCondLst>
                                    <p:cond delay="240"/>
                                  </p:stCondLst>
                                  <p:childTnLst>
                                    <p:set>
                                      <p:cBhvr>
                                        <p:cTn id="423" dur="1" fill="hold">
                                          <p:stCondLst>
                                            <p:cond delay="0"/>
                                          </p:stCondLst>
                                        </p:cTn>
                                        <p:tgtEl>
                                          <p:spTgt spid="91"/>
                                        </p:tgtEl>
                                        <p:attrNameLst>
                                          <p:attrName>style.visibility</p:attrName>
                                        </p:attrNameLst>
                                      </p:cBhvr>
                                      <p:to>
                                        <p:strVal val="visible"/>
                                      </p:to>
                                    </p:set>
                                    <p:animEffect transition="in" filter="fade">
                                      <p:cBhvr>
                                        <p:cTn id="425" dur="500"/>
                                        <p:tgtEl>
                                          <p:spTgt spid="91"/>
                                        </p:tgtEl>
                                      </p:cBhvr>
                                    </p:animEffect>
                                  </p:childTnLst>
                                </p:cTn>
                              </p:par>
                              <p:par>
                                <p:cTn id="427" presetID="10" presetClass="entr" presetSubtype="0" fill="hold" grpId="0" nodeType="withEffect">
                                  <p:stCondLst>
                                    <p:cond delay="240"/>
                                  </p:stCondLst>
                                  <p:childTnLst>
                                    <p:set>
                                      <p:cBhvr>
                                        <p:cTn id="426" dur="1" fill="hold">
                                          <p:stCondLst>
                                            <p:cond delay="0"/>
                                          </p:stCondLst>
                                        </p:cTn>
                                        <p:tgtEl>
                                          <p:spTgt spid="92"/>
                                        </p:tgtEl>
                                        <p:attrNameLst>
                                          <p:attrName>style.visibility</p:attrName>
                                        </p:attrNameLst>
                                      </p:cBhvr>
                                      <p:to>
                                        <p:strVal val="visible"/>
                                      </p:to>
                                    </p:set>
                                    <p:animEffect transition="in" filter="fade">
                                      <p:cBhvr>
                                        <p:cTn id="428" dur="500"/>
                                        <p:tgtEl>
                                          <p:spTgt spid="92"/>
                                        </p:tgtEl>
                                      </p:cBhvr>
                                    </p:animEffect>
                                  </p:childTnLst>
                                </p:cTn>
                              </p:par>
                              <p:par>
                                <p:cTn id="430" presetID="10" presetClass="entr" presetSubtype="0" fill="hold" grpId="0" nodeType="withEffect">
                                  <p:stCondLst>
                                    <p:cond delay="240"/>
                                  </p:stCondLst>
                                  <p:childTnLst>
                                    <p:set>
                                      <p:cBhvr>
                                        <p:cTn id="429" dur="1" fill="hold">
                                          <p:stCondLst>
                                            <p:cond delay="0"/>
                                          </p:stCondLst>
                                        </p:cTn>
                                        <p:tgtEl>
                                          <p:spTgt spid="93"/>
                                        </p:tgtEl>
                                        <p:attrNameLst>
                                          <p:attrName>style.visibility</p:attrName>
                                        </p:attrNameLst>
                                      </p:cBhvr>
                                      <p:to>
                                        <p:strVal val="visible"/>
                                      </p:to>
                                    </p:set>
                                    <p:animEffect transition="in" filter="fade">
                                      <p:cBhvr>
                                        <p:cTn id="431" dur="500"/>
                                        <p:tgtEl>
                                          <p:spTgt spid="93"/>
                                        </p:tgtEl>
                                      </p:cBhvr>
                                    </p:animEffect>
                                  </p:childTnLst>
                                </p:cTn>
                              </p:par>
                              <p:par>
                                <p:cTn id="433" presetID="10" presetClass="entr" presetSubtype="0" fill="hold" grpId="0" nodeType="withEffect">
                                  <p:stCondLst>
                                    <p:cond delay="240"/>
                                  </p:stCondLst>
                                  <p:childTnLst>
                                    <p:set>
                                      <p:cBhvr>
                                        <p:cTn id="432" dur="1" fill="hold">
                                          <p:stCondLst>
                                            <p:cond delay="0"/>
                                          </p:stCondLst>
                                        </p:cTn>
                                        <p:tgtEl>
                                          <p:spTgt spid="94"/>
                                        </p:tgtEl>
                                        <p:attrNameLst>
                                          <p:attrName>style.visibility</p:attrName>
                                        </p:attrNameLst>
                                      </p:cBhvr>
                                      <p:to>
                                        <p:strVal val="visible"/>
                                      </p:to>
                                    </p:set>
                                    <p:animEffect transition="in" filter="fade">
                                      <p:cBhvr>
                                        <p:cTn id="434" dur="500"/>
                                        <p:tgtEl>
                                          <p:spTgt spid="94"/>
                                        </p:tgtEl>
                                      </p:cBhvr>
                                    </p:animEffect>
                                  </p:childTnLst>
                                </p:cTn>
                              </p:par>
                              <p:par>
                                <p:cTn id="436" presetID="10" presetClass="entr" presetSubtype="0" fill="hold" grpId="0" nodeType="withEffect">
                                  <p:stCondLst>
                                    <p:cond delay="240"/>
                                  </p:stCondLst>
                                  <p:childTnLst>
                                    <p:set>
                                      <p:cBhvr>
                                        <p:cTn id="435" dur="1" fill="hold">
                                          <p:stCondLst>
                                            <p:cond delay="0"/>
                                          </p:stCondLst>
                                        </p:cTn>
                                        <p:tgtEl>
                                          <p:spTgt spid="95"/>
                                        </p:tgtEl>
                                        <p:attrNameLst>
                                          <p:attrName>style.visibility</p:attrName>
                                        </p:attrNameLst>
                                      </p:cBhvr>
                                      <p:to>
                                        <p:strVal val="visible"/>
                                      </p:to>
                                    </p:set>
                                    <p:animEffect transition="in" filter="fade">
                                      <p:cBhvr>
                                        <p:cTn id="437" dur="500"/>
                                        <p:tgtEl>
                                          <p:spTgt spid="95"/>
                                        </p:tgtEl>
                                      </p:cBhvr>
                                    </p:animEffect>
                                  </p:childTnLst>
                                </p:cTn>
                              </p:par>
                              <p:par>
                                <p:cTn id="439" presetID="10" presetClass="entr" presetSubtype="0" fill="hold" grpId="0" nodeType="withEffect">
                                  <p:stCondLst>
                                    <p:cond delay="360"/>
                                  </p:stCondLst>
                                  <p:childTnLst>
                                    <p:set>
                                      <p:cBhvr>
                                        <p:cTn id="438" dur="1" fill="hold">
                                          <p:stCondLst>
                                            <p:cond delay="0"/>
                                          </p:stCondLst>
                                        </p:cTn>
                                        <p:tgtEl>
                                          <p:spTgt spid="117"/>
                                        </p:tgtEl>
                                        <p:attrNameLst>
                                          <p:attrName>style.visibility</p:attrName>
                                        </p:attrNameLst>
                                      </p:cBhvr>
                                      <p:to>
                                        <p:strVal val="visible"/>
                                      </p:to>
                                    </p:set>
                                    <p:animEffect transition="in" filter="fade">
                                      <p:cBhvr>
                                        <p:cTn id="440" dur="500"/>
                                        <p:tgtEl>
                                          <p:spTgt spid="117"/>
                                        </p:tgtEl>
                                      </p:cBhvr>
                                    </p:animEffect>
                                  </p:childTnLst>
                                </p:cTn>
                              </p:par>
                              <p:par>
                                <p:cTn id="442" presetID="10" presetClass="entr" presetSubtype="0" fill="hold" grpId="0" nodeType="withEffect">
                                  <p:stCondLst>
                                    <p:cond delay="360"/>
                                  </p:stCondLst>
                                  <p:childTnLst>
                                    <p:set>
                                      <p:cBhvr>
                                        <p:cTn id="441" dur="1" fill="hold">
                                          <p:stCondLst>
                                            <p:cond delay="0"/>
                                          </p:stCondLst>
                                        </p:cTn>
                                        <p:tgtEl>
                                          <p:spTgt spid="118"/>
                                        </p:tgtEl>
                                        <p:attrNameLst>
                                          <p:attrName>style.visibility</p:attrName>
                                        </p:attrNameLst>
                                      </p:cBhvr>
                                      <p:to>
                                        <p:strVal val="visible"/>
                                      </p:to>
                                    </p:set>
                                    <p:animEffect transition="in" filter="fade">
                                      <p:cBhvr>
                                        <p:cTn id="443" dur="500"/>
                                        <p:tgtEl>
                                          <p:spTgt spid="118"/>
                                        </p:tgtEl>
                                      </p:cBhvr>
                                    </p:animEffect>
                                  </p:childTnLst>
                                </p:cTn>
                              </p:par>
                              <p:par>
                                <p:cTn id="445" presetID="10" presetClass="entr" presetSubtype="0" fill="hold" grpId="0" nodeType="withEffect">
                                  <p:stCondLst>
                                    <p:cond delay="360"/>
                                  </p:stCondLst>
                                  <p:childTnLst>
                                    <p:set>
                                      <p:cBhvr>
                                        <p:cTn id="444" dur="1" fill="hold">
                                          <p:stCondLst>
                                            <p:cond delay="0"/>
                                          </p:stCondLst>
                                        </p:cTn>
                                        <p:tgtEl>
                                          <p:spTgt spid="119"/>
                                        </p:tgtEl>
                                        <p:attrNameLst>
                                          <p:attrName>style.visibility</p:attrName>
                                        </p:attrNameLst>
                                      </p:cBhvr>
                                      <p:to>
                                        <p:strVal val="visible"/>
                                      </p:to>
                                    </p:set>
                                    <p:animEffect transition="in" filter="fade">
                                      <p:cBhvr>
                                        <p:cTn id="446" dur="500"/>
                                        <p:tgtEl>
                                          <p:spTgt spid="119"/>
                                        </p:tgtEl>
                                      </p:cBhvr>
                                    </p:animEffect>
                                  </p:childTnLst>
                                </p:cTn>
                              </p:par>
                              <p:par>
                                <p:cTn id="448" presetID="10" presetClass="entr" presetSubtype="0" fill="hold" grpId="0" nodeType="withEffect">
                                  <p:stCondLst>
                                    <p:cond delay="360"/>
                                  </p:stCondLst>
                                  <p:childTnLst>
                                    <p:set>
                                      <p:cBhvr>
                                        <p:cTn id="447" dur="1" fill="hold">
                                          <p:stCondLst>
                                            <p:cond delay="0"/>
                                          </p:stCondLst>
                                        </p:cTn>
                                        <p:tgtEl>
                                          <p:spTgt spid="120"/>
                                        </p:tgtEl>
                                        <p:attrNameLst>
                                          <p:attrName>style.visibility</p:attrName>
                                        </p:attrNameLst>
                                      </p:cBhvr>
                                      <p:to>
                                        <p:strVal val="visible"/>
                                      </p:to>
                                    </p:set>
                                    <p:animEffect transition="in" filter="fade">
                                      <p:cBhvr>
                                        <p:cTn id="449" dur="500"/>
                                        <p:tgtEl>
                                          <p:spTgt spid="120"/>
                                        </p:tgtEl>
                                      </p:cBhvr>
                                    </p:animEffect>
                                  </p:childTnLst>
                                </p:cTn>
                              </p:par>
                              <p:par>
                                <p:cTn id="451" presetID="10" presetClass="entr" presetSubtype="0" fill="hold" grpId="0" nodeType="withEffect">
                                  <p:stCondLst>
                                    <p:cond delay="360"/>
                                  </p:stCondLst>
                                  <p:childTnLst>
                                    <p:set>
                                      <p:cBhvr>
                                        <p:cTn id="450" dur="1" fill="hold">
                                          <p:stCondLst>
                                            <p:cond delay="0"/>
                                          </p:stCondLst>
                                        </p:cTn>
                                        <p:tgtEl>
                                          <p:spTgt spid="121"/>
                                        </p:tgtEl>
                                        <p:attrNameLst>
                                          <p:attrName>style.visibility</p:attrName>
                                        </p:attrNameLst>
                                      </p:cBhvr>
                                      <p:to>
                                        <p:strVal val="visible"/>
                                      </p:to>
                                    </p:set>
                                    <p:animEffect transition="in" filter="fade">
                                      <p:cBhvr>
                                        <p:cTn id="452" dur="500"/>
                                        <p:tgtEl>
                                          <p:spTgt spid="121"/>
                                        </p:tgtEl>
                                      </p:cBhvr>
                                    </p:animEffect>
                                  </p:childTnLst>
                                </p:cTn>
                              </p:par>
                              <p:par>
                                <p:cTn id="454" presetID="10" presetClass="entr" presetSubtype="0" fill="hold" grpId="0" nodeType="withEffect">
                                  <p:stCondLst>
                                    <p:cond delay="360"/>
                                  </p:stCondLst>
                                  <p:childTnLst>
                                    <p:set>
                                      <p:cBhvr>
                                        <p:cTn id="453" dur="1" fill="hold">
                                          <p:stCondLst>
                                            <p:cond delay="0"/>
                                          </p:stCondLst>
                                        </p:cTn>
                                        <p:tgtEl>
                                          <p:spTgt spid="122"/>
                                        </p:tgtEl>
                                        <p:attrNameLst>
                                          <p:attrName>style.visibility</p:attrName>
                                        </p:attrNameLst>
                                      </p:cBhvr>
                                      <p:to>
                                        <p:strVal val="visible"/>
                                      </p:to>
                                    </p:set>
                                    <p:animEffect transition="in" filter="fade">
                                      <p:cBhvr>
                                        <p:cTn id="455" dur="500"/>
                                        <p:tgtEl>
                                          <p:spTgt spid="122"/>
                                        </p:tgtEl>
                                      </p:cBhvr>
                                    </p:animEffect>
                                  </p:childTnLst>
                                </p:cTn>
                              </p:par>
                              <p:par>
                                <p:cTn id="457" presetID="10" presetClass="entr" presetSubtype="0" fill="hold" grpId="0" nodeType="withEffect">
                                  <p:stCondLst>
                                    <p:cond delay="360"/>
                                  </p:stCondLst>
                                  <p:childTnLst>
                                    <p:set>
                                      <p:cBhvr>
                                        <p:cTn id="456" dur="1" fill="hold">
                                          <p:stCondLst>
                                            <p:cond delay="0"/>
                                          </p:stCondLst>
                                        </p:cTn>
                                        <p:tgtEl>
                                          <p:spTgt spid="123"/>
                                        </p:tgtEl>
                                        <p:attrNameLst>
                                          <p:attrName>style.visibility</p:attrName>
                                        </p:attrNameLst>
                                      </p:cBhvr>
                                      <p:to>
                                        <p:strVal val="visible"/>
                                      </p:to>
                                    </p:set>
                                    <p:animEffect transition="in" filter="fade">
                                      <p:cBhvr>
                                        <p:cTn id="458" dur="500"/>
                                        <p:tgtEl>
                                          <p:spTgt spid="123"/>
                                        </p:tgtEl>
                                      </p:cBhvr>
                                    </p:animEffect>
                                  </p:childTnLst>
                                </p:cTn>
                              </p:par>
                              <p:par>
                                <p:cTn id="460" presetID="10" presetClass="entr" presetSubtype="0" fill="hold" grpId="0" nodeType="withEffect">
                                  <p:stCondLst>
                                    <p:cond delay="360"/>
                                  </p:stCondLst>
                                  <p:childTnLst>
                                    <p:set>
                                      <p:cBhvr>
                                        <p:cTn id="459" dur="1" fill="hold">
                                          <p:stCondLst>
                                            <p:cond delay="0"/>
                                          </p:stCondLst>
                                        </p:cTn>
                                        <p:tgtEl>
                                          <p:spTgt spid="124"/>
                                        </p:tgtEl>
                                        <p:attrNameLst>
                                          <p:attrName>style.visibility</p:attrName>
                                        </p:attrNameLst>
                                      </p:cBhvr>
                                      <p:to>
                                        <p:strVal val="visible"/>
                                      </p:to>
                                    </p:set>
                                    <p:animEffect transition="in" filter="fade">
                                      <p:cBhvr>
                                        <p:cTn id="461" dur="500"/>
                                        <p:tgtEl>
                                          <p:spTgt spid="124"/>
                                        </p:tgtEl>
                                      </p:cBhvr>
                                    </p:animEffect>
                                  </p:childTnLst>
                                </p:cTn>
                              </p:par>
                              <p:par>
                                <p:cTn id="463" presetID="10" presetClass="entr" presetSubtype="0" fill="hold" grpId="0" nodeType="withEffect">
                                  <p:stCondLst>
                                    <p:cond delay="480"/>
                                  </p:stCondLst>
                                  <p:childTnLst>
                                    <p:set>
                                      <p:cBhvr>
                                        <p:cTn id="462" dur="1" fill="hold">
                                          <p:stCondLst>
                                            <p:cond delay="0"/>
                                          </p:stCondLst>
                                        </p:cTn>
                                        <p:tgtEl>
                                          <p:spTgt spid="146"/>
                                        </p:tgtEl>
                                        <p:attrNameLst>
                                          <p:attrName>style.visibility</p:attrName>
                                        </p:attrNameLst>
                                      </p:cBhvr>
                                      <p:to>
                                        <p:strVal val="visible"/>
                                      </p:to>
                                    </p:set>
                                    <p:animEffect transition="in" filter="fade">
                                      <p:cBhvr>
                                        <p:cTn id="464" dur="500"/>
                                        <p:tgtEl>
                                          <p:spTgt spid="146"/>
                                        </p:tgtEl>
                                      </p:cBhvr>
                                    </p:animEffect>
                                  </p:childTnLst>
                                </p:cTn>
                              </p:par>
                              <p:par>
                                <p:cTn id="466" presetID="10" presetClass="entr" presetSubtype="0" fill="hold" grpId="0" nodeType="withEffect">
                                  <p:stCondLst>
                                    <p:cond delay="480"/>
                                  </p:stCondLst>
                                  <p:childTnLst>
                                    <p:set>
                                      <p:cBhvr>
                                        <p:cTn id="465" dur="1" fill="hold">
                                          <p:stCondLst>
                                            <p:cond delay="0"/>
                                          </p:stCondLst>
                                        </p:cTn>
                                        <p:tgtEl>
                                          <p:spTgt spid="147"/>
                                        </p:tgtEl>
                                        <p:attrNameLst>
                                          <p:attrName>style.visibility</p:attrName>
                                        </p:attrNameLst>
                                      </p:cBhvr>
                                      <p:to>
                                        <p:strVal val="visible"/>
                                      </p:to>
                                    </p:set>
                                    <p:animEffect transition="in" filter="fade">
                                      <p:cBhvr>
                                        <p:cTn id="467" dur="500"/>
                                        <p:tgtEl>
                                          <p:spTgt spid="147"/>
                                        </p:tgtEl>
                                      </p:cBhvr>
                                    </p:animEffect>
                                  </p:childTnLst>
                                </p:cTn>
                              </p:par>
                              <p:par>
                                <p:cTn id="469" presetID="10" presetClass="entr" presetSubtype="0" fill="hold" grpId="0" nodeType="withEffect">
                                  <p:stCondLst>
                                    <p:cond delay="480"/>
                                  </p:stCondLst>
                                  <p:childTnLst>
                                    <p:set>
                                      <p:cBhvr>
                                        <p:cTn id="468" dur="1" fill="hold">
                                          <p:stCondLst>
                                            <p:cond delay="0"/>
                                          </p:stCondLst>
                                        </p:cTn>
                                        <p:tgtEl>
                                          <p:spTgt spid="148"/>
                                        </p:tgtEl>
                                        <p:attrNameLst>
                                          <p:attrName>style.visibility</p:attrName>
                                        </p:attrNameLst>
                                      </p:cBhvr>
                                      <p:to>
                                        <p:strVal val="visible"/>
                                      </p:to>
                                    </p:set>
                                    <p:animEffect transition="in" filter="fade">
                                      <p:cBhvr>
                                        <p:cTn id="470" dur="500"/>
                                        <p:tgtEl>
                                          <p:spTgt spid="148"/>
                                        </p:tgtEl>
                                      </p:cBhvr>
                                    </p:animEffect>
                                  </p:childTnLst>
                                </p:cTn>
                              </p:par>
                              <p:par>
                                <p:cTn id="472" presetID="10" presetClass="entr" presetSubtype="0" fill="hold" grpId="0" nodeType="withEffect">
                                  <p:stCondLst>
                                    <p:cond delay="480"/>
                                  </p:stCondLst>
                                  <p:childTnLst>
                                    <p:set>
                                      <p:cBhvr>
                                        <p:cTn id="471" dur="1" fill="hold">
                                          <p:stCondLst>
                                            <p:cond delay="0"/>
                                          </p:stCondLst>
                                        </p:cTn>
                                        <p:tgtEl>
                                          <p:spTgt spid="149"/>
                                        </p:tgtEl>
                                        <p:attrNameLst>
                                          <p:attrName>style.visibility</p:attrName>
                                        </p:attrNameLst>
                                      </p:cBhvr>
                                      <p:to>
                                        <p:strVal val="visible"/>
                                      </p:to>
                                    </p:set>
                                    <p:animEffect transition="in" filter="fade">
                                      <p:cBhvr>
                                        <p:cTn id="473" dur="500"/>
                                        <p:tgtEl>
                                          <p:spTgt spid="149"/>
                                        </p:tgtEl>
                                      </p:cBhvr>
                                    </p:animEffect>
                                  </p:childTnLst>
                                </p:cTn>
                              </p:par>
                              <p:par>
                                <p:cTn id="475" presetID="10" presetClass="entr" presetSubtype="0" fill="hold" grpId="0" nodeType="withEffect">
                                  <p:stCondLst>
                                    <p:cond delay="480"/>
                                  </p:stCondLst>
                                  <p:childTnLst>
                                    <p:set>
                                      <p:cBhvr>
                                        <p:cTn id="474" dur="1" fill="hold">
                                          <p:stCondLst>
                                            <p:cond delay="0"/>
                                          </p:stCondLst>
                                        </p:cTn>
                                        <p:tgtEl>
                                          <p:spTgt spid="150"/>
                                        </p:tgtEl>
                                        <p:attrNameLst>
                                          <p:attrName>style.visibility</p:attrName>
                                        </p:attrNameLst>
                                      </p:cBhvr>
                                      <p:to>
                                        <p:strVal val="visible"/>
                                      </p:to>
                                    </p:set>
                                    <p:animEffect transition="in" filter="fade">
                                      <p:cBhvr>
                                        <p:cTn id="476" dur="500"/>
                                        <p:tgtEl>
                                          <p:spTgt spid="150"/>
                                        </p:tgtEl>
                                      </p:cBhvr>
                                    </p:animEffect>
                                  </p:childTnLst>
                                </p:cTn>
                              </p:par>
                              <p:par>
                                <p:cTn id="478" presetID="10" presetClass="entr" presetSubtype="0" fill="hold" grpId="0" nodeType="withEffect">
                                  <p:stCondLst>
                                    <p:cond delay="480"/>
                                  </p:stCondLst>
                                  <p:childTnLst>
                                    <p:set>
                                      <p:cBhvr>
                                        <p:cTn id="477" dur="1" fill="hold">
                                          <p:stCondLst>
                                            <p:cond delay="0"/>
                                          </p:stCondLst>
                                        </p:cTn>
                                        <p:tgtEl>
                                          <p:spTgt spid="151"/>
                                        </p:tgtEl>
                                        <p:attrNameLst>
                                          <p:attrName>style.visibility</p:attrName>
                                        </p:attrNameLst>
                                      </p:cBhvr>
                                      <p:to>
                                        <p:strVal val="visible"/>
                                      </p:to>
                                    </p:set>
                                    <p:animEffect transition="in" filter="fade">
                                      <p:cBhvr>
                                        <p:cTn id="479" dur="500"/>
                                        <p:tgtEl>
                                          <p:spTgt spid="151"/>
                                        </p:tgtEl>
                                      </p:cBhvr>
                                    </p:animEffect>
                                  </p:childTnLst>
                                </p:cTn>
                              </p:par>
                              <p:par>
                                <p:cTn id="481" presetID="10" presetClass="entr" presetSubtype="0" fill="hold" grpId="0" nodeType="withEffect">
                                  <p:stCondLst>
                                    <p:cond delay="480"/>
                                  </p:stCondLst>
                                  <p:childTnLst>
                                    <p:set>
                                      <p:cBhvr>
                                        <p:cTn id="480" dur="1" fill="hold">
                                          <p:stCondLst>
                                            <p:cond delay="0"/>
                                          </p:stCondLst>
                                        </p:cTn>
                                        <p:tgtEl>
                                          <p:spTgt spid="152"/>
                                        </p:tgtEl>
                                        <p:attrNameLst>
                                          <p:attrName>style.visibility</p:attrName>
                                        </p:attrNameLst>
                                      </p:cBhvr>
                                      <p:to>
                                        <p:strVal val="visible"/>
                                      </p:to>
                                    </p:set>
                                    <p:animEffect transition="in" filter="fade">
                                      <p:cBhvr>
                                        <p:cTn id="482" dur="500"/>
                                        <p:tgtEl>
                                          <p:spTgt spid="152"/>
                                        </p:tgtEl>
                                      </p:cBhvr>
                                    </p:animEffect>
                                  </p:childTnLst>
                                </p:cTn>
                              </p:par>
                              <p:par>
                                <p:cTn id="484" presetID="10" presetClass="entr" presetSubtype="0" fill="hold" grpId="0" nodeType="withEffect">
                                  <p:stCondLst>
                                    <p:cond delay="480"/>
                                  </p:stCondLst>
                                  <p:childTnLst>
                                    <p:set>
                                      <p:cBhvr>
                                        <p:cTn id="483" dur="1" fill="hold">
                                          <p:stCondLst>
                                            <p:cond delay="0"/>
                                          </p:stCondLst>
                                        </p:cTn>
                                        <p:tgtEl>
                                          <p:spTgt spid="153"/>
                                        </p:tgtEl>
                                        <p:attrNameLst>
                                          <p:attrName>style.visibility</p:attrName>
                                        </p:attrNameLst>
                                      </p:cBhvr>
                                      <p:to>
                                        <p:strVal val="visible"/>
                                      </p:to>
                                    </p:set>
                                    <p:animEffect transition="in" filter="fade">
                                      <p:cBhvr>
                                        <p:cTn id="485"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6" grpId="0" animBg="1"/>
      <p:bldP spid="157" grpId="0" animBg="1"/>
      <p:bldP spid="15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09 · INSIDE ONE BLOCK</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Inside one decoder block</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A block is a small pipeline. Every token’s vector flows through it and comes out richer.</a:t>
            </a:r>
            <a:endParaRPr lang="en-US" sz="1300" dirty="0"/>
          </a:p>
        </p:txBody>
      </p:sp>
      <p:sp>
        <p:nvSpPr>
          <p:cNvPr id="5" name="anim-1-rise-0-445"/>
          <p:cNvSpPr/>
          <p:nvPr/>
        </p:nvSpPr>
        <p:spPr>
          <a:xfrm>
            <a:off x="662940" y="2263140"/>
            <a:ext cx="1143000" cy="868680"/>
          </a:xfrm>
          <a:prstGeom prst="roundRect">
            <a:avLst>
              <a:gd name="adj" fmla="val 10526"/>
            </a:avLst>
          </a:prstGeom>
          <a:solidFill>
            <a:srgbClr val="F1F5F9"/>
          </a:solidFill>
          <a:ln/>
        </p:spPr>
        <p:txBody>
          <a:bodyPr wrap="square" lIns="1016" tIns="1016" rIns="1016" bIns="1016" rtlCol="0" anchor="ctr"/>
          <a:lstStyle/>
          <a:p>
            <a:pPr algn="ctr" indent="0" marL="0">
              <a:buNone/>
            </a:pPr>
            <a:r>
              <a:rPr lang="en-US" sz="1200" dirty="0">
                <a:solidFill>
                  <a:srgbClr val="0F172A"/>
                </a:solidFill>
                <a:latin typeface="Inter" pitchFamily="34" charset="0"/>
                <a:ea typeface="Inter" pitchFamily="34" charset="-122"/>
                <a:cs typeface="Inter" pitchFamily="34" charset="-120"/>
              </a:rPr>
              <a:t>Token vectors</a:t>
            </a:r>
            <a:endParaRPr lang="en-US" sz="1200" dirty="0"/>
          </a:p>
          <a:p>
            <a:pPr algn="ctr" indent="0" marL="0">
              <a:buNone/>
            </a:pPr>
            <a:r>
              <a:rPr lang="en-US" sz="1200" dirty="0">
                <a:solidFill>
                  <a:srgbClr val="0F172A"/>
                </a:solidFill>
                <a:latin typeface="Inter" pitchFamily="34" charset="0"/>
                <a:ea typeface="Inter" pitchFamily="34" charset="-122"/>
                <a:cs typeface="Inter" pitchFamily="34" charset="-120"/>
              </a:rPr>
              <a:t>in</a:t>
            </a:r>
            <a:endParaRPr lang="en-US" sz="1200" dirty="0"/>
          </a:p>
        </p:txBody>
      </p:sp>
      <p:sp>
        <p:nvSpPr>
          <p:cNvPr id="6" name="anim-1-wipe-60-446"/>
          <p:cNvSpPr/>
          <p:nvPr/>
        </p:nvSpPr>
        <p:spPr>
          <a:xfrm>
            <a:off x="1833372" y="2697480"/>
            <a:ext cx="256032" cy="0"/>
          </a:xfrm>
          <a:prstGeom prst="line">
            <a:avLst/>
          </a:prstGeom>
          <a:noFill/>
          <a:ln w="19050">
            <a:solidFill>
              <a:srgbClr val="94A3B8"/>
            </a:solidFill>
            <a:prstDash val="solid"/>
            <a:tailEnd type="triangle"/>
          </a:ln>
        </p:spPr>
      </p:sp>
      <p:sp>
        <p:nvSpPr>
          <p:cNvPr id="7" name="anim-1-rise-120-447"/>
          <p:cNvSpPr/>
          <p:nvPr/>
        </p:nvSpPr>
        <p:spPr>
          <a:xfrm>
            <a:off x="2116836" y="2263140"/>
            <a:ext cx="1005840" cy="868680"/>
          </a:xfrm>
          <a:prstGeom prst="roundRect">
            <a:avLst>
              <a:gd name="adj" fmla="val 10526"/>
            </a:avLst>
          </a:prstGeom>
          <a:solidFill>
            <a:srgbClr val="E2E8F0"/>
          </a:solidFill>
          <a:ln/>
        </p:spPr>
        <p:txBody>
          <a:bodyPr wrap="square" lIns="1016" tIns="1016" rIns="1016" bIns="1016" rtlCol="0" anchor="ctr"/>
          <a:lstStyle/>
          <a:p>
            <a:pPr algn="ctr" indent="0" marL="0">
              <a:buNone/>
            </a:pPr>
            <a:r>
              <a:rPr lang="en-US" sz="1200" dirty="0">
                <a:solidFill>
                  <a:srgbClr val="475569"/>
                </a:solidFill>
                <a:latin typeface="Inter" pitchFamily="34" charset="0"/>
                <a:ea typeface="Inter" pitchFamily="34" charset="-122"/>
                <a:cs typeface="Inter" pitchFamily="34" charset="-120"/>
              </a:rPr>
              <a:t>LayerNorm</a:t>
            </a:r>
            <a:endParaRPr lang="en-US" sz="1200" dirty="0"/>
          </a:p>
        </p:txBody>
      </p:sp>
      <p:sp>
        <p:nvSpPr>
          <p:cNvPr id="8" name="anim-1-wipe-180-448"/>
          <p:cNvSpPr/>
          <p:nvPr/>
        </p:nvSpPr>
        <p:spPr>
          <a:xfrm>
            <a:off x="3150108" y="2697480"/>
            <a:ext cx="256032" cy="0"/>
          </a:xfrm>
          <a:prstGeom prst="line">
            <a:avLst/>
          </a:prstGeom>
          <a:noFill/>
          <a:ln w="19050">
            <a:solidFill>
              <a:srgbClr val="94A3B8"/>
            </a:solidFill>
            <a:prstDash val="solid"/>
            <a:tailEnd type="triangle"/>
          </a:ln>
        </p:spPr>
      </p:sp>
      <p:sp>
        <p:nvSpPr>
          <p:cNvPr id="9" name="anim-1-rise-240-449"/>
          <p:cNvSpPr/>
          <p:nvPr/>
        </p:nvSpPr>
        <p:spPr>
          <a:xfrm>
            <a:off x="3433572" y="2263140"/>
            <a:ext cx="1828800" cy="868680"/>
          </a:xfrm>
          <a:prstGeom prst="roundRect">
            <a:avLst>
              <a:gd name="adj" fmla="val 10526"/>
            </a:avLst>
          </a:prstGeom>
          <a:solidFill>
            <a:srgbClr val="7C3AED"/>
          </a:solidFill>
          <a:ln/>
        </p:spPr>
        <p:txBody>
          <a:bodyPr wrap="square" lIns="1016" tIns="1016" rIns="1016" bIns="1016"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Masked</a:t>
            </a:r>
            <a:endParaRPr lang="en-US" sz="1200" dirty="0"/>
          </a:p>
          <a:p>
            <a:pPr algn="ctr" indent="0" marL="0">
              <a:buNone/>
            </a:pPr>
            <a:r>
              <a:rPr lang="en-US" sz="1200" b="1" dirty="0">
                <a:solidFill>
                  <a:srgbClr val="FFFFFF"/>
                </a:solidFill>
                <a:latin typeface="Inter" pitchFamily="34" charset="0"/>
                <a:ea typeface="Inter" pitchFamily="34" charset="-122"/>
                <a:cs typeface="Inter" pitchFamily="34" charset="-120"/>
              </a:rPr>
              <a:t>Self-Attention</a:t>
            </a:r>
            <a:endParaRPr lang="en-US" sz="1200" dirty="0"/>
          </a:p>
        </p:txBody>
      </p:sp>
      <p:sp>
        <p:nvSpPr>
          <p:cNvPr id="10" name="anim-2-wipe-300-450"/>
          <p:cNvSpPr/>
          <p:nvPr/>
        </p:nvSpPr>
        <p:spPr>
          <a:xfrm>
            <a:off x="5289804" y="2697480"/>
            <a:ext cx="256032" cy="0"/>
          </a:xfrm>
          <a:prstGeom prst="line">
            <a:avLst/>
          </a:prstGeom>
          <a:noFill/>
          <a:ln w="19050">
            <a:solidFill>
              <a:srgbClr val="94A3B8"/>
            </a:solidFill>
            <a:prstDash val="solid"/>
            <a:tailEnd type="triangle"/>
          </a:ln>
        </p:spPr>
      </p:sp>
      <p:sp>
        <p:nvSpPr>
          <p:cNvPr id="11" name="anim-2-zoom-300-451"/>
          <p:cNvSpPr/>
          <p:nvPr/>
        </p:nvSpPr>
        <p:spPr>
          <a:xfrm>
            <a:off x="5573268" y="2468880"/>
            <a:ext cx="457200" cy="457200"/>
          </a:xfrm>
          <a:prstGeom prst="ellipse">
            <a:avLst>
              <a:gd name="adj" fmla="val 20000"/>
            </a:avLst>
          </a:prstGeom>
          <a:solidFill>
            <a:srgbClr val="FFFFFF"/>
          </a:solidFill>
          <a:ln w="19050">
            <a:solidFill>
              <a:srgbClr val="475569"/>
            </a:solidFill>
          </a:ln>
        </p:spPr>
        <p:txBody>
          <a:bodyPr wrap="square" lIns="0" tIns="0" rIns="0" bIns="0" rtlCol="0" anchor="ctr"/>
          <a:lstStyle/>
          <a:p>
            <a:pPr algn="ctr" indent="0" marL="0">
              <a:buNone/>
            </a:pPr>
            <a:r>
              <a:rPr lang="en-US" sz="1800" b="1" dirty="0">
                <a:solidFill>
                  <a:srgbClr val="475569"/>
                </a:solidFill>
                <a:latin typeface="Inter" pitchFamily="34" charset="0"/>
                <a:ea typeface="Inter" pitchFamily="34" charset="-122"/>
                <a:cs typeface="Inter" pitchFamily="34" charset="-120"/>
              </a:rPr>
              <a:t>+</a:t>
            </a:r>
            <a:endParaRPr lang="en-US" sz="1800" dirty="0"/>
          </a:p>
        </p:txBody>
      </p:sp>
      <p:sp>
        <p:nvSpPr>
          <p:cNvPr id="12" name="anim-3-wipe-420-452"/>
          <p:cNvSpPr/>
          <p:nvPr/>
        </p:nvSpPr>
        <p:spPr>
          <a:xfrm>
            <a:off x="6057900" y="2697480"/>
            <a:ext cx="256032" cy="0"/>
          </a:xfrm>
          <a:prstGeom prst="line">
            <a:avLst/>
          </a:prstGeom>
          <a:noFill/>
          <a:ln w="19050">
            <a:solidFill>
              <a:srgbClr val="94A3B8"/>
            </a:solidFill>
            <a:prstDash val="solid"/>
            <a:tailEnd type="triangle"/>
          </a:ln>
        </p:spPr>
      </p:sp>
      <p:sp>
        <p:nvSpPr>
          <p:cNvPr id="13" name="anim-3-rise-480-453"/>
          <p:cNvSpPr/>
          <p:nvPr/>
        </p:nvSpPr>
        <p:spPr>
          <a:xfrm>
            <a:off x="6341364" y="2263140"/>
            <a:ext cx="1005840" cy="868680"/>
          </a:xfrm>
          <a:prstGeom prst="roundRect">
            <a:avLst>
              <a:gd name="adj" fmla="val 10526"/>
            </a:avLst>
          </a:prstGeom>
          <a:solidFill>
            <a:srgbClr val="E2E8F0"/>
          </a:solidFill>
          <a:ln/>
        </p:spPr>
        <p:txBody>
          <a:bodyPr wrap="square" lIns="1016" tIns="1016" rIns="1016" bIns="1016" rtlCol="0" anchor="ctr"/>
          <a:lstStyle/>
          <a:p>
            <a:pPr algn="ctr" indent="0" marL="0">
              <a:buNone/>
            </a:pPr>
            <a:r>
              <a:rPr lang="en-US" sz="1200" dirty="0">
                <a:solidFill>
                  <a:srgbClr val="475569"/>
                </a:solidFill>
                <a:latin typeface="Inter" pitchFamily="34" charset="0"/>
                <a:ea typeface="Inter" pitchFamily="34" charset="-122"/>
                <a:cs typeface="Inter" pitchFamily="34" charset="-120"/>
              </a:rPr>
              <a:t>LayerNorm</a:t>
            </a:r>
            <a:endParaRPr lang="en-US" sz="1200" dirty="0"/>
          </a:p>
        </p:txBody>
      </p:sp>
      <p:sp>
        <p:nvSpPr>
          <p:cNvPr id="14" name="anim-3-wipe-540-454"/>
          <p:cNvSpPr/>
          <p:nvPr/>
        </p:nvSpPr>
        <p:spPr>
          <a:xfrm>
            <a:off x="7374636" y="2697480"/>
            <a:ext cx="256032" cy="0"/>
          </a:xfrm>
          <a:prstGeom prst="line">
            <a:avLst/>
          </a:prstGeom>
          <a:noFill/>
          <a:ln w="19050">
            <a:solidFill>
              <a:srgbClr val="94A3B8"/>
            </a:solidFill>
            <a:prstDash val="solid"/>
            <a:tailEnd type="triangle"/>
          </a:ln>
        </p:spPr>
      </p:sp>
      <p:sp>
        <p:nvSpPr>
          <p:cNvPr id="15" name="anim-3-rise-600-455"/>
          <p:cNvSpPr/>
          <p:nvPr/>
        </p:nvSpPr>
        <p:spPr>
          <a:xfrm>
            <a:off x="7658100" y="2263140"/>
            <a:ext cx="1645920" cy="868680"/>
          </a:xfrm>
          <a:prstGeom prst="roundRect">
            <a:avLst>
              <a:gd name="adj" fmla="val 10526"/>
            </a:avLst>
          </a:prstGeom>
          <a:solidFill>
            <a:srgbClr val="0D9488"/>
          </a:solidFill>
          <a:ln/>
        </p:spPr>
        <p:txBody>
          <a:bodyPr wrap="square" lIns="1016" tIns="1016" rIns="1016" bIns="1016"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Feed-Forward</a:t>
            </a:r>
            <a:endParaRPr lang="en-US" sz="1200" dirty="0"/>
          </a:p>
          <a:p>
            <a:pPr algn="ctr" indent="0" marL="0">
              <a:buNone/>
            </a:pPr>
            <a:r>
              <a:rPr lang="en-US" sz="1200" b="1" dirty="0">
                <a:solidFill>
                  <a:srgbClr val="FFFFFF"/>
                </a:solidFill>
                <a:latin typeface="Inter" pitchFamily="34" charset="0"/>
                <a:ea typeface="Inter" pitchFamily="34" charset="-122"/>
                <a:cs typeface="Inter" pitchFamily="34" charset="-120"/>
              </a:rPr>
              <a:t>Network</a:t>
            </a:r>
            <a:endParaRPr lang="en-US" sz="1200" dirty="0"/>
          </a:p>
        </p:txBody>
      </p:sp>
      <p:sp>
        <p:nvSpPr>
          <p:cNvPr id="16" name="anim-4-wipe-660-456"/>
          <p:cNvSpPr/>
          <p:nvPr/>
        </p:nvSpPr>
        <p:spPr>
          <a:xfrm>
            <a:off x="9331452" y="2697480"/>
            <a:ext cx="256032" cy="0"/>
          </a:xfrm>
          <a:prstGeom prst="line">
            <a:avLst/>
          </a:prstGeom>
          <a:noFill/>
          <a:ln w="19050">
            <a:solidFill>
              <a:srgbClr val="94A3B8"/>
            </a:solidFill>
            <a:prstDash val="solid"/>
            <a:tailEnd type="triangle"/>
          </a:ln>
        </p:spPr>
      </p:sp>
      <p:sp>
        <p:nvSpPr>
          <p:cNvPr id="17" name="anim-4-zoom-300-457"/>
          <p:cNvSpPr/>
          <p:nvPr/>
        </p:nvSpPr>
        <p:spPr>
          <a:xfrm>
            <a:off x="9614916" y="2468880"/>
            <a:ext cx="457200" cy="457200"/>
          </a:xfrm>
          <a:prstGeom prst="ellipse">
            <a:avLst>
              <a:gd name="adj" fmla="val 20000"/>
            </a:avLst>
          </a:prstGeom>
          <a:solidFill>
            <a:srgbClr val="FFFFFF"/>
          </a:solidFill>
          <a:ln w="19050">
            <a:solidFill>
              <a:srgbClr val="475569"/>
            </a:solidFill>
          </a:ln>
        </p:spPr>
        <p:txBody>
          <a:bodyPr wrap="square" lIns="0" tIns="0" rIns="0" bIns="0" rtlCol="0" anchor="ctr"/>
          <a:lstStyle/>
          <a:p>
            <a:pPr algn="ctr" indent="0" marL="0">
              <a:buNone/>
            </a:pPr>
            <a:r>
              <a:rPr lang="en-US" sz="1800" b="1" dirty="0">
                <a:solidFill>
                  <a:srgbClr val="475569"/>
                </a:solidFill>
                <a:latin typeface="Inter" pitchFamily="34" charset="0"/>
                <a:ea typeface="Inter" pitchFamily="34" charset="-122"/>
                <a:cs typeface="Inter" pitchFamily="34" charset="-120"/>
              </a:rPr>
              <a:t>+</a:t>
            </a:r>
            <a:endParaRPr lang="en-US" sz="1800" dirty="0"/>
          </a:p>
        </p:txBody>
      </p:sp>
      <p:sp>
        <p:nvSpPr>
          <p:cNvPr id="18" name="anim-4-wipe-780-458"/>
          <p:cNvSpPr/>
          <p:nvPr/>
        </p:nvSpPr>
        <p:spPr>
          <a:xfrm>
            <a:off x="10099548" y="2697480"/>
            <a:ext cx="256032" cy="0"/>
          </a:xfrm>
          <a:prstGeom prst="line">
            <a:avLst/>
          </a:prstGeom>
          <a:noFill/>
          <a:ln w="19050">
            <a:solidFill>
              <a:srgbClr val="94A3B8"/>
            </a:solidFill>
            <a:prstDash val="solid"/>
            <a:tailEnd type="triangle"/>
          </a:ln>
        </p:spPr>
      </p:sp>
      <p:sp>
        <p:nvSpPr>
          <p:cNvPr id="19" name="anim-4-rise-840-459"/>
          <p:cNvSpPr/>
          <p:nvPr/>
        </p:nvSpPr>
        <p:spPr>
          <a:xfrm>
            <a:off x="10383012" y="2263140"/>
            <a:ext cx="1143000" cy="868680"/>
          </a:xfrm>
          <a:prstGeom prst="roundRect">
            <a:avLst>
              <a:gd name="adj" fmla="val 10526"/>
            </a:avLst>
          </a:prstGeom>
          <a:solidFill>
            <a:srgbClr val="F1F5F9"/>
          </a:solidFill>
          <a:ln/>
        </p:spPr>
        <p:txBody>
          <a:bodyPr wrap="square" lIns="1016" tIns="1016" rIns="1016" bIns="1016" rtlCol="0" anchor="ctr"/>
          <a:lstStyle/>
          <a:p>
            <a:pPr algn="ctr" indent="0" marL="0">
              <a:buNone/>
            </a:pPr>
            <a:r>
              <a:rPr lang="en-US" sz="1200" dirty="0">
                <a:solidFill>
                  <a:srgbClr val="0F172A"/>
                </a:solidFill>
                <a:latin typeface="Inter" pitchFamily="34" charset="0"/>
                <a:ea typeface="Inter" pitchFamily="34" charset="-122"/>
                <a:cs typeface="Inter" pitchFamily="34" charset="-120"/>
              </a:rPr>
              <a:t>Richer vectors</a:t>
            </a:r>
            <a:endParaRPr lang="en-US" sz="1200" dirty="0"/>
          </a:p>
          <a:p>
            <a:pPr algn="ctr" indent="0" marL="0">
              <a:buNone/>
            </a:pPr>
            <a:r>
              <a:rPr lang="en-US" sz="1200" dirty="0">
                <a:solidFill>
                  <a:srgbClr val="0F172A"/>
                </a:solidFill>
                <a:latin typeface="Inter" pitchFamily="34" charset="0"/>
                <a:ea typeface="Inter" pitchFamily="34" charset="-122"/>
                <a:cs typeface="Inter" pitchFamily="34" charset="-120"/>
              </a:rPr>
              <a:t>out</a:t>
            </a:r>
            <a:endParaRPr lang="en-US" sz="1200" dirty="0"/>
          </a:p>
        </p:txBody>
      </p:sp>
      <p:sp>
        <p:nvSpPr>
          <p:cNvPr id="20" name="anim-2-fade-0-460"/>
          <p:cNvSpPr/>
          <p:nvPr/>
        </p:nvSpPr>
        <p:spPr>
          <a:xfrm flipV="1">
            <a:off x="1961388" y="1828800"/>
            <a:ext cx="0" cy="868680"/>
          </a:xfrm>
          <a:prstGeom prst="line">
            <a:avLst/>
          </a:prstGeom>
          <a:noFill/>
          <a:ln w="19050">
            <a:solidFill>
              <a:srgbClr val="475569"/>
            </a:solidFill>
            <a:prstDash val="solid"/>
          </a:ln>
        </p:spPr>
      </p:sp>
      <p:sp>
        <p:nvSpPr>
          <p:cNvPr id="21" name="anim-2-wipe-100-461"/>
          <p:cNvSpPr/>
          <p:nvPr/>
        </p:nvSpPr>
        <p:spPr>
          <a:xfrm>
            <a:off x="1961388" y="1828800"/>
            <a:ext cx="3840480" cy="0"/>
          </a:xfrm>
          <a:prstGeom prst="line">
            <a:avLst/>
          </a:prstGeom>
          <a:noFill/>
          <a:ln w="19050">
            <a:solidFill>
              <a:srgbClr val="475569"/>
            </a:solidFill>
            <a:prstDash val="solid"/>
          </a:ln>
        </p:spPr>
      </p:sp>
      <p:sp>
        <p:nvSpPr>
          <p:cNvPr id="22" name="anim-2-fade-400-462"/>
          <p:cNvSpPr/>
          <p:nvPr/>
        </p:nvSpPr>
        <p:spPr>
          <a:xfrm>
            <a:off x="5801868" y="1828800"/>
            <a:ext cx="0" cy="621792"/>
          </a:xfrm>
          <a:prstGeom prst="line">
            <a:avLst/>
          </a:prstGeom>
          <a:noFill/>
          <a:ln w="19050">
            <a:solidFill>
              <a:srgbClr val="475569"/>
            </a:solidFill>
            <a:prstDash val="solid"/>
            <a:tailEnd type="triangle"/>
          </a:ln>
        </p:spPr>
      </p:sp>
      <p:sp>
        <p:nvSpPr>
          <p:cNvPr id="23" name="anim-2-fade-0-463"/>
          <p:cNvSpPr/>
          <p:nvPr/>
        </p:nvSpPr>
        <p:spPr>
          <a:xfrm>
            <a:off x="1915668" y="2651760"/>
            <a:ext cx="91440" cy="91440"/>
          </a:xfrm>
          <a:prstGeom prst="ellipse">
            <a:avLst/>
          </a:prstGeom>
          <a:solidFill>
            <a:srgbClr val="475569"/>
          </a:solidFill>
          <a:ln/>
        </p:spPr>
      </p:sp>
      <p:sp>
        <p:nvSpPr>
          <p:cNvPr id="24" name="anim-2-fade-300-464"/>
          <p:cNvSpPr/>
          <p:nvPr/>
        </p:nvSpPr>
        <p:spPr>
          <a:xfrm>
            <a:off x="2555748" y="1700784"/>
            <a:ext cx="2651760" cy="256032"/>
          </a:xfrm>
          <a:prstGeom prst="roundRect">
            <a:avLst>
              <a:gd name="adj" fmla="val 35714"/>
            </a:avLst>
          </a:prstGeom>
          <a:solidFill>
            <a:srgbClr val="FFFFFF"/>
          </a:solidFill>
          <a:ln/>
        </p:spPr>
        <p:txBody>
          <a:bodyPr wrap="square" lIns="0" tIns="0" rIns="0" bIns="0" rtlCol="0" anchor="ctr"/>
          <a:lstStyle/>
          <a:p>
            <a:pPr algn="ctr" indent="0" marL="0">
              <a:buNone/>
            </a:pPr>
            <a:r>
              <a:rPr lang="en-US" sz="950" dirty="0">
                <a:solidFill>
                  <a:srgbClr val="475569"/>
                </a:solidFill>
                <a:latin typeface="Inter" pitchFamily="34" charset="0"/>
                <a:ea typeface="Inter" pitchFamily="34" charset="-122"/>
                <a:cs typeface="Inter" pitchFamily="34" charset="-120"/>
              </a:rPr>
              <a:t>residual (skip) path: add the input back</a:t>
            </a:r>
            <a:endParaRPr lang="en-US" sz="950" dirty="0"/>
          </a:p>
        </p:txBody>
      </p:sp>
      <p:sp>
        <p:nvSpPr>
          <p:cNvPr id="25" name="anim-4-fade-0-465"/>
          <p:cNvSpPr/>
          <p:nvPr/>
        </p:nvSpPr>
        <p:spPr>
          <a:xfrm flipV="1">
            <a:off x="6185916" y="1828800"/>
            <a:ext cx="0" cy="868680"/>
          </a:xfrm>
          <a:prstGeom prst="line">
            <a:avLst/>
          </a:prstGeom>
          <a:noFill/>
          <a:ln w="19050">
            <a:solidFill>
              <a:srgbClr val="475569"/>
            </a:solidFill>
            <a:prstDash val="solid"/>
          </a:ln>
        </p:spPr>
      </p:sp>
      <p:sp>
        <p:nvSpPr>
          <p:cNvPr id="26" name="anim-4-wipe-100-466"/>
          <p:cNvSpPr/>
          <p:nvPr/>
        </p:nvSpPr>
        <p:spPr>
          <a:xfrm>
            <a:off x="6185916" y="1828800"/>
            <a:ext cx="3657600" cy="0"/>
          </a:xfrm>
          <a:prstGeom prst="line">
            <a:avLst/>
          </a:prstGeom>
          <a:noFill/>
          <a:ln w="19050">
            <a:solidFill>
              <a:srgbClr val="475569"/>
            </a:solidFill>
            <a:prstDash val="solid"/>
          </a:ln>
        </p:spPr>
      </p:sp>
      <p:sp>
        <p:nvSpPr>
          <p:cNvPr id="27" name="anim-4-fade-400-467"/>
          <p:cNvSpPr/>
          <p:nvPr/>
        </p:nvSpPr>
        <p:spPr>
          <a:xfrm>
            <a:off x="9843516" y="1828800"/>
            <a:ext cx="0" cy="621792"/>
          </a:xfrm>
          <a:prstGeom prst="line">
            <a:avLst/>
          </a:prstGeom>
          <a:noFill/>
          <a:ln w="19050">
            <a:solidFill>
              <a:srgbClr val="475569"/>
            </a:solidFill>
            <a:prstDash val="solid"/>
            <a:tailEnd type="triangle"/>
          </a:ln>
        </p:spPr>
      </p:sp>
      <p:sp>
        <p:nvSpPr>
          <p:cNvPr id="28" name="anim-4-fade-0-468"/>
          <p:cNvSpPr/>
          <p:nvPr/>
        </p:nvSpPr>
        <p:spPr>
          <a:xfrm>
            <a:off x="6140196" y="2651760"/>
            <a:ext cx="91440" cy="91440"/>
          </a:xfrm>
          <a:prstGeom prst="ellipse">
            <a:avLst/>
          </a:prstGeom>
          <a:solidFill>
            <a:srgbClr val="475569"/>
          </a:solidFill>
          <a:ln/>
        </p:spPr>
      </p:sp>
      <p:sp>
        <p:nvSpPr>
          <p:cNvPr id="29" name="anim-4-fade-300-469"/>
          <p:cNvSpPr/>
          <p:nvPr/>
        </p:nvSpPr>
        <p:spPr>
          <a:xfrm>
            <a:off x="6688836" y="1700784"/>
            <a:ext cx="2651760" cy="256032"/>
          </a:xfrm>
          <a:prstGeom prst="roundRect">
            <a:avLst>
              <a:gd name="adj" fmla="val 35714"/>
            </a:avLst>
          </a:prstGeom>
          <a:solidFill>
            <a:srgbClr val="FFFFFF"/>
          </a:solidFill>
          <a:ln/>
        </p:spPr>
        <p:txBody>
          <a:bodyPr wrap="square" lIns="0" tIns="0" rIns="0" bIns="0" rtlCol="0" anchor="ctr"/>
          <a:lstStyle/>
          <a:p>
            <a:pPr algn="ctr" indent="0" marL="0">
              <a:buNone/>
            </a:pPr>
            <a:r>
              <a:rPr lang="en-US" sz="950" dirty="0">
                <a:solidFill>
                  <a:srgbClr val="475569"/>
                </a:solidFill>
                <a:latin typeface="Inter" pitchFamily="34" charset="0"/>
                <a:ea typeface="Inter" pitchFamily="34" charset="-122"/>
                <a:cs typeface="Inter" pitchFamily="34" charset="-120"/>
              </a:rPr>
              <a:t>residual (skip) path: add the input back</a:t>
            </a:r>
            <a:endParaRPr lang="en-US" sz="950" dirty="0"/>
          </a:p>
        </p:txBody>
      </p:sp>
      <p:sp>
        <p:nvSpPr>
          <p:cNvPr id="30" name="anim-1-rise-900-470"/>
          <p:cNvSpPr/>
          <p:nvPr/>
        </p:nvSpPr>
        <p:spPr>
          <a:xfrm>
            <a:off x="548640" y="3611880"/>
            <a:ext cx="3566160" cy="2148840"/>
          </a:xfrm>
          <a:prstGeom prst="roundRect">
            <a:avLst>
              <a:gd name="adj" fmla="val 4255"/>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Attention: tokens talk to each other</a:t>
            </a:r>
            <a:endParaRPr lang="en-US" sz="1300" dirty="0"/>
          </a:p>
          <a:p>
            <a:pPr indent="0" marL="0">
              <a:spcBef>
                <a:spcPts val="400"/>
              </a:spcBef>
              <a:buNone/>
            </a:pPr>
            <a:r>
              <a:rPr lang="en-US" sz="1200" dirty="0">
                <a:solidFill>
                  <a:srgbClr val="334155"/>
                </a:solidFill>
                <a:latin typeface="Inter" pitchFamily="34" charset="0"/>
                <a:ea typeface="Inter" pitchFamily="34" charset="-122"/>
                <a:cs typeface="Inter" pitchFamily="34" charset="-120"/>
              </a:rPr>
              <a:t>Each token gathers information from earlier tokens.</a:t>
            </a:r>
            <a:endParaRPr lang="en-US" sz="1300" dirty="0"/>
          </a:p>
          <a:p>
            <a:pPr indent="0" marL="0">
              <a:spcBef>
                <a:spcPts val="400"/>
              </a:spcBef>
              <a:buNone/>
            </a:pPr>
            <a:r>
              <a:rPr lang="en-US" sz="1200" i="1" dirty="0">
                <a:solidFill>
                  <a:srgbClr val="7C3AED"/>
                </a:solidFill>
                <a:latin typeface="Inter" pitchFamily="34" charset="0"/>
                <a:ea typeface="Inter" pitchFamily="34" charset="-122"/>
                <a:cs typeface="Inter" pitchFamily="34" charset="-120"/>
              </a:rPr>
              <a:t>“sat” pulls in information from “cat” — now it knows who is sitting.</a:t>
            </a:r>
            <a:endParaRPr lang="en-US" sz="1300" dirty="0"/>
          </a:p>
        </p:txBody>
      </p:sp>
      <p:sp>
        <p:nvSpPr>
          <p:cNvPr id="31" name="anim-2-rise-600-471"/>
          <p:cNvSpPr/>
          <p:nvPr/>
        </p:nvSpPr>
        <p:spPr>
          <a:xfrm>
            <a:off x="4306824" y="3611880"/>
            <a:ext cx="3566160" cy="2148840"/>
          </a:xfrm>
          <a:prstGeom prst="roundRect">
            <a:avLst>
              <a:gd name="adj" fmla="val 4255"/>
            </a:avLst>
          </a:prstGeom>
          <a:solidFill>
            <a:srgbClr val="E2E8F0"/>
          </a:solidFill>
          <a:ln/>
        </p:spPr>
        <p:txBody>
          <a:bodyPr wrap="square" lIns="127000" tIns="152400" rIns="152400" bIns="127000" rtlCol="0" anchor="t"/>
          <a:lstStyle/>
          <a:p>
            <a:pPr indent="0" marL="0">
              <a:buNone/>
            </a:pPr>
            <a:r>
              <a:rPr lang="en-US" sz="1300" b="1" dirty="0">
                <a:solidFill>
                  <a:srgbClr val="475569"/>
                </a:solidFill>
                <a:latin typeface="Inter" pitchFamily="34" charset="0"/>
                <a:ea typeface="Inter" pitchFamily="34" charset="-122"/>
                <a:cs typeface="Inter" pitchFamily="34" charset="-120"/>
              </a:rPr>
              <a:t>Residual + LayerNorm: keep it stable</a:t>
            </a:r>
            <a:endParaRPr lang="en-US" sz="1300" dirty="0"/>
          </a:p>
          <a:p>
            <a:pPr indent="0" marL="0">
              <a:spcBef>
                <a:spcPts val="400"/>
              </a:spcBef>
              <a:buNone/>
            </a:pPr>
            <a:r>
              <a:rPr lang="en-US" sz="1200" dirty="0">
                <a:solidFill>
                  <a:srgbClr val="334155"/>
                </a:solidFill>
                <a:latin typeface="Inter" pitchFamily="34" charset="0"/>
                <a:ea typeface="Inter" pitchFamily="34" charset="-122"/>
                <a:cs typeface="Inter" pitchFamily="34" charset="-120"/>
              </a:rPr>
              <a:t>Residual: add the block’s input back to its output, so the original meaning is never lost — each step only adds an update.</a:t>
            </a:r>
            <a:endParaRPr lang="en-US" sz="1300" dirty="0"/>
          </a:p>
          <a:p>
            <a:pPr indent="0" marL="0">
              <a:spcBef>
                <a:spcPts val="400"/>
              </a:spcBef>
              <a:buNone/>
            </a:pPr>
            <a:r>
              <a:rPr lang="en-US" sz="1200" dirty="0">
                <a:solidFill>
                  <a:srgbClr val="334155"/>
                </a:solidFill>
                <a:latin typeface="Inter" pitchFamily="34" charset="0"/>
                <a:ea typeface="Inter" pitchFamily="34" charset="-122"/>
                <a:cs typeface="Inter" pitchFamily="34" charset="-120"/>
              </a:rPr>
              <a:t>LayerNorm: rescales each vector so numbers stay in a healthy range through dozens of blocks.</a:t>
            </a:r>
            <a:endParaRPr lang="en-US" sz="1300" dirty="0"/>
          </a:p>
        </p:txBody>
      </p:sp>
      <p:sp>
        <p:nvSpPr>
          <p:cNvPr id="32" name="anim-3-rise-900-472"/>
          <p:cNvSpPr/>
          <p:nvPr/>
        </p:nvSpPr>
        <p:spPr>
          <a:xfrm>
            <a:off x="8065008" y="3611880"/>
            <a:ext cx="3566160" cy="2148840"/>
          </a:xfrm>
          <a:prstGeom prst="roundRect">
            <a:avLst>
              <a:gd name="adj" fmla="val 4255"/>
            </a:avLst>
          </a:prstGeom>
          <a:solidFill>
            <a:srgbClr val="CCFBF1"/>
          </a:solidFill>
          <a:ln/>
        </p:spPr>
        <p:txBody>
          <a:bodyPr wrap="square" lIns="127000" tIns="152400" rIns="152400" bIns="127000" rtlCol="0" anchor="t"/>
          <a:lstStyle/>
          <a:p>
            <a:pPr indent="0" marL="0">
              <a:buNone/>
            </a:pPr>
            <a:r>
              <a:rPr lang="en-US" sz="1300" b="1" dirty="0">
                <a:solidFill>
                  <a:srgbClr val="0D9488"/>
                </a:solidFill>
                <a:latin typeface="Inter" pitchFamily="34" charset="0"/>
                <a:ea typeface="Inter" pitchFamily="34" charset="-122"/>
                <a:cs typeface="Inter" pitchFamily="34" charset="-120"/>
              </a:rPr>
              <a:t>Feed-forward: each token thinks alone</a:t>
            </a:r>
            <a:endParaRPr lang="en-US" sz="1300" dirty="0"/>
          </a:p>
          <a:p>
            <a:pPr indent="0" marL="0">
              <a:spcBef>
                <a:spcPts val="400"/>
              </a:spcBef>
              <a:buNone/>
            </a:pPr>
            <a:r>
              <a:rPr lang="en-US" sz="1200" dirty="0">
                <a:solidFill>
                  <a:srgbClr val="334155"/>
                </a:solidFill>
                <a:latin typeface="Inter" pitchFamily="34" charset="0"/>
                <a:ea typeface="Inter" pitchFamily="34" charset="-122"/>
                <a:cs typeface="Inter" pitchFamily="34" charset="-120"/>
              </a:rPr>
              <a:t>A small neural network transforms every token’s vector on its own.</a:t>
            </a:r>
            <a:endParaRPr lang="en-US" sz="1300" dirty="0"/>
          </a:p>
          <a:p>
            <a:pPr indent="0" marL="0">
              <a:spcBef>
                <a:spcPts val="400"/>
              </a:spcBef>
              <a:buNone/>
            </a:pPr>
            <a:r>
              <a:rPr lang="en-US" sz="1200" i="1" dirty="0">
                <a:solidFill>
                  <a:srgbClr val="0D9488"/>
                </a:solidFill>
                <a:latin typeface="Inter" pitchFamily="34" charset="0"/>
                <a:ea typeface="Inter" pitchFamily="34" charset="-122"/>
                <a:cs typeface="Inter" pitchFamily="34" charset="-120"/>
              </a:rPr>
              <a:t>After hearing “The cat sat on”, the vector for “the” lights up features like “a surface is coming next”.</a:t>
            </a:r>
            <a:endParaRPr lang="en-US" sz="1300" dirty="0"/>
          </a:p>
        </p:txBody>
      </p:sp>
      <p:sp>
        <p:nvSpPr>
          <p:cNvPr id="33" name="Text 31"/>
          <p:cNvSpPr txBox="1"/>
          <p:nvPr/>
        </p:nvSpPr>
        <p:spPr>
          <a:xfrm>
            <a:off x="548640" y="5897880"/>
            <a:ext cx="7315200" cy="201168"/>
          </a:xfrm>
          <a:prstGeom prst="rect">
            <a:avLst/>
          </a:prstGeom>
          <a:noFill/>
          <a:ln/>
        </p:spPr>
        <p:txBody>
          <a:bodyPr wrap="square" lIns="0" tIns="0" rIns="0" bIns="0" rtlCol="0" anchor="t"/>
          <a:lstStyle/>
          <a:p>
            <a:pPr indent="0" marL="0">
              <a:buNone/>
            </a:pPr>
            <a:r>
              <a:rPr lang="en-US" sz="850" i="1" dirty="0">
                <a:solidFill>
                  <a:srgbClr val="94A3B8"/>
                </a:solidFill>
                <a:latin typeface="Inter" pitchFamily="34" charset="0"/>
                <a:ea typeface="Inter" pitchFamily="34" charset="-122"/>
                <a:cs typeface="Inter" pitchFamily="34" charset="-120"/>
              </a:rPr>
              <a:t>Shown in the “pre-norm” order used by GPT-2 and most modern LLMs.</a:t>
            </a:r>
            <a:endParaRPr lang="en-US" sz="8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0.06"/>
                                          </p:val>
                                        </p:tav>
                                        <p:tav tm="100000">
                                          <p:val>
                                            <p:strVal val="#ppt_y"/>
                                          </p:val>
                                        </p:tav>
                                      </p:tavLst>
                                    </p:anim>
                                  </p:childTnLst>
                                </p:cTn>
                              </p:par>
                              <p:par>
                                <p:cTn id="11" presetID="22" presetClass="entr" presetSubtype="8" fill="hold" grpId="0" nodeType="withEffect">
                                  <p:stCondLst>
                                    <p:cond delay="6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2" dur="450"/>
                                        <p:tgtEl>
                                          <p:spTgt spid="6"/>
                                        </p:tgtEl>
                                      </p:cBhvr>
                                    </p:animEffect>
                                  </p:childTnLst>
                                </p:cTn>
                              </p:par>
                              <p:par>
                                <p:cTn id="14" presetID="42" presetClass="entr" presetSubtype="0" fill="hold" grpId="0" nodeType="withEffect">
                                  <p:stCondLst>
                                    <p:cond delay="120"/>
                                  </p:stCondLst>
                                  <p:childTnLst>
                                    <p:set>
                                      <p:cBhvr>
                                        <p:cTn id="13"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p:cTn id="16" dur="500" fill="hold"/>
                                        <p:tgtEl>
                                          <p:spTgt spid="7"/>
                                        </p:tgtEl>
                                        <p:attrNameLst>
                                          <p:attrName>ppt_x</p:attrName>
                                        </p:attrNameLst>
                                      </p:cBhvr>
                                      <p:tavLst>
                                        <p:tav tm="0">
                                          <p:val>
                                            <p:strVal val="#ppt_x"/>
                                          </p:val>
                                        </p:tav>
                                        <p:tav tm="100000">
                                          <p:val>
                                            <p:strVal val="#ppt_x"/>
                                          </p:val>
                                        </p:tav>
                                      </p:tavLst>
                                    </p:anim>
                                    <p:anim calcmode="lin" valueType="num">
                                      <p:cBhvr>
                                        <p:cTn id="17" dur="500" fill="hold"/>
                                        <p:tgtEl>
                                          <p:spTgt spid="7"/>
                                        </p:tgtEl>
                                        <p:attrNameLst>
                                          <p:attrName>ppt_y</p:attrName>
                                        </p:attrNameLst>
                                      </p:cBhvr>
                                      <p:tavLst>
                                        <p:tav tm="0">
                                          <p:val>
                                            <p:strVal val="#ppt_y+0.06"/>
                                          </p:val>
                                        </p:tav>
                                        <p:tav tm="100000">
                                          <p:val>
                                            <p:strVal val="#ppt_y"/>
                                          </p:val>
                                        </p:tav>
                                      </p:tavLst>
                                    </p:anim>
                                  </p:childTnLst>
                                </p:cTn>
                              </p:par>
                              <p:par>
                                <p:cTn id="19" presetID="22" presetClass="entr" presetSubtype="8" fill="hold" grpId="0" nodeType="withEffect">
                                  <p:stCondLst>
                                    <p:cond delay="18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20" dur="450"/>
                                        <p:tgtEl>
                                          <p:spTgt spid="8"/>
                                        </p:tgtEl>
                                      </p:cBhvr>
                                    </p:animEffect>
                                  </p:childTnLst>
                                </p:cTn>
                              </p:par>
                              <p:par>
                                <p:cTn id="22" presetID="42" presetClass="entr" presetSubtype="0" fill="hold" grpId="0" nodeType="withEffect">
                                  <p:stCondLst>
                                    <p:cond delay="240"/>
                                  </p:stCondLst>
                                  <p:childTnLst>
                                    <p:set>
                                      <p:cBhvr>
                                        <p:cTn id="21"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p:cTn id="24" dur="500" fill="hold"/>
                                        <p:tgtEl>
                                          <p:spTgt spid="9"/>
                                        </p:tgtEl>
                                        <p:attrNameLst>
                                          <p:attrName>ppt_x</p:attrName>
                                        </p:attrNameLst>
                                      </p:cBhvr>
                                      <p:tavLst>
                                        <p:tav tm="0">
                                          <p:val>
                                            <p:strVal val="#ppt_x"/>
                                          </p:val>
                                        </p:tav>
                                        <p:tav tm="100000">
                                          <p:val>
                                            <p:strVal val="#ppt_x"/>
                                          </p:val>
                                        </p:tav>
                                      </p:tavLst>
                                    </p:anim>
                                    <p:anim calcmode="lin" valueType="num">
                                      <p:cBhvr>
                                        <p:cTn id="25" dur="500" fill="hold"/>
                                        <p:tgtEl>
                                          <p:spTgt spid="9"/>
                                        </p:tgtEl>
                                        <p:attrNameLst>
                                          <p:attrName>ppt_y</p:attrName>
                                        </p:attrNameLst>
                                      </p:cBhvr>
                                      <p:tavLst>
                                        <p:tav tm="0">
                                          <p:val>
                                            <p:strVal val="#ppt_y+0.06"/>
                                          </p:val>
                                        </p:tav>
                                        <p:tav tm="100000">
                                          <p:val>
                                            <p:strVal val="#ppt_y"/>
                                          </p:val>
                                        </p:tav>
                                      </p:tavLst>
                                    </p:anim>
                                  </p:childTnLst>
                                </p:cTn>
                              </p:par>
                              <p:par>
                                <p:cTn id="27" presetID="42" presetClass="entr" presetSubtype="0" fill="hold" grpId="0" nodeType="withEffect">
                                  <p:stCondLst>
                                    <p:cond delay="900"/>
                                  </p:stCondLst>
                                  <p:childTnLst>
                                    <p:set>
                                      <p:cBhvr>
                                        <p:cTn id="26"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anim calcmode="lin" valueType="num">
                                      <p:cBhvr>
                                        <p:cTn id="29" dur="500" fill="hold"/>
                                        <p:tgtEl>
                                          <p:spTgt spid="30"/>
                                        </p:tgtEl>
                                        <p:attrNameLst>
                                          <p:attrName>ppt_x</p:attrName>
                                        </p:attrNameLst>
                                      </p:cBhvr>
                                      <p:tavLst>
                                        <p:tav tm="0">
                                          <p:val>
                                            <p:strVal val="#ppt_x"/>
                                          </p:val>
                                        </p:tav>
                                        <p:tav tm="100000">
                                          <p:val>
                                            <p:strVal val="#ppt_x"/>
                                          </p:val>
                                        </p:tav>
                                      </p:tavLst>
                                    </p:anim>
                                    <p:anim calcmode="lin" valueType="num">
                                      <p:cBhvr>
                                        <p:cTn id="30" dur="500" fill="hold"/>
                                        <p:tgtEl>
                                          <p:spTgt spid="30"/>
                                        </p:tgtEl>
                                        <p:attrNameLst>
                                          <p:attrName>ppt_y</p:attrName>
                                        </p:attrNameLst>
                                      </p:cBhvr>
                                      <p:tavLst>
                                        <p:tav tm="0">
                                          <p:val>
                                            <p:strVal val="#ppt_y+0.06"/>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4"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7"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40" presetID="22" presetClass="entr" presetSubtype="8" fill="hold" grpId="0" nodeType="withEffect">
                                  <p:stCondLst>
                                    <p:cond delay="10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1" dur="450"/>
                                        <p:tgtEl>
                                          <p:spTgt spid="21"/>
                                        </p:tgtEl>
                                      </p:cBhvr>
                                    </p:animEffect>
                                  </p:childTnLst>
                                </p:cTn>
                              </p:par>
                              <p:par>
                                <p:cTn id="43" presetID="22" presetClass="entr" presetSubtype="8" fill="hold" grpId="0" nodeType="withEffect">
                                  <p:stCondLst>
                                    <p:cond delay="30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4" dur="450"/>
                                        <p:tgtEl>
                                          <p:spTgt spid="10"/>
                                        </p:tgtEl>
                                      </p:cBhvr>
                                    </p:animEffect>
                                  </p:childTnLst>
                                </p:cTn>
                              </p:par>
                              <p:par>
                                <p:cTn id="46" presetID="53" presetClass="entr" presetSubtype="16" fill="hold" grpId="0" nodeType="withEffect">
                                  <p:stCondLst>
                                    <p:cond delay="300"/>
                                  </p:stCondLst>
                                  <p:childTnLst>
                                    <p:set>
                                      <p:cBhvr>
                                        <p:cTn id="45"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fltVal val="0"/>
                                          </p:val>
                                        </p:tav>
                                        <p:tav tm="100000">
                                          <p:val>
                                            <p:strVal val="#ppt_w"/>
                                          </p:val>
                                        </p:tav>
                                      </p:tavLst>
                                    </p:anim>
                                    <p:anim calcmode="lin" valueType="num">
                                      <p:cBhvr>
                                        <p:cTn id="48" dur="500" fill="hold"/>
                                        <p:tgtEl>
                                          <p:spTgt spid="11"/>
                                        </p:tgtEl>
                                        <p:attrNameLst>
                                          <p:attrName>ppt_h</p:attrName>
                                        </p:attrNameLst>
                                      </p:cBhvr>
                                      <p:tavLst>
                                        <p:tav tm="0">
                                          <p:val>
                                            <p:fltVal val="0"/>
                                          </p:val>
                                        </p:tav>
                                        <p:tav tm="100000">
                                          <p:val>
                                            <p:strVal val="#ppt_h"/>
                                          </p:val>
                                        </p:tav>
                                      </p:tavLst>
                                    </p:anim>
                                    <p:animEffect transition="in" filter="fade">
                                      <p:cBhvr>
                                        <p:cTn id="49" dur="500"/>
                                        <p:tgtEl>
                                          <p:spTgt spid="11"/>
                                        </p:tgtEl>
                                      </p:cBhvr>
                                    </p:animEffect>
                                  </p:childTnLst>
                                </p:cTn>
                              </p:par>
                              <p:par>
                                <p:cTn id="51" presetID="10" presetClass="entr" presetSubtype="0" fill="hold" grpId="0" nodeType="withEffect">
                                  <p:stCondLst>
                                    <p:cond delay="300"/>
                                  </p:stCondLst>
                                  <p:childTnLst>
                                    <p:set>
                                      <p:cBhvr>
                                        <p:cTn id="50"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4" presetID="10" presetClass="entr" presetSubtype="0" fill="hold" grpId="0" nodeType="withEffect">
                                  <p:stCondLst>
                                    <p:cond delay="400"/>
                                  </p:stCondLst>
                                  <p:childTnLst>
                                    <p:set>
                                      <p:cBhvr>
                                        <p:cTn id="53"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7" presetID="42" presetClass="entr" presetSubtype="0" fill="hold" grpId="0" nodeType="withEffect">
                                  <p:stCondLst>
                                    <p:cond delay="600"/>
                                  </p:stCondLst>
                                  <p:childTnLst>
                                    <p:set>
                                      <p:cBhvr>
                                        <p:cTn id="56" dur="1" fill="hold">
                                          <p:stCondLst>
                                            <p:cond delay="0"/>
                                          </p:stCondLst>
                                        </p:cTn>
                                        <p:tgtEl>
                                          <p:spTgt spid="31"/>
                                        </p:tgtEl>
                                        <p:attrNameLst>
                                          <p:attrName>style.visibility</p:attrName>
                                        </p:attrNameLst>
                                      </p:cBhvr>
                                      <p:to>
                                        <p:strVal val="visible"/>
                                      </p:to>
                                    </p:set>
                                    <p:animEffect transition="in" filter="fade">
                                      <p:cBhvr>
                                        <p:cTn id="58" dur="500"/>
                                        <p:tgtEl>
                                          <p:spTgt spid="31"/>
                                        </p:tgtEl>
                                      </p:cBhvr>
                                    </p:animEffect>
                                    <p:anim calcmode="lin" valueType="num">
                                      <p:cBhvr>
                                        <p:cTn id="59" dur="500" fill="hold"/>
                                        <p:tgtEl>
                                          <p:spTgt spid="31"/>
                                        </p:tgtEl>
                                        <p:attrNameLst>
                                          <p:attrName>ppt_x</p:attrName>
                                        </p:attrNameLst>
                                      </p:cBhvr>
                                      <p:tavLst>
                                        <p:tav tm="0">
                                          <p:val>
                                            <p:strVal val="#ppt_x"/>
                                          </p:val>
                                        </p:tav>
                                        <p:tav tm="100000">
                                          <p:val>
                                            <p:strVal val="#ppt_x"/>
                                          </p:val>
                                        </p:tav>
                                      </p:tavLst>
                                    </p:anim>
                                    <p:anim calcmode="lin" valueType="num">
                                      <p:cBhvr>
                                        <p:cTn id="60" dur="500" fill="hold"/>
                                        <p:tgtEl>
                                          <p:spTgt spid="31"/>
                                        </p:tgtEl>
                                        <p:attrNameLst>
                                          <p:attrName>ppt_y</p:attrName>
                                        </p:attrNameLst>
                                      </p:cBhvr>
                                      <p:tavLst>
                                        <p:tav tm="0">
                                          <p:val>
                                            <p:strVal val="#ppt_y+0.06"/>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4" presetID="22" presetClass="entr" presetSubtype="8" fill="hold" grpId="0" nodeType="clickEffect">
                                  <p:stCondLst>
                                    <p:cond delay="42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5" dur="450"/>
                                        <p:tgtEl>
                                          <p:spTgt spid="12"/>
                                        </p:tgtEl>
                                      </p:cBhvr>
                                    </p:animEffect>
                                  </p:childTnLst>
                                </p:cTn>
                              </p:par>
                              <p:par>
                                <p:cTn id="67" presetID="42" presetClass="entr" presetSubtype="0" fill="hold" grpId="0" nodeType="withEffect">
                                  <p:stCondLst>
                                    <p:cond delay="480"/>
                                  </p:stCondLst>
                                  <p:childTnLst>
                                    <p:set>
                                      <p:cBhvr>
                                        <p:cTn id="66"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500" fill="hold"/>
                                        <p:tgtEl>
                                          <p:spTgt spid="13"/>
                                        </p:tgtEl>
                                        <p:attrNameLst>
                                          <p:attrName>ppt_y</p:attrName>
                                        </p:attrNameLst>
                                      </p:cBhvr>
                                      <p:tavLst>
                                        <p:tav tm="0">
                                          <p:val>
                                            <p:strVal val="#ppt_y+0.06"/>
                                          </p:val>
                                        </p:tav>
                                        <p:tav tm="100000">
                                          <p:val>
                                            <p:strVal val="#ppt_y"/>
                                          </p:val>
                                        </p:tav>
                                      </p:tavLst>
                                    </p:anim>
                                  </p:childTnLst>
                                </p:cTn>
                              </p:par>
                              <p:par>
                                <p:cTn id="72" presetID="22" presetClass="entr" presetSubtype="8" fill="hold" grpId="0" nodeType="withEffect">
                                  <p:stCondLst>
                                    <p:cond delay="54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3" dur="450"/>
                                        <p:tgtEl>
                                          <p:spTgt spid="14"/>
                                        </p:tgtEl>
                                      </p:cBhvr>
                                    </p:animEffect>
                                  </p:childTnLst>
                                </p:cTn>
                              </p:par>
                              <p:par>
                                <p:cTn id="75" presetID="42" presetClass="entr" presetSubtype="0" fill="hold" grpId="0" nodeType="withEffect">
                                  <p:stCondLst>
                                    <p:cond delay="600"/>
                                  </p:stCondLst>
                                  <p:childTnLst>
                                    <p:set>
                                      <p:cBhvr>
                                        <p:cTn id="74"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anim calcmode="lin" valueType="num">
                                      <p:cBhvr>
                                        <p:cTn id="77" dur="500" fill="hold"/>
                                        <p:tgtEl>
                                          <p:spTgt spid="15"/>
                                        </p:tgtEl>
                                        <p:attrNameLst>
                                          <p:attrName>ppt_x</p:attrName>
                                        </p:attrNameLst>
                                      </p:cBhvr>
                                      <p:tavLst>
                                        <p:tav tm="0">
                                          <p:val>
                                            <p:strVal val="#ppt_x"/>
                                          </p:val>
                                        </p:tav>
                                        <p:tav tm="100000">
                                          <p:val>
                                            <p:strVal val="#ppt_x"/>
                                          </p:val>
                                        </p:tav>
                                      </p:tavLst>
                                    </p:anim>
                                    <p:anim calcmode="lin" valueType="num">
                                      <p:cBhvr>
                                        <p:cTn id="78" dur="500" fill="hold"/>
                                        <p:tgtEl>
                                          <p:spTgt spid="15"/>
                                        </p:tgtEl>
                                        <p:attrNameLst>
                                          <p:attrName>ppt_y</p:attrName>
                                        </p:attrNameLst>
                                      </p:cBhvr>
                                      <p:tavLst>
                                        <p:tav tm="0">
                                          <p:val>
                                            <p:strVal val="#ppt_y+0.06"/>
                                          </p:val>
                                        </p:tav>
                                        <p:tav tm="100000">
                                          <p:val>
                                            <p:strVal val="#ppt_y"/>
                                          </p:val>
                                        </p:tav>
                                      </p:tavLst>
                                    </p:anim>
                                  </p:childTnLst>
                                </p:cTn>
                              </p:par>
                              <p:par>
                                <p:cTn id="80" presetID="42" presetClass="entr" presetSubtype="0" fill="hold" grpId="0" nodeType="withEffect">
                                  <p:stCondLst>
                                    <p:cond delay="900"/>
                                  </p:stCondLst>
                                  <p:childTnLst>
                                    <p:set>
                                      <p:cBhvr>
                                        <p:cTn id="79"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anim calcmode="lin" valueType="num">
                                      <p:cBhvr>
                                        <p:cTn id="82" dur="500" fill="hold"/>
                                        <p:tgtEl>
                                          <p:spTgt spid="32"/>
                                        </p:tgtEl>
                                        <p:attrNameLst>
                                          <p:attrName>ppt_x</p:attrName>
                                        </p:attrNameLst>
                                      </p:cBhvr>
                                      <p:tavLst>
                                        <p:tav tm="0">
                                          <p:val>
                                            <p:strVal val="#ppt_x"/>
                                          </p:val>
                                        </p:tav>
                                        <p:tav tm="100000">
                                          <p:val>
                                            <p:strVal val="#ppt_x"/>
                                          </p:val>
                                        </p:tav>
                                      </p:tavLst>
                                    </p:anim>
                                    <p:anim calcmode="lin" valueType="num">
                                      <p:cBhvr>
                                        <p:cTn id="83" dur="500" fill="hold"/>
                                        <p:tgtEl>
                                          <p:spTgt spid="32"/>
                                        </p:tgtEl>
                                        <p:attrNameLst>
                                          <p:attrName>ppt_y</p:attrName>
                                        </p:attrNameLst>
                                      </p:cBhvr>
                                      <p:tavLst>
                                        <p:tav tm="0">
                                          <p:val>
                                            <p:strVal val="#ppt_y+0.06"/>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7" presetID="10"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childTnLst>
                                </p:cTn>
                              </p:par>
                              <p:par>
                                <p:cTn id="90" presetID="10" presetClass="entr" presetSubtype="0" fill="hold" grpId="0" nodeType="with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1" dur="500"/>
                                        <p:tgtEl>
                                          <p:spTgt spid="28"/>
                                        </p:tgtEl>
                                      </p:cBhvr>
                                    </p:animEffect>
                                  </p:childTnLst>
                                </p:cTn>
                              </p:par>
                              <p:par>
                                <p:cTn id="93" presetID="22" presetClass="entr" presetSubtype="8" fill="hold" grpId="0" nodeType="withEffect">
                                  <p:stCondLst>
                                    <p:cond delay="100"/>
                                  </p:stCondLst>
                                  <p:childTnLst>
                                    <p:set>
                                      <p:cBhvr>
                                        <p:cTn id="92" dur="1" fill="hold">
                                          <p:stCondLst>
                                            <p:cond delay="0"/>
                                          </p:stCondLst>
                                        </p:cTn>
                                        <p:tgtEl>
                                          <p:spTgt spid="26"/>
                                        </p:tgtEl>
                                        <p:attrNameLst>
                                          <p:attrName>style.visibility</p:attrName>
                                        </p:attrNameLst>
                                      </p:cBhvr>
                                      <p:to>
                                        <p:strVal val="visible"/>
                                      </p:to>
                                    </p:set>
                                    <p:animEffect transition="in" filter="wipe(left)">
                                      <p:cBhvr>
                                        <p:cTn id="94" dur="450"/>
                                        <p:tgtEl>
                                          <p:spTgt spid="26"/>
                                        </p:tgtEl>
                                      </p:cBhvr>
                                    </p:animEffect>
                                  </p:childTnLst>
                                </p:cTn>
                              </p:par>
                              <p:par>
                                <p:cTn id="96" presetID="53" presetClass="entr" presetSubtype="16" fill="hold" grpId="0" nodeType="withEffect">
                                  <p:stCondLst>
                                    <p:cond delay="300"/>
                                  </p:stCondLst>
                                  <p:childTnLst>
                                    <p:set>
                                      <p:cBhvr>
                                        <p:cTn id="95" dur="1" fill="hold">
                                          <p:stCondLst>
                                            <p:cond delay="0"/>
                                          </p:stCondLst>
                                        </p:cTn>
                                        <p:tgtEl>
                                          <p:spTgt spid="17"/>
                                        </p:tgtEl>
                                        <p:attrNameLst>
                                          <p:attrName>style.visibility</p:attrName>
                                        </p:attrNameLst>
                                      </p:cBhvr>
                                      <p:to>
                                        <p:strVal val="visible"/>
                                      </p:to>
                                    </p:set>
                                    <p:anim calcmode="lin" valueType="num">
                                      <p:cBhvr>
                                        <p:cTn id="97" dur="500" fill="hold"/>
                                        <p:tgtEl>
                                          <p:spTgt spid="17"/>
                                        </p:tgtEl>
                                        <p:attrNameLst>
                                          <p:attrName>ppt_w</p:attrName>
                                        </p:attrNameLst>
                                      </p:cBhvr>
                                      <p:tavLst>
                                        <p:tav tm="0">
                                          <p:val>
                                            <p:fltVal val="0"/>
                                          </p:val>
                                        </p:tav>
                                        <p:tav tm="100000">
                                          <p:val>
                                            <p:strVal val="#ppt_w"/>
                                          </p:val>
                                        </p:tav>
                                      </p:tavLst>
                                    </p:anim>
                                    <p:anim calcmode="lin" valueType="num">
                                      <p:cBhvr>
                                        <p:cTn id="98" dur="500" fill="hold"/>
                                        <p:tgtEl>
                                          <p:spTgt spid="17"/>
                                        </p:tgtEl>
                                        <p:attrNameLst>
                                          <p:attrName>ppt_h</p:attrName>
                                        </p:attrNameLst>
                                      </p:cBhvr>
                                      <p:tavLst>
                                        <p:tav tm="0">
                                          <p:val>
                                            <p:fltVal val="0"/>
                                          </p:val>
                                        </p:tav>
                                        <p:tav tm="100000">
                                          <p:val>
                                            <p:strVal val="#ppt_h"/>
                                          </p:val>
                                        </p:tav>
                                      </p:tavLst>
                                    </p:anim>
                                    <p:animEffect transition="in" filter="fade">
                                      <p:cBhvr>
                                        <p:cTn id="99" dur="500"/>
                                        <p:tgtEl>
                                          <p:spTgt spid="17"/>
                                        </p:tgtEl>
                                      </p:cBhvr>
                                    </p:animEffect>
                                  </p:childTnLst>
                                </p:cTn>
                              </p:par>
                              <p:par>
                                <p:cTn id="101" presetID="10" presetClass="entr" presetSubtype="0" fill="hold" grpId="0" nodeType="withEffect">
                                  <p:stCondLst>
                                    <p:cond delay="30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par>
                                <p:cTn id="104" presetID="10" presetClass="entr" presetSubtype="0" fill="hold" grpId="0" nodeType="withEffect">
                                  <p:stCondLst>
                                    <p:cond delay="40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500"/>
                                        <p:tgtEl>
                                          <p:spTgt spid="27"/>
                                        </p:tgtEl>
                                      </p:cBhvr>
                                    </p:animEffect>
                                  </p:childTnLst>
                                </p:cTn>
                              </p:par>
                              <p:par>
                                <p:cTn id="107" presetID="22" presetClass="entr" presetSubtype="8" fill="hold" grpId="0" nodeType="withEffect">
                                  <p:stCondLst>
                                    <p:cond delay="660"/>
                                  </p:stCondLst>
                                  <p:childTnLst>
                                    <p:set>
                                      <p:cBhvr>
                                        <p:cTn id="106" dur="1" fill="hold">
                                          <p:stCondLst>
                                            <p:cond delay="0"/>
                                          </p:stCondLst>
                                        </p:cTn>
                                        <p:tgtEl>
                                          <p:spTgt spid="16"/>
                                        </p:tgtEl>
                                        <p:attrNameLst>
                                          <p:attrName>style.visibility</p:attrName>
                                        </p:attrNameLst>
                                      </p:cBhvr>
                                      <p:to>
                                        <p:strVal val="visible"/>
                                      </p:to>
                                    </p:set>
                                    <p:animEffect transition="in" filter="wipe(left)">
                                      <p:cBhvr>
                                        <p:cTn id="108" dur="450"/>
                                        <p:tgtEl>
                                          <p:spTgt spid="16"/>
                                        </p:tgtEl>
                                      </p:cBhvr>
                                    </p:animEffect>
                                  </p:childTnLst>
                                </p:cTn>
                              </p:par>
                              <p:par>
                                <p:cTn id="110" presetID="22" presetClass="entr" presetSubtype="8" fill="hold" grpId="0" nodeType="withEffect">
                                  <p:stCondLst>
                                    <p:cond delay="780"/>
                                  </p:stCondLst>
                                  <p:childTnLst>
                                    <p:set>
                                      <p:cBhvr>
                                        <p:cTn id="109" dur="1" fill="hold">
                                          <p:stCondLst>
                                            <p:cond delay="0"/>
                                          </p:stCondLst>
                                        </p:cTn>
                                        <p:tgtEl>
                                          <p:spTgt spid="18"/>
                                        </p:tgtEl>
                                        <p:attrNameLst>
                                          <p:attrName>style.visibility</p:attrName>
                                        </p:attrNameLst>
                                      </p:cBhvr>
                                      <p:to>
                                        <p:strVal val="visible"/>
                                      </p:to>
                                    </p:set>
                                    <p:animEffect transition="in" filter="wipe(left)">
                                      <p:cBhvr>
                                        <p:cTn id="111" dur="450"/>
                                        <p:tgtEl>
                                          <p:spTgt spid="18"/>
                                        </p:tgtEl>
                                      </p:cBhvr>
                                    </p:animEffect>
                                  </p:childTnLst>
                                </p:cTn>
                              </p:par>
                              <p:par>
                                <p:cTn id="113" presetID="42" presetClass="entr" presetSubtype="0" fill="hold" grpId="0" nodeType="withEffect">
                                  <p:stCondLst>
                                    <p:cond delay="840"/>
                                  </p:stCondLst>
                                  <p:childTnLst>
                                    <p:set>
                                      <p:cBhvr>
                                        <p:cTn id="112" dur="1" fill="hold">
                                          <p:stCondLst>
                                            <p:cond delay="0"/>
                                          </p:stCondLst>
                                        </p:cTn>
                                        <p:tgtEl>
                                          <p:spTgt spid="19"/>
                                        </p:tgtEl>
                                        <p:attrNameLst>
                                          <p:attrName>style.visibility</p:attrName>
                                        </p:attrNameLst>
                                      </p:cBhvr>
                                      <p:to>
                                        <p:strVal val="visible"/>
                                      </p:to>
                                    </p:set>
                                    <p:animEffect transition="in" filter="fade">
                                      <p:cBhvr>
                                        <p:cTn id="114" dur="500"/>
                                        <p:tgtEl>
                                          <p:spTgt spid="19"/>
                                        </p:tgtEl>
                                      </p:cBhvr>
                                    </p:animEffect>
                                    <p:anim calcmode="lin" valueType="num">
                                      <p:cBhvr>
                                        <p:cTn id="115" dur="500" fill="hold"/>
                                        <p:tgtEl>
                                          <p:spTgt spid="19"/>
                                        </p:tgtEl>
                                        <p:attrNameLst>
                                          <p:attrName>ppt_x</p:attrName>
                                        </p:attrNameLst>
                                      </p:cBhvr>
                                      <p:tavLst>
                                        <p:tav tm="0">
                                          <p:val>
                                            <p:strVal val="#ppt_x"/>
                                          </p:val>
                                        </p:tav>
                                        <p:tav tm="100000">
                                          <p:val>
                                            <p:strVal val="#ppt_x"/>
                                          </p:val>
                                        </p:tav>
                                      </p:tavLst>
                                    </p:anim>
                                    <p:anim calcmode="lin" valueType="num">
                                      <p:cBhvr>
                                        <p:cTn id="116" dur="500" fill="hold"/>
                                        <p:tgtEl>
                                          <p:spTgt spid="19"/>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10 · MASKED SELF-ATTENTION</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Masked self-attention: no peeking at the future</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Each token may look at itself and the tokens before it — never at tokens that come later.</a:t>
            </a:r>
            <a:endParaRPr lang="en-US" sz="1300" dirty="0"/>
          </a:p>
        </p:txBody>
      </p:sp>
      <p:sp>
        <p:nvSpPr>
          <p:cNvPr id="5" name="Text 3"/>
          <p:cNvSpPr txBox="1"/>
          <p:nvPr/>
        </p:nvSpPr>
        <p:spPr>
          <a:xfrm>
            <a:off x="1691640" y="1536192"/>
            <a:ext cx="3017520" cy="219456"/>
          </a:xfrm>
          <a:prstGeom prst="rect">
            <a:avLst/>
          </a:prstGeom>
          <a:noFill/>
          <a:ln/>
        </p:spPr>
        <p:txBody>
          <a:bodyPr wrap="square" lIns="0" tIns="0" rIns="0" bIns="0" rtlCol="0" anchor="t"/>
          <a:lstStyle/>
          <a:p>
            <a:pPr algn="ctr" indent="0" marL="0">
              <a:buNone/>
            </a:pPr>
            <a:r>
              <a:rPr lang="en-US" sz="950" i="1" dirty="0">
                <a:solidFill>
                  <a:srgbClr val="64748B"/>
                </a:solidFill>
                <a:latin typeface="Inter" pitchFamily="34" charset="0"/>
                <a:ea typeface="Inter" pitchFamily="34" charset="-122"/>
                <a:cs typeface="Inter" pitchFamily="34" charset="-120"/>
              </a:rPr>
              <a:t>looks at →</a:t>
            </a:r>
            <a:endParaRPr lang="en-US" sz="950" dirty="0"/>
          </a:p>
        </p:txBody>
      </p:sp>
      <p:sp>
        <p:nvSpPr>
          <p:cNvPr id="6" name="Text 4"/>
          <p:cNvSpPr txBox="1"/>
          <p:nvPr/>
        </p:nvSpPr>
        <p:spPr>
          <a:xfrm>
            <a:off x="548640" y="1874520"/>
            <a:ext cx="1051560" cy="219456"/>
          </a:xfrm>
          <a:prstGeom prst="rect">
            <a:avLst/>
          </a:prstGeom>
          <a:noFill/>
          <a:ln/>
        </p:spPr>
        <p:txBody>
          <a:bodyPr wrap="square" lIns="0" tIns="0" rIns="0" bIns="0" rtlCol="0" anchor="t"/>
          <a:lstStyle/>
          <a:p>
            <a:pPr algn="r" indent="0" marL="0">
              <a:buNone/>
            </a:pPr>
            <a:r>
              <a:rPr lang="en-US" sz="950" i="1" dirty="0">
                <a:solidFill>
                  <a:srgbClr val="64748B"/>
                </a:solidFill>
                <a:latin typeface="Inter" pitchFamily="34" charset="0"/>
                <a:ea typeface="Inter" pitchFamily="34" charset="-122"/>
                <a:cs typeface="Inter" pitchFamily="34" charset="-120"/>
              </a:rPr>
              <a:t>looking ↓</a:t>
            </a:r>
            <a:endParaRPr lang="en-US" sz="950" dirty="0"/>
          </a:p>
        </p:txBody>
      </p:sp>
      <p:sp>
        <p:nvSpPr>
          <p:cNvPr id="7" name="Text 5"/>
          <p:cNvSpPr txBox="1"/>
          <p:nvPr/>
        </p:nvSpPr>
        <p:spPr>
          <a:xfrm>
            <a:off x="1691640" y="1874520"/>
            <a:ext cx="566928" cy="237744"/>
          </a:xfrm>
          <a:prstGeom prst="rect">
            <a:avLst/>
          </a:prstGeom>
          <a:noFill/>
          <a:ln/>
        </p:spPr>
        <p:txBody>
          <a:bodyPr wrap="square" lIns="0" tIns="0" rIns="0" bIns="0" rtlCol="0" anchor="t"/>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8" name="Text 6"/>
          <p:cNvSpPr txBox="1"/>
          <p:nvPr/>
        </p:nvSpPr>
        <p:spPr>
          <a:xfrm>
            <a:off x="548640" y="2359152"/>
            <a:ext cx="1051560" cy="237744"/>
          </a:xfrm>
          <a:prstGeom prst="rect">
            <a:avLst/>
          </a:prstGeom>
          <a:noFill/>
          <a:ln/>
        </p:spPr>
        <p:txBody>
          <a:bodyPr wrap="square" lIns="0" tIns="0" rIns="0" bIns="0" rtlCol="0" anchor="t"/>
          <a:lstStyle/>
          <a:p>
            <a:pPr algn="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9" name="Shape 7"/>
          <p:cNvSpPr/>
          <p:nvPr/>
        </p:nvSpPr>
        <p:spPr>
          <a:xfrm>
            <a:off x="1691640" y="2194560"/>
            <a:ext cx="566928" cy="566928"/>
          </a:xfrm>
          <a:prstGeom prst="rect">
            <a:avLst/>
          </a:prstGeom>
          <a:solidFill>
            <a:srgbClr val="F1F5F9"/>
          </a:solidFill>
          <a:ln/>
        </p:spPr>
      </p:sp>
      <p:sp>
        <p:nvSpPr>
          <p:cNvPr id="10" name="anim-2-fade-0-473"/>
          <p:cNvSpPr/>
          <p:nvPr/>
        </p:nvSpPr>
        <p:spPr>
          <a:xfrm>
            <a:off x="1691640" y="2194560"/>
            <a:ext cx="566928" cy="566928"/>
          </a:xfrm>
          <a:prstGeom prst="rect">
            <a:avLst>
              <a:gd name="adj" fmla="val 16129"/>
            </a:avLst>
          </a:prstGeom>
          <a:solidFill>
            <a:srgbClr val="7C3AED"/>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100%</a:t>
            </a:r>
            <a:endParaRPr lang="en-US" sz="1000" dirty="0"/>
          </a:p>
        </p:txBody>
      </p:sp>
      <p:sp>
        <p:nvSpPr>
          <p:cNvPr id="11" name="Shape 9"/>
          <p:cNvSpPr/>
          <p:nvPr/>
        </p:nvSpPr>
        <p:spPr>
          <a:xfrm>
            <a:off x="2304288" y="2194560"/>
            <a:ext cx="566928" cy="566928"/>
          </a:xfrm>
          <a:prstGeom prst="rect">
            <a:avLst/>
          </a:prstGeom>
          <a:solidFill>
            <a:srgbClr val="F1F5F9"/>
          </a:solidFill>
          <a:ln/>
        </p:spPr>
      </p:sp>
      <p:sp>
        <p:nvSpPr>
          <p:cNvPr id="12" name="anim-1-fade-60-474"/>
          <p:cNvSpPr/>
          <p:nvPr/>
        </p:nvSpPr>
        <p:spPr>
          <a:xfrm>
            <a:off x="2304288" y="2194560"/>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13" name="Shape 11"/>
          <p:cNvSpPr/>
          <p:nvPr/>
        </p:nvSpPr>
        <p:spPr>
          <a:xfrm>
            <a:off x="2916936" y="2194560"/>
            <a:ext cx="566928" cy="566928"/>
          </a:xfrm>
          <a:prstGeom prst="rect">
            <a:avLst/>
          </a:prstGeom>
          <a:solidFill>
            <a:srgbClr val="F1F5F9"/>
          </a:solidFill>
          <a:ln/>
        </p:spPr>
      </p:sp>
      <p:sp>
        <p:nvSpPr>
          <p:cNvPr id="14" name="anim-1-fade-120-475"/>
          <p:cNvSpPr/>
          <p:nvPr/>
        </p:nvSpPr>
        <p:spPr>
          <a:xfrm>
            <a:off x="2916936" y="2194560"/>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15" name="Shape 13"/>
          <p:cNvSpPr/>
          <p:nvPr/>
        </p:nvSpPr>
        <p:spPr>
          <a:xfrm>
            <a:off x="3529584" y="2194560"/>
            <a:ext cx="566928" cy="566928"/>
          </a:xfrm>
          <a:prstGeom prst="rect">
            <a:avLst/>
          </a:prstGeom>
          <a:solidFill>
            <a:srgbClr val="F1F5F9"/>
          </a:solidFill>
          <a:ln/>
        </p:spPr>
      </p:sp>
      <p:sp>
        <p:nvSpPr>
          <p:cNvPr id="16" name="anim-1-fade-180-476"/>
          <p:cNvSpPr/>
          <p:nvPr/>
        </p:nvSpPr>
        <p:spPr>
          <a:xfrm>
            <a:off x="3529584" y="2194560"/>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17" name="Shape 15"/>
          <p:cNvSpPr/>
          <p:nvPr/>
        </p:nvSpPr>
        <p:spPr>
          <a:xfrm>
            <a:off x="4142232" y="2194560"/>
            <a:ext cx="566928" cy="566928"/>
          </a:xfrm>
          <a:prstGeom prst="rect">
            <a:avLst/>
          </a:prstGeom>
          <a:solidFill>
            <a:srgbClr val="F1F5F9"/>
          </a:solidFill>
          <a:ln/>
        </p:spPr>
      </p:sp>
      <p:sp>
        <p:nvSpPr>
          <p:cNvPr id="18" name="anim-1-fade-240-477"/>
          <p:cNvSpPr/>
          <p:nvPr/>
        </p:nvSpPr>
        <p:spPr>
          <a:xfrm>
            <a:off x="4142232" y="2194560"/>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19" name="Text 17"/>
          <p:cNvSpPr txBox="1"/>
          <p:nvPr/>
        </p:nvSpPr>
        <p:spPr>
          <a:xfrm>
            <a:off x="2304288" y="1874520"/>
            <a:ext cx="566928" cy="237744"/>
          </a:xfrm>
          <a:prstGeom prst="rect">
            <a:avLst/>
          </a:prstGeom>
          <a:noFill/>
          <a:ln/>
        </p:spPr>
        <p:txBody>
          <a:bodyPr wrap="square" lIns="0" tIns="0" rIns="0" bIns="0" rtlCol="0" anchor="t"/>
          <a:lstStyle/>
          <a:p>
            <a:pPr algn="ct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20" name="Text 18"/>
          <p:cNvSpPr txBox="1"/>
          <p:nvPr/>
        </p:nvSpPr>
        <p:spPr>
          <a:xfrm>
            <a:off x="548640" y="2971800"/>
            <a:ext cx="1051560" cy="237744"/>
          </a:xfrm>
          <a:prstGeom prst="rect">
            <a:avLst/>
          </a:prstGeom>
          <a:noFill/>
          <a:ln/>
        </p:spPr>
        <p:txBody>
          <a:bodyPr wrap="square" lIns="0" tIns="0" rIns="0" bIns="0" rtlCol="0" anchor="t"/>
          <a:lstStyle/>
          <a:p>
            <a:pPr algn="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21" name="Shape 19"/>
          <p:cNvSpPr/>
          <p:nvPr/>
        </p:nvSpPr>
        <p:spPr>
          <a:xfrm>
            <a:off x="1691640" y="2807208"/>
            <a:ext cx="566928" cy="566928"/>
          </a:xfrm>
          <a:prstGeom prst="rect">
            <a:avLst/>
          </a:prstGeom>
          <a:solidFill>
            <a:srgbClr val="F1F5F9"/>
          </a:solidFill>
          <a:ln/>
        </p:spPr>
      </p:sp>
      <p:sp>
        <p:nvSpPr>
          <p:cNvPr id="22" name="anim-2-fade-220-478"/>
          <p:cNvSpPr/>
          <p:nvPr/>
        </p:nvSpPr>
        <p:spPr>
          <a:xfrm>
            <a:off x="1691640" y="2807208"/>
            <a:ext cx="566928" cy="566928"/>
          </a:xfrm>
          <a:prstGeom prst="rect">
            <a:avLst>
              <a:gd name="adj" fmla="val 16129"/>
            </a:avLst>
          </a:prstGeom>
          <a:solidFill>
            <a:srgbClr val="BC9CF7"/>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35%</a:t>
            </a:r>
            <a:endParaRPr lang="en-US" sz="1000" dirty="0"/>
          </a:p>
        </p:txBody>
      </p:sp>
      <p:sp>
        <p:nvSpPr>
          <p:cNvPr id="23" name="Shape 21"/>
          <p:cNvSpPr/>
          <p:nvPr/>
        </p:nvSpPr>
        <p:spPr>
          <a:xfrm>
            <a:off x="2304288" y="2807208"/>
            <a:ext cx="566928" cy="566928"/>
          </a:xfrm>
          <a:prstGeom prst="rect">
            <a:avLst/>
          </a:prstGeom>
          <a:solidFill>
            <a:srgbClr val="F1F5F9"/>
          </a:solidFill>
          <a:ln/>
        </p:spPr>
      </p:sp>
      <p:sp>
        <p:nvSpPr>
          <p:cNvPr id="24" name="anim-2-fade-220-479"/>
          <p:cNvSpPr/>
          <p:nvPr/>
        </p:nvSpPr>
        <p:spPr>
          <a:xfrm>
            <a:off x="2304288" y="2807208"/>
            <a:ext cx="566928" cy="566928"/>
          </a:xfrm>
          <a:prstGeom prst="rect">
            <a:avLst>
              <a:gd name="adj" fmla="val 16129"/>
            </a:avLst>
          </a:prstGeom>
          <a:solidFill>
            <a:srgbClr val="9865F1"/>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65%</a:t>
            </a:r>
            <a:endParaRPr lang="en-US" sz="1000" dirty="0"/>
          </a:p>
        </p:txBody>
      </p:sp>
      <p:sp>
        <p:nvSpPr>
          <p:cNvPr id="25" name="Shape 23"/>
          <p:cNvSpPr/>
          <p:nvPr/>
        </p:nvSpPr>
        <p:spPr>
          <a:xfrm>
            <a:off x="2916936" y="2807208"/>
            <a:ext cx="566928" cy="566928"/>
          </a:xfrm>
          <a:prstGeom prst="rect">
            <a:avLst/>
          </a:prstGeom>
          <a:solidFill>
            <a:srgbClr val="F1F5F9"/>
          </a:solidFill>
          <a:ln/>
        </p:spPr>
      </p:sp>
      <p:sp>
        <p:nvSpPr>
          <p:cNvPr id="26" name="anim-1-fade-180-480"/>
          <p:cNvSpPr/>
          <p:nvPr/>
        </p:nvSpPr>
        <p:spPr>
          <a:xfrm>
            <a:off x="2916936" y="2807208"/>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27" name="Shape 25"/>
          <p:cNvSpPr/>
          <p:nvPr/>
        </p:nvSpPr>
        <p:spPr>
          <a:xfrm>
            <a:off x="3529584" y="2807208"/>
            <a:ext cx="566928" cy="566928"/>
          </a:xfrm>
          <a:prstGeom prst="rect">
            <a:avLst/>
          </a:prstGeom>
          <a:solidFill>
            <a:srgbClr val="F1F5F9"/>
          </a:solidFill>
          <a:ln/>
        </p:spPr>
      </p:sp>
      <p:sp>
        <p:nvSpPr>
          <p:cNvPr id="28" name="anim-1-fade-240-481"/>
          <p:cNvSpPr/>
          <p:nvPr/>
        </p:nvSpPr>
        <p:spPr>
          <a:xfrm>
            <a:off x="3529584" y="2807208"/>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29" name="Shape 27"/>
          <p:cNvSpPr/>
          <p:nvPr/>
        </p:nvSpPr>
        <p:spPr>
          <a:xfrm>
            <a:off x="4142232" y="2807208"/>
            <a:ext cx="566928" cy="566928"/>
          </a:xfrm>
          <a:prstGeom prst="rect">
            <a:avLst/>
          </a:prstGeom>
          <a:solidFill>
            <a:srgbClr val="F1F5F9"/>
          </a:solidFill>
          <a:ln/>
        </p:spPr>
      </p:sp>
      <p:sp>
        <p:nvSpPr>
          <p:cNvPr id="30" name="anim-1-fade-300-482"/>
          <p:cNvSpPr/>
          <p:nvPr/>
        </p:nvSpPr>
        <p:spPr>
          <a:xfrm>
            <a:off x="4142232" y="2807208"/>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31" name="Text 29"/>
          <p:cNvSpPr txBox="1"/>
          <p:nvPr/>
        </p:nvSpPr>
        <p:spPr>
          <a:xfrm>
            <a:off x="2916936" y="1874520"/>
            <a:ext cx="566928" cy="237744"/>
          </a:xfrm>
          <a:prstGeom prst="rect">
            <a:avLst/>
          </a:prstGeom>
          <a:noFill/>
          <a:ln/>
        </p:spPr>
        <p:txBody>
          <a:bodyPr wrap="square" lIns="0" tIns="0" rIns="0" bIns="0" rtlCol="0" anchor="t"/>
          <a:lstStyle/>
          <a:p>
            <a:pPr algn="ct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32" name="Text 30"/>
          <p:cNvSpPr txBox="1"/>
          <p:nvPr/>
        </p:nvSpPr>
        <p:spPr>
          <a:xfrm>
            <a:off x="548640" y="3584448"/>
            <a:ext cx="1051560" cy="237744"/>
          </a:xfrm>
          <a:prstGeom prst="rect">
            <a:avLst/>
          </a:prstGeom>
          <a:noFill/>
          <a:ln/>
        </p:spPr>
        <p:txBody>
          <a:bodyPr wrap="square" lIns="0" tIns="0" rIns="0" bIns="0" rtlCol="0" anchor="t"/>
          <a:lstStyle/>
          <a:p>
            <a:pPr algn="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33" name="Shape 31"/>
          <p:cNvSpPr/>
          <p:nvPr/>
        </p:nvSpPr>
        <p:spPr>
          <a:xfrm>
            <a:off x="1691640" y="3419856"/>
            <a:ext cx="566928" cy="566928"/>
          </a:xfrm>
          <a:prstGeom prst="rect">
            <a:avLst/>
          </a:prstGeom>
          <a:solidFill>
            <a:srgbClr val="F1F5F9"/>
          </a:solidFill>
          <a:ln/>
        </p:spPr>
      </p:sp>
      <p:sp>
        <p:nvSpPr>
          <p:cNvPr id="34" name="anim-2-fade-440-483"/>
          <p:cNvSpPr/>
          <p:nvPr/>
        </p:nvSpPr>
        <p:spPr>
          <a:xfrm>
            <a:off x="1691640" y="3419856"/>
            <a:ext cx="566928" cy="566928"/>
          </a:xfrm>
          <a:prstGeom prst="rect">
            <a:avLst>
              <a:gd name="adj" fmla="val 16129"/>
            </a:avLst>
          </a:prstGeom>
          <a:solidFill>
            <a:srgbClr val="E2D5FC"/>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4%</a:t>
            </a:r>
            <a:endParaRPr lang="en-US" sz="1000" dirty="0"/>
          </a:p>
        </p:txBody>
      </p:sp>
      <p:sp>
        <p:nvSpPr>
          <p:cNvPr id="35" name="Shape 33"/>
          <p:cNvSpPr/>
          <p:nvPr/>
        </p:nvSpPr>
        <p:spPr>
          <a:xfrm>
            <a:off x="2304288" y="3419856"/>
            <a:ext cx="566928" cy="566928"/>
          </a:xfrm>
          <a:prstGeom prst="rect">
            <a:avLst/>
          </a:prstGeom>
          <a:solidFill>
            <a:srgbClr val="F1F5F9"/>
          </a:solidFill>
          <a:ln/>
        </p:spPr>
      </p:sp>
      <p:sp>
        <p:nvSpPr>
          <p:cNvPr id="36" name="anim-2-fade-440-484"/>
          <p:cNvSpPr/>
          <p:nvPr/>
        </p:nvSpPr>
        <p:spPr>
          <a:xfrm>
            <a:off x="2304288" y="3419856"/>
            <a:ext cx="566928" cy="566928"/>
          </a:xfrm>
          <a:prstGeom prst="rect">
            <a:avLst>
              <a:gd name="adj" fmla="val 16129"/>
            </a:avLst>
          </a:prstGeom>
          <a:solidFill>
            <a:srgbClr val="7E3EED"/>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86%</a:t>
            </a:r>
            <a:endParaRPr lang="en-US" sz="1000" dirty="0"/>
          </a:p>
        </p:txBody>
      </p:sp>
      <p:sp>
        <p:nvSpPr>
          <p:cNvPr id="37" name="Shape 35"/>
          <p:cNvSpPr/>
          <p:nvPr/>
        </p:nvSpPr>
        <p:spPr>
          <a:xfrm>
            <a:off x="2916936" y="3419856"/>
            <a:ext cx="566928" cy="566928"/>
          </a:xfrm>
          <a:prstGeom prst="rect">
            <a:avLst/>
          </a:prstGeom>
          <a:solidFill>
            <a:srgbClr val="F1F5F9"/>
          </a:solidFill>
          <a:ln/>
        </p:spPr>
      </p:sp>
      <p:sp>
        <p:nvSpPr>
          <p:cNvPr id="38" name="anim-2-fade-440-485"/>
          <p:cNvSpPr/>
          <p:nvPr/>
        </p:nvSpPr>
        <p:spPr>
          <a:xfrm>
            <a:off x="2916936" y="3419856"/>
            <a:ext cx="566928" cy="566928"/>
          </a:xfrm>
          <a:prstGeom prst="rect">
            <a:avLst>
              <a:gd name="adj" fmla="val 16129"/>
            </a:avLst>
          </a:prstGeom>
          <a:solidFill>
            <a:srgbClr val="DACAFB"/>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10%</a:t>
            </a:r>
            <a:endParaRPr lang="en-US" sz="1000" dirty="0"/>
          </a:p>
        </p:txBody>
      </p:sp>
      <p:sp>
        <p:nvSpPr>
          <p:cNvPr id="39" name="Shape 37"/>
          <p:cNvSpPr/>
          <p:nvPr/>
        </p:nvSpPr>
        <p:spPr>
          <a:xfrm>
            <a:off x="3529584" y="3419856"/>
            <a:ext cx="566928" cy="566928"/>
          </a:xfrm>
          <a:prstGeom prst="rect">
            <a:avLst/>
          </a:prstGeom>
          <a:solidFill>
            <a:srgbClr val="F1F5F9"/>
          </a:solidFill>
          <a:ln/>
        </p:spPr>
      </p:sp>
      <p:sp>
        <p:nvSpPr>
          <p:cNvPr id="40" name="anim-1-fade-300-486"/>
          <p:cNvSpPr/>
          <p:nvPr/>
        </p:nvSpPr>
        <p:spPr>
          <a:xfrm>
            <a:off x="3529584" y="3419856"/>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41" name="Shape 39"/>
          <p:cNvSpPr/>
          <p:nvPr/>
        </p:nvSpPr>
        <p:spPr>
          <a:xfrm>
            <a:off x="4142232" y="3419856"/>
            <a:ext cx="566928" cy="566928"/>
          </a:xfrm>
          <a:prstGeom prst="rect">
            <a:avLst/>
          </a:prstGeom>
          <a:solidFill>
            <a:srgbClr val="F1F5F9"/>
          </a:solidFill>
          <a:ln/>
        </p:spPr>
      </p:sp>
      <p:sp>
        <p:nvSpPr>
          <p:cNvPr id="42" name="anim-1-fade-360-487"/>
          <p:cNvSpPr/>
          <p:nvPr/>
        </p:nvSpPr>
        <p:spPr>
          <a:xfrm>
            <a:off x="4142232" y="3419856"/>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43" name="Text 41"/>
          <p:cNvSpPr txBox="1"/>
          <p:nvPr/>
        </p:nvSpPr>
        <p:spPr>
          <a:xfrm>
            <a:off x="3529584" y="1874520"/>
            <a:ext cx="566928" cy="237744"/>
          </a:xfrm>
          <a:prstGeom prst="rect">
            <a:avLst/>
          </a:prstGeom>
          <a:noFill/>
          <a:ln/>
        </p:spPr>
        <p:txBody>
          <a:bodyPr wrap="square" lIns="0" tIns="0" rIns="0" bIns="0" rtlCol="0" anchor="t"/>
          <a:lstStyle/>
          <a:p>
            <a:pPr algn="ct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44" name="Text 42"/>
          <p:cNvSpPr txBox="1"/>
          <p:nvPr/>
        </p:nvSpPr>
        <p:spPr>
          <a:xfrm>
            <a:off x="548640" y="4197096"/>
            <a:ext cx="1051560" cy="237744"/>
          </a:xfrm>
          <a:prstGeom prst="rect">
            <a:avLst/>
          </a:prstGeom>
          <a:noFill/>
          <a:ln/>
        </p:spPr>
        <p:txBody>
          <a:bodyPr wrap="square" lIns="0" tIns="0" rIns="0" bIns="0" rtlCol="0" anchor="t"/>
          <a:lstStyle/>
          <a:p>
            <a:pPr algn="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45" name="Shape 43"/>
          <p:cNvSpPr/>
          <p:nvPr/>
        </p:nvSpPr>
        <p:spPr>
          <a:xfrm>
            <a:off x="1691640" y="4032504"/>
            <a:ext cx="566928" cy="566928"/>
          </a:xfrm>
          <a:prstGeom prst="rect">
            <a:avLst/>
          </a:prstGeom>
          <a:solidFill>
            <a:srgbClr val="F1F5F9"/>
          </a:solidFill>
          <a:ln/>
        </p:spPr>
      </p:sp>
      <p:sp>
        <p:nvSpPr>
          <p:cNvPr id="46" name="anim-2-fade-660-488"/>
          <p:cNvSpPr/>
          <p:nvPr/>
        </p:nvSpPr>
        <p:spPr>
          <a:xfrm>
            <a:off x="1691640" y="4032504"/>
            <a:ext cx="566928" cy="566928"/>
          </a:xfrm>
          <a:prstGeom prst="rect">
            <a:avLst>
              <a:gd name="adj" fmla="val 16129"/>
            </a:avLst>
          </a:prstGeom>
          <a:solidFill>
            <a:srgbClr val="E0D4FC"/>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5%</a:t>
            </a:r>
            <a:endParaRPr lang="en-US" sz="1000" dirty="0"/>
          </a:p>
        </p:txBody>
      </p:sp>
      <p:sp>
        <p:nvSpPr>
          <p:cNvPr id="47" name="Shape 45"/>
          <p:cNvSpPr/>
          <p:nvPr/>
        </p:nvSpPr>
        <p:spPr>
          <a:xfrm>
            <a:off x="2304288" y="4032504"/>
            <a:ext cx="566928" cy="566928"/>
          </a:xfrm>
          <a:prstGeom prst="rect">
            <a:avLst/>
          </a:prstGeom>
          <a:solidFill>
            <a:srgbClr val="F1F5F9"/>
          </a:solidFill>
          <a:ln/>
        </p:spPr>
      </p:sp>
      <p:sp>
        <p:nvSpPr>
          <p:cNvPr id="48" name="anim-2-fade-660-489"/>
          <p:cNvSpPr/>
          <p:nvPr/>
        </p:nvSpPr>
        <p:spPr>
          <a:xfrm>
            <a:off x="2304288" y="4032504"/>
            <a:ext cx="566928" cy="566928"/>
          </a:xfrm>
          <a:prstGeom prst="rect">
            <a:avLst>
              <a:gd name="adj" fmla="val 16129"/>
            </a:avLst>
          </a:prstGeom>
          <a:solidFill>
            <a:srgbClr val="CEB8F9"/>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20%</a:t>
            </a:r>
            <a:endParaRPr lang="en-US" sz="1000" dirty="0"/>
          </a:p>
        </p:txBody>
      </p:sp>
      <p:sp>
        <p:nvSpPr>
          <p:cNvPr id="49" name="Shape 47"/>
          <p:cNvSpPr/>
          <p:nvPr/>
        </p:nvSpPr>
        <p:spPr>
          <a:xfrm>
            <a:off x="2916936" y="4032504"/>
            <a:ext cx="566928" cy="566928"/>
          </a:xfrm>
          <a:prstGeom prst="rect">
            <a:avLst/>
          </a:prstGeom>
          <a:solidFill>
            <a:srgbClr val="F1F5F9"/>
          </a:solidFill>
          <a:ln/>
        </p:spPr>
      </p:sp>
      <p:sp>
        <p:nvSpPr>
          <p:cNvPr id="50" name="anim-2-fade-660-490"/>
          <p:cNvSpPr/>
          <p:nvPr/>
        </p:nvSpPr>
        <p:spPr>
          <a:xfrm>
            <a:off x="2916936" y="4032504"/>
            <a:ext cx="566928" cy="566928"/>
          </a:xfrm>
          <a:prstGeom prst="rect">
            <a:avLst>
              <a:gd name="adj" fmla="val 16129"/>
            </a:avLst>
          </a:prstGeom>
          <a:solidFill>
            <a:srgbClr val="A477F3"/>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55%</a:t>
            </a:r>
            <a:endParaRPr lang="en-US" sz="1000" dirty="0"/>
          </a:p>
        </p:txBody>
      </p:sp>
      <p:sp>
        <p:nvSpPr>
          <p:cNvPr id="51" name="Shape 49"/>
          <p:cNvSpPr/>
          <p:nvPr/>
        </p:nvSpPr>
        <p:spPr>
          <a:xfrm>
            <a:off x="3529584" y="4032504"/>
            <a:ext cx="566928" cy="566928"/>
          </a:xfrm>
          <a:prstGeom prst="rect">
            <a:avLst/>
          </a:prstGeom>
          <a:solidFill>
            <a:srgbClr val="F1F5F9"/>
          </a:solidFill>
          <a:ln/>
        </p:spPr>
      </p:sp>
      <p:sp>
        <p:nvSpPr>
          <p:cNvPr id="52" name="anim-2-fade-660-491"/>
          <p:cNvSpPr/>
          <p:nvPr/>
        </p:nvSpPr>
        <p:spPr>
          <a:xfrm>
            <a:off x="3529584" y="4032504"/>
            <a:ext cx="566928" cy="566928"/>
          </a:xfrm>
          <a:prstGeom prst="rect">
            <a:avLst>
              <a:gd name="adj" fmla="val 16129"/>
            </a:avLst>
          </a:prstGeom>
          <a:solidFill>
            <a:srgbClr val="CEB8F9"/>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20%</a:t>
            </a:r>
            <a:endParaRPr lang="en-US" sz="1000" dirty="0"/>
          </a:p>
        </p:txBody>
      </p:sp>
      <p:sp>
        <p:nvSpPr>
          <p:cNvPr id="53" name="Shape 51"/>
          <p:cNvSpPr/>
          <p:nvPr/>
        </p:nvSpPr>
        <p:spPr>
          <a:xfrm>
            <a:off x="4142232" y="4032504"/>
            <a:ext cx="566928" cy="566928"/>
          </a:xfrm>
          <a:prstGeom prst="rect">
            <a:avLst/>
          </a:prstGeom>
          <a:solidFill>
            <a:srgbClr val="F1F5F9"/>
          </a:solidFill>
          <a:ln/>
        </p:spPr>
      </p:sp>
      <p:sp>
        <p:nvSpPr>
          <p:cNvPr id="54" name="anim-1-fade-420-492"/>
          <p:cNvSpPr/>
          <p:nvPr/>
        </p:nvSpPr>
        <p:spPr>
          <a:xfrm>
            <a:off x="4142232" y="4032504"/>
            <a:ext cx="566928" cy="566928"/>
          </a:xfrm>
          <a:prstGeom prst="rect">
            <a:avLst>
              <a:gd name="adj" fmla="val 16129"/>
            </a:avLst>
          </a:prstGeom>
          <a:solidFill>
            <a:srgbClr val="E2E8F0"/>
          </a:solidFill>
          <a:ln/>
        </p:spPr>
        <p:txBody>
          <a:bodyPr wrap="square" lIns="0" tIns="0" rIns="0" bIns="0" rtlCol="0" anchor="ctr"/>
          <a:lstStyle/>
          <a:p>
            <a:pPr algn="ctr" indent="0" marL="0">
              <a:buNone/>
            </a:pPr>
            <a:r>
              <a:rPr lang="en-US" sz="1200" dirty="0">
                <a:solidFill>
                  <a:srgbClr val="94A3B8"/>
                </a:solidFill>
                <a:latin typeface="Inter" pitchFamily="34" charset="0"/>
                <a:ea typeface="Inter" pitchFamily="34" charset="-122"/>
                <a:cs typeface="Inter" pitchFamily="34" charset="-120"/>
              </a:rPr>
              <a:t>✕</a:t>
            </a:r>
            <a:endParaRPr lang="en-US" sz="1200" dirty="0"/>
          </a:p>
        </p:txBody>
      </p:sp>
      <p:sp>
        <p:nvSpPr>
          <p:cNvPr id="55" name="Text 53"/>
          <p:cNvSpPr txBox="1"/>
          <p:nvPr/>
        </p:nvSpPr>
        <p:spPr>
          <a:xfrm>
            <a:off x="4142232" y="1874520"/>
            <a:ext cx="566928" cy="237744"/>
          </a:xfrm>
          <a:prstGeom prst="rect">
            <a:avLst/>
          </a:prstGeom>
          <a:noFill/>
          <a:ln/>
        </p:spPr>
        <p:txBody>
          <a:bodyPr wrap="square" lIns="0" tIns="0" rIns="0" bIns="0" rtlCol="0" anchor="t"/>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56" name="Text 54"/>
          <p:cNvSpPr txBox="1"/>
          <p:nvPr/>
        </p:nvSpPr>
        <p:spPr>
          <a:xfrm>
            <a:off x="548640" y="4809744"/>
            <a:ext cx="1051560" cy="237744"/>
          </a:xfrm>
          <a:prstGeom prst="rect">
            <a:avLst/>
          </a:prstGeom>
          <a:noFill/>
          <a:ln/>
        </p:spPr>
        <p:txBody>
          <a:bodyPr wrap="square" lIns="0" tIns="0" rIns="0" bIns="0" rtlCol="0" anchor="t"/>
          <a:lstStyle/>
          <a:p>
            <a:pPr algn="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57" name="Shape 55"/>
          <p:cNvSpPr/>
          <p:nvPr/>
        </p:nvSpPr>
        <p:spPr>
          <a:xfrm>
            <a:off x="1691640" y="4645152"/>
            <a:ext cx="566928" cy="566928"/>
          </a:xfrm>
          <a:prstGeom prst="rect">
            <a:avLst/>
          </a:prstGeom>
          <a:solidFill>
            <a:srgbClr val="F1F5F9"/>
          </a:solidFill>
          <a:ln/>
        </p:spPr>
      </p:sp>
      <p:sp>
        <p:nvSpPr>
          <p:cNvPr id="58" name="anim-2-fade-880-493"/>
          <p:cNvSpPr/>
          <p:nvPr/>
        </p:nvSpPr>
        <p:spPr>
          <a:xfrm>
            <a:off x="1691640" y="4645152"/>
            <a:ext cx="566928" cy="566928"/>
          </a:xfrm>
          <a:prstGeom prst="rect">
            <a:avLst>
              <a:gd name="adj" fmla="val 16129"/>
            </a:avLst>
          </a:prstGeom>
          <a:solidFill>
            <a:srgbClr val="DACAFB"/>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10%</a:t>
            </a:r>
            <a:endParaRPr lang="en-US" sz="1000" dirty="0"/>
          </a:p>
        </p:txBody>
      </p:sp>
      <p:sp>
        <p:nvSpPr>
          <p:cNvPr id="59" name="Shape 57"/>
          <p:cNvSpPr/>
          <p:nvPr/>
        </p:nvSpPr>
        <p:spPr>
          <a:xfrm>
            <a:off x="2304288" y="4645152"/>
            <a:ext cx="566928" cy="566928"/>
          </a:xfrm>
          <a:prstGeom prst="rect">
            <a:avLst/>
          </a:prstGeom>
          <a:solidFill>
            <a:srgbClr val="F1F5F9"/>
          </a:solidFill>
          <a:ln/>
        </p:spPr>
      </p:sp>
      <p:sp>
        <p:nvSpPr>
          <p:cNvPr id="60" name="anim-2-fade-880-494"/>
          <p:cNvSpPr/>
          <p:nvPr/>
        </p:nvSpPr>
        <p:spPr>
          <a:xfrm>
            <a:off x="2304288" y="4645152"/>
            <a:ext cx="566928" cy="566928"/>
          </a:xfrm>
          <a:prstGeom prst="rect">
            <a:avLst>
              <a:gd name="adj" fmla="val 16129"/>
            </a:avLst>
          </a:prstGeom>
          <a:solidFill>
            <a:srgbClr val="DDCEFB"/>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8%</a:t>
            </a:r>
            <a:endParaRPr lang="en-US" sz="1000" dirty="0"/>
          </a:p>
        </p:txBody>
      </p:sp>
      <p:sp>
        <p:nvSpPr>
          <p:cNvPr id="61" name="Shape 59"/>
          <p:cNvSpPr/>
          <p:nvPr/>
        </p:nvSpPr>
        <p:spPr>
          <a:xfrm>
            <a:off x="2916936" y="4645152"/>
            <a:ext cx="566928" cy="566928"/>
          </a:xfrm>
          <a:prstGeom prst="rect">
            <a:avLst/>
          </a:prstGeom>
          <a:solidFill>
            <a:srgbClr val="F1F5F9"/>
          </a:solidFill>
          <a:ln/>
        </p:spPr>
      </p:sp>
      <p:sp>
        <p:nvSpPr>
          <p:cNvPr id="62" name="anim-2-fade-880-495"/>
          <p:cNvSpPr/>
          <p:nvPr/>
        </p:nvSpPr>
        <p:spPr>
          <a:xfrm>
            <a:off x="2916936" y="4645152"/>
            <a:ext cx="566928" cy="566928"/>
          </a:xfrm>
          <a:prstGeom prst="rect">
            <a:avLst>
              <a:gd name="adj" fmla="val 16129"/>
            </a:avLst>
          </a:prstGeom>
          <a:solidFill>
            <a:srgbClr val="D8C7FB"/>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12%</a:t>
            </a:r>
            <a:endParaRPr lang="en-US" sz="1000" dirty="0"/>
          </a:p>
        </p:txBody>
      </p:sp>
      <p:sp>
        <p:nvSpPr>
          <p:cNvPr id="63" name="Shape 61"/>
          <p:cNvSpPr/>
          <p:nvPr/>
        </p:nvSpPr>
        <p:spPr>
          <a:xfrm>
            <a:off x="3529584" y="4645152"/>
            <a:ext cx="566928" cy="566928"/>
          </a:xfrm>
          <a:prstGeom prst="rect">
            <a:avLst/>
          </a:prstGeom>
          <a:solidFill>
            <a:srgbClr val="F1F5F9"/>
          </a:solidFill>
          <a:ln/>
        </p:spPr>
      </p:sp>
      <p:sp>
        <p:nvSpPr>
          <p:cNvPr id="64" name="anim-2-fade-880-496"/>
          <p:cNvSpPr/>
          <p:nvPr/>
        </p:nvSpPr>
        <p:spPr>
          <a:xfrm>
            <a:off x="3529584" y="4645152"/>
            <a:ext cx="566928" cy="566928"/>
          </a:xfrm>
          <a:prstGeom prst="rect">
            <a:avLst>
              <a:gd name="adj" fmla="val 16129"/>
            </a:avLst>
          </a:prstGeom>
          <a:solidFill>
            <a:srgbClr val="AA80F4"/>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50%</a:t>
            </a:r>
            <a:endParaRPr lang="en-US" sz="1000" dirty="0"/>
          </a:p>
        </p:txBody>
      </p:sp>
      <p:sp>
        <p:nvSpPr>
          <p:cNvPr id="65" name="Shape 63"/>
          <p:cNvSpPr/>
          <p:nvPr/>
        </p:nvSpPr>
        <p:spPr>
          <a:xfrm>
            <a:off x="4142232" y="4645152"/>
            <a:ext cx="566928" cy="566928"/>
          </a:xfrm>
          <a:prstGeom prst="rect">
            <a:avLst/>
          </a:prstGeom>
          <a:solidFill>
            <a:srgbClr val="F1F5F9"/>
          </a:solidFill>
          <a:ln/>
        </p:spPr>
      </p:sp>
      <p:sp>
        <p:nvSpPr>
          <p:cNvPr id="66" name="anim-2-fade-880-497"/>
          <p:cNvSpPr/>
          <p:nvPr/>
        </p:nvSpPr>
        <p:spPr>
          <a:xfrm>
            <a:off x="4142232" y="4645152"/>
            <a:ext cx="566928" cy="566928"/>
          </a:xfrm>
          <a:prstGeom prst="rect">
            <a:avLst>
              <a:gd name="adj" fmla="val 16129"/>
            </a:avLst>
          </a:prstGeom>
          <a:solidFill>
            <a:srgbClr val="CEB8F9"/>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20%</a:t>
            </a:r>
            <a:endParaRPr lang="en-US" sz="1000" dirty="0"/>
          </a:p>
        </p:txBody>
      </p:sp>
      <p:sp>
        <p:nvSpPr>
          <p:cNvPr id="67" name="anim-3-zoom-0-498"/>
          <p:cNvSpPr/>
          <p:nvPr/>
        </p:nvSpPr>
        <p:spPr>
          <a:xfrm>
            <a:off x="594360" y="3364992"/>
            <a:ext cx="4206240" cy="676656"/>
          </a:xfrm>
          <a:prstGeom prst="roundRect">
            <a:avLst>
              <a:gd name="adj" fmla="val 10811"/>
            </a:avLst>
          </a:prstGeom>
          <a:ln w="28575">
            <a:solidFill>
              <a:srgbClr val="E11D48"/>
            </a:solidFill>
            <a:prstDash val="solid"/>
          </a:ln>
        </p:spPr>
      </p:sp>
      <p:sp>
        <p:nvSpPr>
          <p:cNvPr id="68" name="Shape 66"/>
          <p:cNvSpPr/>
          <p:nvPr/>
        </p:nvSpPr>
        <p:spPr>
          <a:xfrm>
            <a:off x="548640" y="5440680"/>
            <a:ext cx="219456" cy="219456"/>
          </a:xfrm>
          <a:prstGeom prst="rect">
            <a:avLst/>
          </a:prstGeom>
          <a:solidFill>
            <a:srgbClr val="7C3AED"/>
          </a:solidFill>
          <a:ln/>
        </p:spPr>
      </p:sp>
      <p:sp>
        <p:nvSpPr>
          <p:cNvPr id="69" name="Text 67"/>
          <p:cNvSpPr txBox="1"/>
          <p:nvPr/>
        </p:nvSpPr>
        <p:spPr>
          <a:xfrm>
            <a:off x="841248" y="5449824"/>
            <a:ext cx="182880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allowed: % of attention</a:t>
            </a:r>
            <a:endParaRPr lang="en-US" sz="950" dirty="0"/>
          </a:p>
        </p:txBody>
      </p:sp>
      <p:sp>
        <p:nvSpPr>
          <p:cNvPr id="70" name="Shape 68"/>
          <p:cNvSpPr/>
          <p:nvPr/>
        </p:nvSpPr>
        <p:spPr>
          <a:xfrm>
            <a:off x="2697480" y="5440680"/>
            <a:ext cx="219456" cy="219456"/>
          </a:xfrm>
          <a:prstGeom prst="rect">
            <a:avLst/>
          </a:prstGeom>
          <a:solidFill>
            <a:srgbClr val="E2E8F0"/>
          </a:solidFill>
          <a:ln/>
        </p:spPr>
      </p:sp>
      <p:sp>
        <p:nvSpPr>
          <p:cNvPr id="71" name="Text 69"/>
          <p:cNvSpPr txBox="1"/>
          <p:nvPr/>
        </p:nvSpPr>
        <p:spPr>
          <a:xfrm>
            <a:off x="2990088" y="5449824"/>
            <a:ext cx="2011680" cy="219456"/>
          </a:xfrm>
          <a:prstGeom prst="rect">
            <a:avLst/>
          </a:prstGeom>
          <a:noFill/>
          <a:ln/>
        </p:spPr>
        <p:txBody>
          <a:bodyPr wrap="square" lIns="0" tIns="0" rIns="0" bIns="0" rtlCol="0" anchor="t"/>
          <a:lstStyle/>
          <a:p>
            <a:pPr indent="0" marL="0">
              <a:buNone/>
            </a:pPr>
            <a:r>
              <a:rPr lang="en-US" sz="950" dirty="0">
                <a:solidFill>
                  <a:srgbClr val="64748B"/>
                </a:solidFill>
                <a:latin typeface="Inter" pitchFamily="34" charset="0"/>
                <a:ea typeface="Inter" pitchFamily="34" charset="-122"/>
                <a:cs typeface="Inter" pitchFamily="34" charset="-120"/>
              </a:rPr>
              <a:t>masked: future token → 0%</a:t>
            </a:r>
            <a:endParaRPr lang="en-US" sz="950" dirty="0"/>
          </a:p>
        </p:txBody>
      </p:sp>
      <p:sp>
        <p:nvSpPr>
          <p:cNvPr id="72" name="Text 70"/>
          <p:cNvSpPr txBox="1"/>
          <p:nvPr/>
        </p:nvSpPr>
        <p:spPr>
          <a:xfrm>
            <a:off x="548640" y="5760720"/>
            <a:ext cx="4206240" cy="219456"/>
          </a:xfrm>
          <a:prstGeom prst="rect">
            <a:avLst/>
          </a:prstGeom>
          <a:noFill/>
          <a:ln/>
        </p:spPr>
        <p:txBody>
          <a:bodyPr wrap="square" lIns="0" tIns="0" rIns="0" bIns="0" rtlCol="0" anchor="t"/>
          <a:lstStyle/>
          <a:p>
            <a:pPr indent="0" marL="0">
              <a:buNone/>
            </a:pPr>
            <a:r>
              <a:rPr lang="en-US" sz="950" i="1" dirty="0">
                <a:solidFill>
                  <a:srgbClr val="94A3B8"/>
                </a:solidFill>
                <a:latin typeface="Inter" pitchFamily="34" charset="0"/>
                <a:ea typeface="Inter" pitchFamily="34" charset="-122"/>
                <a:cs typeface="Inter" pitchFamily="34" charset="-120"/>
              </a:rPr>
              <a:t>Each row adds up to 100%.</a:t>
            </a:r>
            <a:endParaRPr lang="en-US" sz="950" dirty="0"/>
          </a:p>
        </p:txBody>
      </p:sp>
      <p:sp>
        <p:nvSpPr>
          <p:cNvPr id="73" name="anim-1-rise-300-499"/>
          <p:cNvSpPr/>
          <p:nvPr/>
        </p:nvSpPr>
        <p:spPr>
          <a:xfrm>
            <a:off x="5349240" y="1874520"/>
            <a:ext cx="6263640" cy="1234440"/>
          </a:xfrm>
          <a:prstGeom prst="roundRect">
            <a:avLst>
              <a:gd name="adj" fmla="val 7407"/>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How to read the grid</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Each row is one token looking back over the sentence; darker = more attention.</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Everything above the diagonal is the future, so it’s blocked (✕).</a:t>
            </a:r>
            <a:endParaRPr lang="en-US" sz="1300" dirty="0"/>
          </a:p>
        </p:txBody>
      </p:sp>
      <p:sp>
        <p:nvSpPr>
          <p:cNvPr id="74" name="anim-3-rise-300-500"/>
          <p:cNvSpPr/>
          <p:nvPr/>
        </p:nvSpPr>
        <p:spPr>
          <a:xfrm>
            <a:off x="5349240" y="3291840"/>
            <a:ext cx="6263640" cy="1325880"/>
          </a:xfrm>
          <a:prstGeom prst="roundRect">
            <a:avLst>
              <a:gd name="adj" fmla="val 6897"/>
            </a:avLst>
          </a:prstGeom>
          <a:solidFill>
            <a:srgbClr val="FFE4E6"/>
          </a:solidFill>
          <a:ln/>
        </p:spPr>
        <p:txBody>
          <a:bodyPr wrap="square" lIns="127000" tIns="152400" rIns="152400" bIns="127000" rtlCol="0" anchor="t"/>
          <a:lstStyle/>
          <a:p>
            <a:pPr indent="0" marL="0">
              <a:buNone/>
            </a:pPr>
            <a:r>
              <a:rPr lang="en-US" sz="1300" b="1" dirty="0">
                <a:solidFill>
                  <a:srgbClr val="E11D48"/>
                </a:solidFill>
                <a:latin typeface="Inter" pitchFamily="34" charset="0"/>
                <a:ea typeface="Inter" pitchFamily="34" charset="-122"/>
                <a:cs typeface="Inter" pitchFamily="34" charset="-120"/>
              </a:rPr>
              <a:t>Zoom in on “sat”</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It can see “The”, “cat” and itself. Most of its attention (86%) goes to “cat” — the one doing the sitting.</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“on” and “the” don’t exist yet from its point of view.</a:t>
            </a:r>
            <a:endParaRPr lang="en-US" sz="1300" dirty="0"/>
          </a:p>
        </p:txBody>
      </p:sp>
      <p:sp>
        <p:nvSpPr>
          <p:cNvPr id="75" name="anim-4-rise-0-501"/>
          <p:cNvSpPr/>
          <p:nvPr/>
        </p:nvSpPr>
        <p:spPr>
          <a:xfrm>
            <a:off x="5349240" y="4800600"/>
            <a:ext cx="6263640" cy="1325880"/>
          </a:xfrm>
          <a:prstGeom prst="roundRect">
            <a:avLst>
              <a:gd name="adj" fmla="val 6897"/>
            </a:avLst>
          </a:prstGeom>
          <a:solidFill>
            <a:srgbClr val="F1F5F9"/>
          </a:solidFill>
          <a:ln/>
        </p:spPr>
        <p:txBody>
          <a:bodyPr wrap="square" lIns="127000" tIns="152400" rIns="152400" bIns="127000" rtlCol="0" anchor="t"/>
          <a:lstStyle/>
          <a:p>
            <a:pPr indent="0" marL="0">
              <a:buNone/>
            </a:pPr>
            <a:r>
              <a:rPr lang="en-US" sz="1300" b="1" dirty="0">
                <a:solidFill>
                  <a:srgbClr val="0F172A"/>
                </a:solidFill>
                <a:latin typeface="Inter" pitchFamily="34" charset="0"/>
                <a:ea typeface="Inter" pitchFamily="34" charset="-122"/>
                <a:cs typeface="Inter" pitchFamily="34" charset="-120"/>
              </a:rPr>
              <a:t>How the mask works</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Before softmax, every future score is set to −∞. Since e^(−∞) = 0, future tokens get exactly 0% attention.</a:t>
            </a:r>
            <a:endParaRPr lang="en-US" sz="1300" dirty="0"/>
          </a:p>
          <a:p>
            <a:pPr indent="0" marL="0">
              <a:spcBef>
                <a:spcPts val="400"/>
              </a:spcBef>
              <a:buNone/>
            </a:pPr>
            <a:r>
              <a:rPr lang="en-US" sz="1100" i="1" dirty="0">
                <a:solidFill>
                  <a:srgbClr val="334155"/>
                </a:solidFill>
                <a:latin typeface="Inter" pitchFamily="34" charset="0"/>
                <a:ea typeface="Inter" pitchFamily="34" charset="-122"/>
                <a:cs typeface="Inter" pitchFamily="34" charset="-120"/>
              </a:rPr>
              <a:t>Like reading a mystery with a card covering the rest of the page.</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60"/>
                                  </p:stCondLst>
                                  <p:childTnLst>
                                    <p:set>
                                      <p:cBhvr>
                                        <p:cTn id="5"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9" presetID="10" presetClass="entr" presetSubtype="0" fill="hold" grpId="0" nodeType="withEffect">
                                  <p:stCondLst>
                                    <p:cond delay="120"/>
                                  </p:stCondLst>
                                  <p:childTnLst>
                                    <p:set>
                                      <p:cBhvr>
                                        <p:cTn id="8"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2" presetID="10" presetClass="entr" presetSubtype="0" fill="hold" grpId="0" nodeType="withEffect">
                                  <p:stCondLst>
                                    <p:cond delay="180"/>
                                  </p:stCondLst>
                                  <p:childTnLst>
                                    <p:set>
                                      <p:cBhvr>
                                        <p:cTn id="11"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5" presetID="10" presetClass="entr" presetSubtype="0" fill="hold" grpId="0" nodeType="withEffect">
                                  <p:stCondLst>
                                    <p:cond delay="180"/>
                                  </p:stCondLst>
                                  <p:childTnLst>
                                    <p:set>
                                      <p:cBhvr>
                                        <p:cTn id="14"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8" presetID="10" presetClass="entr" presetSubtype="0" fill="hold" grpId="0" nodeType="withEffect">
                                  <p:stCondLst>
                                    <p:cond delay="240"/>
                                  </p:stCondLst>
                                  <p:childTnLst>
                                    <p:set>
                                      <p:cBhvr>
                                        <p:cTn id="17"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1" presetID="10" presetClass="entr" presetSubtype="0" fill="hold" grpId="0" nodeType="withEffect">
                                  <p:stCondLst>
                                    <p:cond delay="240"/>
                                  </p:stCondLst>
                                  <p:childTnLst>
                                    <p:set>
                                      <p:cBhvr>
                                        <p:cTn id="20"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4" presetID="10" presetClass="entr" presetSubtype="0" fill="hold" grpId="0" nodeType="withEffect">
                                  <p:stCondLst>
                                    <p:cond delay="300"/>
                                  </p:stCondLst>
                                  <p:childTnLst>
                                    <p:set>
                                      <p:cBhvr>
                                        <p:cTn id="23"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7" presetID="10" presetClass="entr" presetSubtype="0" fill="hold" grpId="0" nodeType="withEffect">
                                  <p:stCondLst>
                                    <p:cond delay="300"/>
                                  </p:stCondLst>
                                  <p:childTnLst>
                                    <p:set>
                                      <p:cBhvr>
                                        <p:cTn id="26"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par>
                                <p:cTn id="30" presetID="42" presetClass="entr" presetSubtype="0" fill="hold" grpId="0" nodeType="withEffect">
                                  <p:stCondLst>
                                    <p:cond delay="300"/>
                                  </p:stCondLst>
                                  <p:childTnLst>
                                    <p:set>
                                      <p:cBhvr>
                                        <p:cTn id="29" dur="1" fill="hold">
                                          <p:stCondLst>
                                            <p:cond delay="0"/>
                                          </p:stCondLst>
                                        </p:cTn>
                                        <p:tgtEl>
                                          <p:spTgt spid="73"/>
                                        </p:tgtEl>
                                        <p:attrNameLst>
                                          <p:attrName>style.visibility</p:attrName>
                                        </p:attrNameLst>
                                      </p:cBhvr>
                                      <p:to>
                                        <p:strVal val="visible"/>
                                      </p:to>
                                    </p:set>
                                    <p:animEffect transition="in" filter="fade">
                                      <p:cBhvr>
                                        <p:cTn id="31" dur="500"/>
                                        <p:tgtEl>
                                          <p:spTgt spid="73"/>
                                        </p:tgtEl>
                                      </p:cBhvr>
                                    </p:animEffect>
                                    <p:anim calcmode="lin" valueType="num">
                                      <p:cBhvr>
                                        <p:cTn id="32" dur="500" fill="hold"/>
                                        <p:tgtEl>
                                          <p:spTgt spid="73"/>
                                        </p:tgtEl>
                                        <p:attrNameLst>
                                          <p:attrName>ppt_x</p:attrName>
                                        </p:attrNameLst>
                                      </p:cBhvr>
                                      <p:tavLst>
                                        <p:tav tm="0">
                                          <p:val>
                                            <p:strVal val="#ppt_x"/>
                                          </p:val>
                                        </p:tav>
                                        <p:tav tm="100000">
                                          <p:val>
                                            <p:strVal val="#ppt_x"/>
                                          </p:val>
                                        </p:tav>
                                      </p:tavLst>
                                    </p:anim>
                                    <p:anim calcmode="lin" valueType="num">
                                      <p:cBhvr>
                                        <p:cTn id="33" dur="500" fill="hold"/>
                                        <p:tgtEl>
                                          <p:spTgt spid="73"/>
                                        </p:tgtEl>
                                        <p:attrNameLst>
                                          <p:attrName>ppt_y</p:attrName>
                                        </p:attrNameLst>
                                      </p:cBhvr>
                                      <p:tavLst>
                                        <p:tav tm="0">
                                          <p:val>
                                            <p:strVal val="#ppt_y+0.06"/>
                                          </p:val>
                                        </p:tav>
                                        <p:tav tm="100000">
                                          <p:val>
                                            <p:strVal val="#ppt_y"/>
                                          </p:val>
                                        </p:tav>
                                      </p:tavLst>
                                    </p:anim>
                                  </p:childTnLst>
                                </p:cTn>
                              </p:par>
                              <p:par>
                                <p:cTn id="35" presetID="10" presetClass="entr" presetSubtype="0" fill="hold" grpId="0" nodeType="withEffect">
                                  <p:stCondLst>
                                    <p:cond delay="360"/>
                                  </p:stCondLst>
                                  <p:childTnLst>
                                    <p:set>
                                      <p:cBhvr>
                                        <p:cTn id="34" dur="1" fill="hold">
                                          <p:stCondLst>
                                            <p:cond delay="0"/>
                                          </p:stCondLst>
                                        </p:cTn>
                                        <p:tgtEl>
                                          <p:spTgt spid="42"/>
                                        </p:tgtEl>
                                        <p:attrNameLst>
                                          <p:attrName>style.visibility</p:attrName>
                                        </p:attrNameLst>
                                      </p:cBhvr>
                                      <p:to>
                                        <p:strVal val="visible"/>
                                      </p:to>
                                    </p:set>
                                    <p:animEffect transition="in" filter="fade">
                                      <p:cBhvr>
                                        <p:cTn id="36" dur="500"/>
                                        <p:tgtEl>
                                          <p:spTgt spid="42"/>
                                        </p:tgtEl>
                                      </p:cBhvr>
                                    </p:animEffect>
                                  </p:childTnLst>
                                </p:cTn>
                              </p:par>
                              <p:par>
                                <p:cTn id="38" presetID="10" presetClass="entr" presetSubtype="0" fill="hold" grpId="0" nodeType="withEffect">
                                  <p:stCondLst>
                                    <p:cond delay="420"/>
                                  </p:stCondLst>
                                  <p:childTnLst>
                                    <p:set>
                                      <p:cBhvr>
                                        <p:cTn id="37"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childTnLst>
                                </p:cTn>
                              </p:par>
                            </p:childTnLst>
                          </p:cTn>
                        </p:par>
                      </p:childTnLst>
                    </p:cTn>
                  </p:par>
                  <p:par>
                    <p:cTn id="40" fill="hold">
                      <p:stCondLst>
                        <p:cond delay="indefinite"/>
                      </p:stCondLst>
                      <p:childTnLst>
                        <p:par>
                          <p:cTn id="41" fill="hold">
                            <p:stCondLst>
                              <p:cond delay="0"/>
                            </p:stCondLst>
                            <p:childTnLst>
                              <p:par>
                                <p:cTn id="43" presetID="10"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6" presetID="10" presetClass="entr" presetSubtype="0" fill="hold" grpId="0" nodeType="withEffect">
                                  <p:stCondLst>
                                    <p:cond delay="220"/>
                                  </p:stCondLst>
                                  <p:childTnLst>
                                    <p:set>
                                      <p:cBhvr>
                                        <p:cTn id="45"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49" presetID="10" presetClass="entr" presetSubtype="0" fill="hold" grpId="0" nodeType="withEffect">
                                  <p:stCondLst>
                                    <p:cond delay="220"/>
                                  </p:stCondLst>
                                  <p:childTnLst>
                                    <p:set>
                                      <p:cBhvr>
                                        <p:cTn id="48"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2" presetID="10" presetClass="entr" presetSubtype="0" fill="hold" grpId="0" nodeType="withEffect">
                                  <p:stCondLst>
                                    <p:cond delay="440"/>
                                  </p:stCondLst>
                                  <p:childTnLst>
                                    <p:set>
                                      <p:cBhvr>
                                        <p:cTn id="51"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5" presetID="10" presetClass="entr" presetSubtype="0" fill="hold" grpId="0" nodeType="withEffect">
                                  <p:stCondLst>
                                    <p:cond delay="440"/>
                                  </p:stCondLst>
                                  <p:childTnLst>
                                    <p:set>
                                      <p:cBhvr>
                                        <p:cTn id="54" dur="1" fill="hold">
                                          <p:stCondLst>
                                            <p:cond delay="0"/>
                                          </p:stCondLst>
                                        </p:cTn>
                                        <p:tgtEl>
                                          <p:spTgt spid="36"/>
                                        </p:tgtEl>
                                        <p:attrNameLst>
                                          <p:attrName>style.visibility</p:attrName>
                                        </p:attrNameLst>
                                      </p:cBhvr>
                                      <p:to>
                                        <p:strVal val="visible"/>
                                      </p:to>
                                    </p:set>
                                    <p:animEffect transition="in" filter="fade">
                                      <p:cBhvr>
                                        <p:cTn id="56" dur="500"/>
                                        <p:tgtEl>
                                          <p:spTgt spid="36"/>
                                        </p:tgtEl>
                                      </p:cBhvr>
                                    </p:animEffect>
                                  </p:childTnLst>
                                </p:cTn>
                              </p:par>
                              <p:par>
                                <p:cTn id="58" presetID="10" presetClass="entr" presetSubtype="0" fill="hold" grpId="0" nodeType="withEffect">
                                  <p:stCondLst>
                                    <p:cond delay="440"/>
                                  </p:stCondLst>
                                  <p:childTnLst>
                                    <p:set>
                                      <p:cBhvr>
                                        <p:cTn id="57"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par>
                                <p:cTn id="61" presetID="10" presetClass="entr" presetSubtype="0" fill="hold" grpId="0" nodeType="withEffect">
                                  <p:stCondLst>
                                    <p:cond delay="660"/>
                                  </p:stCondLst>
                                  <p:childTnLst>
                                    <p:set>
                                      <p:cBhvr>
                                        <p:cTn id="60" dur="1" fill="hold">
                                          <p:stCondLst>
                                            <p:cond delay="0"/>
                                          </p:stCondLst>
                                        </p:cTn>
                                        <p:tgtEl>
                                          <p:spTgt spid="46"/>
                                        </p:tgtEl>
                                        <p:attrNameLst>
                                          <p:attrName>style.visibility</p:attrName>
                                        </p:attrNameLst>
                                      </p:cBhvr>
                                      <p:to>
                                        <p:strVal val="visible"/>
                                      </p:to>
                                    </p:set>
                                    <p:animEffect transition="in" filter="fade">
                                      <p:cBhvr>
                                        <p:cTn id="62" dur="500"/>
                                        <p:tgtEl>
                                          <p:spTgt spid="46"/>
                                        </p:tgtEl>
                                      </p:cBhvr>
                                    </p:animEffect>
                                  </p:childTnLst>
                                </p:cTn>
                              </p:par>
                              <p:par>
                                <p:cTn id="64" presetID="10" presetClass="entr" presetSubtype="0" fill="hold" grpId="0" nodeType="withEffect">
                                  <p:stCondLst>
                                    <p:cond delay="660"/>
                                  </p:stCondLst>
                                  <p:childTnLst>
                                    <p:set>
                                      <p:cBhvr>
                                        <p:cTn id="63" dur="1" fill="hold">
                                          <p:stCondLst>
                                            <p:cond delay="0"/>
                                          </p:stCondLst>
                                        </p:cTn>
                                        <p:tgtEl>
                                          <p:spTgt spid="48"/>
                                        </p:tgtEl>
                                        <p:attrNameLst>
                                          <p:attrName>style.visibility</p:attrName>
                                        </p:attrNameLst>
                                      </p:cBhvr>
                                      <p:to>
                                        <p:strVal val="visible"/>
                                      </p:to>
                                    </p:set>
                                    <p:animEffect transition="in" filter="fade">
                                      <p:cBhvr>
                                        <p:cTn id="65" dur="500"/>
                                        <p:tgtEl>
                                          <p:spTgt spid="48"/>
                                        </p:tgtEl>
                                      </p:cBhvr>
                                    </p:animEffect>
                                  </p:childTnLst>
                                </p:cTn>
                              </p:par>
                              <p:par>
                                <p:cTn id="67" presetID="10" presetClass="entr" presetSubtype="0" fill="hold" grpId="0" nodeType="withEffect">
                                  <p:stCondLst>
                                    <p:cond delay="660"/>
                                  </p:stCondLst>
                                  <p:childTnLst>
                                    <p:set>
                                      <p:cBhvr>
                                        <p:cTn id="66" dur="1" fill="hold">
                                          <p:stCondLst>
                                            <p:cond delay="0"/>
                                          </p:stCondLst>
                                        </p:cTn>
                                        <p:tgtEl>
                                          <p:spTgt spid="50"/>
                                        </p:tgtEl>
                                        <p:attrNameLst>
                                          <p:attrName>style.visibility</p:attrName>
                                        </p:attrNameLst>
                                      </p:cBhvr>
                                      <p:to>
                                        <p:strVal val="visible"/>
                                      </p:to>
                                    </p:set>
                                    <p:animEffect transition="in" filter="fade">
                                      <p:cBhvr>
                                        <p:cTn id="68" dur="500"/>
                                        <p:tgtEl>
                                          <p:spTgt spid="50"/>
                                        </p:tgtEl>
                                      </p:cBhvr>
                                    </p:animEffect>
                                  </p:childTnLst>
                                </p:cTn>
                              </p:par>
                              <p:par>
                                <p:cTn id="70" presetID="10" presetClass="entr" presetSubtype="0" fill="hold" grpId="0" nodeType="withEffect">
                                  <p:stCondLst>
                                    <p:cond delay="660"/>
                                  </p:stCondLst>
                                  <p:childTnLst>
                                    <p:set>
                                      <p:cBhvr>
                                        <p:cTn id="69" dur="1" fill="hold">
                                          <p:stCondLst>
                                            <p:cond delay="0"/>
                                          </p:stCondLst>
                                        </p:cTn>
                                        <p:tgtEl>
                                          <p:spTgt spid="52"/>
                                        </p:tgtEl>
                                        <p:attrNameLst>
                                          <p:attrName>style.visibility</p:attrName>
                                        </p:attrNameLst>
                                      </p:cBhvr>
                                      <p:to>
                                        <p:strVal val="visible"/>
                                      </p:to>
                                    </p:set>
                                    <p:animEffect transition="in" filter="fade">
                                      <p:cBhvr>
                                        <p:cTn id="71" dur="500"/>
                                        <p:tgtEl>
                                          <p:spTgt spid="52"/>
                                        </p:tgtEl>
                                      </p:cBhvr>
                                    </p:animEffect>
                                  </p:childTnLst>
                                </p:cTn>
                              </p:par>
                              <p:par>
                                <p:cTn id="73" presetID="10" presetClass="entr" presetSubtype="0" fill="hold" grpId="0" nodeType="withEffect">
                                  <p:stCondLst>
                                    <p:cond delay="880"/>
                                  </p:stCondLst>
                                  <p:childTnLst>
                                    <p:set>
                                      <p:cBhvr>
                                        <p:cTn id="72" dur="1" fill="hold">
                                          <p:stCondLst>
                                            <p:cond delay="0"/>
                                          </p:stCondLst>
                                        </p:cTn>
                                        <p:tgtEl>
                                          <p:spTgt spid="58"/>
                                        </p:tgtEl>
                                        <p:attrNameLst>
                                          <p:attrName>style.visibility</p:attrName>
                                        </p:attrNameLst>
                                      </p:cBhvr>
                                      <p:to>
                                        <p:strVal val="visible"/>
                                      </p:to>
                                    </p:set>
                                    <p:animEffect transition="in" filter="fade">
                                      <p:cBhvr>
                                        <p:cTn id="74" dur="500"/>
                                        <p:tgtEl>
                                          <p:spTgt spid="58"/>
                                        </p:tgtEl>
                                      </p:cBhvr>
                                    </p:animEffect>
                                  </p:childTnLst>
                                </p:cTn>
                              </p:par>
                              <p:par>
                                <p:cTn id="76" presetID="10" presetClass="entr" presetSubtype="0" fill="hold" grpId="0" nodeType="withEffect">
                                  <p:stCondLst>
                                    <p:cond delay="880"/>
                                  </p:stCondLst>
                                  <p:childTnLst>
                                    <p:set>
                                      <p:cBhvr>
                                        <p:cTn id="75" dur="1" fill="hold">
                                          <p:stCondLst>
                                            <p:cond delay="0"/>
                                          </p:stCondLst>
                                        </p:cTn>
                                        <p:tgtEl>
                                          <p:spTgt spid="60"/>
                                        </p:tgtEl>
                                        <p:attrNameLst>
                                          <p:attrName>style.visibility</p:attrName>
                                        </p:attrNameLst>
                                      </p:cBhvr>
                                      <p:to>
                                        <p:strVal val="visible"/>
                                      </p:to>
                                    </p:set>
                                    <p:animEffect transition="in" filter="fade">
                                      <p:cBhvr>
                                        <p:cTn id="77" dur="500"/>
                                        <p:tgtEl>
                                          <p:spTgt spid="60"/>
                                        </p:tgtEl>
                                      </p:cBhvr>
                                    </p:animEffect>
                                  </p:childTnLst>
                                </p:cTn>
                              </p:par>
                              <p:par>
                                <p:cTn id="79" presetID="10" presetClass="entr" presetSubtype="0" fill="hold" grpId="0" nodeType="withEffect">
                                  <p:stCondLst>
                                    <p:cond delay="880"/>
                                  </p:stCondLst>
                                  <p:childTnLst>
                                    <p:set>
                                      <p:cBhvr>
                                        <p:cTn id="78" dur="1" fill="hold">
                                          <p:stCondLst>
                                            <p:cond delay="0"/>
                                          </p:stCondLst>
                                        </p:cTn>
                                        <p:tgtEl>
                                          <p:spTgt spid="62"/>
                                        </p:tgtEl>
                                        <p:attrNameLst>
                                          <p:attrName>style.visibility</p:attrName>
                                        </p:attrNameLst>
                                      </p:cBhvr>
                                      <p:to>
                                        <p:strVal val="visible"/>
                                      </p:to>
                                    </p:set>
                                    <p:animEffect transition="in" filter="fade">
                                      <p:cBhvr>
                                        <p:cTn id="80" dur="500"/>
                                        <p:tgtEl>
                                          <p:spTgt spid="62"/>
                                        </p:tgtEl>
                                      </p:cBhvr>
                                    </p:animEffect>
                                  </p:childTnLst>
                                </p:cTn>
                              </p:par>
                              <p:par>
                                <p:cTn id="82" presetID="10" presetClass="entr" presetSubtype="0" fill="hold" grpId="0" nodeType="withEffect">
                                  <p:stCondLst>
                                    <p:cond delay="880"/>
                                  </p:stCondLst>
                                  <p:childTnLst>
                                    <p:set>
                                      <p:cBhvr>
                                        <p:cTn id="81" dur="1" fill="hold">
                                          <p:stCondLst>
                                            <p:cond delay="0"/>
                                          </p:stCondLst>
                                        </p:cTn>
                                        <p:tgtEl>
                                          <p:spTgt spid="64"/>
                                        </p:tgtEl>
                                        <p:attrNameLst>
                                          <p:attrName>style.visibility</p:attrName>
                                        </p:attrNameLst>
                                      </p:cBhvr>
                                      <p:to>
                                        <p:strVal val="visible"/>
                                      </p:to>
                                    </p:set>
                                    <p:animEffect transition="in" filter="fade">
                                      <p:cBhvr>
                                        <p:cTn id="83" dur="500"/>
                                        <p:tgtEl>
                                          <p:spTgt spid="64"/>
                                        </p:tgtEl>
                                      </p:cBhvr>
                                    </p:animEffect>
                                  </p:childTnLst>
                                </p:cTn>
                              </p:par>
                              <p:par>
                                <p:cTn id="85" presetID="10" presetClass="entr" presetSubtype="0" fill="hold" grpId="0" nodeType="withEffect">
                                  <p:stCondLst>
                                    <p:cond delay="880"/>
                                  </p:stCondLst>
                                  <p:childTnLst>
                                    <p:set>
                                      <p:cBhvr>
                                        <p:cTn id="84" dur="1" fill="hold">
                                          <p:stCondLst>
                                            <p:cond delay="0"/>
                                          </p:stCondLst>
                                        </p:cTn>
                                        <p:tgtEl>
                                          <p:spTgt spid="66"/>
                                        </p:tgtEl>
                                        <p:attrNameLst>
                                          <p:attrName>style.visibility</p:attrName>
                                        </p:attrNameLst>
                                      </p:cBhvr>
                                      <p:to>
                                        <p:strVal val="visible"/>
                                      </p:to>
                                    </p:set>
                                    <p:animEffect transition="in" filter="fade">
                                      <p:cBhvr>
                                        <p:cTn id="86" dur="500"/>
                                        <p:tgtEl>
                                          <p:spTgt spid="66"/>
                                        </p:tgtEl>
                                      </p:cBhvr>
                                    </p:animEffect>
                                  </p:childTnLst>
                                </p:cTn>
                              </p:par>
                            </p:childTnLst>
                          </p:cTn>
                        </p:par>
                      </p:childTnLst>
                    </p:cTn>
                  </p:par>
                  <p:par>
                    <p:cTn id="87" fill="hold">
                      <p:stCondLst>
                        <p:cond delay="indefinite"/>
                      </p:stCondLst>
                      <p:childTnLst>
                        <p:par>
                          <p:cTn id="88" fill="hold">
                            <p:stCondLst>
                              <p:cond delay="0"/>
                            </p:stCondLst>
                            <p:childTnLst>
                              <p:par>
                                <p:cTn id="90" presetID="53" presetClass="entr" presetSubtype="16" fill="hold" grpId="0" nodeType="clickEffect">
                                  <p:stCondLst>
                                    <p:cond delay="0"/>
                                  </p:stCondLst>
                                  <p:childTnLst>
                                    <p:set>
                                      <p:cBhvr>
                                        <p:cTn id="89" dur="1" fill="hold">
                                          <p:stCondLst>
                                            <p:cond delay="0"/>
                                          </p:stCondLst>
                                        </p:cTn>
                                        <p:tgtEl>
                                          <p:spTgt spid="67"/>
                                        </p:tgtEl>
                                        <p:attrNameLst>
                                          <p:attrName>style.visibility</p:attrName>
                                        </p:attrNameLst>
                                      </p:cBhvr>
                                      <p:to>
                                        <p:strVal val="visible"/>
                                      </p:to>
                                    </p:set>
                                    <p:anim calcmode="lin" valueType="num">
                                      <p:cBhvr>
                                        <p:cTn id="91" dur="500" fill="hold"/>
                                        <p:tgtEl>
                                          <p:spTgt spid="67"/>
                                        </p:tgtEl>
                                        <p:attrNameLst>
                                          <p:attrName>ppt_w</p:attrName>
                                        </p:attrNameLst>
                                      </p:cBhvr>
                                      <p:tavLst>
                                        <p:tav tm="0">
                                          <p:val>
                                            <p:fltVal val="0"/>
                                          </p:val>
                                        </p:tav>
                                        <p:tav tm="100000">
                                          <p:val>
                                            <p:strVal val="#ppt_w"/>
                                          </p:val>
                                        </p:tav>
                                      </p:tavLst>
                                    </p:anim>
                                    <p:anim calcmode="lin" valueType="num">
                                      <p:cBhvr>
                                        <p:cTn id="92" dur="500" fill="hold"/>
                                        <p:tgtEl>
                                          <p:spTgt spid="67"/>
                                        </p:tgtEl>
                                        <p:attrNameLst>
                                          <p:attrName>ppt_h</p:attrName>
                                        </p:attrNameLst>
                                      </p:cBhvr>
                                      <p:tavLst>
                                        <p:tav tm="0">
                                          <p:val>
                                            <p:fltVal val="0"/>
                                          </p:val>
                                        </p:tav>
                                        <p:tav tm="100000">
                                          <p:val>
                                            <p:strVal val="#ppt_h"/>
                                          </p:val>
                                        </p:tav>
                                      </p:tavLst>
                                    </p:anim>
                                    <p:animEffect transition="in" filter="fade">
                                      <p:cBhvr>
                                        <p:cTn id="93" dur="500"/>
                                        <p:tgtEl>
                                          <p:spTgt spid="67"/>
                                        </p:tgtEl>
                                      </p:cBhvr>
                                    </p:animEffect>
                                  </p:childTnLst>
                                </p:cTn>
                              </p:par>
                              <p:par>
                                <p:cTn id="95" presetID="42" presetClass="entr" presetSubtype="0" fill="hold" grpId="0" nodeType="withEffect">
                                  <p:stCondLst>
                                    <p:cond delay="300"/>
                                  </p:stCondLst>
                                  <p:childTnLst>
                                    <p:set>
                                      <p:cBhvr>
                                        <p:cTn id="94" dur="1" fill="hold">
                                          <p:stCondLst>
                                            <p:cond delay="0"/>
                                          </p:stCondLst>
                                        </p:cTn>
                                        <p:tgtEl>
                                          <p:spTgt spid="74"/>
                                        </p:tgtEl>
                                        <p:attrNameLst>
                                          <p:attrName>style.visibility</p:attrName>
                                        </p:attrNameLst>
                                      </p:cBhvr>
                                      <p:to>
                                        <p:strVal val="visible"/>
                                      </p:to>
                                    </p:set>
                                    <p:animEffect transition="in" filter="fade">
                                      <p:cBhvr>
                                        <p:cTn id="96" dur="500"/>
                                        <p:tgtEl>
                                          <p:spTgt spid="74"/>
                                        </p:tgtEl>
                                      </p:cBhvr>
                                    </p:animEffect>
                                    <p:anim calcmode="lin" valueType="num">
                                      <p:cBhvr>
                                        <p:cTn id="97" dur="500" fill="hold"/>
                                        <p:tgtEl>
                                          <p:spTgt spid="74"/>
                                        </p:tgtEl>
                                        <p:attrNameLst>
                                          <p:attrName>ppt_x</p:attrName>
                                        </p:attrNameLst>
                                      </p:cBhvr>
                                      <p:tavLst>
                                        <p:tav tm="0">
                                          <p:val>
                                            <p:strVal val="#ppt_x"/>
                                          </p:val>
                                        </p:tav>
                                        <p:tav tm="100000">
                                          <p:val>
                                            <p:strVal val="#ppt_x"/>
                                          </p:val>
                                        </p:tav>
                                      </p:tavLst>
                                    </p:anim>
                                    <p:anim calcmode="lin" valueType="num">
                                      <p:cBhvr>
                                        <p:cTn id="98" dur="500" fill="hold"/>
                                        <p:tgtEl>
                                          <p:spTgt spid="74"/>
                                        </p:tgtEl>
                                        <p:attrNameLst>
                                          <p:attrName>ppt_y</p:attrName>
                                        </p:attrNameLst>
                                      </p:cBhvr>
                                      <p:tavLst>
                                        <p:tav tm="0">
                                          <p:val>
                                            <p:strVal val="#ppt_y+0.06"/>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2" presetID="42" presetClass="entr" presetSubtype="0" fill="hold" grpId="0" nodeType="clickEffect">
                                  <p:stCondLst>
                                    <p:cond delay="0"/>
                                  </p:stCondLst>
                                  <p:childTnLst>
                                    <p:set>
                                      <p:cBhvr>
                                        <p:cTn id="101"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anim calcmode="lin" valueType="num">
                                      <p:cBhvr>
                                        <p:cTn id="104" dur="500" fill="hold"/>
                                        <p:tgtEl>
                                          <p:spTgt spid="75"/>
                                        </p:tgtEl>
                                        <p:attrNameLst>
                                          <p:attrName>ppt_x</p:attrName>
                                        </p:attrNameLst>
                                      </p:cBhvr>
                                      <p:tavLst>
                                        <p:tav tm="0">
                                          <p:val>
                                            <p:strVal val="#ppt_x"/>
                                          </p:val>
                                        </p:tav>
                                        <p:tav tm="100000">
                                          <p:val>
                                            <p:strVal val="#ppt_x"/>
                                          </p:val>
                                        </p:tav>
                                      </p:tavLst>
                                    </p:anim>
                                    <p:anim calcmode="lin" valueType="num">
                                      <p:cBhvr>
                                        <p:cTn id="105" dur="500" fill="hold"/>
                                        <p:tgtEl>
                                          <p:spTgt spid="75"/>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P spid="22" grpId="0" animBg="1"/>
      <p:bldP spid="24" grpId="0" animBg="1"/>
      <p:bldP spid="26" grpId="0" animBg="1"/>
      <p:bldP spid="28" grpId="0" animBg="1"/>
      <p:bldP spid="30" grpId="0" animBg="1"/>
      <p:bldP spid="34" grpId="0" animBg="1"/>
      <p:bldP spid="36" grpId="0" animBg="1"/>
      <p:bldP spid="38" grpId="0" animBg="1"/>
      <p:bldP spid="40" grpId="0" animBg="1"/>
      <p:bldP spid="42" grpId="0" animBg="1"/>
      <p:bldP spid="46" grpId="0" animBg="1"/>
      <p:bldP spid="48" grpId="0" animBg="1"/>
      <p:bldP spid="50" grpId="0" animBg="1"/>
      <p:bldP spid="52" grpId="0" animBg="1"/>
      <p:bldP spid="54" grpId="0" animBg="1"/>
      <p:bldP spid="58" grpId="0" animBg="1"/>
      <p:bldP spid="60" grpId="0" animBg="1"/>
      <p:bldP spid="62" grpId="0" animBg="1"/>
      <p:bldP spid="64" grpId="0" animBg="1"/>
      <p:bldP spid="66" grpId="0" animBg="1"/>
      <p:bldP spid="67" grpId="0" animBg="1"/>
      <p:bldP spid="73" grpId="0" animBg="1"/>
      <p:bldP spid="74" grpId="0" animBg="1"/>
      <p:bldP spid="7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11 · HOW ATTENTION COMPUTES CONTEXT</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Queries, keys and values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While processing “sat”, the model effectively asks: who is doing the sitting?</a:t>
            </a:r>
            <a:endParaRPr lang="en-US" sz="1300" dirty="0"/>
          </a:p>
        </p:txBody>
      </p:sp>
      <p:sp>
        <p:nvSpPr>
          <p:cNvPr id="5" name="anim-1-rise-0-502"/>
          <p:cNvSpPr/>
          <p:nvPr/>
        </p:nvSpPr>
        <p:spPr>
          <a:xfrm>
            <a:off x="548640" y="1737360"/>
            <a:ext cx="2240280" cy="2606040"/>
          </a:xfrm>
          <a:prstGeom prst="roundRect">
            <a:avLst>
              <a:gd name="adj" fmla="val 4082"/>
            </a:avLst>
          </a:prstGeom>
          <a:solidFill>
            <a:srgbClr val="EDE9FE"/>
          </a:solidFill>
          <a:ln/>
        </p:spPr>
        <p:txBody>
          <a:bodyPr wrap="square" lIns="152400" tIns="152400" rIns="152400" bIns="15240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QUERY</a:t>
            </a:r>
            <a:endParaRPr lang="en-US" sz="1000" dirty="0"/>
          </a:p>
          <a:p>
            <a:pPr indent="0" marL="0">
              <a:buNone/>
            </a:pPr>
            <a:r>
              <a:rPr lang="en-US" sz="1300" b="1" dirty="0">
                <a:solidFill>
                  <a:srgbClr val="0F172A"/>
                </a:solidFill>
                <a:latin typeface="Inter" pitchFamily="34" charset="0"/>
                <a:ea typeface="Inter" pitchFamily="34" charset="-122"/>
                <a:cs typeface="Inter" pitchFamily="34" charset="-120"/>
              </a:rPr>
              <a:t>from “sat”</a:t>
            </a:r>
            <a:endParaRPr lang="en-US" sz="1000" dirty="0"/>
          </a:p>
          <a:p>
            <a:pPr indent="0" marL="0">
              <a:spcBef>
                <a:spcPts val="800"/>
              </a:spcBef>
              <a:buNone/>
            </a:pPr>
            <a:r>
              <a:rPr lang="en-US" sz="1100" dirty="0">
                <a:solidFill>
                  <a:srgbClr val="334155"/>
                </a:solidFill>
                <a:latin typeface="Inter" pitchFamily="34" charset="0"/>
                <a:ea typeface="Inter" pitchFamily="34" charset="-122"/>
                <a:cs typeface="Inter" pitchFamily="34" charset="-120"/>
              </a:rPr>
              <a:t>What am I looking for?</a:t>
            </a:r>
            <a:endParaRPr lang="en-US" sz="1000" dirty="0"/>
          </a:p>
          <a:p>
            <a:pPr indent="0" marL="0">
              <a:spcBef>
                <a:spcPts val="600"/>
              </a:spcBef>
              <a:buNone/>
            </a:pPr>
            <a:r>
              <a:rPr lang="en-US" sz="1200" i="1" dirty="0">
                <a:solidFill>
                  <a:srgbClr val="7C3AED"/>
                </a:solidFill>
                <a:latin typeface="Inter" pitchFamily="34" charset="0"/>
                <a:ea typeface="Inter" pitchFamily="34" charset="-122"/>
                <a:cs typeface="Inter" pitchFamily="34" charset="-120"/>
              </a:rPr>
              <a:t>“Who performed this action?”</a:t>
            </a:r>
            <a:endParaRPr lang="en-US" sz="1000" dirty="0"/>
          </a:p>
          <a:p>
            <a:pPr indent="0" marL="0">
              <a:spcBef>
                <a:spcPts val="1000"/>
              </a:spcBef>
              <a:buNone/>
            </a:pPr>
            <a:r>
              <a:rPr lang="en-US" sz="1000" dirty="0">
                <a:solidFill>
                  <a:srgbClr val="64748B"/>
                </a:solidFill>
                <a:latin typeface="Inter" pitchFamily="34" charset="0"/>
                <a:ea typeface="Inter" pitchFamily="34" charset="-122"/>
                <a:cs typeface="Inter" pitchFamily="34" charset="-120"/>
              </a:rPr>
              <a:t>Q = x(sat) · W_Q</a:t>
            </a:r>
            <a:endParaRPr lang="en-US" sz="1000" dirty="0"/>
          </a:p>
        </p:txBody>
      </p:sp>
      <p:sp>
        <p:nvSpPr>
          <p:cNvPr id="6" name="anim-2-fade-0-503"/>
          <p:cNvSpPr txBox="1"/>
          <p:nvPr/>
        </p:nvSpPr>
        <p:spPr>
          <a:xfrm>
            <a:off x="3063240" y="1737360"/>
            <a:ext cx="2743200" cy="237744"/>
          </a:xfrm>
          <a:prstGeom prst="rect">
            <a:avLst/>
          </a:prstGeom>
          <a:noFill/>
          <a:ln/>
        </p:spPr>
        <p:txBody>
          <a:bodyPr wrap="square" lIns="0" tIns="0" rIns="0" bIns="0" rtlCol="0" anchor="t"/>
          <a:lstStyle/>
          <a:p>
            <a:pPr indent="0" marL="0">
              <a:buNone/>
            </a:pPr>
            <a:r>
              <a:rPr lang="en-US" sz="1000" b="1" spc="100" kern="0" dirty="0">
                <a:solidFill>
                  <a:srgbClr val="7C3AED"/>
                </a:solidFill>
                <a:latin typeface="Inter" pitchFamily="34" charset="0"/>
                <a:ea typeface="Inter" pitchFamily="34" charset="-122"/>
                <a:cs typeface="Inter" pitchFamily="34" charset="-120"/>
              </a:rPr>
              <a:t>KEYS · what each token offers</a:t>
            </a:r>
            <a:endParaRPr lang="en-US" sz="1000" dirty="0"/>
          </a:p>
        </p:txBody>
      </p:sp>
      <p:sp>
        <p:nvSpPr>
          <p:cNvPr id="7" name="anim-2-fade-0-504"/>
          <p:cNvSpPr txBox="1"/>
          <p:nvPr/>
        </p:nvSpPr>
        <p:spPr>
          <a:xfrm>
            <a:off x="5623560" y="1737360"/>
            <a:ext cx="1097280" cy="237744"/>
          </a:xfrm>
          <a:prstGeom prst="rect">
            <a:avLst/>
          </a:prstGeom>
          <a:noFill/>
          <a:ln/>
        </p:spPr>
        <p:txBody>
          <a:bodyPr wrap="square" lIns="0" tIns="0" rIns="0" bIns="0" rtlCol="0" anchor="t"/>
          <a:lstStyle/>
          <a:p>
            <a:pPr indent="0" marL="0">
              <a:buNone/>
            </a:pPr>
            <a:r>
              <a:rPr lang="en-US" sz="1000" b="1" dirty="0">
                <a:solidFill>
                  <a:srgbClr val="7C3AED"/>
                </a:solidFill>
                <a:latin typeface="Inter" pitchFamily="34" charset="0"/>
                <a:ea typeface="Inter" pitchFamily="34" charset="-122"/>
                <a:cs typeface="Inter" pitchFamily="34" charset="-120"/>
              </a:rPr>
              <a:t>Q · K score</a:t>
            </a:r>
            <a:endParaRPr lang="en-US" sz="1000" dirty="0"/>
          </a:p>
        </p:txBody>
      </p:sp>
      <p:sp>
        <p:nvSpPr>
          <p:cNvPr id="8" name="anim-3-fade-0-505"/>
          <p:cNvSpPr txBox="1"/>
          <p:nvPr/>
        </p:nvSpPr>
        <p:spPr>
          <a:xfrm>
            <a:off x="6903720" y="1737360"/>
            <a:ext cx="1737360" cy="237744"/>
          </a:xfrm>
          <a:prstGeom prst="rect">
            <a:avLst/>
          </a:prstGeom>
          <a:noFill/>
          <a:ln/>
        </p:spPr>
        <p:txBody>
          <a:bodyPr wrap="square" lIns="0" tIns="0" rIns="0" bIns="0" rtlCol="0" anchor="t"/>
          <a:lstStyle/>
          <a:p>
            <a:pPr indent="0" marL="0">
              <a:buNone/>
            </a:pPr>
            <a:r>
              <a:rPr lang="en-US" sz="1000" b="1" dirty="0">
                <a:solidFill>
                  <a:srgbClr val="E11D48"/>
                </a:solidFill>
                <a:latin typeface="Inter" pitchFamily="34" charset="0"/>
                <a:ea typeface="Inter" pitchFamily="34" charset="-122"/>
                <a:cs typeface="Inter" pitchFamily="34" charset="-120"/>
              </a:rPr>
              <a:t>softmax → weight</a:t>
            </a:r>
            <a:endParaRPr lang="en-US" sz="1000" dirty="0"/>
          </a:p>
        </p:txBody>
      </p:sp>
      <p:sp>
        <p:nvSpPr>
          <p:cNvPr id="9" name="anim-2-rise-0-506"/>
          <p:cNvSpPr/>
          <p:nvPr/>
        </p:nvSpPr>
        <p:spPr>
          <a:xfrm>
            <a:off x="3063240" y="2103120"/>
            <a:ext cx="640080" cy="548640"/>
          </a:xfrm>
          <a:prstGeom prst="roundRect">
            <a:avLst>
              <a:gd name="adj" fmla="val 11667"/>
            </a:avLst>
          </a:prstGeom>
          <a:solidFill>
            <a:srgbClr val="FFFFFF"/>
          </a:solidFill>
          <a:ln w="12700">
            <a:solidFill>
              <a:srgbClr val="7C3AED"/>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The</a:t>
            </a:r>
            <a:endParaRPr lang="en-US" sz="1300" dirty="0"/>
          </a:p>
        </p:txBody>
      </p:sp>
      <p:sp>
        <p:nvSpPr>
          <p:cNvPr id="10" name="anim-2-fade-100-507"/>
          <p:cNvSpPr txBox="1"/>
          <p:nvPr/>
        </p:nvSpPr>
        <p:spPr>
          <a:xfrm>
            <a:off x="3794760" y="2139696"/>
            <a:ext cx="1783080" cy="502920"/>
          </a:xfrm>
          <a:prstGeom prst="rect">
            <a:avLst/>
          </a:prstGeom>
          <a:noFill/>
          <a:ln/>
        </p:spPr>
        <p:txBody>
          <a:bodyPr wrap="square" lIns="0" tIns="0" rIns="0" bIns="0" rtlCol="0" anchor="ctr"/>
          <a:lstStyle/>
          <a:p>
            <a:pPr indent="0" marL="0">
              <a:buNone/>
            </a:pPr>
            <a:r>
              <a:rPr lang="en-US" sz="1050" dirty="0">
                <a:solidFill>
                  <a:srgbClr val="334155"/>
                </a:solidFill>
                <a:latin typeface="Inter" pitchFamily="34" charset="0"/>
                <a:ea typeface="Inter" pitchFamily="34" charset="-122"/>
                <a:cs typeface="Inter" pitchFamily="34" charset="-120"/>
              </a:rPr>
              <a:t>“I’m a determiner”</a:t>
            </a:r>
            <a:endParaRPr lang="en-US" sz="1050" dirty="0"/>
          </a:p>
        </p:txBody>
      </p:sp>
      <p:sp>
        <p:nvSpPr>
          <p:cNvPr id="11" name="anim-2-wipe-200-508"/>
          <p:cNvSpPr/>
          <p:nvPr/>
        </p:nvSpPr>
        <p:spPr>
          <a:xfrm>
            <a:off x="5623560" y="2258568"/>
            <a:ext cx="206829" cy="237744"/>
          </a:xfrm>
          <a:prstGeom prst="rect">
            <a:avLst/>
          </a:prstGeom>
          <a:solidFill>
            <a:srgbClr val="A78BFA"/>
          </a:solidFill>
          <a:ln/>
        </p:spPr>
      </p:sp>
      <p:sp>
        <p:nvSpPr>
          <p:cNvPr id="12" name="anim-2-fade-300-509"/>
          <p:cNvSpPr txBox="1"/>
          <p:nvPr/>
        </p:nvSpPr>
        <p:spPr>
          <a:xfrm>
            <a:off x="5876109" y="2258568"/>
            <a:ext cx="365760" cy="237744"/>
          </a:xfrm>
          <a:prstGeom prst="rect">
            <a:avLst/>
          </a:prstGeom>
          <a:noFill/>
          <a:ln/>
        </p:spPr>
        <p:txBody>
          <a:bodyPr wrap="square" lIns="0" tIns="0" rIns="0" bIns="0" rtlCol="0" anchor="ctr"/>
          <a:lstStyle/>
          <a:p>
            <a:pPr indent="0" marL="0">
              <a:buNone/>
            </a:pPr>
            <a:r>
              <a:rPr lang="en-US" sz="1000" b="1" dirty="0">
                <a:solidFill>
                  <a:srgbClr val="7C3AED"/>
                </a:solidFill>
                <a:latin typeface="Inter" pitchFamily="34" charset="0"/>
                <a:ea typeface="Inter" pitchFamily="34" charset="-122"/>
                <a:cs typeface="Inter" pitchFamily="34" charset="-120"/>
              </a:rPr>
              <a:t>1.0</a:t>
            </a:r>
            <a:endParaRPr lang="en-US" sz="1000" dirty="0"/>
          </a:p>
        </p:txBody>
      </p:sp>
      <p:sp>
        <p:nvSpPr>
          <p:cNvPr id="13" name="anim-3-wipe-0-510"/>
          <p:cNvSpPr/>
          <p:nvPr/>
        </p:nvSpPr>
        <p:spPr>
          <a:xfrm>
            <a:off x="6903720" y="2221992"/>
            <a:ext cx="58522" cy="310896"/>
          </a:xfrm>
          <a:prstGeom prst="rect">
            <a:avLst/>
          </a:prstGeom>
          <a:solidFill>
            <a:srgbClr val="E11D48"/>
          </a:solidFill>
          <a:ln/>
        </p:spPr>
      </p:sp>
      <p:sp>
        <p:nvSpPr>
          <p:cNvPr id="14" name="anim-3-fade-200-511"/>
          <p:cNvSpPr txBox="1"/>
          <p:nvPr/>
        </p:nvSpPr>
        <p:spPr>
          <a:xfrm>
            <a:off x="7017106" y="2221992"/>
            <a:ext cx="457200" cy="310896"/>
          </a:xfrm>
          <a:prstGeom prst="rect">
            <a:avLst/>
          </a:prstGeom>
          <a:noFill/>
          <a:ln/>
        </p:spPr>
        <p:txBody>
          <a:bodyPr wrap="square" lIns="0" tIns="0" rIns="0" bIns="0" rtlCol="0" anchor="ctr"/>
          <a:lstStyle/>
          <a:p>
            <a:pPr indent="0" marL="0">
              <a:buNone/>
            </a:pPr>
            <a:r>
              <a:rPr lang="en-US" sz="1100" b="1" dirty="0">
                <a:solidFill>
                  <a:srgbClr val="E11D48"/>
                </a:solidFill>
                <a:latin typeface="Inter" pitchFamily="34" charset="0"/>
                <a:ea typeface="Inter" pitchFamily="34" charset="-122"/>
                <a:cs typeface="Inter" pitchFamily="34" charset="-120"/>
              </a:rPr>
              <a:t>4%</a:t>
            </a:r>
            <a:endParaRPr lang="en-US" sz="1100" dirty="0"/>
          </a:p>
        </p:txBody>
      </p:sp>
      <p:sp>
        <p:nvSpPr>
          <p:cNvPr id="15" name="anim-2-rise-200-512"/>
          <p:cNvSpPr/>
          <p:nvPr/>
        </p:nvSpPr>
        <p:spPr>
          <a:xfrm>
            <a:off x="3063240" y="2852928"/>
            <a:ext cx="640080" cy="548640"/>
          </a:xfrm>
          <a:prstGeom prst="roundRect">
            <a:avLst>
              <a:gd name="adj" fmla="val 11667"/>
            </a:avLst>
          </a:prstGeom>
          <a:solidFill>
            <a:srgbClr val="FFFFFF"/>
          </a:solidFill>
          <a:ln w="12700">
            <a:solidFill>
              <a:srgbClr val="7C3AED"/>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cat</a:t>
            </a:r>
            <a:endParaRPr lang="en-US" sz="1300" dirty="0"/>
          </a:p>
        </p:txBody>
      </p:sp>
      <p:sp>
        <p:nvSpPr>
          <p:cNvPr id="16" name="anim-2-fade-300-513"/>
          <p:cNvSpPr txBox="1"/>
          <p:nvPr/>
        </p:nvSpPr>
        <p:spPr>
          <a:xfrm>
            <a:off x="3794760" y="2889504"/>
            <a:ext cx="1783080" cy="502920"/>
          </a:xfrm>
          <a:prstGeom prst="rect">
            <a:avLst/>
          </a:prstGeom>
          <a:noFill/>
          <a:ln/>
        </p:spPr>
        <p:txBody>
          <a:bodyPr wrap="square" lIns="0" tIns="0" rIns="0" bIns="0" rtlCol="0" anchor="ctr"/>
          <a:lstStyle/>
          <a:p>
            <a:pPr indent="0" marL="0">
              <a:buNone/>
            </a:pPr>
            <a:r>
              <a:rPr lang="en-US" sz="1050" dirty="0">
                <a:solidFill>
                  <a:srgbClr val="334155"/>
                </a:solidFill>
                <a:latin typeface="Inter" pitchFamily="34" charset="0"/>
                <a:ea typeface="Inter" pitchFamily="34" charset="-122"/>
                <a:cs typeface="Inter" pitchFamily="34" charset="-120"/>
              </a:rPr>
              <a:t>“I’m a noun — an animal, a likely subject”</a:t>
            </a:r>
            <a:endParaRPr lang="en-US" sz="1050" dirty="0"/>
          </a:p>
        </p:txBody>
      </p:sp>
      <p:sp>
        <p:nvSpPr>
          <p:cNvPr id="17" name="anim-2-wipe-400-514"/>
          <p:cNvSpPr/>
          <p:nvPr/>
        </p:nvSpPr>
        <p:spPr>
          <a:xfrm>
            <a:off x="5623560" y="3008376"/>
            <a:ext cx="868680" cy="237744"/>
          </a:xfrm>
          <a:prstGeom prst="rect">
            <a:avLst/>
          </a:prstGeom>
          <a:solidFill>
            <a:srgbClr val="A78BFA"/>
          </a:solidFill>
          <a:ln/>
        </p:spPr>
      </p:sp>
      <p:sp>
        <p:nvSpPr>
          <p:cNvPr id="18" name="anim-2-fade-500-515"/>
          <p:cNvSpPr txBox="1"/>
          <p:nvPr/>
        </p:nvSpPr>
        <p:spPr>
          <a:xfrm>
            <a:off x="6537960" y="3008376"/>
            <a:ext cx="365760" cy="237744"/>
          </a:xfrm>
          <a:prstGeom prst="rect">
            <a:avLst/>
          </a:prstGeom>
          <a:noFill/>
          <a:ln/>
        </p:spPr>
        <p:txBody>
          <a:bodyPr wrap="square" lIns="0" tIns="0" rIns="0" bIns="0" rtlCol="0" anchor="ctr"/>
          <a:lstStyle/>
          <a:p>
            <a:pPr indent="0" marL="0">
              <a:buNone/>
            </a:pPr>
            <a:r>
              <a:rPr lang="en-US" sz="1000" b="1" dirty="0">
                <a:solidFill>
                  <a:srgbClr val="7C3AED"/>
                </a:solidFill>
                <a:latin typeface="Inter" pitchFamily="34" charset="0"/>
                <a:ea typeface="Inter" pitchFamily="34" charset="-122"/>
                <a:cs typeface="Inter" pitchFamily="34" charset="-120"/>
              </a:rPr>
              <a:t>4.2</a:t>
            </a:r>
            <a:endParaRPr lang="en-US" sz="1000" dirty="0"/>
          </a:p>
        </p:txBody>
      </p:sp>
      <p:sp>
        <p:nvSpPr>
          <p:cNvPr id="19" name="anim-3-wipe-150-516"/>
          <p:cNvSpPr/>
          <p:nvPr/>
        </p:nvSpPr>
        <p:spPr>
          <a:xfrm>
            <a:off x="6903720" y="2971800"/>
            <a:ext cx="1258214" cy="310896"/>
          </a:xfrm>
          <a:prstGeom prst="rect">
            <a:avLst/>
          </a:prstGeom>
          <a:solidFill>
            <a:srgbClr val="E11D48"/>
          </a:solidFill>
          <a:ln/>
        </p:spPr>
      </p:sp>
      <p:sp>
        <p:nvSpPr>
          <p:cNvPr id="20" name="anim-3-fade-350-517"/>
          <p:cNvSpPr txBox="1"/>
          <p:nvPr/>
        </p:nvSpPr>
        <p:spPr>
          <a:xfrm>
            <a:off x="8216798" y="2971800"/>
            <a:ext cx="457200" cy="310896"/>
          </a:xfrm>
          <a:prstGeom prst="rect">
            <a:avLst/>
          </a:prstGeom>
          <a:noFill/>
          <a:ln/>
        </p:spPr>
        <p:txBody>
          <a:bodyPr wrap="square" lIns="0" tIns="0" rIns="0" bIns="0" rtlCol="0" anchor="ctr"/>
          <a:lstStyle/>
          <a:p>
            <a:pPr indent="0" marL="0">
              <a:buNone/>
            </a:pPr>
            <a:r>
              <a:rPr lang="en-US" sz="1100" b="1" dirty="0">
                <a:solidFill>
                  <a:srgbClr val="E11D48"/>
                </a:solidFill>
                <a:latin typeface="Inter" pitchFamily="34" charset="0"/>
                <a:ea typeface="Inter" pitchFamily="34" charset="-122"/>
                <a:cs typeface="Inter" pitchFamily="34" charset="-120"/>
              </a:rPr>
              <a:t>86%</a:t>
            </a:r>
            <a:endParaRPr lang="en-US" sz="1100" dirty="0"/>
          </a:p>
        </p:txBody>
      </p:sp>
      <p:sp>
        <p:nvSpPr>
          <p:cNvPr id="21" name="anim-2-rise-400-518"/>
          <p:cNvSpPr/>
          <p:nvPr/>
        </p:nvSpPr>
        <p:spPr>
          <a:xfrm>
            <a:off x="3063240" y="3602736"/>
            <a:ext cx="640080" cy="548640"/>
          </a:xfrm>
          <a:prstGeom prst="roundRect">
            <a:avLst>
              <a:gd name="adj" fmla="val 11667"/>
            </a:avLst>
          </a:prstGeom>
          <a:solidFill>
            <a:srgbClr val="FFFFFF"/>
          </a:solidFill>
          <a:ln w="12700">
            <a:solidFill>
              <a:srgbClr val="7C3AED"/>
            </a:solidFill>
          </a:ln>
        </p:spPr>
        <p:txBody>
          <a:bodyPr wrap="square" lIns="0" tIns="0" rIns="0" bIns="0" rtlCol="0" anchor="ctr"/>
          <a:lstStyle/>
          <a:p>
            <a:pPr algn="ctr" indent="0" marL="0">
              <a:buNone/>
            </a:pPr>
            <a:r>
              <a:rPr lang="en-US" sz="1300" b="1" dirty="0">
                <a:solidFill>
                  <a:srgbClr val="0F172A"/>
                </a:solidFill>
                <a:latin typeface="Inter" pitchFamily="34" charset="0"/>
                <a:ea typeface="Inter" pitchFamily="34" charset="-122"/>
                <a:cs typeface="Inter" pitchFamily="34" charset="-120"/>
              </a:rPr>
              <a:t>sat</a:t>
            </a:r>
            <a:endParaRPr lang="en-US" sz="1300" dirty="0"/>
          </a:p>
        </p:txBody>
      </p:sp>
      <p:sp>
        <p:nvSpPr>
          <p:cNvPr id="22" name="anim-2-fade-500-519"/>
          <p:cNvSpPr txBox="1"/>
          <p:nvPr/>
        </p:nvSpPr>
        <p:spPr>
          <a:xfrm>
            <a:off x="3794760" y="3639312"/>
            <a:ext cx="1783080" cy="502920"/>
          </a:xfrm>
          <a:prstGeom prst="rect">
            <a:avLst/>
          </a:prstGeom>
          <a:noFill/>
          <a:ln/>
        </p:spPr>
        <p:txBody>
          <a:bodyPr wrap="square" lIns="0" tIns="0" rIns="0" bIns="0" rtlCol="0" anchor="ctr"/>
          <a:lstStyle/>
          <a:p>
            <a:pPr indent="0" marL="0">
              <a:buNone/>
            </a:pPr>
            <a:r>
              <a:rPr lang="en-US" sz="1050" dirty="0">
                <a:solidFill>
                  <a:srgbClr val="334155"/>
                </a:solidFill>
                <a:latin typeface="Inter" pitchFamily="34" charset="0"/>
                <a:ea typeface="Inter" pitchFamily="34" charset="-122"/>
                <a:cs typeface="Inter" pitchFamily="34" charset="-120"/>
              </a:rPr>
              <a:t>“I’m a verb”</a:t>
            </a:r>
            <a:endParaRPr lang="en-US" sz="1050" dirty="0"/>
          </a:p>
        </p:txBody>
      </p:sp>
      <p:sp>
        <p:nvSpPr>
          <p:cNvPr id="23" name="anim-2-wipe-600-520"/>
          <p:cNvSpPr/>
          <p:nvPr/>
        </p:nvSpPr>
        <p:spPr>
          <a:xfrm>
            <a:off x="5623560" y="3758184"/>
            <a:ext cx="434340" cy="237744"/>
          </a:xfrm>
          <a:prstGeom prst="rect">
            <a:avLst/>
          </a:prstGeom>
          <a:solidFill>
            <a:srgbClr val="A78BFA"/>
          </a:solidFill>
          <a:ln/>
        </p:spPr>
      </p:sp>
      <p:sp>
        <p:nvSpPr>
          <p:cNvPr id="24" name="anim-2-fade-700-521"/>
          <p:cNvSpPr txBox="1"/>
          <p:nvPr/>
        </p:nvSpPr>
        <p:spPr>
          <a:xfrm>
            <a:off x="6103620" y="3758184"/>
            <a:ext cx="365760" cy="237744"/>
          </a:xfrm>
          <a:prstGeom prst="rect">
            <a:avLst/>
          </a:prstGeom>
          <a:noFill/>
          <a:ln/>
        </p:spPr>
        <p:txBody>
          <a:bodyPr wrap="square" lIns="0" tIns="0" rIns="0" bIns="0" rtlCol="0" anchor="ctr"/>
          <a:lstStyle/>
          <a:p>
            <a:pPr indent="0" marL="0">
              <a:buNone/>
            </a:pPr>
            <a:r>
              <a:rPr lang="en-US" sz="1000" b="1" dirty="0">
                <a:solidFill>
                  <a:srgbClr val="7C3AED"/>
                </a:solidFill>
                <a:latin typeface="Inter" pitchFamily="34" charset="0"/>
                <a:ea typeface="Inter" pitchFamily="34" charset="-122"/>
                <a:cs typeface="Inter" pitchFamily="34" charset="-120"/>
              </a:rPr>
              <a:t>2.1</a:t>
            </a:r>
            <a:endParaRPr lang="en-US" sz="1000" dirty="0"/>
          </a:p>
        </p:txBody>
      </p:sp>
      <p:sp>
        <p:nvSpPr>
          <p:cNvPr id="25" name="anim-3-wipe-300-522"/>
          <p:cNvSpPr/>
          <p:nvPr/>
        </p:nvSpPr>
        <p:spPr>
          <a:xfrm>
            <a:off x="6903720" y="3721608"/>
            <a:ext cx="146304" cy="310896"/>
          </a:xfrm>
          <a:prstGeom prst="rect">
            <a:avLst/>
          </a:prstGeom>
          <a:solidFill>
            <a:srgbClr val="E11D48"/>
          </a:solidFill>
          <a:ln/>
        </p:spPr>
      </p:sp>
      <p:sp>
        <p:nvSpPr>
          <p:cNvPr id="26" name="anim-3-fade-500-523"/>
          <p:cNvSpPr txBox="1"/>
          <p:nvPr/>
        </p:nvSpPr>
        <p:spPr>
          <a:xfrm>
            <a:off x="7104888" y="3721608"/>
            <a:ext cx="457200" cy="310896"/>
          </a:xfrm>
          <a:prstGeom prst="rect">
            <a:avLst/>
          </a:prstGeom>
          <a:noFill/>
          <a:ln/>
        </p:spPr>
        <p:txBody>
          <a:bodyPr wrap="square" lIns="0" tIns="0" rIns="0" bIns="0" rtlCol="0" anchor="ctr"/>
          <a:lstStyle/>
          <a:p>
            <a:pPr indent="0" marL="0">
              <a:buNone/>
            </a:pPr>
            <a:r>
              <a:rPr lang="en-US" sz="1100" b="1" dirty="0">
                <a:solidFill>
                  <a:srgbClr val="E11D48"/>
                </a:solidFill>
                <a:latin typeface="Inter" pitchFamily="34" charset="0"/>
                <a:ea typeface="Inter" pitchFamily="34" charset="-122"/>
                <a:cs typeface="Inter" pitchFamily="34" charset="-120"/>
              </a:rPr>
              <a:t>10%</a:t>
            </a:r>
            <a:endParaRPr lang="en-US" sz="1100" dirty="0"/>
          </a:p>
        </p:txBody>
      </p:sp>
      <p:sp>
        <p:nvSpPr>
          <p:cNvPr id="27" name="anim-4-rise-0-524"/>
          <p:cNvSpPr/>
          <p:nvPr/>
        </p:nvSpPr>
        <p:spPr>
          <a:xfrm>
            <a:off x="9098280" y="1737360"/>
            <a:ext cx="2514600" cy="2606040"/>
          </a:xfrm>
          <a:prstGeom prst="roundRect">
            <a:avLst>
              <a:gd name="adj" fmla="val 3636"/>
            </a:avLst>
          </a:prstGeom>
          <a:solidFill>
            <a:srgbClr val="7C3AED"/>
          </a:solidFill>
          <a:ln/>
        </p:spPr>
        <p:txBody>
          <a:bodyPr wrap="square" lIns="152400" tIns="152400" rIns="152400" bIns="152400" rtlCol="0" anchor="t"/>
          <a:lstStyle/>
          <a:p>
            <a:pPr indent="0" marL="0">
              <a:buNone/>
            </a:pPr>
            <a:r>
              <a:rPr lang="en-US" sz="1000" b="1" spc="200" kern="0" dirty="0">
                <a:solidFill>
                  <a:srgbClr val="E9E5FF"/>
                </a:solidFill>
                <a:latin typeface="Inter" pitchFamily="34" charset="0"/>
                <a:ea typeface="Inter" pitchFamily="34" charset="-122"/>
                <a:cs typeface="Inter" pitchFamily="34" charset="-120"/>
              </a:rPr>
              <a:t>NEW VECTOR FOR “sat”</a:t>
            </a:r>
            <a:endParaRPr lang="en-US" sz="1000" dirty="0"/>
          </a:p>
          <a:p>
            <a:pPr indent="0" marL="0">
              <a:spcBef>
                <a:spcPts val="800"/>
              </a:spcBef>
              <a:buNone/>
            </a:pPr>
            <a:r>
              <a:rPr lang="en-US" sz="1300" b="1" dirty="0">
                <a:solidFill>
                  <a:srgbClr val="FFFFFF"/>
                </a:solidFill>
                <a:latin typeface="Inter" pitchFamily="34" charset="0"/>
                <a:ea typeface="Inter" pitchFamily="34" charset="-122"/>
                <a:cs typeface="Inter" pitchFamily="34" charset="-120"/>
              </a:rPr>
              <a:t>0.04 × V(The)</a:t>
            </a:r>
            <a:endParaRPr lang="en-US" sz="1000" dirty="0"/>
          </a:p>
          <a:p>
            <a:pPr indent="0" marL="0">
              <a:spcBef>
                <a:spcPts val="800"/>
              </a:spcBef>
              <a:buNone/>
            </a:pPr>
            <a:r>
              <a:rPr lang="en-US" sz="1300" b="1" dirty="0">
                <a:solidFill>
                  <a:srgbClr val="FFFFFF"/>
                </a:solidFill>
                <a:latin typeface="Inter" pitchFamily="34" charset="0"/>
                <a:ea typeface="Inter" pitchFamily="34" charset="-122"/>
                <a:cs typeface="Inter" pitchFamily="34" charset="-120"/>
              </a:rPr>
              <a:t>+ 0.86 × V(cat)</a:t>
            </a:r>
            <a:endParaRPr lang="en-US" sz="1000" dirty="0"/>
          </a:p>
          <a:p>
            <a:pPr indent="0" marL="0">
              <a:spcBef>
                <a:spcPts val="800"/>
              </a:spcBef>
              <a:buNone/>
            </a:pPr>
            <a:r>
              <a:rPr lang="en-US" sz="1300" b="1" dirty="0">
                <a:solidFill>
                  <a:srgbClr val="FFFFFF"/>
                </a:solidFill>
                <a:latin typeface="Inter" pitchFamily="34" charset="0"/>
                <a:ea typeface="Inter" pitchFamily="34" charset="-122"/>
                <a:cs typeface="Inter" pitchFamily="34" charset="-120"/>
              </a:rPr>
              <a:t>+ 0.10 × V(sat)</a:t>
            </a:r>
            <a:endParaRPr lang="en-US" sz="1000" dirty="0"/>
          </a:p>
          <a:p>
            <a:pPr indent="0" marL="0">
              <a:spcBef>
                <a:spcPts val="1000"/>
              </a:spcBef>
              <a:buNone/>
            </a:pPr>
            <a:r>
              <a:rPr lang="en-US" sz="1100" dirty="0">
                <a:solidFill>
                  <a:srgbClr val="E9E5FF"/>
                </a:solidFill>
                <a:latin typeface="Inter" pitchFamily="34" charset="0"/>
                <a:ea typeface="Inter" pitchFamily="34" charset="-122"/>
                <a:cs typeface="Inter" pitchFamily="34" charset="-120"/>
              </a:rPr>
              <a:t>“sat” now carries the information: my subject is the cat.</a:t>
            </a:r>
            <a:endParaRPr lang="en-US" sz="1000" dirty="0"/>
          </a:p>
        </p:txBody>
      </p:sp>
      <p:sp>
        <p:nvSpPr>
          <p:cNvPr id="28" name="anim-4-wipe-0-525"/>
          <p:cNvSpPr/>
          <p:nvPr/>
        </p:nvSpPr>
        <p:spPr>
          <a:xfrm>
            <a:off x="8641080" y="3017520"/>
            <a:ext cx="393192" cy="0"/>
          </a:xfrm>
          <a:prstGeom prst="line">
            <a:avLst/>
          </a:prstGeom>
          <a:noFill/>
          <a:ln w="25400">
            <a:solidFill>
              <a:srgbClr val="7C3AED"/>
            </a:solidFill>
            <a:prstDash val="solid"/>
            <a:tailEnd type="triangle"/>
          </a:ln>
        </p:spPr>
      </p:sp>
      <p:sp>
        <p:nvSpPr>
          <p:cNvPr id="29" name="anim-5-fade-0-526"/>
          <p:cNvSpPr txBox="1"/>
          <p:nvPr/>
        </p:nvSpPr>
        <p:spPr>
          <a:xfrm>
            <a:off x="548640" y="4572000"/>
            <a:ext cx="5486400" cy="219456"/>
          </a:xfrm>
          <a:prstGeom prst="rect">
            <a:avLst/>
          </a:prstGeom>
          <a:noFill/>
          <a:ln/>
        </p:spPr>
        <p:txBody>
          <a:bodyPr wrap="square" lIns="0" tIns="0" rIns="0" bIns="0" rtlCol="0" anchor="t"/>
          <a:lstStyle/>
          <a:p>
            <a:pPr indent="0" marL="0">
              <a:buNone/>
            </a:pPr>
            <a:r>
              <a:rPr lang="en-US" sz="1000" b="1" spc="200" kern="0" dirty="0">
                <a:solidFill>
                  <a:srgbClr val="64748B"/>
                </a:solidFill>
                <a:latin typeface="Inter" pitchFamily="34" charset="0"/>
                <a:ea typeface="Inter" pitchFamily="34" charset="-122"/>
                <a:cs typeface="Inter" pitchFamily="34" charset="-120"/>
              </a:rPr>
              <a:t>ANALOGY: SEARCHING A LIBRARY</a:t>
            </a:r>
            <a:endParaRPr lang="en-US" sz="1000" dirty="0"/>
          </a:p>
        </p:txBody>
      </p:sp>
      <p:sp>
        <p:nvSpPr>
          <p:cNvPr id="30" name="anim-5-rise-0-527"/>
          <p:cNvSpPr/>
          <p:nvPr/>
        </p:nvSpPr>
        <p:spPr>
          <a:xfrm>
            <a:off x="548640" y="4864608"/>
            <a:ext cx="2560320" cy="1280160"/>
          </a:xfrm>
          <a:prstGeom prst="roundRect">
            <a:avLst>
              <a:gd name="adj" fmla="val 7143"/>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Query (Q)</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your search request: “books about who sat”</a:t>
            </a:r>
            <a:endParaRPr lang="en-US" sz="1300" dirty="0"/>
          </a:p>
        </p:txBody>
      </p:sp>
      <p:sp>
        <p:nvSpPr>
          <p:cNvPr id="31" name="anim-5-rise-150-528"/>
          <p:cNvSpPr/>
          <p:nvPr/>
        </p:nvSpPr>
        <p:spPr>
          <a:xfrm>
            <a:off x="3246120" y="4864608"/>
            <a:ext cx="2560320" cy="1280160"/>
          </a:xfrm>
          <a:prstGeom prst="roundRect">
            <a:avLst>
              <a:gd name="adj" fmla="val 7143"/>
            </a:avLst>
          </a:prstGeom>
          <a:solidFill>
            <a:srgbClr val="FEF3C7"/>
          </a:solidFill>
          <a:ln/>
        </p:spPr>
        <p:txBody>
          <a:bodyPr wrap="square" lIns="127000" tIns="152400" rIns="152400" bIns="127000" rtlCol="0" anchor="t"/>
          <a:lstStyle/>
          <a:p>
            <a:pPr indent="0" marL="0">
              <a:buNone/>
            </a:pPr>
            <a:r>
              <a:rPr lang="en-US" sz="1300" b="1" dirty="0">
                <a:solidFill>
                  <a:srgbClr val="D97706"/>
                </a:solidFill>
                <a:latin typeface="Inter" pitchFamily="34" charset="0"/>
                <a:ea typeface="Inter" pitchFamily="34" charset="-122"/>
                <a:cs typeface="Inter" pitchFamily="34" charset="-120"/>
              </a:rPr>
              <a:t>Key (K)</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the label on each book’s spine, used for matching</a:t>
            </a:r>
            <a:endParaRPr lang="en-US" sz="1300" dirty="0"/>
          </a:p>
        </p:txBody>
      </p:sp>
      <p:sp>
        <p:nvSpPr>
          <p:cNvPr id="32" name="anim-5-rise-300-529"/>
          <p:cNvSpPr/>
          <p:nvPr/>
        </p:nvSpPr>
        <p:spPr>
          <a:xfrm>
            <a:off x="5943600" y="4864608"/>
            <a:ext cx="2560320" cy="1280160"/>
          </a:xfrm>
          <a:prstGeom prst="roundRect">
            <a:avLst>
              <a:gd name="adj" fmla="val 7143"/>
            </a:avLst>
          </a:prstGeom>
          <a:solidFill>
            <a:srgbClr val="CCFBF1"/>
          </a:solidFill>
          <a:ln/>
        </p:spPr>
        <p:txBody>
          <a:bodyPr wrap="square" lIns="127000" tIns="152400" rIns="152400" bIns="127000" rtlCol="0" anchor="t"/>
          <a:lstStyle/>
          <a:p>
            <a:pPr indent="0" marL="0">
              <a:buNone/>
            </a:pPr>
            <a:r>
              <a:rPr lang="en-US" sz="1300" b="1" dirty="0">
                <a:solidFill>
                  <a:srgbClr val="0D9488"/>
                </a:solidFill>
                <a:latin typeface="Inter" pitchFamily="34" charset="0"/>
                <a:ea typeface="Inter" pitchFamily="34" charset="-122"/>
                <a:cs typeface="Inter" pitchFamily="34" charset="-120"/>
              </a:rPr>
              <a:t>Value (V)</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the book’s contents — what you actually take away</a:t>
            </a:r>
            <a:endParaRPr lang="en-US" sz="1300" dirty="0"/>
          </a:p>
        </p:txBody>
      </p:sp>
      <p:sp>
        <p:nvSpPr>
          <p:cNvPr id="33" name="anim-5-rise-450-530"/>
          <p:cNvSpPr/>
          <p:nvPr/>
        </p:nvSpPr>
        <p:spPr>
          <a:xfrm>
            <a:off x="8686800" y="4864608"/>
            <a:ext cx="2926080" cy="1280160"/>
          </a:xfrm>
          <a:prstGeom prst="roundRect">
            <a:avLst>
              <a:gd name="adj" fmla="val 7143"/>
            </a:avLst>
          </a:prstGeom>
          <a:solidFill>
            <a:srgbClr val="F1F5F9"/>
          </a:solidFill>
          <a:ln/>
        </p:spPr>
        <p:txBody>
          <a:bodyPr wrap="square" lIns="127000" tIns="152400" rIns="152400" bIns="127000" rtlCol="0" anchor="t"/>
          <a:lstStyle/>
          <a:p>
            <a:pPr indent="0" marL="0">
              <a:buNone/>
            </a:pPr>
            <a:r>
              <a:rPr lang="en-US" sz="1300" b="1" dirty="0">
                <a:solidFill>
                  <a:srgbClr val="0F172A"/>
                </a:solidFill>
                <a:latin typeface="Inter" pitchFamily="34" charset="0"/>
                <a:ea typeface="Inter" pitchFamily="34" charset="-122"/>
                <a:cs typeface="Inter" pitchFamily="34" charset="-120"/>
              </a:rPr>
              <a:t>The formula</a:t>
            </a:r>
            <a:endParaRPr lang="en-US" sz="1300" dirty="0"/>
          </a:p>
          <a:p>
            <a:pPr indent="0" marL="0">
              <a:spcBef>
                <a:spcPts val="400"/>
              </a:spcBef>
              <a:buNone/>
            </a:pPr>
            <a:r>
              <a:rPr lang="en-US" sz="1200" b="1" dirty="0">
                <a:solidFill>
                  <a:srgbClr val="7C3AED"/>
                </a:solidFill>
                <a:latin typeface="Inter" pitchFamily="34" charset="0"/>
                <a:ea typeface="Inter" pitchFamily="34" charset="-122"/>
                <a:cs typeface="Inter" pitchFamily="34" charset="-120"/>
              </a:rPr>
              <a:t>softmax( Q·Kᵀ / √d ) · V</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Q, K, V are the token vector times three learned matrices.</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0.06"/>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3"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6"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9"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p:cTn id="21" dur="500" fill="hold"/>
                                        <p:tgtEl>
                                          <p:spTgt spid="9"/>
                                        </p:tgtEl>
                                        <p:attrNameLst>
                                          <p:attrName>ppt_x</p:attrName>
                                        </p:attrNameLst>
                                      </p:cBhvr>
                                      <p:tavLst>
                                        <p:tav tm="0">
                                          <p:val>
                                            <p:strVal val="#ppt_x"/>
                                          </p:val>
                                        </p:tav>
                                        <p:tav tm="100000">
                                          <p:val>
                                            <p:strVal val="#ppt_x"/>
                                          </p:val>
                                        </p:tav>
                                      </p:tavLst>
                                    </p:anim>
                                    <p:anim calcmode="lin" valueType="num">
                                      <p:cBhvr>
                                        <p:cTn id="22" dur="500" fill="hold"/>
                                        <p:tgtEl>
                                          <p:spTgt spid="9"/>
                                        </p:tgtEl>
                                        <p:attrNameLst>
                                          <p:attrName>ppt_y</p:attrName>
                                        </p:attrNameLst>
                                      </p:cBhvr>
                                      <p:tavLst>
                                        <p:tav tm="0">
                                          <p:val>
                                            <p:strVal val="#ppt_y+0.06"/>
                                          </p:val>
                                        </p:tav>
                                        <p:tav tm="100000">
                                          <p:val>
                                            <p:strVal val="#ppt_y"/>
                                          </p:val>
                                        </p:tav>
                                      </p:tavLst>
                                    </p:anim>
                                  </p:childTnLst>
                                </p:cTn>
                              </p:par>
                              <p:par>
                                <p:cTn id="24" presetID="10" presetClass="entr" presetSubtype="0" fill="hold" grpId="0" nodeType="withEffect">
                                  <p:stCondLst>
                                    <p:cond delay="1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7" presetID="22" presetClass="entr" presetSubtype="8" fill="hold" grpId="0" nodeType="withEffect">
                                  <p:stCondLst>
                                    <p:cond delay="20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8" dur="450"/>
                                        <p:tgtEl>
                                          <p:spTgt spid="11"/>
                                        </p:tgtEl>
                                      </p:cBhvr>
                                    </p:animEffect>
                                  </p:childTnLst>
                                </p:cTn>
                              </p:par>
                              <p:par>
                                <p:cTn id="30" presetID="42" presetClass="entr" presetSubtype="0" fill="hold" grpId="0" nodeType="withEffect">
                                  <p:stCondLst>
                                    <p:cond delay="2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anim calcmode="lin" valueType="num">
                                      <p:cBhvr>
                                        <p:cTn id="32" dur="500" fill="hold"/>
                                        <p:tgtEl>
                                          <p:spTgt spid="15"/>
                                        </p:tgtEl>
                                        <p:attrNameLst>
                                          <p:attrName>ppt_x</p:attrName>
                                        </p:attrNameLst>
                                      </p:cBhvr>
                                      <p:tavLst>
                                        <p:tav tm="0">
                                          <p:val>
                                            <p:strVal val="#ppt_x"/>
                                          </p:val>
                                        </p:tav>
                                        <p:tav tm="100000">
                                          <p:val>
                                            <p:strVal val="#ppt_x"/>
                                          </p:val>
                                        </p:tav>
                                      </p:tavLst>
                                    </p:anim>
                                    <p:anim calcmode="lin" valueType="num">
                                      <p:cBhvr>
                                        <p:cTn id="33" dur="500" fill="hold"/>
                                        <p:tgtEl>
                                          <p:spTgt spid="15"/>
                                        </p:tgtEl>
                                        <p:attrNameLst>
                                          <p:attrName>ppt_y</p:attrName>
                                        </p:attrNameLst>
                                      </p:cBhvr>
                                      <p:tavLst>
                                        <p:tav tm="0">
                                          <p:val>
                                            <p:strVal val="#ppt_y+0.06"/>
                                          </p:val>
                                        </p:tav>
                                        <p:tav tm="100000">
                                          <p:val>
                                            <p:strVal val="#ppt_y"/>
                                          </p:val>
                                        </p:tav>
                                      </p:tavLst>
                                    </p:anim>
                                  </p:childTnLst>
                                </p:cTn>
                              </p:par>
                              <p:par>
                                <p:cTn id="35" presetID="10" presetClass="entr" presetSubtype="0" fill="hold" grpId="0" nodeType="withEffect">
                                  <p:stCondLst>
                                    <p:cond delay="3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8" presetID="10" presetClass="entr" presetSubtype="0" fill="hold" grpId="0" nodeType="withEffect">
                                  <p:stCondLst>
                                    <p:cond delay="3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1" presetID="22" presetClass="entr" presetSubtype="8" fill="hold" grpId="0" nodeType="withEffect">
                                  <p:stCondLst>
                                    <p:cond delay="40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2" dur="450"/>
                                        <p:tgtEl>
                                          <p:spTgt spid="17"/>
                                        </p:tgtEl>
                                      </p:cBhvr>
                                    </p:animEffect>
                                  </p:childTnLst>
                                </p:cTn>
                              </p:par>
                              <p:par>
                                <p:cTn id="44" presetID="42" presetClass="entr" presetSubtype="0" fill="hold" grpId="0" nodeType="withEffect">
                                  <p:stCondLst>
                                    <p:cond delay="400"/>
                                  </p:stCondLst>
                                  <p:childTnLst>
                                    <p:set>
                                      <p:cBhvr>
                                        <p:cTn id="43"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anim calcmode="lin" valueType="num">
                                      <p:cBhvr>
                                        <p:cTn id="46" dur="500" fill="hold"/>
                                        <p:tgtEl>
                                          <p:spTgt spid="21"/>
                                        </p:tgtEl>
                                        <p:attrNameLst>
                                          <p:attrName>ppt_x</p:attrName>
                                        </p:attrNameLst>
                                      </p:cBhvr>
                                      <p:tavLst>
                                        <p:tav tm="0">
                                          <p:val>
                                            <p:strVal val="#ppt_x"/>
                                          </p:val>
                                        </p:tav>
                                        <p:tav tm="100000">
                                          <p:val>
                                            <p:strVal val="#ppt_x"/>
                                          </p:val>
                                        </p:tav>
                                      </p:tavLst>
                                    </p:anim>
                                    <p:anim calcmode="lin" valueType="num">
                                      <p:cBhvr>
                                        <p:cTn id="47" dur="500" fill="hold"/>
                                        <p:tgtEl>
                                          <p:spTgt spid="21"/>
                                        </p:tgtEl>
                                        <p:attrNameLst>
                                          <p:attrName>ppt_y</p:attrName>
                                        </p:attrNameLst>
                                      </p:cBhvr>
                                      <p:tavLst>
                                        <p:tav tm="0">
                                          <p:val>
                                            <p:strVal val="#ppt_y+0.06"/>
                                          </p:val>
                                        </p:tav>
                                        <p:tav tm="100000">
                                          <p:val>
                                            <p:strVal val="#ppt_y"/>
                                          </p:val>
                                        </p:tav>
                                      </p:tavLst>
                                    </p:anim>
                                  </p:childTnLst>
                                </p:cTn>
                              </p:par>
                              <p:par>
                                <p:cTn id="49" presetID="10" presetClass="entr" presetSubtype="0" fill="hold" grpId="0" nodeType="withEffect">
                                  <p:stCondLst>
                                    <p:cond delay="500"/>
                                  </p:stCondLst>
                                  <p:childTnLst>
                                    <p:set>
                                      <p:cBhvr>
                                        <p:cTn id="48"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2" presetID="10" presetClass="entr" presetSubtype="0" fill="hold" grpId="0" nodeType="withEffect">
                                  <p:stCondLst>
                                    <p:cond delay="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5" presetID="22" presetClass="entr" presetSubtype="8" fill="hold" grpId="0" nodeType="withEffect">
                                  <p:stCondLst>
                                    <p:cond delay="60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6" dur="450"/>
                                        <p:tgtEl>
                                          <p:spTgt spid="23"/>
                                        </p:tgtEl>
                                      </p:cBhvr>
                                    </p:animEffect>
                                  </p:childTnLst>
                                </p:cTn>
                              </p:par>
                              <p:par>
                                <p:cTn id="58" presetID="10" presetClass="entr" presetSubtype="0" fill="hold" grpId="0" nodeType="withEffect">
                                  <p:stCondLst>
                                    <p:cond delay="700"/>
                                  </p:stCondLst>
                                  <p:childTnLst>
                                    <p:set>
                                      <p:cBhvr>
                                        <p:cTn id="57"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3" presetID="10"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4" dur="500"/>
                                        <p:tgtEl>
                                          <p:spTgt spid="8"/>
                                        </p:tgtEl>
                                      </p:cBhvr>
                                    </p:animEffect>
                                  </p:childTnLst>
                                </p:cTn>
                              </p:par>
                              <p:par>
                                <p:cTn id="66" presetID="22" presetClass="entr" presetSubtype="8"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7" dur="450"/>
                                        <p:tgtEl>
                                          <p:spTgt spid="13"/>
                                        </p:tgtEl>
                                      </p:cBhvr>
                                    </p:animEffect>
                                  </p:childTnLst>
                                </p:cTn>
                              </p:par>
                              <p:par>
                                <p:cTn id="69" presetID="22" presetClass="entr" presetSubtype="8" fill="hold" grpId="0" nodeType="withEffect">
                                  <p:stCondLst>
                                    <p:cond delay="150"/>
                                  </p:stCondLst>
                                  <p:childTnLst>
                                    <p:set>
                                      <p:cBhvr>
                                        <p:cTn id="68" dur="1" fill="hold">
                                          <p:stCondLst>
                                            <p:cond delay="0"/>
                                          </p:stCondLst>
                                        </p:cTn>
                                        <p:tgtEl>
                                          <p:spTgt spid="19"/>
                                        </p:tgtEl>
                                        <p:attrNameLst>
                                          <p:attrName>style.visibility</p:attrName>
                                        </p:attrNameLst>
                                      </p:cBhvr>
                                      <p:to>
                                        <p:strVal val="visible"/>
                                      </p:to>
                                    </p:set>
                                    <p:animEffect transition="in" filter="wipe(left)">
                                      <p:cBhvr>
                                        <p:cTn id="70" dur="450"/>
                                        <p:tgtEl>
                                          <p:spTgt spid="19"/>
                                        </p:tgtEl>
                                      </p:cBhvr>
                                    </p:animEffect>
                                  </p:childTnLst>
                                </p:cTn>
                              </p:par>
                              <p:par>
                                <p:cTn id="72" presetID="10" presetClass="entr" presetSubtype="0" fill="hold" grpId="0" nodeType="withEffect">
                                  <p:stCondLst>
                                    <p:cond delay="200"/>
                                  </p:stCondLst>
                                  <p:childTnLst>
                                    <p:set>
                                      <p:cBhvr>
                                        <p:cTn id="71"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5" presetID="22" presetClass="entr" presetSubtype="8" fill="hold" grpId="0" nodeType="withEffect">
                                  <p:stCondLst>
                                    <p:cond delay="30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6" dur="450"/>
                                        <p:tgtEl>
                                          <p:spTgt spid="25"/>
                                        </p:tgtEl>
                                      </p:cBhvr>
                                    </p:animEffect>
                                  </p:childTnLst>
                                </p:cTn>
                              </p:par>
                              <p:par>
                                <p:cTn id="78" presetID="10" presetClass="entr" presetSubtype="0" fill="hold" grpId="0" nodeType="withEffect">
                                  <p:stCondLst>
                                    <p:cond delay="350"/>
                                  </p:stCondLst>
                                  <p:childTnLst>
                                    <p:set>
                                      <p:cBhvr>
                                        <p:cTn id="77"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par>
                                <p:cTn id="81" presetID="10" presetClass="entr" presetSubtype="0" fill="hold" grpId="0" nodeType="withEffect">
                                  <p:stCondLst>
                                    <p:cond delay="500"/>
                                  </p:stCondLst>
                                  <p:childTnLst>
                                    <p:set>
                                      <p:cBhvr>
                                        <p:cTn id="80"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childTnLst>
                          </p:cTn>
                        </p:par>
                      </p:childTnLst>
                    </p:cTn>
                  </p:par>
                  <p:par>
                    <p:cTn id="83" fill="hold">
                      <p:stCondLst>
                        <p:cond delay="indefinite"/>
                      </p:stCondLst>
                      <p:childTnLst>
                        <p:par>
                          <p:cTn id="84" fill="hold">
                            <p:stCondLst>
                              <p:cond delay="0"/>
                            </p:stCondLst>
                            <p:childTnLst>
                              <p:par>
                                <p:cTn id="86" presetID="42" presetClass="entr" presetSubtype="0" fill="hold" grpId="0" nodeType="click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anim calcmode="lin" valueType="num">
                                      <p:cBhvr>
                                        <p:cTn id="88" dur="500" fill="hold"/>
                                        <p:tgtEl>
                                          <p:spTgt spid="27"/>
                                        </p:tgtEl>
                                        <p:attrNameLst>
                                          <p:attrName>ppt_x</p:attrName>
                                        </p:attrNameLst>
                                      </p:cBhvr>
                                      <p:tavLst>
                                        <p:tav tm="0">
                                          <p:val>
                                            <p:strVal val="#ppt_x"/>
                                          </p:val>
                                        </p:tav>
                                        <p:tav tm="100000">
                                          <p:val>
                                            <p:strVal val="#ppt_x"/>
                                          </p:val>
                                        </p:tav>
                                      </p:tavLst>
                                    </p:anim>
                                    <p:anim calcmode="lin" valueType="num">
                                      <p:cBhvr>
                                        <p:cTn id="89" dur="500" fill="hold"/>
                                        <p:tgtEl>
                                          <p:spTgt spid="27"/>
                                        </p:tgtEl>
                                        <p:attrNameLst>
                                          <p:attrName>ppt_y</p:attrName>
                                        </p:attrNameLst>
                                      </p:cBhvr>
                                      <p:tavLst>
                                        <p:tav tm="0">
                                          <p:val>
                                            <p:strVal val="#ppt_y+0.06"/>
                                          </p:val>
                                        </p:tav>
                                        <p:tav tm="100000">
                                          <p:val>
                                            <p:strVal val="#ppt_y"/>
                                          </p:val>
                                        </p:tav>
                                      </p:tavLst>
                                    </p:anim>
                                  </p:childTnLst>
                                </p:cTn>
                              </p:par>
                              <p:par>
                                <p:cTn id="91" presetID="22" presetClass="entr" presetSubtype="8"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2" dur="450"/>
                                        <p:tgtEl>
                                          <p:spTgt spid="28"/>
                                        </p:tgtEl>
                                      </p:cBhvr>
                                    </p:animEffect>
                                  </p:childTnLst>
                                </p:cTn>
                              </p:par>
                            </p:childTnLst>
                          </p:cTn>
                        </p:par>
                      </p:childTnLst>
                    </p:cTn>
                  </p:par>
                  <p:par>
                    <p:cTn id="93" fill="hold">
                      <p:stCondLst>
                        <p:cond delay="indefinite"/>
                      </p:stCondLst>
                      <p:childTnLst>
                        <p:par>
                          <p:cTn id="94" fill="hold">
                            <p:stCondLst>
                              <p:cond delay="0"/>
                            </p:stCondLst>
                            <p:childTnLst>
                              <p:par>
                                <p:cTn id="96" presetID="10" presetClass="entr" presetSubtype="0" fill="hold" grpId="0"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childTnLst>
                                </p:cTn>
                              </p:par>
                              <p:par>
                                <p:cTn id="99" presetID="42" presetClass="entr" presetSubtype="0"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fade">
                                      <p:cBhvr>
                                        <p:cTn id="100" dur="500"/>
                                        <p:tgtEl>
                                          <p:spTgt spid="30"/>
                                        </p:tgtEl>
                                      </p:cBhvr>
                                    </p:animEffect>
                                    <p:anim calcmode="lin" valueType="num">
                                      <p:cBhvr>
                                        <p:cTn id="101" dur="500" fill="hold"/>
                                        <p:tgtEl>
                                          <p:spTgt spid="30"/>
                                        </p:tgtEl>
                                        <p:attrNameLst>
                                          <p:attrName>ppt_x</p:attrName>
                                        </p:attrNameLst>
                                      </p:cBhvr>
                                      <p:tavLst>
                                        <p:tav tm="0">
                                          <p:val>
                                            <p:strVal val="#ppt_x"/>
                                          </p:val>
                                        </p:tav>
                                        <p:tav tm="100000">
                                          <p:val>
                                            <p:strVal val="#ppt_x"/>
                                          </p:val>
                                        </p:tav>
                                      </p:tavLst>
                                    </p:anim>
                                    <p:anim calcmode="lin" valueType="num">
                                      <p:cBhvr>
                                        <p:cTn id="102" dur="500" fill="hold"/>
                                        <p:tgtEl>
                                          <p:spTgt spid="30"/>
                                        </p:tgtEl>
                                        <p:attrNameLst>
                                          <p:attrName>ppt_y</p:attrName>
                                        </p:attrNameLst>
                                      </p:cBhvr>
                                      <p:tavLst>
                                        <p:tav tm="0">
                                          <p:val>
                                            <p:strVal val="#ppt_y+0.06"/>
                                          </p:val>
                                        </p:tav>
                                        <p:tav tm="100000">
                                          <p:val>
                                            <p:strVal val="#ppt_y"/>
                                          </p:val>
                                        </p:tav>
                                      </p:tavLst>
                                    </p:anim>
                                  </p:childTnLst>
                                </p:cTn>
                              </p:par>
                              <p:par>
                                <p:cTn id="104" presetID="42" presetClass="entr" presetSubtype="0" fill="hold" grpId="0" nodeType="withEffect">
                                  <p:stCondLst>
                                    <p:cond delay="15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5" dur="500"/>
                                        <p:tgtEl>
                                          <p:spTgt spid="31"/>
                                        </p:tgtEl>
                                      </p:cBhvr>
                                    </p:animEffect>
                                    <p:anim calcmode="lin" valueType="num">
                                      <p:cBhvr>
                                        <p:cTn id="106" dur="500" fill="hold"/>
                                        <p:tgtEl>
                                          <p:spTgt spid="31"/>
                                        </p:tgtEl>
                                        <p:attrNameLst>
                                          <p:attrName>ppt_x</p:attrName>
                                        </p:attrNameLst>
                                      </p:cBhvr>
                                      <p:tavLst>
                                        <p:tav tm="0">
                                          <p:val>
                                            <p:strVal val="#ppt_x"/>
                                          </p:val>
                                        </p:tav>
                                        <p:tav tm="100000">
                                          <p:val>
                                            <p:strVal val="#ppt_x"/>
                                          </p:val>
                                        </p:tav>
                                      </p:tavLst>
                                    </p:anim>
                                    <p:anim calcmode="lin" valueType="num">
                                      <p:cBhvr>
                                        <p:cTn id="107" dur="500" fill="hold"/>
                                        <p:tgtEl>
                                          <p:spTgt spid="31"/>
                                        </p:tgtEl>
                                        <p:attrNameLst>
                                          <p:attrName>ppt_y</p:attrName>
                                        </p:attrNameLst>
                                      </p:cBhvr>
                                      <p:tavLst>
                                        <p:tav tm="0">
                                          <p:val>
                                            <p:strVal val="#ppt_y+0.06"/>
                                          </p:val>
                                        </p:tav>
                                        <p:tav tm="100000">
                                          <p:val>
                                            <p:strVal val="#ppt_y"/>
                                          </p:val>
                                        </p:tav>
                                      </p:tavLst>
                                    </p:anim>
                                  </p:childTnLst>
                                </p:cTn>
                              </p:par>
                              <p:par>
                                <p:cTn id="109" presetID="42" presetClass="entr" presetSubtype="0" fill="hold" grpId="0" nodeType="withEffect">
                                  <p:stCondLst>
                                    <p:cond delay="300"/>
                                  </p:stCondLst>
                                  <p:childTnLst>
                                    <p:set>
                                      <p:cBhvr>
                                        <p:cTn id="108" dur="1" fill="hold">
                                          <p:stCondLst>
                                            <p:cond delay="0"/>
                                          </p:stCondLst>
                                        </p:cTn>
                                        <p:tgtEl>
                                          <p:spTgt spid="32"/>
                                        </p:tgtEl>
                                        <p:attrNameLst>
                                          <p:attrName>style.visibility</p:attrName>
                                        </p:attrNameLst>
                                      </p:cBhvr>
                                      <p:to>
                                        <p:strVal val="visible"/>
                                      </p:to>
                                    </p:set>
                                    <p:animEffect transition="in" filter="fade">
                                      <p:cBhvr>
                                        <p:cTn id="110" dur="500"/>
                                        <p:tgtEl>
                                          <p:spTgt spid="32"/>
                                        </p:tgtEl>
                                      </p:cBhvr>
                                    </p:animEffect>
                                    <p:anim calcmode="lin" valueType="num">
                                      <p:cBhvr>
                                        <p:cTn id="111" dur="500" fill="hold"/>
                                        <p:tgtEl>
                                          <p:spTgt spid="32"/>
                                        </p:tgtEl>
                                        <p:attrNameLst>
                                          <p:attrName>ppt_x</p:attrName>
                                        </p:attrNameLst>
                                      </p:cBhvr>
                                      <p:tavLst>
                                        <p:tav tm="0">
                                          <p:val>
                                            <p:strVal val="#ppt_x"/>
                                          </p:val>
                                        </p:tav>
                                        <p:tav tm="100000">
                                          <p:val>
                                            <p:strVal val="#ppt_x"/>
                                          </p:val>
                                        </p:tav>
                                      </p:tavLst>
                                    </p:anim>
                                    <p:anim calcmode="lin" valueType="num">
                                      <p:cBhvr>
                                        <p:cTn id="112" dur="500" fill="hold"/>
                                        <p:tgtEl>
                                          <p:spTgt spid="32"/>
                                        </p:tgtEl>
                                        <p:attrNameLst>
                                          <p:attrName>ppt_y</p:attrName>
                                        </p:attrNameLst>
                                      </p:cBhvr>
                                      <p:tavLst>
                                        <p:tav tm="0">
                                          <p:val>
                                            <p:strVal val="#ppt_y+0.06"/>
                                          </p:val>
                                        </p:tav>
                                        <p:tav tm="100000">
                                          <p:val>
                                            <p:strVal val="#ppt_y"/>
                                          </p:val>
                                        </p:tav>
                                      </p:tavLst>
                                    </p:anim>
                                  </p:childTnLst>
                                </p:cTn>
                              </p:par>
                              <p:par>
                                <p:cTn id="114" presetID="42" presetClass="entr" presetSubtype="0" fill="hold" grpId="0" nodeType="withEffect">
                                  <p:stCondLst>
                                    <p:cond delay="45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5" dur="500"/>
                                        <p:tgtEl>
                                          <p:spTgt spid="33"/>
                                        </p:tgtEl>
                                      </p:cBhvr>
                                    </p:animEffect>
                                    <p:anim calcmode="lin" valueType="num">
                                      <p:cBhvr>
                                        <p:cTn id="116" dur="500" fill="hold"/>
                                        <p:tgtEl>
                                          <p:spTgt spid="33"/>
                                        </p:tgtEl>
                                        <p:attrNameLst>
                                          <p:attrName>ppt_x</p:attrName>
                                        </p:attrNameLst>
                                      </p:cBhvr>
                                      <p:tavLst>
                                        <p:tav tm="0">
                                          <p:val>
                                            <p:strVal val="#ppt_x"/>
                                          </p:val>
                                        </p:tav>
                                        <p:tav tm="100000">
                                          <p:val>
                                            <p:strVal val="#ppt_x"/>
                                          </p:val>
                                        </p:tav>
                                      </p:tavLst>
                                    </p:anim>
                                    <p:anim calcmode="lin" valueType="num">
                                      <p:cBhvr>
                                        <p:cTn id="117" dur="500" fill="hold"/>
                                        <p:tgtEl>
                                          <p:spTgt spid="33"/>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12 · MULTI-HEAD ATTENTION</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Multi-head attention: many perspectives at once</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Several heads run in parallel, each with its own Q, K, V matrices — so each learns to look for something different.</a:t>
            </a:r>
            <a:endParaRPr lang="en-US" sz="1300" dirty="0"/>
          </a:p>
        </p:txBody>
      </p:sp>
      <p:sp>
        <p:nvSpPr>
          <p:cNvPr id="5" name="anim-1-rise-0-531"/>
          <p:cNvSpPr/>
          <p:nvPr/>
        </p:nvSpPr>
        <p:spPr>
          <a:xfrm>
            <a:off x="548640" y="1691640"/>
            <a:ext cx="2606040" cy="3017520"/>
          </a:xfrm>
          <a:prstGeom prst="roundRect">
            <a:avLst>
              <a:gd name="adj" fmla="val 3509"/>
            </a:avLst>
          </a:prstGeom>
          <a:solidFill>
            <a:srgbClr val="F8FAFC"/>
          </a:solidFill>
          <a:ln w="12700">
            <a:solidFill>
              <a:srgbClr val="CBD5E1"/>
            </a:solidFill>
            <a:prstDash val="solid"/>
          </a:ln>
        </p:spPr>
      </p:sp>
      <p:sp>
        <p:nvSpPr>
          <p:cNvPr id="6" name="anim-1-rise-0-532"/>
          <p:cNvSpPr txBox="1"/>
          <p:nvPr/>
        </p:nvSpPr>
        <p:spPr>
          <a:xfrm>
            <a:off x="713232" y="1819656"/>
            <a:ext cx="2286000" cy="256032"/>
          </a:xfrm>
          <a:prstGeom prst="rect">
            <a:avLst/>
          </a:prstGeom>
          <a:noFill/>
          <a:ln/>
        </p:spPr>
        <p:txBody>
          <a:bodyPr wrap="square" lIns="0" tIns="0" rIns="0" bIns="0" rtlCol="0" anchor="t"/>
          <a:lstStyle/>
          <a:p>
            <a:pPr indent="0" marL="0">
              <a:buNone/>
            </a:pPr>
            <a:r>
              <a:rPr lang="en-US" sz="1200" b="1" dirty="0">
                <a:solidFill>
                  <a:srgbClr val="7C3AED"/>
                </a:solidFill>
                <a:latin typeface="Inter" pitchFamily="34" charset="0"/>
                <a:ea typeface="Inter" pitchFamily="34" charset="-122"/>
                <a:cs typeface="Inter" pitchFamily="34" charset="-120"/>
              </a:rPr>
              <a:t>Head 1 · Subject</a:t>
            </a:r>
            <a:endParaRPr lang="en-US" sz="1200" dirty="0"/>
          </a:p>
        </p:txBody>
      </p:sp>
      <p:sp>
        <p:nvSpPr>
          <p:cNvPr id="7" name="anim-1-fade-100-533"/>
          <p:cNvSpPr txBox="1"/>
          <p:nvPr/>
        </p:nvSpPr>
        <p:spPr>
          <a:xfrm>
            <a:off x="658368" y="2258568"/>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8" name="anim-1-fade-150-534"/>
          <p:cNvSpPr/>
          <p:nvPr/>
        </p:nvSpPr>
        <p:spPr>
          <a:xfrm>
            <a:off x="1234440" y="2221992"/>
            <a:ext cx="274320" cy="274320"/>
          </a:xfrm>
          <a:prstGeom prst="rect">
            <a:avLst/>
          </a:prstGeom>
          <a:solidFill>
            <a:srgbClr val="7C3AED"/>
          </a:solidFill>
          <a:ln/>
        </p:spPr>
      </p:sp>
      <p:sp>
        <p:nvSpPr>
          <p:cNvPr id="9" name="anim-1-fade-150-535"/>
          <p:cNvSpPr/>
          <p:nvPr/>
        </p:nvSpPr>
        <p:spPr>
          <a:xfrm>
            <a:off x="1536192" y="2221992"/>
            <a:ext cx="274320" cy="274320"/>
          </a:xfrm>
          <a:prstGeom prst="rect">
            <a:avLst/>
          </a:prstGeom>
          <a:solidFill>
            <a:srgbClr val="EEF2F6"/>
          </a:solidFill>
          <a:ln/>
        </p:spPr>
      </p:sp>
      <p:sp>
        <p:nvSpPr>
          <p:cNvPr id="10" name="anim-1-fade-150-536"/>
          <p:cNvSpPr/>
          <p:nvPr/>
        </p:nvSpPr>
        <p:spPr>
          <a:xfrm>
            <a:off x="1837944" y="2221992"/>
            <a:ext cx="274320" cy="274320"/>
          </a:xfrm>
          <a:prstGeom prst="rect">
            <a:avLst/>
          </a:prstGeom>
          <a:solidFill>
            <a:srgbClr val="EEF2F6"/>
          </a:solidFill>
          <a:ln/>
        </p:spPr>
      </p:sp>
      <p:sp>
        <p:nvSpPr>
          <p:cNvPr id="11" name="anim-1-fade-150-537"/>
          <p:cNvSpPr/>
          <p:nvPr/>
        </p:nvSpPr>
        <p:spPr>
          <a:xfrm>
            <a:off x="2139696" y="2221992"/>
            <a:ext cx="274320" cy="274320"/>
          </a:xfrm>
          <a:prstGeom prst="rect">
            <a:avLst/>
          </a:prstGeom>
          <a:solidFill>
            <a:srgbClr val="EEF2F6"/>
          </a:solidFill>
          <a:ln/>
        </p:spPr>
      </p:sp>
      <p:sp>
        <p:nvSpPr>
          <p:cNvPr id="12" name="anim-1-fade-150-538"/>
          <p:cNvSpPr/>
          <p:nvPr/>
        </p:nvSpPr>
        <p:spPr>
          <a:xfrm>
            <a:off x="2441448" y="2221992"/>
            <a:ext cx="274320" cy="274320"/>
          </a:xfrm>
          <a:prstGeom prst="rect">
            <a:avLst/>
          </a:prstGeom>
          <a:solidFill>
            <a:srgbClr val="EEF2F6"/>
          </a:solidFill>
          <a:ln/>
        </p:spPr>
      </p:sp>
      <p:sp>
        <p:nvSpPr>
          <p:cNvPr id="13" name="anim-1-fade-100-539"/>
          <p:cNvSpPr txBox="1"/>
          <p:nvPr/>
        </p:nvSpPr>
        <p:spPr>
          <a:xfrm>
            <a:off x="658368" y="2560320"/>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cat</a:t>
            </a:r>
            <a:endParaRPr lang="en-US" sz="900" dirty="0"/>
          </a:p>
        </p:txBody>
      </p:sp>
      <p:sp>
        <p:nvSpPr>
          <p:cNvPr id="14" name="anim-1-fade-230-540"/>
          <p:cNvSpPr/>
          <p:nvPr/>
        </p:nvSpPr>
        <p:spPr>
          <a:xfrm>
            <a:off x="1234440" y="2523744"/>
            <a:ext cx="274320" cy="274320"/>
          </a:xfrm>
          <a:prstGeom prst="rect">
            <a:avLst/>
          </a:prstGeom>
          <a:solidFill>
            <a:srgbClr val="C3A4F7"/>
          </a:solidFill>
          <a:ln/>
        </p:spPr>
      </p:sp>
      <p:sp>
        <p:nvSpPr>
          <p:cNvPr id="15" name="anim-1-fade-230-541"/>
          <p:cNvSpPr/>
          <p:nvPr/>
        </p:nvSpPr>
        <p:spPr>
          <a:xfrm>
            <a:off x="1536192" y="2523744"/>
            <a:ext cx="274320" cy="274320"/>
          </a:xfrm>
          <a:prstGeom prst="rect">
            <a:avLst/>
          </a:prstGeom>
          <a:solidFill>
            <a:srgbClr val="AB81F3"/>
          </a:solidFill>
          <a:ln/>
        </p:spPr>
      </p:sp>
      <p:sp>
        <p:nvSpPr>
          <p:cNvPr id="16" name="anim-1-fade-230-542"/>
          <p:cNvSpPr/>
          <p:nvPr/>
        </p:nvSpPr>
        <p:spPr>
          <a:xfrm>
            <a:off x="1837944" y="2523744"/>
            <a:ext cx="274320" cy="274320"/>
          </a:xfrm>
          <a:prstGeom prst="rect">
            <a:avLst/>
          </a:prstGeom>
          <a:solidFill>
            <a:srgbClr val="EEF2F6"/>
          </a:solidFill>
          <a:ln/>
        </p:spPr>
      </p:sp>
      <p:sp>
        <p:nvSpPr>
          <p:cNvPr id="17" name="anim-1-fade-230-543"/>
          <p:cNvSpPr/>
          <p:nvPr/>
        </p:nvSpPr>
        <p:spPr>
          <a:xfrm>
            <a:off x="2139696" y="2523744"/>
            <a:ext cx="274320" cy="274320"/>
          </a:xfrm>
          <a:prstGeom prst="rect">
            <a:avLst/>
          </a:prstGeom>
          <a:solidFill>
            <a:srgbClr val="EEF2F6"/>
          </a:solidFill>
          <a:ln/>
        </p:spPr>
      </p:sp>
      <p:sp>
        <p:nvSpPr>
          <p:cNvPr id="18" name="anim-1-fade-230-544"/>
          <p:cNvSpPr/>
          <p:nvPr/>
        </p:nvSpPr>
        <p:spPr>
          <a:xfrm>
            <a:off x="2441448" y="2523744"/>
            <a:ext cx="274320" cy="274320"/>
          </a:xfrm>
          <a:prstGeom prst="rect">
            <a:avLst/>
          </a:prstGeom>
          <a:solidFill>
            <a:srgbClr val="EEF2F6"/>
          </a:solidFill>
          <a:ln/>
        </p:spPr>
      </p:sp>
      <p:sp>
        <p:nvSpPr>
          <p:cNvPr id="19" name="anim-1-fade-100-545"/>
          <p:cNvSpPr txBox="1"/>
          <p:nvPr/>
        </p:nvSpPr>
        <p:spPr>
          <a:xfrm>
            <a:off x="658368" y="2862072"/>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sat</a:t>
            </a:r>
            <a:endParaRPr lang="en-US" sz="900" dirty="0"/>
          </a:p>
        </p:txBody>
      </p:sp>
      <p:sp>
        <p:nvSpPr>
          <p:cNvPr id="20" name="anim-1-fade-310-546"/>
          <p:cNvSpPr/>
          <p:nvPr/>
        </p:nvSpPr>
        <p:spPr>
          <a:xfrm>
            <a:off x="1234440" y="2825496"/>
            <a:ext cx="274320" cy="274320"/>
          </a:xfrm>
          <a:prstGeom prst="rect">
            <a:avLst/>
          </a:prstGeom>
          <a:solidFill>
            <a:srgbClr val="E6DAFC"/>
          </a:solidFill>
          <a:ln/>
        </p:spPr>
      </p:sp>
      <p:sp>
        <p:nvSpPr>
          <p:cNvPr id="21" name="anim-1-fade-310-547"/>
          <p:cNvSpPr/>
          <p:nvPr/>
        </p:nvSpPr>
        <p:spPr>
          <a:xfrm>
            <a:off x="1536192" y="2825496"/>
            <a:ext cx="274320" cy="274320"/>
          </a:xfrm>
          <a:prstGeom prst="rect">
            <a:avLst/>
          </a:prstGeom>
          <a:solidFill>
            <a:srgbClr val="945DF0"/>
          </a:solidFill>
          <a:ln/>
        </p:spPr>
      </p:sp>
      <p:sp>
        <p:nvSpPr>
          <p:cNvPr id="22" name="anim-1-fade-310-548"/>
          <p:cNvSpPr/>
          <p:nvPr/>
        </p:nvSpPr>
        <p:spPr>
          <a:xfrm>
            <a:off x="1837944" y="2825496"/>
            <a:ext cx="274320" cy="274320"/>
          </a:xfrm>
          <a:prstGeom prst="rect">
            <a:avLst/>
          </a:prstGeom>
          <a:solidFill>
            <a:srgbClr val="E6DAFC"/>
          </a:solidFill>
          <a:ln/>
        </p:spPr>
      </p:sp>
      <p:sp>
        <p:nvSpPr>
          <p:cNvPr id="23" name="anim-1-fade-310-549"/>
          <p:cNvSpPr/>
          <p:nvPr/>
        </p:nvSpPr>
        <p:spPr>
          <a:xfrm>
            <a:off x="2139696" y="2825496"/>
            <a:ext cx="274320" cy="274320"/>
          </a:xfrm>
          <a:prstGeom prst="rect">
            <a:avLst/>
          </a:prstGeom>
          <a:solidFill>
            <a:srgbClr val="EEF2F6"/>
          </a:solidFill>
          <a:ln/>
        </p:spPr>
      </p:sp>
      <p:sp>
        <p:nvSpPr>
          <p:cNvPr id="24" name="anim-1-fade-310-550"/>
          <p:cNvSpPr/>
          <p:nvPr/>
        </p:nvSpPr>
        <p:spPr>
          <a:xfrm>
            <a:off x="2441448" y="2825496"/>
            <a:ext cx="274320" cy="274320"/>
          </a:xfrm>
          <a:prstGeom prst="rect">
            <a:avLst/>
          </a:prstGeom>
          <a:solidFill>
            <a:srgbClr val="EEF2F6"/>
          </a:solidFill>
          <a:ln/>
        </p:spPr>
      </p:sp>
      <p:sp>
        <p:nvSpPr>
          <p:cNvPr id="25" name="anim-1-fade-100-551"/>
          <p:cNvSpPr txBox="1"/>
          <p:nvPr/>
        </p:nvSpPr>
        <p:spPr>
          <a:xfrm>
            <a:off x="658368" y="3163824"/>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on</a:t>
            </a:r>
            <a:endParaRPr lang="en-US" sz="900" dirty="0"/>
          </a:p>
        </p:txBody>
      </p:sp>
      <p:sp>
        <p:nvSpPr>
          <p:cNvPr id="26" name="anim-1-fade-390-552"/>
          <p:cNvSpPr/>
          <p:nvPr/>
        </p:nvSpPr>
        <p:spPr>
          <a:xfrm>
            <a:off x="1234440" y="3127248"/>
            <a:ext cx="274320" cy="274320"/>
          </a:xfrm>
          <a:prstGeom prst="rect">
            <a:avLst/>
          </a:prstGeom>
          <a:solidFill>
            <a:srgbClr val="ECE2FC"/>
          </a:solidFill>
          <a:ln/>
        </p:spPr>
      </p:sp>
      <p:sp>
        <p:nvSpPr>
          <p:cNvPr id="27" name="anim-1-fade-390-553"/>
          <p:cNvSpPr/>
          <p:nvPr/>
        </p:nvSpPr>
        <p:spPr>
          <a:xfrm>
            <a:off x="1536192" y="3127248"/>
            <a:ext cx="274320" cy="274320"/>
          </a:xfrm>
          <a:prstGeom prst="rect">
            <a:avLst/>
          </a:prstGeom>
          <a:solidFill>
            <a:srgbClr val="9F6FF2"/>
          </a:solidFill>
          <a:ln/>
        </p:spPr>
      </p:sp>
      <p:sp>
        <p:nvSpPr>
          <p:cNvPr id="28" name="anim-1-fade-390-554"/>
          <p:cNvSpPr/>
          <p:nvPr/>
        </p:nvSpPr>
        <p:spPr>
          <a:xfrm>
            <a:off x="1837944" y="3127248"/>
            <a:ext cx="274320" cy="274320"/>
          </a:xfrm>
          <a:prstGeom prst="rect">
            <a:avLst/>
          </a:prstGeom>
          <a:solidFill>
            <a:srgbClr val="E0D1FB"/>
          </a:solidFill>
          <a:ln/>
        </p:spPr>
      </p:sp>
      <p:sp>
        <p:nvSpPr>
          <p:cNvPr id="29" name="anim-1-fade-390-555"/>
          <p:cNvSpPr/>
          <p:nvPr/>
        </p:nvSpPr>
        <p:spPr>
          <a:xfrm>
            <a:off x="2139696" y="3127248"/>
            <a:ext cx="274320" cy="274320"/>
          </a:xfrm>
          <a:prstGeom prst="rect">
            <a:avLst/>
          </a:prstGeom>
          <a:solidFill>
            <a:srgbClr val="E6DAFC"/>
          </a:solidFill>
          <a:ln/>
        </p:spPr>
      </p:sp>
      <p:sp>
        <p:nvSpPr>
          <p:cNvPr id="30" name="anim-1-fade-390-556"/>
          <p:cNvSpPr/>
          <p:nvPr/>
        </p:nvSpPr>
        <p:spPr>
          <a:xfrm>
            <a:off x="2441448" y="3127248"/>
            <a:ext cx="274320" cy="274320"/>
          </a:xfrm>
          <a:prstGeom prst="rect">
            <a:avLst/>
          </a:prstGeom>
          <a:solidFill>
            <a:srgbClr val="EEF2F6"/>
          </a:solidFill>
          <a:ln/>
        </p:spPr>
      </p:sp>
      <p:sp>
        <p:nvSpPr>
          <p:cNvPr id="31" name="anim-1-fade-100-557"/>
          <p:cNvSpPr txBox="1"/>
          <p:nvPr/>
        </p:nvSpPr>
        <p:spPr>
          <a:xfrm>
            <a:off x="658368" y="3465576"/>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32" name="anim-1-fade-470-558"/>
          <p:cNvSpPr/>
          <p:nvPr/>
        </p:nvSpPr>
        <p:spPr>
          <a:xfrm>
            <a:off x="1234440" y="3429000"/>
            <a:ext cx="274320" cy="274320"/>
          </a:xfrm>
          <a:prstGeom prst="rect">
            <a:avLst/>
          </a:prstGeom>
          <a:solidFill>
            <a:srgbClr val="ECE2FC"/>
          </a:solidFill>
          <a:ln/>
        </p:spPr>
      </p:sp>
      <p:sp>
        <p:nvSpPr>
          <p:cNvPr id="33" name="anim-1-fade-470-559"/>
          <p:cNvSpPr/>
          <p:nvPr/>
        </p:nvSpPr>
        <p:spPr>
          <a:xfrm>
            <a:off x="1536192" y="3429000"/>
            <a:ext cx="274320" cy="274320"/>
          </a:xfrm>
          <a:prstGeom prst="rect">
            <a:avLst/>
          </a:prstGeom>
          <a:solidFill>
            <a:srgbClr val="AB81F3"/>
          </a:solidFill>
          <a:ln/>
        </p:spPr>
      </p:sp>
      <p:sp>
        <p:nvSpPr>
          <p:cNvPr id="34" name="anim-1-fade-470-560"/>
          <p:cNvSpPr/>
          <p:nvPr/>
        </p:nvSpPr>
        <p:spPr>
          <a:xfrm>
            <a:off x="1837944" y="3429000"/>
            <a:ext cx="274320" cy="274320"/>
          </a:xfrm>
          <a:prstGeom prst="rect">
            <a:avLst/>
          </a:prstGeom>
          <a:solidFill>
            <a:srgbClr val="E0D1FB"/>
          </a:solidFill>
          <a:ln/>
        </p:spPr>
      </p:sp>
      <p:sp>
        <p:nvSpPr>
          <p:cNvPr id="35" name="anim-1-fade-470-561"/>
          <p:cNvSpPr/>
          <p:nvPr/>
        </p:nvSpPr>
        <p:spPr>
          <a:xfrm>
            <a:off x="2139696" y="3429000"/>
            <a:ext cx="274320" cy="274320"/>
          </a:xfrm>
          <a:prstGeom prst="rect">
            <a:avLst/>
          </a:prstGeom>
          <a:solidFill>
            <a:srgbClr val="E6DAFC"/>
          </a:solidFill>
          <a:ln/>
        </p:spPr>
      </p:sp>
      <p:sp>
        <p:nvSpPr>
          <p:cNvPr id="36" name="anim-1-fade-470-562"/>
          <p:cNvSpPr/>
          <p:nvPr/>
        </p:nvSpPr>
        <p:spPr>
          <a:xfrm>
            <a:off x="2441448" y="3429000"/>
            <a:ext cx="274320" cy="274320"/>
          </a:xfrm>
          <a:prstGeom prst="rect">
            <a:avLst/>
          </a:prstGeom>
          <a:solidFill>
            <a:srgbClr val="E6DAFC"/>
          </a:solidFill>
          <a:ln/>
        </p:spPr>
      </p:sp>
      <p:sp>
        <p:nvSpPr>
          <p:cNvPr id="37" name="anim-1-fade-300-563"/>
          <p:cNvSpPr txBox="1"/>
          <p:nvPr/>
        </p:nvSpPr>
        <p:spPr>
          <a:xfrm>
            <a:off x="713232" y="3794760"/>
            <a:ext cx="2286000" cy="82296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Every word checks who the sentence is about: the “cat” column lights up.</a:t>
            </a:r>
            <a:endParaRPr lang="en-US" sz="1050" dirty="0"/>
          </a:p>
        </p:txBody>
      </p:sp>
      <p:sp>
        <p:nvSpPr>
          <p:cNvPr id="38" name="anim-5-fade-0-564"/>
          <p:cNvSpPr/>
          <p:nvPr/>
        </p:nvSpPr>
        <p:spPr>
          <a:xfrm>
            <a:off x="1435608" y="4919472"/>
            <a:ext cx="182880" cy="219456"/>
          </a:xfrm>
          <a:prstGeom prst="rect">
            <a:avLst/>
          </a:prstGeom>
          <a:solidFill>
            <a:srgbClr val="894EEF"/>
          </a:solidFill>
          <a:ln w="6350">
            <a:solidFill>
              <a:srgbClr val="FFFFFF"/>
            </a:solidFill>
            <a:prstDash val="solid"/>
          </a:ln>
        </p:spPr>
      </p:sp>
      <p:sp>
        <p:nvSpPr>
          <p:cNvPr id="39" name="anim-5-fade-0-565"/>
          <p:cNvSpPr/>
          <p:nvPr/>
        </p:nvSpPr>
        <p:spPr>
          <a:xfrm>
            <a:off x="1645920" y="4919472"/>
            <a:ext cx="182880" cy="219456"/>
          </a:xfrm>
          <a:prstGeom prst="rect">
            <a:avLst/>
          </a:prstGeom>
          <a:solidFill>
            <a:srgbClr val="BE9DF6"/>
          </a:solidFill>
          <a:ln w="6350">
            <a:solidFill>
              <a:srgbClr val="FFFFFF"/>
            </a:solidFill>
            <a:prstDash val="solid"/>
          </a:ln>
        </p:spPr>
      </p:sp>
      <p:sp>
        <p:nvSpPr>
          <p:cNvPr id="40" name="anim-5-fade-0-566"/>
          <p:cNvSpPr/>
          <p:nvPr/>
        </p:nvSpPr>
        <p:spPr>
          <a:xfrm>
            <a:off x="1856232" y="4919472"/>
            <a:ext cx="182880" cy="219456"/>
          </a:xfrm>
          <a:prstGeom prst="rect">
            <a:avLst/>
          </a:prstGeom>
          <a:solidFill>
            <a:srgbClr val="A375F2"/>
          </a:solidFill>
          <a:ln w="6350">
            <a:solidFill>
              <a:srgbClr val="FFFFFF"/>
            </a:solidFill>
            <a:prstDash val="solid"/>
          </a:ln>
        </p:spPr>
      </p:sp>
      <p:sp>
        <p:nvSpPr>
          <p:cNvPr id="41" name="anim-5-fade-0-567"/>
          <p:cNvSpPr/>
          <p:nvPr/>
        </p:nvSpPr>
        <p:spPr>
          <a:xfrm>
            <a:off x="2066544" y="4919472"/>
            <a:ext cx="182880" cy="219456"/>
          </a:xfrm>
          <a:prstGeom prst="rect">
            <a:avLst/>
          </a:prstGeom>
          <a:solidFill>
            <a:srgbClr val="D1BAF9"/>
          </a:solidFill>
          <a:ln w="6350">
            <a:solidFill>
              <a:srgbClr val="FFFFFF"/>
            </a:solidFill>
            <a:prstDash val="solid"/>
          </a:ln>
        </p:spPr>
      </p:sp>
      <p:sp>
        <p:nvSpPr>
          <p:cNvPr id="42" name="anim-5-fade-300-568"/>
          <p:cNvSpPr/>
          <p:nvPr/>
        </p:nvSpPr>
        <p:spPr>
          <a:xfrm>
            <a:off x="1847088" y="5175504"/>
            <a:ext cx="3410712" cy="338328"/>
          </a:xfrm>
          <a:prstGeom prst="line">
            <a:avLst/>
          </a:prstGeom>
          <a:noFill/>
          <a:ln w="15875">
            <a:solidFill>
              <a:srgbClr val="7C3AED"/>
            </a:solidFill>
            <a:prstDash val="solid"/>
            <a:tailEnd type="triangle"/>
          </a:ln>
        </p:spPr>
      </p:sp>
      <p:sp>
        <p:nvSpPr>
          <p:cNvPr id="43" name="anim-2-rise-0-569"/>
          <p:cNvSpPr/>
          <p:nvPr/>
        </p:nvSpPr>
        <p:spPr>
          <a:xfrm>
            <a:off x="3383280" y="1691640"/>
            <a:ext cx="2606040" cy="3017520"/>
          </a:xfrm>
          <a:prstGeom prst="roundRect">
            <a:avLst>
              <a:gd name="adj" fmla="val 3509"/>
            </a:avLst>
          </a:prstGeom>
          <a:solidFill>
            <a:srgbClr val="F8FAFC"/>
          </a:solidFill>
          <a:ln w="12700">
            <a:solidFill>
              <a:srgbClr val="CBD5E1"/>
            </a:solidFill>
            <a:prstDash val="solid"/>
          </a:ln>
        </p:spPr>
      </p:sp>
      <p:sp>
        <p:nvSpPr>
          <p:cNvPr id="44" name="anim-2-rise-0-570"/>
          <p:cNvSpPr txBox="1"/>
          <p:nvPr/>
        </p:nvSpPr>
        <p:spPr>
          <a:xfrm>
            <a:off x="3547872" y="1819656"/>
            <a:ext cx="2286000" cy="256032"/>
          </a:xfrm>
          <a:prstGeom prst="rect">
            <a:avLst/>
          </a:prstGeom>
          <a:noFill/>
          <a:ln/>
        </p:spPr>
        <p:txBody>
          <a:bodyPr wrap="square" lIns="0" tIns="0" rIns="0" bIns="0" rtlCol="0" anchor="t"/>
          <a:lstStyle/>
          <a:p>
            <a:pPr indent="0" marL="0">
              <a:buNone/>
            </a:pPr>
            <a:r>
              <a:rPr lang="en-US" sz="1200" b="1" dirty="0">
                <a:solidFill>
                  <a:srgbClr val="2563EB"/>
                </a:solidFill>
                <a:latin typeface="Inter" pitchFamily="34" charset="0"/>
                <a:ea typeface="Inter" pitchFamily="34" charset="-122"/>
                <a:cs typeface="Inter" pitchFamily="34" charset="-120"/>
              </a:rPr>
              <a:t>Head 2 · Previous word</a:t>
            </a:r>
            <a:endParaRPr lang="en-US" sz="1200" dirty="0"/>
          </a:p>
        </p:txBody>
      </p:sp>
      <p:sp>
        <p:nvSpPr>
          <p:cNvPr id="45" name="anim-2-fade-100-571"/>
          <p:cNvSpPr txBox="1"/>
          <p:nvPr/>
        </p:nvSpPr>
        <p:spPr>
          <a:xfrm>
            <a:off x="3493008" y="2258568"/>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46" name="anim-2-fade-150-572"/>
          <p:cNvSpPr/>
          <p:nvPr/>
        </p:nvSpPr>
        <p:spPr>
          <a:xfrm>
            <a:off x="4069080" y="2221992"/>
            <a:ext cx="274320" cy="274320"/>
          </a:xfrm>
          <a:prstGeom prst="rect">
            <a:avLst/>
          </a:prstGeom>
          <a:solidFill>
            <a:srgbClr val="2563EB"/>
          </a:solidFill>
          <a:ln/>
        </p:spPr>
      </p:sp>
      <p:sp>
        <p:nvSpPr>
          <p:cNvPr id="47" name="anim-2-fade-150-573"/>
          <p:cNvSpPr/>
          <p:nvPr/>
        </p:nvSpPr>
        <p:spPr>
          <a:xfrm>
            <a:off x="4370832" y="2221992"/>
            <a:ext cx="274320" cy="274320"/>
          </a:xfrm>
          <a:prstGeom prst="rect">
            <a:avLst/>
          </a:prstGeom>
          <a:solidFill>
            <a:srgbClr val="EEF2F6"/>
          </a:solidFill>
          <a:ln/>
        </p:spPr>
      </p:sp>
      <p:sp>
        <p:nvSpPr>
          <p:cNvPr id="48" name="anim-2-fade-150-574"/>
          <p:cNvSpPr/>
          <p:nvPr/>
        </p:nvSpPr>
        <p:spPr>
          <a:xfrm>
            <a:off x="4672584" y="2221992"/>
            <a:ext cx="274320" cy="274320"/>
          </a:xfrm>
          <a:prstGeom prst="rect">
            <a:avLst/>
          </a:prstGeom>
          <a:solidFill>
            <a:srgbClr val="EEF2F6"/>
          </a:solidFill>
          <a:ln/>
        </p:spPr>
      </p:sp>
      <p:sp>
        <p:nvSpPr>
          <p:cNvPr id="49" name="anim-2-fade-150-575"/>
          <p:cNvSpPr/>
          <p:nvPr/>
        </p:nvSpPr>
        <p:spPr>
          <a:xfrm>
            <a:off x="4974336" y="2221992"/>
            <a:ext cx="274320" cy="274320"/>
          </a:xfrm>
          <a:prstGeom prst="rect">
            <a:avLst/>
          </a:prstGeom>
          <a:solidFill>
            <a:srgbClr val="EEF2F6"/>
          </a:solidFill>
          <a:ln/>
        </p:spPr>
      </p:sp>
      <p:sp>
        <p:nvSpPr>
          <p:cNvPr id="50" name="anim-2-fade-150-576"/>
          <p:cNvSpPr/>
          <p:nvPr/>
        </p:nvSpPr>
        <p:spPr>
          <a:xfrm>
            <a:off x="5276088" y="2221992"/>
            <a:ext cx="274320" cy="274320"/>
          </a:xfrm>
          <a:prstGeom prst="rect">
            <a:avLst/>
          </a:prstGeom>
          <a:solidFill>
            <a:srgbClr val="EEF2F6"/>
          </a:solidFill>
          <a:ln/>
        </p:spPr>
      </p:sp>
      <p:sp>
        <p:nvSpPr>
          <p:cNvPr id="51" name="anim-2-fade-100-577"/>
          <p:cNvSpPr txBox="1"/>
          <p:nvPr/>
        </p:nvSpPr>
        <p:spPr>
          <a:xfrm>
            <a:off x="3493008" y="2560320"/>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cat</a:t>
            </a:r>
            <a:endParaRPr lang="en-US" sz="900" dirty="0"/>
          </a:p>
        </p:txBody>
      </p:sp>
      <p:sp>
        <p:nvSpPr>
          <p:cNvPr id="52" name="anim-2-fade-230-578"/>
          <p:cNvSpPr/>
          <p:nvPr/>
        </p:nvSpPr>
        <p:spPr>
          <a:xfrm>
            <a:off x="4069080" y="2523744"/>
            <a:ext cx="274320" cy="274320"/>
          </a:xfrm>
          <a:prstGeom prst="rect">
            <a:avLst/>
          </a:prstGeom>
          <a:solidFill>
            <a:srgbClr val="3971ED"/>
          </a:solidFill>
          <a:ln/>
        </p:spPr>
      </p:sp>
      <p:sp>
        <p:nvSpPr>
          <p:cNvPr id="53" name="anim-2-fade-230-579"/>
          <p:cNvSpPr/>
          <p:nvPr/>
        </p:nvSpPr>
        <p:spPr>
          <a:xfrm>
            <a:off x="4370832" y="2523744"/>
            <a:ext cx="274320" cy="274320"/>
          </a:xfrm>
          <a:prstGeom prst="rect">
            <a:avLst/>
          </a:prstGeom>
          <a:solidFill>
            <a:srgbClr val="D6E1FB"/>
          </a:solidFill>
          <a:ln/>
        </p:spPr>
      </p:sp>
      <p:sp>
        <p:nvSpPr>
          <p:cNvPr id="54" name="anim-2-fade-230-580"/>
          <p:cNvSpPr/>
          <p:nvPr/>
        </p:nvSpPr>
        <p:spPr>
          <a:xfrm>
            <a:off x="4672584" y="2523744"/>
            <a:ext cx="274320" cy="274320"/>
          </a:xfrm>
          <a:prstGeom prst="rect">
            <a:avLst/>
          </a:prstGeom>
          <a:solidFill>
            <a:srgbClr val="EEF2F6"/>
          </a:solidFill>
          <a:ln/>
        </p:spPr>
      </p:sp>
      <p:sp>
        <p:nvSpPr>
          <p:cNvPr id="55" name="anim-2-fade-230-581"/>
          <p:cNvSpPr/>
          <p:nvPr/>
        </p:nvSpPr>
        <p:spPr>
          <a:xfrm>
            <a:off x="4974336" y="2523744"/>
            <a:ext cx="274320" cy="274320"/>
          </a:xfrm>
          <a:prstGeom prst="rect">
            <a:avLst/>
          </a:prstGeom>
          <a:solidFill>
            <a:srgbClr val="EEF2F6"/>
          </a:solidFill>
          <a:ln/>
        </p:spPr>
      </p:sp>
      <p:sp>
        <p:nvSpPr>
          <p:cNvPr id="56" name="anim-2-fade-230-582"/>
          <p:cNvSpPr/>
          <p:nvPr/>
        </p:nvSpPr>
        <p:spPr>
          <a:xfrm>
            <a:off x="5276088" y="2523744"/>
            <a:ext cx="274320" cy="274320"/>
          </a:xfrm>
          <a:prstGeom prst="rect">
            <a:avLst/>
          </a:prstGeom>
          <a:solidFill>
            <a:srgbClr val="EEF2F6"/>
          </a:solidFill>
          <a:ln/>
        </p:spPr>
      </p:sp>
      <p:sp>
        <p:nvSpPr>
          <p:cNvPr id="57" name="anim-2-fade-100-583"/>
          <p:cNvSpPr txBox="1"/>
          <p:nvPr/>
        </p:nvSpPr>
        <p:spPr>
          <a:xfrm>
            <a:off x="3493008" y="2862072"/>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sat</a:t>
            </a:r>
            <a:endParaRPr lang="en-US" sz="900" dirty="0"/>
          </a:p>
        </p:txBody>
      </p:sp>
      <p:sp>
        <p:nvSpPr>
          <p:cNvPr id="58" name="anim-2-fade-310-584"/>
          <p:cNvSpPr/>
          <p:nvPr/>
        </p:nvSpPr>
        <p:spPr>
          <a:xfrm>
            <a:off x="4069080" y="2825496"/>
            <a:ext cx="274320" cy="274320"/>
          </a:xfrm>
          <a:prstGeom prst="rect">
            <a:avLst/>
          </a:prstGeom>
          <a:solidFill>
            <a:srgbClr val="DFE8FC"/>
          </a:solidFill>
          <a:ln/>
        </p:spPr>
      </p:sp>
      <p:sp>
        <p:nvSpPr>
          <p:cNvPr id="59" name="anim-2-fade-310-585"/>
          <p:cNvSpPr/>
          <p:nvPr/>
        </p:nvSpPr>
        <p:spPr>
          <a:xfrm>
            <a:off x="4370832" y="2825496"/>
            <a:ext cx="274320" cy="274320"/>
          </a:xfrm>
          <a:prstGeom prst="rect">
            <a:avLst/>
          </a:prstGeom>
          <a:solidFill>
            <a:srgbClr val="3971ED"/>
          </a:solidFill>
          <a:ln/>
        </p:spPr>
      </p:sp>
      <p:sp>
        <p:nvSpPr>
          <p:cNvPr id="60" name="anim-2-fade-310-586"/>
          <p:cNvSpPr/>
          <p:nvPr/>
        </p:nvSpPr>
        <p:spPr>
          <a:xfrm>
            <a:off x="4672584" y="2825496"/>
            <a:ext cx="274320" cy="274320"/>
          </a:xfrm>
          <a:prstGeom prst="rect">
            <a:avLst/>
          </a:prstGeom>
          <a:solidFill>
            <a:srgbClr val="DFE8FC"/>
          </a:solidFill>
          <a:ln/>
        </p:spPr>
      </p:sp>
      <p:sp>
        <p:nvSpPr>
          <p:cNvPr id="61" name="anim-2-fade-310-587"/>
          <p:cNvSpPr/>
          <p:nvPr/>
        </p:nvSpPr>
        <p:spPr>
          <a:xfrm>
            <a:off x="4974336" y="2825496"/>
            <a:ext cx="274320" cy="274320"/>
          </a:xfrm>
          <a:prstGeom prst="rect">
            <a:avLst/>
          </a:prstGeom>
          <a:solidFill>
            <a:srgbClr val="EEF2F6"/>
          </a:solidFill>
          <a:ln/>
        </p:spPr>
      </p:sp>
      <p:sp>
        <p:nvSpPr>
          <p:cNvPr id="62" name="anim-2-fade-310-588"/>
          <p:cNvSpPr/>
          <p:nvPr/>
        </p:nvSpPr>
        <p:spPr>
          <a:xfrm>
            <a:off x="5276088" y="2825496"/>
            <a:ext cx="274320" cy="274320"/>
          </a:xfrm>
          <a:prstGeom prst="rect">
            <a:avLst/>
          </a:prstGeom>
          <a:solidFill>
            <a:srgbClr val="EEF2F6"/>
          </a:solidFill>
          <a:ln/>
        </p:spPr>
      </p:sp>
      <p:sp>
        <p:nvSpPr>
          <p:cNvPr id="63" name="anim-2-fade-100-589"/>
          <p:cNvSpPr txBox="1"/>
          <p:nvPr/>
        </p:nvSpPr>
        <p:spPr>
          <a:xfrm>
            <a:off x="3493008" y="3163824"/>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on</a:t>
            </a:r>
            <a:endParaRPr lang="en-US" sz="900" dirty="0"/>
          </a:p>
        </p:txBody>
      </p:sp>
      <p:sp>
        <p:nvSpPr>
          <p:cNvPr id="64" name="anim-2-fade-390-590"/>
          <p:cNvSpPr/>
          <p:nvPr/>
        </p:nvSpPr>
        <p:spPr>
          <a:xfrm>
            <a:off x="4069080" y="3127248"/>
            <a:ext cx="274320" cy="274320"/>
          </a:xfrm>
          <a:prstGeom prst="rect">
            <a:avLst/>
          </a:prstGeom>
          <a:solidFill>
            <a:srgbClr val="E3EBFC"/>
          </a:solidFill>
          <a:ln/>
        </p:spPr>
      </p:sp>
      <p:sp>
        <p:nvSpPr>
          <p:cNvPr id="65" name="anim-2-fade-390-591"/>
          <p:cNvSpPr/>
          <p:nvPr/>
        </p:nvSpPr>
        <p:spPr>
          <a:xfrm>
            <a:off x="4370832" y="3127248"/>
            <a:ext cx="274320" cy="274320"/>
          </a:xfrm>
          <a:prstGeom prst="rect">
            <a:avLst/>
          </a:prstGeom>
          <a:solidFill>
            <a:srgbClr val="DFE8FC"/>
          </a:solidFill>
          <a:ln/>
        </p:spPr>
      </p:sp>
      <p:sp>
        <p:nvSpPr>
          <p:cNvPr id="66" name="anim-2-fade-390-592"/>
          <p:cNvSpPr/>
          <p:nvPr/>
        </p:nvSpPr>
        <p:spPr>
          <a:xfrm>
            <a:off x="4672584" y="3127248"/>
            <a:ext cx="274320" cy="274320"/>
          </a:xfrm>
          <a:prstGeom prst="rect">
            <a:avLst/>
          </a:prstGeom>
          <a:solidFill>
            <a:srgbClr val="3F75ED"/>
          </a:solidFill>
          <a:ln/>
        </p:spPr>
      </p:sp>
      <p:sp>
        <p:nvSpPr>
          <p:cNvPr id="67" name="anim-2-fade-390-593"/>
          <p:cNvSpPr/>
          <p:nvPr/>
        </p:nvSpPr>
        <p:spPr>
          <a:xfrm>
            <a:off x="4974336" y="3127248"/>
            <a:ext cx="274320" cy="274320"/>
          </a:xfrm>
          <a:prstGeom prst="rect">
            <a:avLst/>
          </a:prstGeom>
          <a:solidFill>
            <a:srgbClr val="DFE8FC"/>
          </a:solidFill>
          <a:ln/>
        </p:spPr>
      </p:sp>
      <p:sp>
        <p:nvSpPr>
          <p:cNvPr id="68" name="anim-2-fade-390-594"/>
          <p:cNvSpPr/>
          <p:nvPr/>
        </p:nvSpPr>
        <p:spPr>
          <a:xfrm>
            <a:off x="5276088" y="3127248"/>
            <a:ext cx="274320" cy="274320"/>
          </a:xfrm>
          <a:prstGeom prst="rect">
            <a:avLst/>
          </a:prstGeom>
          <a:solidFill>
            <a:srgbClr val="EEF2F6"/>
          </a:solidFill>
          <a:ln/>
        </p:spPr>
      </p:sp>
      <p:sp>
        <p:nvSpPr>
          <p:cNvPr id="69" name="anim-2-fade-100-595"/>
          <p:cNvSpPr txBox="1"/>
          <p:nvPr/>
        </p:nvSpPr>
        <p:spPr>
          <a:xfrm>
            <a:off x="3493008" y="3465576"/>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70" name="anim-2-fade-470-596"/>
          <p:cNvSpPr/>
          <p:nvPr/>
        </p:nvSpPr>
        <p:spPr>
          <a:xfrm>
            <a:off x="4069080" y="3429000"/>
            <a:ext cx="274320" cy="274320"/>
          </a:xfrm>
          <a:prstGeom prst="rect">
            <a:avLst/>
          </a:prstGeom>
          <a:solidFill>
            <a:srgbClr val="E5EDFD"/>
          </a:solidFill>
          <a:ln/>
        </p:spPr>
      </p:sp>
      <p:sp>
        <p:nvSpPr>
          <p:cNvPr id="71" name="anim-2-fade-470-597"/>
          <p:cNvSpPr/>
          <p:nvPr/>
        </p:nvSpPr>
        <p:spPr>
          <a:xfrm>
            <a:off x="4370832" y="3429000"/>
            <a:ext cx="274320" cy="274320"/>
          </a:xfrm>
          <a:prstGeom prst="rect">
            <a:avLst/>
          </a:prstGeom>
          <a:solidFill>
            <a:srgbClr val="E3EBFC"/>
          </a:solidFill>
          <a:ln/>
        </p:spPr>
      </p:sp>
      <p:sp>
        <p:nvSpPr>
          <p:cNvPr id="72" name="anim-2-fade-470-598"/>
          <p:cNvSpPr/>
          <p:nvPr/>
        </p:nvSpPr>
        <p:spPr>
          <a:xfrm>
            <a:off x="4672584" y="3429000"/>
            <a:ext cx="274320" cy="274320"/>
          </a:xfrm>
          <a:prstGeom prst="rect">
            <a:avLst/>
          </a:prstGeom>
          <a:solidFill>
            <a:srgbClr val="DFE8FC"/>
          </a:solidFill>
          <a:ln/>
        </p:spPr>
      </p:sp>
      <p:sp>
        <p:nvSpPr>
          <p:cNvPr id="73" name="anim-2-fade-470-599"/>
          <p:cNvSpPr/>
          <p:nvPr/>
        </p:nvSpPr>
        <p:spPr>
          <a:xfrm>
            <a:off x="4974336" y="3429000"/>
            <a:ext cx="274320" cy="274320"/>
          </a:xfrm>
          <a:prstGeom prst="rect">
            <a:avLst/>
          </a:prstGeom>
          <a:solidFill>
            <a:srgbClr val="4278EE"/>
          </a:solidFill>
          <a:ln/>
        </p:spPr>
      </p:sp>
      <p:sp>
        <p:nvSpPr>
          <p:cNvPr id="74" name="anim-2-fade-470-600"/>
          <p:cNvSpPr/>
          <p:nvPr/>
        </p:nvSpPr>
        <p:spPr>
          <a:xfrm>
            <a:off x="5276088" y="3429000"/>
            <a:ext cx="274320" cy="274320"/>
          </a:xfrm>
          <a:prstGeom prst="rect">
            <a:avLst/>
          </a:prstGeom>
          <a:solidFill>
            <a:srgbClr val="DFE8FC"/>
          </a:solidFill>
          <a:ln/>
        </p:spPr>
      </p:sp>
      <p:sp>
        <p:nvSpPr>
          <p:cNvPr id="75" name="anim-2-fade-300-601"/>
          <p:cNvSpPr txBox="1"/>
          <p:nvPr/>
        </p:nvSpPr>
        <p:spPr>
          <a:xfrm>
            <a:off x="3547872" y="3794760"/>
            <a:ext cx="2286000" cy="82296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Each word looks one step back — useful for phrases like “on the”.</a:t>
            </a:r>
            <a:endParaRPr lang="en-US" sz="1050" dirty="0"/>
          </a:p>
        </p:txBody>
      </p:sp>
      <p:sp>
        <p:nvSpPr>
          <p:cNvPr id="76" name="anim-5-fade-100-602"/>
          <p:cNvSpPr/>
          <p:nvPr/>
        </p:nvSpPr>
        <p:spPr>
          <a:xfrm>
            <a:off x="4270248" y="4919472"/>
            <a:ext cx="182880" cy="219456"/>
          </a:xfrm>
          <a:prstGeom prst="rect">
            <a:avLst/>
          </a:prstGeom>
          <a:solidFill>
            <a:srgbClr val="3B73ED"/>
          </a:solidFill>
          <a:ln w="6350">
            <a:solidFill>
              <a:srgbClr val="FFFFFF"/>
            </a:solidFill>
            <a:prstDash val="solid"/>
          </a:ln>
        </p:spPr>
      </p:sp>
      <p:sp>
        <p:nvSpPr>
          <p:cNvPr id="77" name="anim-5-fade-100-603"/>
          <p:cNvSpPr/>
          <p:nvPr/>
        </p:nvSpPr>
        <p:spPr>
          <a:xfrm>
            <a:off x="4480560" y="4919472"/>
            <a:ext cx="182880" cy="219456"/>
          </a:xfrm>
          <a:prstGeom prst="rect">
            <a:avLst/>
          </a:prstGeom>
          <a:solidFill>
            <a:srgbClr val="92B1F5"/>
          </a:solidFill>
          <a:ln w="6350">
            <a:solidFill>
              <a:srgbClr val="FFFFFF"/>
            </a:solidFill>
            <a:prstDash val="solid"/>
          </a:ln>
        </p:spPr>
      </p:sp>
      <p:sp>
        <p:nvSpPr>
          <p:cNvPr id="78" name="anim-5-fade-100-604"/>
          <p:cNvSpPr/>
          <p:nvPr/>
        </p:nvSpPr>
        <p:spPr>
          <a:xfrm>
            <a:off x="4690872" y="4919472"/>
            <a:ext cx="182880" cy="219456"/>
          </a:xfrm>
          <a:prstGeom prst="rect">
            <a:avLst/>
          </a:prstGeom>
          <a:solidFill>
            <a:srgbClr val="6692F1"/>
          </a:solidFill>
          <a:ln w="6350">
            <a:solidFill>
              <a:srgbClr val="FFFFFF"/>
            </a:solidFill>
            <a:prstDash val="solid"/>
          </a:ln>
        </p:spPr>
      </p:sp>
      <p:sp>
        <p:nvSpPr>
          <p:cNvPr id="79" name="anim-5-fade-100-605"/>
          <p:cNvSpPr/>
          <p:nvPr/>
        </p:nvSpPr>
        <p:spPr>
          <a:xfrm>
            <a:off x="4901184" y="4919472"/>
            <a:ext cx="182880" cy="219456"/>
          </a:xfrm>
          <a:prstGeom prst="rect">
            <a:avLst/>
          </a:prstGeom>
          <a:solidFill>
            <a:srgbClr val="B3C8F8"/>
          </a:solidFill>
          <a:ln w="6350">
            <a:solidFill>
              <a:srgbClr val="FFFFFF"/>
            </a:solidFill>
            <a:prstDash val="solid"/>
          </a:ln>
        </p:spPr>
      </p:sp>
      <p:sp>
        <p:nvSpPr>
          <p:cNvPr id="80" name="anim-5-fade-400-606"/>
          <p:cNvSpPr/>
          <p:nvPr/>
        </p:nvSpPr>
        <p:spPr>
          <a:xfrm>
            <a:off x="4681728" y="5175504"/>
            <a:ext cx="850392" cy="338328"/>
          </a:xfrm>
          <a:prstGeom prst="line">
            <a:avLst/>
          </a:prstGeom>
          <a:noFill/>
          <a:ln w="15875">
            <a:solidFill>
              <a:srgbClr val="2563EB"/>
            </a:solidFill>
            <a:prstDash val="solid"/>
            <a:tailEnd type="triangle"/>
          </a:ln>
        </p:spPr>
      </p:sp>
      <p:sp>
        <p:nvSpPr>
          <p:cNvPr id="81" name="anim-3-rise-0-607"/>
          <p:cNvSpPr/>
          <p:nvPr/>
        </p:nvSpPr>
        <p:spPr>
          <a:xfrm>
            <a:off x="6217920" y="1691640"/>
            <a:ext cx="2606040" cy="3017520"/>
          </a:xfrm>
          <a:prstGeom prst="roundRect">
            <a:avLst>
              <a:gd name="adj" fmla="val 3509"/>
            </a:avLst>
          </a:prstGeom>
          <a:solidFill>
            <a:srgbClr val="F8FAFC"/>
          </a:solidFill>
          <a:ln w="12700">
            <a:solidFill>
              <a:srgbClr val="CBD5E1"/>
            </a:solidFill>
            <a:prstDash val="solid"/>
          </a:ln>
        </p:spPr>
      </p:sp>
      <p:sp>
        <p:nvSpPr>
          <p:cNvPr id="82" name="anim-3-rise-0-608"/>
          <p:cNvSpPr txBox="1"/>
          <p:nvPr/>
        </p:nvSpPr>
        <p:spPr>
          <a:xfrm>
            <a:off x="6382512" y="1819656"/>
            <a:ext cx="2286000" cy="256032"/>
          </a:xfrm>
          <a:prstGeom prst="rect">
            <a:avLst/>
          </a:prstGeom>
          <a:noFill/>
          <a:ln/>
        </p:spPr>
        <p:txBody>
          <a:bodyPr wrap="square" lIns="0" tIns="0" rIns="0" bIns="0" rtlCol="0" anchor="t"/>
          <a:lstStyle/>
          <a:p>
            <a:pPr indent="0" marL="0">
              <a:buNone/>
            </a:pPr>
            <a:r>
              <a:rPr lang="en-US" sz="1200" b="1" dirty="0">
                <a:solidFill>
                  <a:srgbClr val="0D9488"/>
                </a:solidFill>
                <a:latin typeface="Inter" pitchFamily="34" charset="0"/>
                <a:ea typeface="Inter" pitchFamily="34" charset="-122"/>
                <a:cs typeface="Inter" pitchFamily="34" charset="-120"/>
              </a:rPr>
              <a:t>Head 3 · Big picture</a:t>
            </a:r>
            <a:endParaRPr lang="en-US" sz="1200" dirty="0"/>
          </a:p>
        </p:txBody>
      </p:sp>
      <p:sp>
        <p:nvSpPr>
          <p:cNvPr id="83" name="anim-3-fade-100-609"/>
          <p:cNvSpPr txBox="1"/>
          <p:nvPr/>
        </p:nvSpPr>
        <p:spPr>
          <a:xfrm>
            <a:off x="6327648" y="2258568"/>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84" name="anim-3-fade-150-610"/>
          <p:cNvSpPr/>
          <p:nvPr/>
        </p:nvSpPr>
        <p:spPr>
          <a:xfrm>
            <a:off x="6903720" y="2221992"/>
            <a:ext cx="274320" cy="274320"/>
          </a:xfrm>
          <a:prstGeom prst="rect">
            <a:avLst/>
          </a:prstGeom>
          <a:solidFill>
            <a:srgbClr val="0D9488"/>
          </a:solidFill>
          <a:ln/>
        </p:spPr>
      </p:sp>
      <p:sp>
        <p:nvSpPr>
          <p:cNvPr id="85" name="anim-3-fade-150-611"/>
          <p:cNvSpPr/>
          <p:nvPr/>
        </p:nvSpPr>
        <p:spPr>
          <a:xfrm>
            <a:off x="7205472" y="2221992"/>
            <a:ext cx="274320" cy="274320"/>
          </a:xfrm>
          <a:prstGeom prst="rect">
            <a:avLst/>
          </a:prstGeom>
          <a:solidFill>
            <a:srgbClr val="EEF2F6"/>
          </a:solidFill>
          <a:ln/>
        </p:spPr>
      </p:sp>
      <p:sp>
        <p:nvSpPr>
          <p:cNvPr id="86" name="anim-3-fade-150-612"/>
          <p:cNvSpPr/>
          <p:nvPr/>
        </p:nvSpPr>
        <p:spPr>
          <a:xfrm>
            <a:off x="7507224" y="2221992"/>
            <a:ext cx="274320" cy="274320"/>
          </a:xfrm>
          <a:prstGeom prst="rect">
            <a:avLst/>
          </a:prstGeom>
          <a:solidFill>
            <a:srgbClr val="EEF2F6"/>
          </a:solidFill>
          <a:ln/>
        </p:spPr>
      </p:sp>
      <p:sp>
        <p:nvSpPr>
          <p:cNvPr id="87" name="anim-3-fade-150-613"/>
          <p:cNvSpPr/>
          <p:nvPr/>
        </p:nvSpPr>
        <p:spPr>
          <a:xfrm>
            <a:off x="7808976" y="2221992"/>
            <a:ext cx="274320" cy="274320"/>
          </a:xfrm>
          <a:prstGeom prst="rect">
            <a:avLst/>
          </a:prstGeom>
          <a:solidFill>
            <a:srgbClr val="EEF2F6"/>
          </a:solidFill>
          <a:ln/>
        </p:spPr>
      </p:sp>
      <p:sp>
        <p:nvSpPr>
          <p:cNvPr id="88" name="anim-3-fade-150-614"/>
          <p:cNvSpPr/>
          <p:nvPr/>
        </p:nvSpPr>
        <p:spPr>
          <a:xfrm>
            <a:off x="8110728" y="2221992"/>
            <a:ext cx="274320" cy="274320"/>
          </a:xfrm>
          <a:prstGeom prst="rect">
            <a:avLst/>
          </a:prstGeom>
          <a:solidFill>
            <a:srgbClr val="EEF2F6"/>
          </a:solidFill>
          <a:ln/>
        </p:spPr>
      </p:sp>
      <p:sp>
        <p:nvSpPr>
          <p:cNvPr id="89" name="anim-3-fade-100-615"/>
          <p:cNvSpPr txBox="1"/>
          <p:nvPr/>
        </p:nvSpPr>
        <p:spPr>
          <a:xfrm>
            <a:off x="6327648" y="2560320"/>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cat</a:t>
            </a:r>
            <a:endParaRPr lang="en-US" sz="900" dirty="0"/>
          </a:p>
        </p:txBody>
      </p:sp>
      <p:sp>
        <p:nvSpPr>
          <p:cNvPr id="90" name="anim-3-fade-230-616"/>
          <p:cNvSpPr/>
          <p:nvPr/>
        </p:nvSpPr>
        <p:spPr>
          <a:xfrm>
            <a:off x="6903720" y="2523744"/>
            <a:ext cx="274320" cy="274320"/>
          </a:xfrm>
          <a:prstGeom prst="rect">
            <a:avLst/>
          </a:prstGeom>
          <a:solidFill>
            <a:srgbClr val="7AC4BE"/>
          </a:solidFill>
          <a:ln/>
        </p:spPr>
      </p:sp>
      <p:sp>
        <p:nvSpPr>
          <p:cNvPr id="91" name="anim-3-fade-230-617"/>
          <p:cNvSpPr/>
          <p:nvPr/>
        </p:nvSpPr>
        <p:spPr>
          <a:xfrm>
            <a:off x="7205472" y="2523744"/>
            <a:ext cx="274320" cy="274320"/>
          </a:xfrm>
          <a:prstGeom prst="rect">
            <a:avLst/>
          </a:prstGeom>
          <a:solidFill>
            <a:srgbClr val="7AC4BE"/>
          </a:solidFill>
          <a:ln/>
        </p:spPr>
      </p:sp>
      <p:sp>
        <p:nvSpPr>
          <p:cNvPr id="92" name="anim-3-fade-230-618"/>
          <p:cNvSpPr/>
          <p:nvPr/>
        </p:nvSpPr>
        <p:spPr>
          <a:xfrm>
            <a:off x="7507224" y="2523744"/>
            <a:ext cx="274320" cy="274320"/>
          </a:xfrm>
          <a:prstGeom prst="rect">
            <a:avLst/>
          </a:prstGeom>
          <a:solidFill>
            <a:srgbClr val="EEF2F6"/>
          </a:solidFill>
          <a:ln/>
        </p:spPr>
      </p:sp>
      <p:sp>
        <p:nvSpPr>
          <p:cNvPr id="93" name="anim-3-fade-230-619"/>
          <p:cNvSpPr/>
          <p:nvPr/>
        </p:nvSpPr>
        <p:spPr>
          <a:xfrm>
            <a:off x="7808976" y="2523744"/>
            <a:ext cx="274320" cy="274320"/>
          </a:xfrm>
          <a:prstGeom prst="rect">
            <a:avLst/>
          </a:prstGeom>
          <a:solidFill>
            <a:srgbClr val="EEF2F6"/>
          </a:solidFill>
          <a:ln/>
        </p:spPr>
      </p:sp>
      <p:sp>
        <p:nvSpPr>
          <p:cNvPr id="94" name="anim-3-fade-230-620"/>
          <p:cNvSpPr/>
          <p:nvPr/>
        </p:nvSpPr>
        <p:spPr>
          <a:xfrm>
            <a:off x="8110728" y="2523744"/>
            <a:ext cx="274320" cy="274320"/>
          </a:xfrm>
          <a:prstGeom prst="rect">
            <a:avLst/>
          </a:prstGeom>
          <a:solidFill>
            <a:srgbClr val="EEF2F6"/>
          </a:solidFill>
          <a:ln/>
        </p:spPr>
      </p:sp>
      <p:sp>
        <p:nvSpPr>
          <p:cNvPr id="95" name="anim-3-fade-100-621"/>
          <p:cNvSpPr txBox="1"/>
          <p:nvPr/>
        </p:nvSpPr>
        <p:spPr>
          <a:xfrm>
            <a:off x="6327648" y="2862072"/>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sat</a:t>
            </a:r>
            <a:endParaRPr lang="en-US" sz="900" dirty="0"/>
          </a:p>
        </p:txBody>
      </p:sp>
      <p:sp>
        <p:nvSpPr>
          <p:cNvPr id="96" name="anim-3-fade-310-622"/>
          <p:cNvSpPr/>
          <p:nvPr/>
        </p:nvSpPr>
        <p:spPr>
          <a:xfrm>
            <a:off x="6903720" y="2825496"/>
            <a:ext cx="274320" cy="274320"/>
          </a:xfrm>
          <a:prstGeom prst="rect">
            <a:avLst/>
          </a:prstGeom>
          <a:solidFill>
            <a:srgbClr val="9FD5D0"/>
          </a:solidFill>
          <a:ln/>
        </p:spPr>
      </p:sp>
      <p:sp>
        <p:nvSpPr>
          <p:cNvPr id="97" name="anim-3-fade-310-623"/>
          <p:cNvSpPr/>
          <p:nvPr/>
        </p:nvSpPr>
        <p:spPr>
          <a:xfrm>
            <a:off x="7205472" y="2825496"/>
            <a:ext cx="274320" cy="274320"/>
          </a:xfrm>
          <a:prstGeom prst="rect">
            <a:avLst/>
          </a:prstGeom>
          <a:solidFill>
            <a:srgbClr val="9FD5D0"/>
          </a:solidFill>
          <a:ln/>
        </p:spPr>
      </p:sp>
      <p:sp>
        <p:nvSpPr>
          <p:cNvPr id="98" name="anim-3-fade-310-624"/>
          <p:cNvSpPr/>
          <p:nvPr/>
        </p:nvSpPr>
        <p:spPr>
          <a:xfrm>
            <a:off x="7507224" y="2825496"/>
            <a:ext cx="274320" cy="274320"/>
          </a:xfrm>
          <a:prstGeom prst="rect">
            <a:avLst/>
          </a:prstGeom>
          <a:solidFill>
            <a:srgbClr val="9DD4CF"/>
          </a:solidFill>
          <a:ln/>
        </p:spPr>
      </p:sp>
      <p:sp>
        <p:nvSpPr>
          <p:cNvPr id="99" name="anim-3-fade-310-625"/>
          <p:cNvSpPr/>
          <p:nvPr/>
        </p:nvSpPr>
        <p:spPr>
          <a:xfrm>
            <a:off x="7808976" y="2825496"/>
            <a:ext cx="274320" cy="274320"/>
          </a:xfrm>
          <a:prstGeom prst="rect">
            <a:avLst/>
          </a:prstGeom>
          <a:solidFill>
            <a:srgbClr val="EEF2F6"/>
          </a:solidFill>
          <a:ln/>
        </p:spPr>
      </p:sp>
      <p:sp>
        <p:nvSpPr>
          <p:cNvPr id="100" name="anim-3-fade-310-626"/>
          <p:cNvSpPr/>
          <p:nvPr/>
        </p:nvSpPr>
        <p:spPr>
          <a:xfrm>
            <a:off x="8110728" y="2825496"/>
            <a:ext cx="274320" cy="274320"/>
          </a:xfrm>
          <a:prstGeom prst="rect">
            <a:avLst/>
          </a:prstGeom>
          <a:solidFill>
            <a:srgbClr val="EEF2F6"/>
          </a:solidFill>
          <a:ln/>
        </p:spPr>
      </p:sp>
      <p:sp>
        <p:nvSpPr>
          <p:cNvPr id="101" name="anim-3-fade-100-627"/>
          <p:cNvSpPr txBox="1"/>
          <p:nvPr/>
        </p:nvSpPr>
        <p:spPr>
          <a:xfrm>
            <a:off x="6327648" y="3163824"/>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on</a:t>
            </a:r>
            <a:endParaRPr lang="en-US" sz="900" dirty="0"/>
          </a:p>
        </p:txBody>
      </p:sp>
      <p:sp>
        <p:nvSpPr>
          <p:cNvPr id="102" name="anim-3-fade-390-628"/>
          <p:cNvSpPr/>
          <p:nvPr/>
        </p:nvSpPr>
        <p:spPr>
          <a:xfrm>
            <a:off x="6903720" y="3127248"/>
            <a:ext cx="274320" cy="274320"/>
          </a:xfrm>
          <a:prstGeom prst="rect">
            <a:avLst/>
          </a:prstGeom>
          <a:solidFill>
            <a:srgbClr val="B0DCD8"/>
          </a:solidFill>
          <a:ln/>
        </p:spPr>
      </p:sp>
      <p:sp>
        <p:nvSpPr>
          <p:cNvPr id="103" name="anim-3-fade-390-629"/>
          <p:cNvSpPr/>
          <p:nvPr/>
        </p:nvSpPr>
        <p:spPr>
          <a:xfrm>
            <a:off x="7205472" y="3127248"/>
            <a:ext cx="274320" cy="274320"/>
          </a:xfrm>
          <a:prstGeom prst="rect">
            <a:avLst/>
          </a:prstGeom>
          <a:solidFill>
            <a:srgbClr val="B0DCD8"/>
          </a:solidFill>
          <a:ln/>
        </p:spPr>
      </p:sp>
      <p:sp>
        <p:nvSpPr>
          <p:cNvPr id="104" name="anim-3-fade-390-630"/>
          <p:cNvSpPr/>
          <p:nvPr/>
        </p:nvSpPr>
        <p:spPr>
          <a:xfrm>
            <a:off x="7507224" y="3127248"/>
            <a:ext cx="274320" cy="274320"/>
          </a:xfrm>
          <a:prstGeom prst="rect">
            <a:avLst/>
          </a:prstGeom>
          <a:solidFill>
            <a:srgbClr val="B0DCD8"/>
          </a:solidFill>
          <a:ln/>
        </p:spPr>
      </p:sp>
      <p:sp>
        <p:nvSpPr>
          <p:cNvPr id="105" name="anim-3-fade-390-631"/>
          <p:cNvSpPr/>
          <p:nvPr/>
        </p:nvSpPr>
        <p:spPr>
          <a:xfrm>
            <a:off x="7808976" y="3127248"/>
            <a:ext cx="274320" cy="274320"/>
          </a:xfrm>
          <a:prstGeom prst="rect">
            <a:avLst/>
          </a:prstGeom>
          <a:solidFill>
            <a:srgbClr val="B0DCD8"/>
          </a:solidFill>
          <a:ln/>
        </p:spPr>
      </p:sp>
      <p:sp>
        <p:nvSpPr>
          <p:cNvPr id="106" name="anim-3-fade-390-632"/>
          <p:cNvSpPr/>
          <p:nvPr/>
        </p:nvSpPr>
        <p:spPr>
          <a:xfrm>
            <a:off x="8110728" y="3127248"/>
            <a:ext cx="274320" cy="274320"/>
          </a:xfrm>
          <a:prstGeom prst="rect">
            <a:avLst/>
          </a:prstGeom>
          <a:solidFill>
            <a:srgbClr val="EEF2F6"/>
          </a:solidFill>
          <a:ln/>
        </p:spPr>
      </p:sp>
      <p:sp>
        <p:nvSpPr>
          <p:cNvPr id="107" name="anim-3-fade-100-633"/>
          <p:cNvSpPr txBox="1"/>
          <p:nvPr/>
        </p:nvSpPr>
        <p:spPr>
          <a:xfrm>
            <a:off x="6327648" y="3465576"/>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108" name="anim-3-fade-470-634"/>
          <p:cNvSpPr/>
          <p:nvPr/>
        </p:nvSpPr>
        <p:spPr>
          <a:xfrm>
            <a:off x="6903720" y="3429000"/>
            <a:ext cx="274320" cy="274320"/>
          </a:xfrm>
          <a:prstGeom prst="rect">
            <a:avLst/>
          </a:prstGeom>
          <a:solidFill>
            <a:srgbClr val="BBE1DE"/>
          </a:solidFill>
          <a:ln/>
        </p:spPr>
      </p:sp>
      <p:sp>
        <p:nvSpPr>
          <p:cNvPr id="109" name="anim-3-fade-470-635"/>
          <p:cNvSpPr/>
          <p:nvPr/>
        </p:nvSpPr>
        <p:spPr>
          <a:xfrm>
            <a:off x="7205472" y="3429000"/>
            <a:ext cx="274320" cy="274320"/>
          </a:xfrm>
          <a:prstGeom prst="rect">
            <a:avLst/>
          </a:prstGeom>
          <a:solidFill>
            <a:srgbClr val="BBE1DE"/>
          </a:solidFill>
          <a:ln/>
        </p:spPr>
      </p:sp>
      <p:sp>
        <p:nvSpPr>
          <p:cNvPr id="110" name="anim-3-fade-470-636"/>
          <p:cNvSpPr/>
          <p:nvPr/>
        </p:nvSpPr>
        <p:spPr>
          <a:xfrm>
            <a:off x="7507224" y="3429000"/>
            <a:ext cx="274320" cy="274320"/>
          </a:xfrm>
          <a:prstGeom prst="rect">
            <a:avLst/>
          </a:prstGeom>
          <a:solidFill>
            <a:srgbClr val="BBE1DE"/>
          </a:solidFill>
          <a:ln/>
        </p:spPr>
      </p:sp>
      <p:sp>
        <p:nvSpPr>
          <p:cNvPr id="111" name="anim-3-fade-470-637"/>
          <p:cNvSpPr/>
          <p:nvPr/>
        </p:nvSpPr>
        <p:spPr>
          <a:xfrm>
            <a:off x="7808976" y="3429000"/>
            <a:ext cx="274320" cy="274320"/>
          </a:xfrm>
          <a:prstGeom prst="rect">
            <a:avLst/>
          </a:prstGeom>
          <a:solidFill>
            <a:srgbClr val="BBE1DE"/>
          </a:solidFill>
          <a:ln/>
        </p:spPr>
      </p:sp>
      <p:sp>
        <p:nvSpPr>
          <p:cNvPr id="112" name="anim-3-fade-470-638"/>
          <p:cNvSpPr/>
          <p:nvPr/>
        </p:nvSpPr>
        <p:spPr>
          <a:xfrm>
            <a:off x="8110728" y="3429000"/>
            <a:ext cx="274320" cy="274320"/>
          </a:xfrm>
          <a:prstGeom prst="rect">
            <a:avLst/>
          </a:prstGeom>
          <a:solidFill>
            <a:srgbClr val="BBE1DE"/>
          </a:solidFill>
          <a:ln/>
        </p:spPr>
      </p:sp>
      <p:sp>
        <p:nvSpPr>
          <p:cNvPr id="113" name="anim-3-fade-300-639"/>
          <p:cNvSpPr txBox="1"/>
          <p:nvPr/>
        </p:nvSpPr>
        <p:spPr>
          <a:xfrm>
            <a:off x="6382512" y="3794760"/>
            <a:ext cx="2286000" cy="82296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Spreads attention evenly to capture the general gist of the sentence.</a:t>
            </a:r>
            <a:endParaRPr lang="en-US" sz="1050" dirty="0"/>
          </a:p>
        </p:txBody>
      </p:sp>
      <p:sp>
        <p:nvSpPr>
          <p:cNvPr id="114" name="anim-5-fade-200-640"/>
          <p:cNvSpPr/>
          <p:nvPr/>
        </p:nvSpPr>
        <p:spPr>
          <a:xfrm>
            <a:off x="7104888" y="4919472"/>
            <a:ext cx="182880" cy="219456"/>
          </a:xfrm>
          <a:prstGeom prst="rect">
            <a:avLst/>
          </a:prstGeom>
          <a:solidFill>
            <a:srgbClr val="259F94"/>
          </a:solidFill>
          <a:ln w="6350">
            <a:solidFill>
              <a:srgbClr val="FFFFFF"/>
            </a:solidFill>
            <a:prstDash val="solid"/>
          </a:ln>
        </p:spPr>
      </p:sp>
      <p:sp>
        <p:nvSpPr>
          <p:cNvPr id="115" name="anim-5-fade-200-641"/>
          <p:cNvSpPr/>
          <p:nvPr/>
        </p:nvSpPr>
        <p:spPr>
          <a:xfrm>
            <a:off x="7315200" y="4919472"/>
            <a:ext cx="182880" cy="219456"/>
          </a:xfrm>
          <a:prstGeom prst="rect">
            <a:avLst/>
          </a:prstGeom>
          <a:solidFill>
            <a:srgbClr val="86CAC4"/>
          </a:solidFill>
          <a:ln w="6350">
            <a:solidFill>
              <a:srgbClr val="FFFFFF"/>
            </a:solidFill>
            <a:prstDash val="solid"/>
          </a:ln>
        </p:spPr>
      </p:sp>
      <p:sp>
        <p:nvSpPr>
          <p:cNvPr id="116" name="anim-5-fade-200-642"/>
          <p:cNvSpPr/>
          <p:nvPr/>
        </p:nvSpPr>
        <p:spPr>
          <a:xfrm>
            <a:off x="7525512" y="4919472"/>
            <a:ext cx="182880" cy="219456"/>
          </a:xfrm>
          <a:prstGeom prst="rect">
            <a:avLst/>
          </a:prstGeom>
          <a:solidFill>
            <a:srgbClr val="56B4AC"/>
          </a:solidFill>
          <a:ln w="6350">
            <a:solidFill>
              <a:srgbClr val="FFFFFF"/>
            </a:solidFill>
            <a:prstDash val="solid"/>
          </a:ln>
        </p:spPr>
      </p:sp>
      <p:sp>
        <p:nvSpPr>
          <p:cNvPr id="117" name="anim-5-fade-200-643"/>
          <p:cNvSpPr/>
          <p:nvPr/>
        </p:nvSpPr>
        <p:spPr>
          <a:xfrm>
            <a:off x="7735824" y="4919472"/>
            <a:ext cx="182880" cy="219456"/>
          </a:xfrm>
          <a:prstGeom prst="rect">
            <a:avLst/>
          </a:prstGeom>
          <a:solidFill>
            <a:srgbClr val="AADAD5"/>
          </a:solidFill>
          <a:ln w="6350">
            <a:solidFill>
              <a:srgbClr val="FFFFFF"/>
            </a:solidFill>
            <a:prstDash val="solid"/>
          </a:ln>
        </p:spPr>
      </p:sp>
      <p:sp>
        <p:nvSpPr>
          <p:cNvPr id="118" name="anim-5-fade-500-644"/>
          <p:cNvSpPr/>
          <p:nvPr/>
        </p:nvSpPr>
        <p:spPr>
          <a:xfrm flipH="1">
            <a:off x="5806440" y="5175504"/>
            <a:ext cx="1709928" cy="338328"/>
          </a:xfrm>
          <a:prstGeom prst="line">
            <a:avLst/>
          </a:prstGeom>
          <a:noFill/>
          <a:ln w="15875">
            <a:solidFill>
              <a:srgbClr val="0D9488"/>
            </a:solidFill>
            <a:prstDash val="solid"/>
            <a:tailEnd type="triangle"/>
          </a:ln>
        </p:spPr>
      </p:sp>
      <p:sp>
        <p:nvSpPr>
          <p:cNvPr id="119" name="anim-4-rise-0-645"/>
          <p:cNvSpPr/>
          <p:nvPr/>
        </p:nvSpPr>
        <p:spPr>
          <a:xfrm>
            <a:off x="9052560" y="1691640"/>
            <a:ext cx="2606040" cy="3017520"/>
          </a:xfrm>
          <a:prstGeom prst="roundRect">
            <a:avLst>
              <a:gd name="adj" fmla="val 3509"/>
            </a:avLst>
          </a:prstGeom>
          <a:solidFill>
            <a:srgbClr val="F8FAFC"/>
          </a:solidFill>
          <a:ln w="12700">
            <a:solidFill>
              <a:srgbClr val="CBD5E1"/>
            </a:solidFill>
            <a:prstDash val="solid"/>
          </a:ln>
        </p:spPr>
      </p:sp>
      <p:sp>
        <p:nvSpPr>
          <p:cNvPr id="120" name="anim-4-rise-0-646"/>
          <p:cNvSpPr txBox="1"/>
          <p:nvPr/>
        </p:nvSpPr>
        <p:spPr>
          <a:xfrm>
            <a:off x="9217152" y="1819656"/>
            <a:ext cx="2286000" cy="256032"/>
          </a:xfrm>
          <a:prstGeom prst="rect">
            <a:avLst/>
          </a:prstGeom>
          <a:noFill/>
          <a:ln/>
        </p:spPr>
        <p:txBody>
          <a:bodyPr wrap="square" lIns="0" tIns="0" rIns="0" bIns="0" rtlCol="0" anchor="t"/>
          <a:lstStyle/>
          <a:p>
            <a:pPr indent="0" marL="0">
              <a:buNone/>
            </a:pPr>
            <a:r>
              <a:rPr lang="en-US" sz="1200" b="1" dirty="0">
                <a:solidFill>
                  <a:srgbClr val="D97706"/>
                </a:solidFill>
                <a:latin typeface="Inter" pitchFamily="34" charset="0"/>
                <a:ea typeface="Inter" pitchFamily="34" charset="-122"/>
                <a:cs typeface="Inter" pitchFamily="34" charset="-120"/>
              </a:rPr>
              <a:t>Head 4 · Long-range</a:t>
            </a:r>
            <a:endParaRPr lang="en-US" sz="1200" dirty="0"/>
          </a:p>
        </p:txBody>
      </p:sp>
      <p:sp>
        <p:nvSpPr>
          <p:cNvPr id="121" name="anim-4-fade-100-647"/>
          <p:cNvSpPr txBox="1"/>
          <p:nvPr/>
        </p:nvSpPr>
        <p:spPr>
          <a:xfrm>
            <a:off x="9162288" y="2258568"/>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122" name="anim-4-fade-150-648"/>
          <p:cNvSpPr/>
          <p:nvPr/>
        </p:nvSpPr>
        <p:spPr>
          <a:xfrm>
            <a:off x="9738360" y="2221992"/>
            <a:ext cx="274320" cy="274320"/>
          </a:xfrm>
          <a:prstGeom prst="rect">
            <a:avLst/>
          </a:prstGeom>
          <a:solidFill>
            <a:srgbClr val="D97706"/>
          </a:solidFill>
          <a:ln/>
        </p:spPr>
      </p:sp>
      <p:sp>
        <p:nvSpPr>
          <p:cNvPr id="123" name="anim-4-fade-150-649"/>
          <p:cNvSpPr/>
          <p:nvPr/>
        </p:nvSpPr>
        <p:spPr>
          <a:xfrm>
            <a:off x="10040112" y="2221992"/>
            <a:ext cx="274320" cy="274320"/>
          </a:xfrm>
          <a:prstGeom prst="rect">
            <a:avLst/>
          </a:prstGeom>
          <a:solidFill>
            <a:srgbClr val="EEF2F6"/>
          </a:solidFill>
          <a:ln/>
        </p:spPr>
      </p:sp>
      <p:sp>
        <p:nvSpPr>
          <p:cNvPr id="124" name="anim-4-fade-150-650"/>
          <p:cNvSpPr/>
          <p:nvPr/>
        </p:nvSpPr>
        <p:spPr>
          <a:xfrm>
            <a:off x="10341864" y="2221992"/>
            <a:ext cx="274320" cy="274320"/>
          </a:xfrm>
          <a:prstGeom prst="rect">
            <a:avLst/>
          </a:prstGeom>
          <a:solidFill>
            <a:srgbClr val="EEF2F6"/>
          </a:solidFill>
          <a:ln/>
        </p:spPr>
      </p:sp>
      <p:sp>
        <p:nvSpPr>
          <p:cNvPr id="125" name="anim-4-fade-150-651"/>
          <p:cNvSpPr/>
          <p:nvPr/>
        </p:nvSpPr>
        <p:spPr>
          <a:xfrm>
            <a:off x="10643616" y="2221992"/>
            <a:ext cx="274320" cy="274320"/>
          </a:xfrm>
          <a:prstGeom prst="rect">
            <a:avLst/>
          </a:prstGeom>
          <a:solidFill>
            <a:srgbClr val="EEF2F6"/>
          </a:solidFill>
          <a:ln/>
        </p:spPr>
      </p:sp>
      <p:sp>
        <p:nvSpPr>
          <p:cNvPr id="126" name="anim-4-fade-150-652"/>
          <p:cNvSpPr/>
          <p:nvPr/>
        </p:nvSpPr>
        <p:spPr>
          <a:xfrm>
            <a:off x="10945368" y="2221992"/>
            <a:ext cx="274320" cy="274320"/>
          </a:xfrm>
          <a:prstGeom prst="rect">
            <a:avLst/>
          </a:prstGeom>
          <a:solidFill>
            <a:srgbClr val="EEF2F6"/>
          </a:solidFill>
          <a:ln/>
        </p:spPr>
      </p:sp>
      <p:sp>
        <p:nvSpPr>
          <p:cNvPr id="127" name="anim-4-fade-100-653"/>
          <p:cNvSpPr txBox="1"/>
          <p:nvPr/>
        </p:nvSpPr>
        <p:spPr>
          <a:xfrm>
            <a:off x="9162288" y="2560320"/>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cat</a:t>
            </a:r>
            <a:endParaRPr lang="en-US" sz="900" dirty="0"/>
          </a:p>
        </p:txBody>
      </p:sp>
      <p:sp>
        <p:nvSpPr>
          <p:cNvPr id="128" name="anim-4-fade-230-654"/>
          <p:cNvSpPr/>
          <p:nvPr/>
        </p:nvSpPr>
        <p:spPr>
          <a:xfrm>
            <a:off x="9738360" y="2523744"/>
            <a:ext cx="274320" cy="274320"/>
          </a:xfrm>
          <a:prstGeom prst="rect">
            <a:avLst/>
          </a:prstGeom>
          <a:solidFill>
            <a:srgbClr val="F4D9B9"/>
          </a:solidFill>
          <a:ln/>
        </p:spPr>
      </p:sp>
      <p:sp>
        <p:nvSpPr>
          <p:cNvPr id="129" name="anim-4-fade-230-655"/>
          <p:cNvSpPr/>
          <p:nvPr/>
        </p:nvSpPr>
        <p:spPr>
          <a:xfrm>
            <a:off x="10040112" y="2523744"/>
            <a:ext cx="274320" cy="274320"/>
          </a:xfrm>
          <a:prstGeom prst="rect">
            <a:avLst/>
          </a:prstGeom>
          <a:solidFill>
            <a:srgbClr val="E08F33"/>
          </a:solidFill>
          <a:ln/>
        </p:spPr>
      </p:sp>
      <p:sp>
        <p:nvSpPr>
          <p:cNvPr id="130" name="anim-4-fade-230-656"/>
          <p:cNvSpPr/>
          <p:nvPr/>
        </p:nvSpPr>
        <p:spPr>
          <a:xfrm>
            <a:off x="10341864" y="2523744"/>
            <a:ext cx="274320" cy="274320"/>
          </a:xfrm>
          <a:prstGeom prst="rect">
            <a:avLst/>
          </a:prstGeom>
          <a:solidFill>
            <a:srgbClr val="EEF2F6"/>
          </a:solidFill>
          <a:ln/>
        </p:spPr>
      </p:sp>
      <p:sp>
        <p:nvSpPr>
          <p:cNvPr id="131" name="anim-4-fade-230-657"/>
          <p:cNvSpPr/>
          <p:nvPr/>
        </p:nvSpPr>
        <p:spPr>
          <a:xfrm>
            <a:off x="10643616" y="2523744"/>
            <a:ext cx="274320" cy="274320"/>
          </a:xfrm>
          <a:prstGeom prst="rect">
            <a:avLst/>
          </a:prstGeom>
          <a:solidFill>
            <a:srgbClr val="EEF2F6"/>
          </a:solidFill>
          <a:ln/>
        </p:spPr>
      </p:sp>
      <p:sp>
        <p:nvSpPr>
          <p:cNvPr id="132" name="anim-4-fade-230-658"/>
          <p:cNvSpPr/>
          <p:nvPr/>
        </p:nvSpPr>
        <p:spPr>
          <a:xfrm>
            <a:off x="10945368" y="2523744"/>
            <a:ext cx="274320" cy="274320"/>
          </a:xfrm>
          <a:prstGeom prst="rect">
            <a:avLst/>
          </a:prstGeom>
          <a:solidFill>
            <a:srgbClr val="EEF2F6"/>
          </a:solidFill>
          <a:ln/>
        </p:spPr>
      </p:sp>
      <p:sp>
        <p:nvSpPr>
          <p:cNvPr id="133" name="anim-4-fade-100-659"/>
          <p:cNvSpPr txBox="1"/>
          <p:nvPr/>
        </p:nvSpPr>
        <p:spPr>
          <a:xfrm>
            <a:off x="9162288" y="2862072"/>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sat</a:t>
            </a:r>
            <a:endParaRPr lang="en-US" sz="900" dirty="0"/>
          </a:p>
        </p:txBody>
      </p:sp>
      <p:sp>
        <p:nvSpPr>
          <p:cNvPr id="134" name="anim-4-fade-310-660"/>
          <p:cNvSpPr/>
          <p:nvPr/>
        </p:nvSpPr>
        <p:spPr>
          <a:xfrm>
            <a:off x="9738360" y="2825496"/>
            <a:ext cx="274320" cy="274320"/>
          </a:xfrm>
          <a:prstGeom prst="rect">
            <a:avLst/>
          </a:prstGeom>
          <a:solidFill>
            <a:srgbClr val="F4D9B9"/>
          </a:solidFill>
          <a:ln/>
        </p:spPr>
      </p:sp>
      <p:sp>
        <p:nvSpPr>
          <p:cNvPr id="135" name="anim-4-fade-310-661"/>
          <p:cNvSpPr/>
          <p:nvPr/>
        </p:nvSpPr>
        <p:spPr>
          <a:xfrm>
            <a:off x="10040112" y="2825496"/>
            <a:ext cx="274320" cy="274320"/>
          </a:xfrm>
          <a:prstGeom prst="rect">
            <a:avLst/>
          </a:prstGeom>
          <a:solidFill>
            <a:srgbClr val="F8E5D0"/>
          </a:solidFill>
          <a:ln/>
        </p:spPr>
      </p:sp>
      <p:sp>
        <p:nvSpPr>
          <p:cNvPr id="136" name="anim-4-fade-310-662"/>
          <p:cNvSpPr/>
          <p:nvPr/>
        </p:nvSpPr>
        <p:spPr>
          <a:xfrm>
            <a:off x="10341864" y="2825496"/>
            <a:ext cx="274320" cy="274320"/>
          </a:xfrm>
          <a:prstGeom prst="rect">
            <a:avLst/>
          </a:prstGeom>
          <a:solidFill>
            <a:srgbClr val="E39C49"/>
          </a:solidFill>
          <a:ln/>
        </p:spPr>
      </p:sp>
      <p:sp>
        <p:nvSpPr>
          <p:cNvPr id="137" name="anim-4-fade-310-663"/>
          <p:cNvSpPr/>
          <p:nvPr/>
        </p:nvSpPr>
        <p:spPr>
          <a:xfrm>
            <a:off x="10643616" y="2825496"/>
            <a:ext cx="274320" cy="274320"/>
          </a:xfrm>
          <a:prstGeom prst="rect">
            <a:avLst/>
          </a:prstGeom>
          <a:solidFill>
            <a:srgbClr val="EEF2F6"/>
          </a:solidFill>
          <a:ln/>
        </p:spPr>
      </p:sp>
      <p:sp>
        <p:nvSpPr>
          <p:cNvPr id="138" name="anim-4-fade-310-664"/>
          <p:cNvSpPr/>
          <p:nvPr/>
        </p:nvSpPr>
        <p:spPr>
          <a:xfrm>
            <a:off x="10945368" y="2825496"/>
            <a:ext cx="274320" cy="274320"/>
          </a:xfrm>
          <a:prstGeom prst="rect">
            <a:avLst/>
          </a:prstGeom>
          <a:solidFill>
            <a:srgbClr val="EEF2F6"/>
          </a:solidFill>
          <a:ln/>
        </p:spPr>
      </p:sp>
      <p:sp>
        <p:nvSpPr>
          <p:cNvPr id="139" name="anim-4-fade-100-665"/>
          <p:cNvSpPr txBox="1"/>
          <p:nvPr/>
        </p:nvSpPr>
        <p:spPr>
          <a:xfrm>
            <a:off x="9162288" y="3163824"/>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on</a:t>
            </a:r>
            <a:endParaRPr lang="en-US" sz="900" dirty="0"/>
          </a:p>
        </p:txBody>
      </p:sp>
      <p:sp>
        <p:nvSpPr>
          <p:cNvPr id="140" name="anim-4-fade-390-666"/>
          <p:cNvSpPr/>
          <p:nvPr/>
        </p:nvSpPr>
        <p:spPr>
          <a:xfrm>
            <a:off x="9738360" y="3127248"/>
            <a:ext cx="274320" cy="274320"/>
          </a:xfrm>
          <a:prstGeom prst="rect">
            <a:avLst/>
          </a:prstGeom>
          <a:solidFill>
            <a:srgbClr val="F4D9B9"/>
          </a:solidFill>
          <a:ln/>
        </p:spPr>
      </p:sp>
      <p:sp>
        <p:nvSpPr>
          <p:cNvPr id="141" name="anim-4-fade-390-667"/>
          <p:cNvSpPr/>
          <p:nvPr/>
        </p:nvSpPr>
        <p:spPr>
          <a:xfrm>
            <a:off x="10040112" y="3127248"/>
            <a:ext cx="274320" cy="274320"/>
          </a:xfrm>
          <a:prstGeom prst="rect">
            <a:avLst/>
          </a:prstGeom>
          <a:solidFill>
            <a:srgbClr val="F8E5D0"/>
          </a:solidFill>
          <a:ln/>
        </p:spPr>
      </p:sp>
      <p:sp>
        <p:nvSpPr>
          <p:cNvPr id="142" name="anim-4-fade-390-668"/>
          <p:cNvSpPr/>
          <p:nvPr/>
        </p:nvSpPr>
        <p:spPr>
          <a:xfrm>
            <a:off x="10341864" y="3127248"/>
            <a:ext cx="274320" cy="274320"/>
          </a:xfrm>
          <a:prstGeom prst="rect">
            <a:avLst/>
          </a:prstGeom>
          <a:solidFill>
            <a:srgbClr val="F8E5D0"/>
          </a:solidFill>
          <a:ln/>
        </p:spPr>
      </p:sp>
      <p:sp>
        <p:nvSpPr>
          <p:cNvPr id="143" name="anim-4-fade-390-669"/>
          <p:cNvSpPr/>
          <p:nvPr/>
        </p:nvSpPr>
        <p:spPr>
          <a:xfrm>
            <a:off x="10643616" y="3127248"/>
            <a:ext cx="274320" cy="274320"/>
          </a:xfrm>
          <a:prstGeom prst="rect">
            <a:avLst/>
          </a:prstGeom>
          <a:solidFill>
            <a:srgbClr val="E7A860"/>
          </a:solidFill>
          <a:ln/>
        </p:spPr>
      </p:sp>
      <p:sp>
        <p:nvSpPr>
          <p:cNvPr id="144" name="anim-4-fade-390-670"/>
          <p:cNvSpPr/>
          <p:nvPr/>
        </p:nvSpPr>
        <p:spPr>
          <a:xfrm>
            <a:off x="10945368" y="3127248"/>
            <a:ext cx="274320" cy="274320"/>
          </a:xfrm>
          <a:prstGeom prst="rect">
            <a:avLst/>
          </a:prstGeom>
          <a:solidFill>
            <a:srgbClr val="EEF2F6"/>
          </a:solidFill>
          <a:ln/>
        </p:spPr>
      </p:sp>
      <p:sp>
        <p:nvSpPr>
          <p:cNvPr id="145" name="anim-4-fade-100-671"/>
          <p:cNvSpPr txBox="1"/>
          <p:nvPr/>
        </p:nvSpPr>
        <p:spPr>
          <a:xfrm>
            <a:off x="9162288" y="3465576"/>
            <a:ext cx="502920" cy="201168"/>
          </a:xfrm>
          <a:prstGeom prst="rect">
            <a:avLst/>
          </a:prstGeom>
          <a:noFill/>
          <a:ln/>
        </p:spPr>
        <p:txBody>
          <a:bodyPr wrap="square" lIns="0" tIns="0" rIns="0" bIns="0" rtlCol="0" anchor="t"/>
          <a:lstStyle/>
          <a:p>
            <a:pPr algn="r" indent="0" marL="0">
              <a:buNone/>
            </a:pPr>
            <a:r>
              <a:rPr lang="en-US" sz="900" dirty="0">
                <a:solidFill>
                  <a:srgbClr val="64748B"/>
                </a:solidFill>
                <a:latin typeface="Inter" pitchFamily="34" charset="0"/>
                <a:ea typeface="Inter" pitchFamily="34" charset="-122"/>
                <a:cs typeface="Inter" pitchFamily="34" charset="-120"/>
              </a:rPr>
              <a:t>the</a:t>
            </a:r>
            <a:endParaRPr lang="en-US" sz="900" dirty="0"/>
          </a:p>
        </p:txBody>
      </p:sp>
      <p:sp>
        <p:nvSpPr>
          <p:cNvPr id="146" name="anim-4-fade-470-672"/>
          <p:cNvSpPr/>
          <p:nvPr/>
        </p:nvSpPr>
        <p:spPr>
          <a:xfrm>
            <a:off x="9738360" y="3429000"/>
            <a:ext cx="274320" cy="274320"/>
          </a:xfrm>
          <a:prstGeom prst="rect">
            <a:avLst/>
          </a:prstGeom>
          <a:solidFill>
            <a:srgbClr val="E08F33"/>
          </a:solidFill>
          <a:ln/>
        </p:spPr>
      </p:sp>
      <p:sp>
        <p:nvSpPr>
          <p:cNvPr id="147" name="anim-4-fade-470-673"/>
          <p:cNvSpPr/>
          <p:nvPr/>
        </p:nvSpPr>
        <p:spPr>
          <a:xfrm>
            <a:off x="10040112" y="3429000"/>
            <a:ext cx="274320" cy="274320"/>
          </a:xfrm>
          <a:prstGeom prst="rect">
            <a:avLst/>
          </a:prstGeom>
          <a:solidFill>
            <a:srgbClr val="F9EBDB"/>
          </a:solidFill>
          <a:ln/>
        </p:spPr>
      </p:sp>
      <p:sp>
        <p:nvSpPr>
          <p:cNvPr id="148" name="anim-4-fade-470-674"/>
          <p:cNvSpPr/>
          <p:nvPr/>
        </p:nvSpPr>
        <p:spPr>
          <a:xfrm>
            <a:off x="10341864" y="3429000"/>
            <a:ext cx="274320" cy="274320"/>
          </a:xfrm>
          <a:prstGeom prst="rect">
            <a:avLst/>
          </a:prstGeom>
          <a:solidFill>
            <a:srgbClr val="F9EBDB"/>
          </a:solidFill>
          <a:ln/>
        </p:spPr>
      </p:sp>
      <p:sp>
        <p:nvSpPr>
          <p:cNvPr id="149" name="anim-4-fade-470-675"/>
          <p:cNvSpPr/>
          <p:nvPr/>
        </p:nvSpPr>
        <p:spPr>
          <a:xfrm>
            <a:off x="10643616" y="3429000"/>
            <a:ext cx="274320" cy="274320"/>
          </a:xfrm>
          <a:prstGeom prst="rect">
            <a:avLst/>
          </a:prstGeom>
          <a:solidFill>
            <a:srgbClr val="F9EBDB"/>
          </a:solidFill>
          <a:ln/>
        </p:spPr>
      </p:sp>
      <p:sp>
        <p:nvSpPr>
          <p:cNvPr id="150" name="anim-4-fade-470-676"/>
          <p:cNvSpPr/>
          <p:nvPr/>
        </p:nvSpPr>
        <p:spPr>
          <a:xfrm>
            <a:off x="10945368" y="3429000"/>
            <a:ext cx="274320" cy="274320"/>
          </a:xfrm>
          <a:prstGeom prst="rect">
            <a:avLst/>
          </a:prstGeom>
          <a:solidFill>
            <a:srgbClr val="F9EBDB"/>
          </a:solidFill>
          <a:ln/>
        </p:spPr>
      </p:sp>
      <p:sp>
        <p:nvSpPr>
          <p:cNvPr id="151" name="anim-4-fade-300-677"/>
          <p:cNvSpPr txBox="1"/>
          <p:nvPr/>
        </p:nvSpPr>
        <p:spPr>
          <a:xfrm>
            <a:off x="9217152" y="3794760"/>
            <a:ext cx="2286000" cy="82296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The second “the” finds the first “The” — matching repeated words far apart.</a:t>
            </a:r>
            <a:endParaRPr lang="en-US" sz="1050" dirty="0"/>
          </a:p>
        </p:txBody>
      </p:sp>
      <p:sp>
        <p:nvSpPr>
          <p:cNvPr id="152" name="anim-5-fade-300-678"/>
          <p:cNvSpPr/>
          <p:nvPr/>
        </p:nvSpPr>
        <p:spPr>
          <a:xfrm>
            <a:off x="9939528" y="4919472"/>
            <a:ext cx="182880" cy="219456"/>
          </a:xfrm>
          <a:prstGeom prst="rect">
            <a:avLst/>
          </a:prstGeom>
          <a:solidFill>
            <a:srgbClr val="DD851F"/>
          </a:solidFill>
          <a:ln w="6350">
            <a:solidFill>
              <a:srgbClr val="FFFFFF"/>
            </a:solidFill>
            <a:prstDash val="solid"/>
          </a:ln>
        </p:spPr>
      </p:sp>
      <p:sp>
        <p:nvSpPr>
          <p:cNvPr id="153" name="anim-5-fade-300-679"/>
          <p:cNvSpPr/>
          <p:nvPr/>
        </p:nvSpPr>
        <p:spPr>
          <a:xfrm>
            <a:off x="10149840" y="4919472"/>
            <a:ext cx="182880" cy="219456"/>
          </a:xfrm>
          <a:prstGeom prst="rect">
            <a:avLst/>
          </a:prstGeom>
          <a:solidFill>
            <a:srgbClr val="ECBB83"/>
          </a:solidFill>
          <a:ln w="6350">
            <a:solidFill>
              <a:srgbClr val="FFFFFF"/>
            </a:solidFill>
            <a:prstDash val="solid"/>
          </a:ln>
        </p:spPr>
      </p:sp>
      <p:sp>
        <p:nvSpPr>
          <p:cNvPr id="154" name="anim-5-fade-300-680"/>
          <p:cNvSpPr/>
          <p:nvPr/>
        </p:nvSpPr>
        <p:spPr>
          <a:xfrm>
            <a:off x="10360152" y="4919472"/>
            <a:ext cx="182880" cy="219456"/>
          </a:xfrm>
          <a:prstGeom prst="rect">
            <a:avLst/>
          </a:prstGeom>
          <a:solidFill>
            <a:srgbClr val="E4A051"/>
          </a:solidFill>
          <a:ln w="6350">
            <a:solidFill>
              <a:srgbClr val="FFFFFF"/>
            </a:solidFill>
            <a:prstDash val="solid"/>
          </a:ln>
        </p:spPr>
      </p:sp>
      <p:sp>
        <p:nvSpPr>
          <p:cNvPr id="155" name="anim-5-fade-300-681"/>
          <p:cNvSpPr/>
          <p:nvPr/>
        </p:nvSpPr>
        <p:spPr>
          <a:xfrm>
            <a:off x="10570464" y="4919472"/>
            <a:ext cx="182880" cy="219456"/>
          </a:xfrm>
          <a:prstGeom prst="rect">
            <a:avLst/>
          </a:prstGeom>
          <a:solidFill>
            <a:srgbClr val="F2CFA8"/>
          </a:solidFill>
          <a:ln w="6350">
            <a:solidFill>
              <a:srgbClr val="FFFFFF"/>
            </a:solidFill>
            <a:prstDash val="solid"/>
          </a:ln>
        </p:spPr>
      </p:sp>
      <p:sp>
        <p:nvSpPr>
          <p:cNvPr id="156" name="anim-5-fade-600-682"/>
          <p:cNvSpPr/>
          <p:nvPr/>
        </p:nvSpPr>
        <p:spPr>
          <a:xfrm flipH="1">
            <a:off x="6080760" y="5175504"/>
            <a:ext cx="4270248" cy="338328"/>
          </a:xfrm>
          <a:prstGeom prst="line">
            <a:avLst/>
          </a:prstGeom>
          <a:noFill/>
          <a:ln w="15875">
            <a:solidFill>
              <a:srgbClr val="D97706"/>
            </a:solidFill>
            <a:prstDash val="solid"/>
            <a:tailEnd type="triangle"/>
          </a:ln>
        </p:spPr>
      </p:sp>
      <p:sp>
        <p:nvSpPr>
          <p:cNvPr id="157" name="anim-5-zoom-700-683"/>
          <p:cNvSpPr/>
          <p:nvPr/>
        </p:nvSpPr>
        <p:spPr>
          <a:xfrm>
            <a:off x="4526280" y="5532120"/>
            <a:ext cx="2651760" cy="438912"/>
          </a:xfrm>
          <a:prstGeom prst="roundRect">
            <a:avLst>
              <a:gd name="adj" fmla="val 20833"/>
            </a:avLst>
          </a:prstGeom>
          <a:solidFill>
            <a:srgbClr val="7C3AED"/>
          </a:solidFill>
          <a:ln/>
        </p:spPr>
        <p:txBody>
          <a:bodyPr wrap="square" lIns="1016" tIns="1016" rIns="1016" bIns="1016"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Concatenate  →  × W_O (mix)</a:t>
            </a:r>
            <a:endParaRPr lang="en-US" sz="1100" dirty="0"/>
          </a:p>
        </p:txBody>
      </p:sp>
      <p:sp>
        <p:nvSpPr>
          <p:cNvPr id="158" name="anim-5-wipe-900-684"/>
          <p:cNvSpPr/>
          <p:nvPr/>
        </p:nvSpPr>
        <p:spPr>
          <a:xfrm>
            <a:off x="7223760" y="5751576"/>
            <a:ext cx="411480" cy="0"/>
          </a:xfrm>
          <a:prstGeom prst="line">
            <a:avLst/>
          </a:prstGeom>
          <a:noFill/>
          <a:ln w="22225">
            <a:solidFill>
              <a:srgbClr val="7C3AED"/>
            </a:solidFill>
            <a:prstDash val="solid"/>
            <a:tailEnd type="triangle"/>
          </a:ln>
        </p:spPr>
      </p:sp>
      <p:sp>
        <p:nvSpPr>
          <p:cNvPr id="159" name="anim-5-fade-1000-685"/>
          <p:cNvSpPr/>
          <p:nvPr/>
        </p:nvSpPr>
        <p:spPr>
          <a:xfrm>
            <a:off x="7726680" y="5632704"/>
            <a:ext cx="182880" cy="237744"/>
          </a:xfrm>
          <a:prstGeom prst="rect">
            <a:avLst/>
          </a:prstGeom>
          <a:solidFill>
            <a:srgbClr val="5AA1B5"/>
          </a:solidFill>
          <a:ln w="6350">
            <a:solidFill>
              <a:srgbClr val="FFFFFF"/>
            </a:solidFill>
            <a:prstDash val="solid"/>
          </a:ln>
        </p:spPr>
      </p:sp>
      <p:sp>
        <p:nvSpPr>
          <p:cNvPr id="160" name="anim-5-fade-1000-686"/>
          <p:cNvSpPr/>
          <p:nvPr/>
        </p:nvSpPr>
        <p:spPr>
          <a:xfrm>
            <a:off x="7936992" y="5632704"/>
            <a:ext cx="182880" cy="237744"/>
          </a:xfrm>
          <a:prstGeom prst="rect">
            <a:avLst/>
          </a:prstGeom>
          <a:solidFill>
            <a:srgbClr val="7C86D4"/>
          </a:solidFill>
          <a:ln w="6350">
            <a:solidFill>
              <a:srgbClr val="FFFFFF"/>
            </a:solidFill>
            <a:prstDash val="solid"/>
          </a:ln>
        </p:spPr>
      </p:sp>
      <p:sp>
        <p:nvSpPr>
          <p:cNvPr id="161" name="anim-5-fade-1000-687"/>
          <p:cNvSpPr/>
          <p:nvPr/>
        </p:nvSpPr>
        <p:spPr>
          <a:xfrm>
            <a:off x="8147304" y="5632704"/>
            <a:ext cx="182880" cy="237744"/>
          </a:xfrm>
          <a:prstGeom prst="rect">
            <a:avLst/>
          </a:prstGeom>
          <a:solidFill>
            <a:srgbClr val="52A8AD"/>
          </a:solidFill>
          <a:ln w="6350">
            <a:solidFill>
              <a:srgbClr val="FFFFFF"/>
            </a:solidFill>
            <a:prstDash val="solid"/>
          </a:ln>
        </p:spPr>
      </p:sp>
      <p:sp>
        <p:nvSpPr>
          <p:cNvPr id="162" name="anim-5-fade-1000-688"/>
          <p:cNvSpPr/>
          <p:nvPr/>
        </p:nvSpPr>
        <p:spPr>
          <a:xfrm>
            <a:off x="8357616" y="5632704"/>
            <a:ext cx="182880" cy="237744"/>
          </a:xfrm>
          <a:prstGeom prst="rect">
            <a:avLst/>
          </a:prstGeom>
          <a:solidFill>
            <a:srgbClr val="6B94C4"/>
          </a:solidFill>
          <a:ln w="6350">
            <a:solidFill>
              <a:srgbClr val="FFFFFF"/>
            </a:solidFill>
            <a:prstDash val="solid"/>
          </a:ln>
        </p:spPr>
      </p:sp>
      <p:sp>
        <p:nvSpPr>
          <p:cNvPr id="163" name="anim-5-fade-1000-689"/>
          <p:cNvSpPr/>
          <p:nvPr/>
        </p:nvSpPr>
        <p:spPr>
          <a:xfrm>
            <a:off x="8567928" y="5632704"/>
            <a:ext cx="182880" cy="237744"/>
          </a:xfrm>
          <a:prstGeom prst="rect">
            <a:avLst/>
          </a:prstGeom>
          <a:solidFill>
            <a:srgbClr val="8480DB"/>
          </a:solidFill>
          <a:ln w="6350">
            <a:solidFill>
              <a:srgbClr val="FFFFFF"/>
            </a:solidFill>
            <a:prstDash val="solid"/>
          </a:ln>
        </p:spPr>
      </p:sp>
      <p:sp>
        <p:nvSpPr>
          <p:cNvPr id="164" name="anim-5-fade-1000-690"/>
          <p:cNvSpPr/>
          <p:nvPr/>
        </p:nvSpPr>
        <p:spPr>
          <a:xfrm>
            <a:off x="8778240" y="5632704"/>
            <a:ext cx="182880" cy="237744"/>
          </a:xfrm>
          <a:prstGeom prst="rect">
            <a:avLst/>
          </a:prstGeom>
          <a:solidFill>
            <a:srgbClr val="629BBC"/>
          </a:solidFill>
          <a:ln w="6350">
            <a:solidFill>
              <a:srgbClr val="FFFFFF"/>
            </a:solidFill>
            <a:prstDash val="solid"/>
          </a:ln>
        </p:spPr>
      </p:sp>
      <p:sp>
        <p:nvSpPr>
          <p:cNvPr id="165" name="anim-5-fade-1000-691"/>
          <p:cNvSpPr/>
          <p:nvPr/>
        </p:nvSpPr>
        <p:spPr>
          <a:xfrm>
            <a:off x="8988552" y="5632704"/>
            <a:ext cx="182880" cy="237744"/>
          </a:xfrm>
          <a:prstGeom prst="rect">
            <a:avLst/>
          </a:prstGeom>
          <a:solidFill>
            <a:srgbClr val="748DCC"/>
          </a:solidFill>
          <a:ln w="6350">
            <a:solidFill>
              <a:srgbClr val="FFFFFF"/>
            </a:solidFill>
            <a:prstDash val="solid"/>
          </a:ln>
        </p:spPr>
      </p:sp>
      <p:sp>
        <p:nvSpPr>
          <p:cNvPr id="166" name="anim-5-fade-1000-692"/>
          <p:cNvSpPr/>
          <p:nvPr/>
        </p:nvSpPr>
        <p:spPr>
          <a:xfrm>
            <a:off x="9198864" y="5632704"/>
            <a:ext cx="182880" cy="237744"/>
          </a:xfrm>
          <a:prstGeom prst="rect">
            <a:avLst/>
          </a:prstGeom>
          <a:solidFill>
            <a:srgbClr val="56A5B1"/>
          </a:solidFill>
          <a:ln w="6350">
            <a:solidFill>
              <a:srgbClr val="FFFFFF"/>
            </a:solidFill>
            <a:prstDash val="solid"/>
          </a:ln>
        </p:spPr>
      </p:sp>
      <p:sp>
        <p:nvSpPr>
          <p:cNvPr id="167" name="anim-5-fade-1100-693"/>
          <p:cNvSpPr txBox="1"/>
          <p:nvPr/>
        </p:nvSpPr>
        <p:spPr>
          <a:xfrm>
            <a:off x="9464040" y="5650992"/>
            <a:ext cx="2194560" cy="219456"/>
          </a:xfrm>
          <a:prstGeom prst="rect">
            <a:avLst/>
          </a:prstGeom>
          <a:noFill/>
          <a:ln/>
        </p:spPr>
        <p:txBody>
          <a:bodyPr wrap="square" lIns="0" tIns="0" rIns="0" bIns="0" rtlCol="0" anchor="t"/>
          <a:lstStyle/>
          <a:p>
            <a:pPr indent="0" marL="0">
              <a:buNone/>
            </a:pPr>
            <a:r>
              <a:rPr lang="en-US" sz="1000" i="1" dirty="0">
                <a:solidFill>
                  <a:srgbClr val="64748B"/>
                </a:solidFill>
                <a:latin typeface="Inter" pitchFamily="34" charset="0"/>
                <a:ea typeface="Inter" pitchFamily="34" charset="-122"/>
                <a:cs typeface="Inter" pitchFamily="34" charset="-120"/>
              </a:rPr>
              <a:t>one combined vector per token</a:t>
            </a:r>
            <a:endParaRPr lang="en-US" sz="1000" dirty="0"/>
          </a:p>
        </p:txBody>
      </p:sp>
      <p:sp>
        <p:nvSpPr>
          <p:cNvPr id="168" name="Text 166"/>
          <p:cNvSpPr txBox="1"/>
          <p:nvPr/>
        </p:nvSpPr>
        <p:spPr>
          <a:xfrm>
            <a:off x="548640" y="6172200"/>
            <a:ext cx="8229600" cy="201168"/>
          </a:xfrm>
          <a:prstGeom prst="rect">
            <a:avLst/>
          </a:prstGeom>
          <a:noFill/>
          <a:ln/>
        </p:spPr>
        <p:txBody>
          <a:bodyPr wrap="square" lIns="0" tIns="0" rIns="0" bIns="0" rtlCol="0" anchor="t"/>
          <a:lstStyle/>
          <a:p>
            <a:pPr indent="0" marL="0">
              <a:buNone/>
            </a:pPr>
            <a:r>
              <a:rPr lang="en-US" sz="850" i="1" dirty="0">
                <a:solidFill>
                  <a:srgbClr val="94A3B8"/>
                </a:solidFill>
                <a:latin typeface="Inter" pitchFamily="34" charset="0"/>
                <a:ea typeface="Inter" pitchFamily="34" charset="-122"/>
                <a:cs typeface="Inter" pitchFamily="34" charset="-120"/>
              </a:rPr>
              <a:t>Head roles are learned, not programmed. These labels are illustrative; GPT-2 small has 12 heads per block.</a:t>
            </a:r>
            <a:endParaRPr lang="en-US" sz="8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0.06"/>
                                          </p:val>
                                        </p:tav>
                                        <p:tav tm="100000">
                                          <p:val>
                                            <p:strVal val="#ppt_y"/>
                                          </p:val>
                                        </p:tav>
                                      </p:tavLst>
                                    </p:anim>
                                  </p:childTnLst>
                                </p:cTn>
                              </p:par>
                              <p:par>
                                <p:cTn id="11"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0.06"/>
                                          </p:val>
                                        </p:tav>
                                        <p:tav tm="100000">
                                          <p:val>
                                            <p:strVal val="#ppt_y"/>
                                          </p:val>
                                        </p:tav>
                                      </p:tavLst>
                                    </p:anim>
                                  </p:childTnLst>
                                </p:cTn>
                              </p:par>
                              <p:par>
                                <p:cTn id="16" presetID="10" presetClass="entr" presetSubtype="0" fill="hold" grpId="0" nodeType="withEffect">
                                  <p:stCondLst>
                                    <p:cond delay="100"/>
                                  </p:stCondLst>
                                  <p:childTnLst>
                                    <p:set>
                                      <p:cBhvr>
                                        <p:cTn id="15"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9" presetID="10" presetClass="entr" presetSubtype="0" fill="hold" grpId="0" nodeType="withEffect">
                                  <p:stCondLst>
                                    <p:cond delay="100"/>
                                  </p:stCondLst>
                                  <p:childTnLst>
                                    <p:set>
                                      <p:cBhvr>
                                        <p:cTn id="18"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2" presetID="10" presetClass="entr" presetSubtype="0" fill="hold" grpId="0" nodeType="withEffect">
                                  <p:stCondLst>
                                    <p:cond delay="1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5" presetID="10" presetClass="entr" presetSubtype="0" fill="hold" grpId="0" nodeType="with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8" presetID="10" presetClass="entr" presetSubtype="0" fill="hold" grpId="0" nodeType="withEffect">
                                  <p:stCondLst>
                                    <p:cond delay="100"/>
                                  </p:stCondLst>
                                  <p:childTnLst>
                                    <p:set>
                                      <p:cBhvr>
                                        <p:cTn id="27"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1" presetID="10" presetClass="entr" presetSubtype="0" fill="hold" grpId="0" nodeType="withEffect">
                                  <p:stCondLst>
                                    <p:cond delay="150"/>
                                  </p:stCondLst>
                                  <p:childTnLst>
                                    <p:set>
                                      <p:cBhvr>
                                        <p:cTn id="30"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4" presetID="10" presetClass="entr" presetSubtype="0" fill="hold" grpId="0" nodeType="withEffect">
                                  <p:stCondLst>
                                    <p:cond delay="150"/>
                                  </p:stCondLst>
                                  <p:childTnLst>
                                    <p:set>
                                      <p:cBhvr>
                                        <p:cTn id="33"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7" presetID="10" presetClass="entr" presetSubtype="0" fill="hold" grpId="0" nodeType="withEffect">
                                  <p:stCondLst>
                                    <p:cond delay="1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40" presetID="10" presetClass="entr" presetSubtype="0" fill="hold" grpId="0" nodeType="withEffect">
                                  <p:stCondLst>
                                    <p:cond delay="150"/>
                                  </p:stCondLst>
                                  <p:childTnLst>
                                    <p:set>
                                      <p:cBhvr>
                                        <p:cTn id="39"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3" presetID="10" presetClass="entr" presetSubtype="0" fill="hold" grpId="0" nodeType="withEffect">
                                  <p:stCondLst>
                                    <p:cond delay="150"/>
                                  </p:stCondLst>
                                  <p:childTnLst>
                                    <p:set>
                                      <p:cBhvr>
                                        <p:cTn id="42"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6" presetID="10" presetClass="entr" presetSubtype="0" fill="hold" grpId="0" nodeType="withEffect">
                                  <p:stCondLst>
                                    <p:cond delay="230"/>
                                  </p:stCondLst>
                                  <p:childTnLst>
                                    <p:set>
                                      <p:cBhvr>
                                        <p:cTn id="45"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9" presetID="10" presetClass="entr" presetSubtype="0" fill="hold" grpId="0" nodeType="withEffect">
                                  <p:stCondLst>
                                    <p:cond delay="230"/>
                                  </p:stCondLst>
                                  <p:childTnLst>
                                    <p:set>
                                      <p:cBhvr>
                                        <p:cTn id="48"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2" presetID="10" presetClass="entr" presetSubtype="0" fill="hold" grpId="0" nodeType="withEffect">
                                  <p:stCondLst>
                                    <p:cond delay="230"/>
                                  </p:stCondLst>
                                  <p:childTnLst>
                                    <p:set>
                                      <p:cBhvr>
                                        <p:cTn id="51"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5" presetID="10" presetClass="entr" presetSubtype="0" fill="hold" grpId="0" nodeType="withEffect">
                                  <p:stCondLst>
                                    <p:cond delay="230"/>
                                  </p:stCondLst>
                                  <p:childTnLst>
                                    <p:set>
                                      <p:cBhvr>
                                        <p:cTn id="54"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8" presetID="10" presetClass="entr" presetSubtype="0" fill="hold" grpId="0" nodeType="withEffect">
                                  <p:stCondLst>
                                    <p:cond delay="230"/>
                                  </p:stCondLst>
                                  <p:childTnLst>
                                    <p:set>
                                      <p:cBhvr>
                                        <p:cTn id="57"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par>
                                <p:cTn id="61" presetID="10" presetClass="entr" presetSubtype="0" fill="hold" grpId="0" nodeType="withEffect">
                                  <p:stCondLst>
                                    <p:cond delay="300"/>
                                  </p:stCondLst>
                                  <p:childTnLst>
                                    <p:set>
                                      <p:cBhvr>
                                        <p:cTn id="60"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par>
                                <p:cTn id="64" presetID="10" presetClass="entr" presetSubtype="0" fill="hold" grpId="0" nodeType="withEffect">
                                  <p:stCondLst>
                                    <p:cond delay="310"/>
                                  </p:stCondLst>
                                  <p:childTnLst>
                                    <p:set>
                                      <p:cBhvr>
                                        <p:cTn id="63"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7" presetID="10" presetClass="entr" presetSubtype="0" fill="hold" grpId="0" nodeType="withEffect">
                                  <p:stCondLst>
                                    <p:cond delay="310"/>
                                  </p:stCondLst>
                                  <p:childTnLst>
                                    <p:set>
                                      <p:cBhvr>
                                        <p:cTn id="66"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70" presetID="10" presetClass="entr" presetSubtype="0" fill="hold" grpId="0" nodeType="withEffect">
                                  <p:stCondLst>
                                    <p:cond delay="310"/>
                                  </p:stCondLst>
                                  <p:childTnLst>
                                    <p:set>
                                      <p:cBhvr>
                                        <p:cTn id="69"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3" presetID="10" presetClass="entr" presetSubtype="0" fill="hold" grpId="0" nodeType="withEffect">
                                  <p:stCondLst>
                                    <p:cond delay="310"/>
                                  </p:stCondLst>
                                  <p:childTnLst>
                                    <p:set>
                                      <p:cBhvr>
                                        <p:cTn id="72"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6" presetID="10" presetClass="entr" presetSubtype="0" fill="hold" grpId="0" nodeType="withEffect">
                                  <p:stCondLst>
                                    <p:cond delay="3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9" presetID="10" presetClass="entr" presetSubtype="0" fill="hold" grpId="0" nodeType="withEffect">
                                  <p:stCondLst>
                                    <p:cond delay="390"/>
                                  </p:stCondLst>
                                  <p:childTnLst>
                                    <p:set>
                                      <p:cBhvr>
                                        <p:cTn id="78"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2" presetID="10" presetClass="entr" presetSubtype="0" fill="hold" grpId="0" nodeType="withEffect">
                                  <p:stCondLst>
                                    <p:cond delay="390"/>
                                  </p:stCondLst>
                                  <p:childTnLst>
                                    <p:set>
                                      <p:cBhvr>
                                        <p:cTn id="81"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5" presetID="10" presetClass="entr" presetSubtype="0" fill="hold" grpId="0" nodeType="withEffect">
                                  <p:stCondLst>
                                    <p:cond delay="390"/>
                                  </p:stCondLst>
                                  <p:childTnLst>
                                    <p:set>
                                      <p:cBhvr>
                                        <p:cTn id="84"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8" presetID="10" presetClass="entr" presetSubtype="0" fill="hold" grpId="0" nodeType="withEffect">
                                  <p:stCondLst>
                                    <p:cond delay="390"/>
                                  </p:stCondLst>
                                  <p:childTnLst>
                                    <p:set>
                                      <p:cBhvr>
                                        <p:cTn id="87"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1" presetID="10" presetClass="entr" presetSubtype="0" fill="hold" grpId="0" nodeType="withEffect">
                                  <p:stCondLst>
                                    <p:cond delay="390"/>
                                  </p:stCondLst>
                                  <p:childTnLst>
                                    <p:set>
                                      <p:cBhvr>
                                        <p:cTn id="90"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4" presetID="10" presetClass="entr" presetSubtype="0" fill="hold" grpId="0" nodeType="withEffect">
                                  <p:stCondLst>
                                    <p:cond delay="470"/>
                                  </p:stCondLst>
                                  <p:childTnLst>
                                    <p:set>
                                      <p:cBhvr>
                                        <p:cTn id="93"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par>
                                <p:cTn id="97" presetID="10" presetClass="entr" presetSubtype="0" fill="hold" grpId="0" nodeType="withEffect">
                                  <p:stCondLst>
                                    <p:cond delay="470"/>
                                  </p:stCondLst>
                                  <p:childTnLst>
                                    <p:set>
                                      <p:cBhvr>
                                        <p:cTn id="96"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100" presetID="10" presetClass="entr" presetSubtype="0" fill="hold" grpId="0" nodeType="withEffect">
                                  <p:stCondLst>
                                    <p:cond delay="47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3" presetID="10" presetClass="entr" presetSubtype="0" fill="hold" grpId="0" nodeType="withEffect">
                                  <p:stCondLst>
                                    <p:cond delay="47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par>
                                <p:cTn id="106" presetID="10" presetClass="entr" presetSubtype="0" fill="hold" grpId="0" nodeType="withEffect">
                                  <p:stCondLst>
                                    <p:cond delay="47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7" dur="500"/>
                                        <p:tgtEl>
                                          <p:spTgt spid="36"/>
                                        </p:tgtEl>
                                      </p:cBhvr>
                                    </p:animEffect>
                                  </p:childTnLst>
                                </p:cTn>
                              </p:par>
                            </p:childTnLst>
                          </p:cTn>
                        </p:par>
                      </p:childTnLst>
                    </p:cTn>
                  </p:par>
                  <p:par>
                    <p:cTn id="108" fill="hold">
                      <p:stCondLst>
                        <p:cond delay="indefinite"/>
                      </p:stCondLst>
                      <p:childTnLst>
                        <p:par>
                          <p:cTn id="109" fill="hold">
                            <p:stCondLst>
                              <p:cond delay="0"/>
                            </p:stCondLst>
                            <p:childTnLst>
                              <p:par>
                                <p:cTn id="111" presetID="42" presetClass="entr" presetSubtype="0" fill="hold" grpId="0" nodeType="clickEffect">
                                  <p:stCondLst>
                                    <p:cond delay="0"/>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anim calcmode="lin" valueType="num">
                                      <p:cBhvr>
                                        <p:cTn id="113" dur="500" fill="hold"/>
                                        <p:tgtEl>
                                          <p:spTgt spid="43"/>
                                        </p:tgtEl>
                                        <p:attrNameLst>
                                          <p:attrName>ppt_x</p:attrName>
                                        </p:attrNameLst>
                                      </p:cBhvr>
                                      <p:tavLst>
                                        <p:tav tm="0">
                                          <p:val>
                                            <p:strVal val="#ppt_x"/>
                                          </p:val>
                                        </p:tav>
                                        <p:tav tm="100000">
                                          <p:val>
                                            <p:strVal val="#ppt_x"/>
                                          </p:val>
                                        </p:tav>
                                      </p:tavLst>
                                    </p:anim>
                                    <p:anim calcmode="lin" valueType="num">
                                      <p:cBhvr>
                                        <p:cTn id="114" dur="500" fill="hold"/>
                                        <p:tgtEl>
                                          <p:spTgt spid="43"/>
                                        </p:tgtEl>
                                        <p:attrNameLst>
                                          <p:attrName>ppt_y</p:attrName>
                                        </p:attrNameLst>
                                      </p:cBhvr>
                                      <p:tavLst>
                                        <p:tav tm="0">
                                          <p:val>
                                            <p:strVal val="#ppt_y+0.06"/>
                                          </p:val>
                                        </p:tav>
                                        <p:tav tm="100000">
                                          <p:val>
                                            <p:strVal val="#ppt_y"/>
                                          </p:val>
                                        </p:tav>
                                      </p:tavLst>
                                    </p:anim>
                                  </p:childTnLst>
                                </p:cTn>
                              </p:par>
                              <p:par>
                                <p:cTn id="116" presetID="42"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7" dur="500"/>
                                        <p:tgtEl>
                                          <p:spTgt spid="44"/>
                                        </p:tgtEl>
                                      </p:cBhvr>
                                    </p:animEffect>
                                    <p:anim calcmode="lin" valueType="num">
                                      <p:cBhvr>
                                        <p:cTn id="118" dur="500" fill="hold"/>
                                        <p:tgtEl>
                                          <p:spTgt spid="44"/>
                                        </p:tgtEl>
                                        <p:attrNameLst>
                                          <p:attrName>ppt_x</p:attrName>
                                        </p:attrNameLst>
                                      </p:cBhvr>
                                      <p:tavLst>
                                        <p:tav tm="0">
                                          <p:val>
                                            <p:strVal val="#ppt_x"/>
                                          </p:val>
                                        </p:tav>
                                        <p:tav tm="100000">
                                          <p:val>
                                            <p:strVal val="#ppt_x"/>
                                          </p:val>
                                        </p:tav>
                                      </p:tavLst>
                                    </p:anim>
                                    <p:anim calcmode="lin" valueType="num">
                                      <p:cBhvr>
                                        <p:cTn id="119" dur="500" fill="hold"/>
                                        <p:tgtEl>
                                          <p:spTgt spid="44"/>
                                        </p:tgtEl>
                                        <p:attrNameLst>
                                          <p:attrName>ppt_y</p:attrName>
                                        </p:attrNameLst>
                                      </p:cBhvr>
                                      <p:tavLst>
                                        <p:tav tm="0">
                                          <p:val>
                                            <p:strVal val="#ppt_y+0.06"/>
                                          </p:val>
                                        </p:tav>
                                        <p:tav tm="100000">
                                          <p:val>
                                            <p:strVal val="#ppt_y"/>
                                          </p:val>
                                        </p:tav>
                                      </p:tavLst>
                                    </p:anim>
                                  </p:childTnLst>
                                </p:cTn>
                              </p:par>
                              <p:par>
                                <p:cTn id="121" presetID="10" presetClass="entr" presetSubtype="0" fill="hold" grpId="0" nodeType="withEffect">
                                  <p:stCondLst>
                                    <p:cond delay="100"/>
                                  </p:stCondLst>
                                  <p:childTnLst>
                                    <p:set>
                                      <p:cBhvr>
                                        <p:cTn id="120" dur="1" fill="hold">
                                          <p:stCondLst>
                                            <p:cond delay="0"/>
                                          </p:stCondLst>
                                        </p:cTn>
                                        <p:tgtEl>
                                          <p:spTgt spid="45"/>
                                        </p:tgtEl>
                                        <p:attrNameLst>
                                          <p:attrName>style.visibility</p:attrName>
                                        </p:attrNameLst>
                                      </p:cBhvr>
                                      <p:to>
                                        <p:strVal val="visible"/>
                                      </p:to>
                                    </p:set>
                                    <p:animEffect transition="in" filter="fade">
                                      <p:cBhvr>
                                        <p:cTn id="122" dur="500"/>
                                        <p:tgtEl>
                                          <p:spTgt spid="45"/>
                                        </p:tgtEl>
                                      </p:cBhvr>
                                    </p:animEffect>
                                  </p:childTnLst>
                                </p:cTn>
                              </p:par>
                              <p:par>
                                <p:cTn id="124" presetID="10" presetClass="entr" presetSubtype="0" fill="hold" grpId="0" nodeType="withEffect">
                                  <p:stCondLst>
                                    <p:cond delay="100"/>
                                  </p:stCondLst>
                                  <p:childTnLst>
                                    <p:set>
                                      <p:cBhvr>
                                        <p:cTn id="123" dur="1" fill="hold">
                                          <p:stCondLst>
                                            <p:cond delay="0"/>
                                          </p:stCondLst>
                                        </p:cTn>
                                        <p:tgtEl>
                                          <p:spTgt spid="51"/>
                                        </p:tgtEl>
                                        <p:attrNameLst>
                                          <p:attrName>style.visibility</p:attrName>
                                        </p:attrNameLst>
                                      </p:cBhvr>
                                      <p:to>
                                        <p:strVal val="visible"/>
                                      </p:to>
                                    </p:set>
                                    <p:animEffect transition="in" filter="fade">
                                      <p:cBhvr>
                                        <p:cTn id="125" dur="500"/>
                                        <p:tgtEl>
                                          <p:spTgt spid="51"/>
                                        </p:tgtEl>
                                      </p:cBhvr>
                                    </p:animEffect>
                                  </p:childTnLst>
                                </p:cTn>
                              </p:par>
                              <p:par>
                                <p:cTn id="127" presetID="10" presetClass="entr" presetSubtype="0" fill="hold" grpId="0" nodeType="withEffect">
                                  <p:stCondLst>
                                    <p:cond delay="10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8" dur="500"/>
                                        <p:tgtEl>
                                          <p:spTgt spid="57"/>
                                        </p:tgtEl>
                                      </p:cBhvr>
                                    </p:animEffect>
                                  </p:childTnLst>
                                </p:cTn>
                              </p:par>
                              <p:par>
                                <p:cTn id="130" presetID="10" presetClass="entr" presetSubtype="0" fill="hold" grpId="0" nodeType="withEffect">
                                  <p:stCondLst>
                                    <p:cond delay="100"/>
                                  </p:stCondLst>
                                  <p:childTnLst>
                                    <p:set>
                                      <p:cBhvr>
                                        <p:cTn id="129" dur="1" fill="hold">
                                          <p:stCondLst>
                                            <p:cond delay="0"/>
                                          </p:stCondLst>
                                        </p:cTn>
                                        <p:tgtEl>
                                          <p:spTgt spid="63"/>
                                        </p:tgtEl>
                                        <p:attrNameLst>
                                          <p:attrName>style.visibility</p:attrName>
                                        </p:attrNameLst>
                                      </p:cBhvr>
                                      <p:to>
                                        <p:strVal val="visible"/>
                                      </p:to>
                                    </p:set>
                                    <p:animEffect transition="in" filter="fade">
                                      <p:cBhvr>
                                        <p:cTn id="131" dur="500"/>
                                        <p:tgtEl>
                                          <p:spTgt spid="63"/>
                                        </p:tgtEl>
                                      </p:cBhvr>
                                    </p:animEffect>
                                  </p:childTnLst>
                                </p:cTn>
                              </p:par>
                              <p:par>
                                <p:cTn id="133" presetID="10" presetClass="entr" presetSubtype="0" fill="hold" grpId="0" nodeType="withEffect">
                                  <p:stCondLst>
                                    <p:cond delay="100"/>
                                  </p:stCondLst>
                                  <p:childTnLst>
                                    <p:set>
                                      <p:cBhvr>
                                        <p:cTn id="132" dur="1" fill="hold">
                                          <p:stCondLst>
                                            <p:cond delay="0"/>
                                          </p:stCondLst>
                                        </p:cTn>
                                        <p:tgtEl>
                                          <p:spTgt spid="69"/>
                                        </p:tgtEl>
                                        <p:attrNameLst>
                                          <p:attrName>style.visibility</p:attrName>
                                        </p:attrNameLst>
                                      </p:cBhvr>
                                      <p:to>
                                        <p:strVal val="visible"/>
                                      </p:to>
                                    </p:set>
                                    <p:animEffect transition="in" filter="fade">
                                      <p:cBhvr>
                                        <p:cTn id="134" dur="500"/>
                                        <p:tgtEl>
                                          <p:spTgt spid="69"/>
                                        </p:tgtEl>
                                      </p:cBhvr>
                                    </p:animEffect>
                                  </p:childTnLst>
                                </p:cTn>
                              </p:par>
                              <p:par>
                                <p:cTn id="136" presetID="10" presetClass="entr" presetSubtype="0" fill="hold" grpId="0" nodeType="withEffect">
                                  <p:stCondLst>
                                    <p:cond delay="15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7" dur="500"/>
                                        <p:tgtEl>
                                          <p:spTgt spid="46"/>
                                        </p:tgtEl>
                                      </p:cBhvr>
                                    </p:animEffect>
                                  </p:childTnLst>
                                </p:cTn>
                              </p:par>
                              <p:par>
                                <p:cTn id="139" presetID="10" presetClass="entr" presetSubtype="0" fill="hold" grpId="0" nodeType="withEffect">
                                  <p:stCondLst>
                                    <p:cond delay="15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40" dur="500"/>
                                        <p:tgtEl>
                                          <p:spTgt spid="47"/>
                                        </p:tgtEl>
                                      </p:cBhvr>
                                    </p:animEffect>
                                  </p:childTnLst>
                                </p:cTn>
                              </p:par>
                              <p:par>
                                <p:cTn id="142" presetID="10" presetClass="entr" presetSubtype="0" fill="hold" grpId="0" nodeType="withEffect">
                                  <p:stCondLst>
                                    <p:cond delay="15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3" dur="500"/>
                                        <p:tgtEl>
                                          <p:spTgt spid="48"/>
                                        </p:tgtEl>
                                      </p:cBhvr>
                                    </p:animEffect>
                                  </p:childTnLst>
                                </p:cTn>
                              </p:par>
                              <p:par>
                                <p:cTn id="145" presetID="10" presetClass="entr" presetSubtype="0" fill="hold" grpId="0" nodeType="withEffect">
                                  <p:stCondLst>
                                    <p:cond delay="150"/>
                                  </p:stCondLst>
                                  <p:childTnLst>
                                    <p:set>
                                      <p:cBhvr>
                                        <p:cTn id="144" dur="1" fill="hold">
                                          <p:stCondLst>
                                            <p:cond delay="0"/>
                                          </p:stCondLst>
                                        </p:cTn>
                                        <p:tgtEl>
                                          <p:spTgt spid="49"/>
                                        </p:tgtEl>
                                        <p:attrNameLst>
                                          <p:attrName>style.visibility</p:attrName>
                                        </p:attrNameLst>
                                      </p:cBhvr>
                                      <p:to>
                                        <p:strVal val="visible"/>
                                      </p:to>
                                    </p:set>
                                    <p:animEffect transition="in" filter="fade">
                                      <p:cBhvr>
                                        <p:cTn id="146" dur="500"/>
                                        <p:tgtEl>
                                          <p:spTgt spid="49"/>
                                        </p:tgtEl>
                                      </p:cBhvr>
                                    </p:animEffect>
                                  </p:childTnLst>
                                </p:cTn>
                              </p:par>
                              <p:par>
                                <p:cTn id="148" presetID="10" presetClass="entr" presetSubtype="0" fill="hold" grpId="0" nodeType="withEffect">
                                  <p:stCondLst>
                                    <p:cond delay="150"/>
                                  </p:stCondLst>
                                  <p:childTnLst>
                                    <p:set>
                                      <p:cBhvr>
                                        <p:cTn id="147" dur="1" fill="hold">
                                          <p:stCondLst>
                                            <p:cond delay="0"/>
                                          </p:stCondLst>
                                        </p:cTn>
                                        <p:tgtEl>
                                          <p:spTgt spid="50"/>
                                        </p:tgtEl>
                                        <p:attrNameLst>
                                          <p:attrName>style.visibility</p:attrName>
                                        </p:attrNameLst>
                                      </p:cBhvr>
                                      <p:to>
                                        <p:strVal val="visible"/>
                                      </p:to>
                                    </p:set>
                                    <p:animEffect transition="in" filter="fade">
                                      <p:cBhvr>
                                        <p:cTn id="149" dur="500"/>
                                        <p:tgtEl>
                                          <p:spTgt spid="50"/>
                                        </p:tgtEl>
                                      </p:cBhvr>
                                    </p:animEffect>
                                  </p:childTnLst>
                                </p:cTn>
                              </p:par>
                              <p:par>
                                <p:cTn id="151" presetID="10" presetClass="entr" presetSubtype="0" fill="hold" grpId="0" nodeType="withEffect">
                                  <p:stCondLst>
                                    <p:cond delay="230"/>
                                  </p:stCondLst>
                                  <p:childTnLst>
                                    <p:set>
                                      <p:cBhvr>
                                        <p:cTn id="150" dur="1" fill="hold">
                                          <p:stCondLst>
                                            <p:cond delay="0"/>
                                          </p:stCondLst>
                                        </p:cTn>
                                        <p:tgtEl>
                                          <p:spTgt spid="52"/>
                                        </p:tgtEl>
                                        <p:attrNameLst>
                                          <p:attrName>style.visibility</p:attrName>
                                        </p:attrNameLst>
                                      </p:cBhvr>
                                      <p:to>
                                        <p:strVal val="visible"/>
                                      </p:to>
                                    </p:set>
                                    <p:animEffect transition="in" filter="fade">
                                      <p:cBhvr>
                                        <p:cTn id="152" dur="500"/>
                                        <p:tgtEl>
                                          <p:spTgt spid="52"/>
                                        </p:tgtEl>
                                      </p:cBhvr>
                                    </p:animEffect>
                                  </p:childTnLst>
                                </p:cTn>
                              </p:par>
                              <p:par>
                                <p:cTn id="154" presetID="10" presetClass="entr" presetSubtype="0" fill="hold" grpId="0" nodeType="withEffect">
                                  <p:stCondLst>
                                    <p:cond delay="23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5" dur="500"/>
                                        <p:tgtEl>
                                          <p:spTgt spid="53"/>
                                        </p:tgtEl>
                                      </p:cBhvr>
                                    </p:animEffect>
                                  </p:childTnLst>
                                </p:cTn>
                              </p:par>
                              <p:par>
                                <p:cTn id="157" presetID="10" presetClass="entr" presetSubtype="0" fill="hold" grpId="0" nodeType="withEffect">
                                  <p:stCondLst>
                                    <p:cond delay="23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8" dur="500"/>
                                        <p:tgtEl>
                                          <p:spTgt spid="54"/>
                                        </p:tgtEl>
                                      </p:cBhvr>
                                    </p:animEffect>
                                  </p:childTnLst>
                                </p:cTn>
                              </p:par>
                              <p:par>
                                <p:cTn id="160" presetID="10" presetClass="entr" presetSubtype="0" fill="hold" grpId="0" nodeType="withEffect">
                                  <p:stCondLst>
                                    <p:cond delay="230"/>
                                  </p:stCondLst>
                                  <p:childTnLst>
                                    <p:set>
                                      <p:cBhvr>
                                        <p:cTn id="159" dur="1" fill="hold">
                                          <p:stCondLst>
                                            <p:cond delay="0"/>
                                          </p:stCondLst>
                                        </p:cTn>
                                        <p:tgtEl>
                                          <p:spTgt spid="55"/>
                                        </p:tgtEl>
                                        <p:attrNameLst>
                                          <p:attrName>style.visibility</p:attrName>
                                        </p:attrNameLst>
                                      </p:cBhvr>
                                      <p:to>
                                        <p:strVal val="visible"/>
                                      </p:to>
                                    </p:set>
                                    <p:animEffect transition="in" filter="fade">
                                      <p:cBhvr>
                                        <p:cTn id="161" dur="500"/>
                                        <p:tgtEl>
                                          <p:spTgt spid="55"/>
                                        </p:tgtEl>
                                      </p:cBhvr>
                                    </p:animEffect>
                                  </p:childTnLst>
                                </p:cTn>
                              </p:par>
                              <p:par>
                                <p:cTn id="163" presetID="10" presetClass="entr" presetSubtype="0" fill="hold" grpId="0" nodeType="withEffect">
                                  <p:stCondLst>
                                    <p:cond delay="23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4" dur="500"/>
                                        <p:tgtEl>
                                          <p:spTgt spid="56"/>
                                        </p:tgtEl>
                                      </p:cBhvr>
                                    </p:animEffect>
                                  </p:childTnLst>
                                </p:cTn>
                              </p:par>
                              <p:par>
                                <p:cTn id="166" presetID="10" presetClass="entr" presetSubtype="0" fill="hold" grpId="0" nodeType="withEffect">
                                  <p:stCondLst>
                                    <p:cond delay="300"/>
                                  </p:stCondLst>
                                  <p:childTnLst>
                                    <p:set>
                                      <p:cBhvr>
                                        <p:cTn id="165" dur="1" fill="hold">
                                          <p:stCondLst>
                                            <p:cond delay="0"/>
                                          </p:stCondLst>
                                        </p:cTn>
                                        <p:tgtEl>
                                          <p:spTgt spid="75"/>
                                        </p:tgtEl>
                                        <p:attrNameLst>
                                          <p:attrName>style.visibility</p:attrName>
                                        </p:attrNameLst>
                                      </p:cBhvr>
                                      <p:to>
                                        <p:strVal val="visible"/>
                                      </p:to>
                                    </p:set>
                                    <p:animEffect transition="in" filter="fade">
                                      <p:cBhvr>
                                        <p:cTn id="167" dur="500"/>
                                        <p:tgtEl>
                                          <p:spTgt spid="75"/>
                                        </p:tgtEl>
                                      </p:cBhvr>
                                    </p:animEffect>
                                  </p:childTnLst>
                                </p:cTn>
                              </p:par>
                              <p:par>
                                <p:cTn id="169" presetID="10" presetClass="entr" presetSubtype="0" fill="hold" grpId="0" nodeType="withEffect">
                                  <p:stCondLst>
                                    <p:cond delay="310"/>
                                  </p:stCondLst>
                                  <p:childTnLst>
                                    <p:set>
                                      <p:cBhvr>
                                        <p:cTn id="168" dur="1" fill="hold">
                                          <p:stCondLst>
                                            <p:cond delay="0"/>
                                          </p:stCondLst>
                                        </p:cTn>
                                        <p:tgtEl>
                                          <p:spTgt spid="58"/>
                                        </p:tgtEl>
                                        <p:attrNameLst>
                                          <p:attrName>style.visibility</p:attrName>
                                        </p:attrNameLst>
                                      </p:cBhvr>
                                      <p:to>
                                        <p:strVal val="visible"/>
                                      </p:to>
                                    </p:set>
                                    <p:animEffect transition="in" filter="fade">
                                      <p:cBhvr>
                                        <p:cTn id="170" dur="500"/>
                                        <p:tgtEl>
                                          <p:spTgt spid="58"/>
                                        </p:tgtEl>
                                      </p:cBhvr>
                                    </p:animEffect>
                                  </p:childTnLst>
                                </p:cTn>
                              </p:par>
                              <p:par>
                                <p:cTn id="172" presetID="10" presetClass="entr" presetSubtype="0" fill="hold" grpId="0" nodeType="withEffect">
                                  <p:stCondLst>
                                    <p:cond delay="31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3" dur="500"/>
                                        <p:tgtEl>
                                          <p:spTgt spid="59"/>
                                        </p:tgtEl>
                                      </p:cBhvr>
                                    </p:animEffect>
                                  </p:childTnLst>
                                </p:cTn>
                              </p:par>
                              <p:par>
                                <p:cTn id="175" presetID="10" presetClass="entr" presetSubtype="0" fill="hold" grpId="0" nodeType="withEffect">
                                  <p:stCondLst>
                                    <p:cond delay="31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6" dur="500"/>
                                        <p:tgtEl>
                                          <p:spTgt spid="60"/>
                                        </p:tgtEl>
                                      </p:cBhvr>
                                    </p:animEffect>
                                  </p:childTnLst>
                                </p:cTn>
                              </p:par>
                              <p:par>
                                <p:cTn id="178" presetID="10" presetClass="entr" presetSubtype="0" fill="hold" grpId="0" nodeType="withEffect">
                                  <p:stCondLst>
                                    <p:cond delay="31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9" dur="500"/>
                                        <p:tgtEl>
                                          <p:spTgt spid="61"/>
                                        </p:tgtEl>
                                      </p:cBhvr>
                                    </p:animEffect>
                                  </p:childTnLst>
                                </p:cTn>
                              </p:par>
                              <p:par>
                                <p:cTn id="181" presetID="10" presetClass="entr" presetSubtype="0" fill="hold" grpId="0" nodeType="withEffect">
                                  <p:stCondLst>
                                    <p:cond delay="31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2" dur="500"/>
                                        <p:tgtEl>
                                          <p:spTgt spid="62"/>
                                        </p:tgtEl>
                                      </p:cBhvr>
                                    </p:animEffect>
                                  </p:childTnLst>
                                </p:cTn>
                              </p:par>
                              <p:par>
                                <p:cTn id="184" presetID="10" presetClass="entr" presetSubtype="0" fill="hold" grpId="0" nodeType="withEffect">
                                  <p:stCondLst>
                                    <p:cond delay="390"/>
                                  </p:stCondLst>
                                  <p:childTnLst>
                                    <p:set>
                                      <p:cBhvr>
                                        <p:cTn id="183" dur="1" fill="hold">
                                          <p:stCondLst>
                                            <p:cond delay="0"/>
                                          </p:stCondLst>
                                        </p:cTn>
                                        <p:tgtEl>
                                          <p:spTgt spid="64"/>
                                        </p:tgtEl>
                                        <p:attrNameLst>
                                          <p:attrName>style.visibility</p:attrName>
                                        </p:attrNameLst>
                                      </p:cBhvr>
                                      <p:to>
                                        <p:strVal val="visible"/>
                                      </p:to>
                                    </p:set>
                                    <p:animEffect transition="in" filter="fade">
                                      <p:cBhvr>
                                        <p:cTn id="185" dur="500"/>
                                        <p:tgtEl>
                                          <p:spTgt spid="64"/>
                                        </p:tgtEl>
                                      </p:cBhvr>
                                    </p:animEffect>
                                  </p:childTnLst>
                                </p:cTn>
                              </p:par>
                              <p:par>
                                <p:cTn id="187" presetID="10" presetClass="entr" presetSubtype="0" fill="hold" grpId="0" nodeType="withEffect">
                                  <p:stCondLst>
                                    <p:cond delay="390"/>
                                  </p:stCondLst>
                                  <p:childTnLst>
                                    <p:set>
                                      <p:cBhvr>
                                        <p:cTn id="186" dur="1" fill="hold">
                                          <p:stCondLst>
                                            <p:cond delay="0"/>
                                          </p:stCondLst>
                                        </p:cTn>
                                        <p:tgtEl>
                                          <p:spTgt spid="65"/>
                                        </p:tgtEl>
                                        <p:attrNameLst>
                                          <p:attrName>style.visibility</p:attrName>
                                        </p:attrNameLst>
                                      </p:cBhvr>
                                      <p:to>
                                        <p:strVal val="visible"/>
                                      </p:to>
                                    </p:set>
                                    <p:animEffect transition="in" filter="fade">
                                      <p:cBhvr>
                                        <p:cTn id="188" dur="500"/>
                                        <p:tgtEl>
                                          <p:spTgt spid="65"/>
                                        </p:tgtEl>
                                      </p:cBhvr>
                                    </p:animEffect>
                                  </p:childTnLst>
                                </p:cTn>
                              </p:par>
                              <p:par>
                                <p:cTn id="190" presetID="10" presetClass="entr" presetSubtype="0" fill="hold" grpId="0" nodeType="withEffect">
                                  <p:stCondLst>
                                    <p:cond delay="390"/>
                                  </p:stCondLst>
                                  <p:childTnLst>
                                    <p:set>
                                      <p:cBhvr>
                                        <p:cTn id="189" dur="1" fill="hold">
                                          <p:stCondLst>
                                            <p:cond delay="0"/>
                                          </p:stCondLst>
                                        </p:cTn>
                                        <p:tgtEl>
                                          <p:spTgt spid="66"/>
                                        </p:tgtEl>
                                        <p:attrNameLst>
                                          <p:attrName>style.visibility</p:attrName>
                                        </p:attrNameLst>
                                      </p:cBhvr>
                                      <p:to>
                                        <p:strVal val="visible"/>
                                      </p:to>
                                    </p:set>
                                    <p:animEffect transition="in" filter="fade">
                                      <p:cBhvr>
                                        <p:cTn id="191" dur="500"/>
                                        <p:tgtEl>
                                          <p:spTgt spid="66"/>
                                        </p:tgtEl>
                                      </p:cBhvr>
                                    </p:animEffect>
                                  </p:childTnLst>
                                </p:cTn>
                              </p:par>
                              <p:par>
                                <p:cTn id="193" presetID="10" presetClass="entr" presetSubtype="0" fill="hold" grpId="0" nodeType="withEffect">
                                  <p:stCondLst>
                                    <p:cond delay="390"/>
                                  </p:stCondLst>
                                  <p:childTnLst>
                                    <p:set>
                                      <p:cBhvr>
                                        <p:cTn id="192" dur="1" fill="hold">
                                          <p:stCondLst>
                                            <p:cond delay="0"/>
                                          </p:stCondLst>
                                        </p:cTn>
                                        <p:tgtEl>
                                          <p:spTgt spid="67"/>
                                        </p:tgtEl>
                                        <p:attrNameLst>
                                          <p:attrName>style.visibility</p:attrName>
                                        </p:attrNameLst>
                                      </p:cBhvr>
                                      <p:to>
                                        <p:strVal val="visible"/>
                                      </p:to>
                                    </p:set>
                                    <p:animEffect transition="in" filter="fade">
                                      <p:cBhvr>
                                        <p:cTn id="194" dur="500"/>
                                        <p:tgtEl>
                                          <p:spTgt spid="67"/>
                                        </p:tgtEl>
                                      </p:cBhvr>
                                    </p:animEffect>
                                  </p:childTnLst>
                                </p:cTn>
                              </p:par>
                              <p:par>
                                <p:cTn id="196" presetID="10" presetClass="entr" presetSubtype="0" fill="hold" grpId="0" nodeType="withEffect">
                                  <p:stCondLst>
                                    <p:cond delay="390"/>
                                  </p:stCondLst>
                                  <p:childTnLst>
                                    <p:set>
                                      <p:cBhvr>
                                        <p:cTn id="195" dur="1" fill="hold">
                                          <p:stCondLst>
                                            <p:cond delay="0"/>
                                          </p:stCondLst>
                                        </p:cTn>
                                        <p:tgtEl>
                                          <p:spTgt spid="68"/>
                                        </p:tgtEl>
                                        <p:attrNameLst>
                                          <p:attrName>style.visibility</p:attrName>
                                        </p:attrNameLst>
                                      </p:cBhvr>
                                      <p:to>
                                        <p:strVal val="visible"/>
                                      </p:to>
                                    </p:set>
                                    <p:animEffect transition="in" filter="fade">
                                      <p:cBhvr>
                                        <p:cTn id="197" dur="500"/>
                                        <p:tgtEl>
                                          <p:spTgt spid="68"/>
                                        </p:tgtEl>
                                      </p:cBhvr>
                                    </p:animEffect>
                                  </p:childTnLst>
                                </p:cTn>
                              </p:par>
                              <p:par>
                                <p:cTn id="199" presetID="10" presetClass="entr" presetSubtype="0" fill="hold" grpId="0" nodeType="withEffect">
                                  <p:stCondLst>
                                    <p:cond delay="470"/>
                                  </p:stCondLst>
                                  <p:childTnLst>
                                    <p:set>
                                      <p:cBhvr>
                                        <p:cTn id="198" dur="1" fill="hold">
                                          <p:stCondLst>
                                            <p:cond delay="0"/>
                                          </p:stCondLst>
                                        </p:cTn>
                                        <p:tgtEl>
                                          <p:spTgt spid="70"/>
                                        </p:tgtEl>
                                        <p:attrNameLst>
                                          <p:attrName>style.visibility</p:attrName>
                                        </p:attrNameLst>
                                      </p:cBhvr>
                                      <p:to>
                                        <p:strVal val="visible"/>
                                      </p:to>
                                    </p:set>
                                    <p:animEffect transition="in" filter="fade">
                                      <p:cBhvr>
                                        <p:cTn id="200" dur="500"/>
                                        <p:tgtEl>
                                          <p:spTgt spid="70"/>
                                        </p:tgtEl>
                                      </p:cBhvr>
                                    </p:animEffect>
                                  </p:childTnLst>
                                </p:cTn>
                              </p:par>
                              <p:par>
                                <p:cTn id="202" presetID="10" presetClass="entr" presetSubtype="0" fill="hold" grpId="0" nodeType="withEffect">
                                  <p:stCondLst>
                                    <p:cond delay="470"/>
                                  </p:stCondLst>
                                  <p:childTnLst>
                                    <p:set>
                                      <p:cBhvr>
                                        <p:cTn id="201" dur="1" fill="hold">
                                          <p:stCondLst>
                                            <p:cond delay="0"/>
                                          </p:stCondLst>
                                        </p:cTn>
                                        <p:tgtEl>
                                          <p:spTgt spid="71"/>
                                        </p:tgtEl>
                                        <p:attrNameLst>
                                          <p:attrName>style.visibility</p:attrName>
                                        </p:attrNameLst>
                                      </p:cBhvr>
                                      <p:to>
                                        <p:strVal val="visible"/>
                                      </p:to>
                                    </p:set>
                                    <p:animEffect transition="in" filter="fade">
                                      <p:cBhvr>
                                        <p:cTn id="203" dur="500"/>
                                        <p:tgtEl>
                                          <p:spTgt spid="71"/>
                                        </p:tgtEl>
                                      </p:cBhvr>
                                    </p:animEffect>
                                  </p:childTnLst>
                                </p:cTn>
                              </p:par>
                              <p:par>
                                <p:cTn id="205" presetID="10" presetClass="entr" presetSubtype="0" fill="hold" grpId="0" nodeType="withEffect">
                                  <p:stCondLst>
                                    <p:cond delay="470"/>
                                  </p:stCondLst>
                                  <p:childTnLst>
                                    <p:set>
                                      <p:cBhvr>
                                        <p:cTn id="204" dur="1" fill="hold">
                                          <p:stCondLst>
                                            <p:cond delay="0"/>
                                          </p:stCondLst>
                                        </p:cTn>
                                        <p:tgtEl>
                                          <p:spTgt spid="72"/>
                                        </p:tgtEl>
                                        <p:attrNameLst>
                                          <p:attrName>style.visibility</p:attrName>
                                        </p:attrNameLst>
                                      </p:cBhvr>
                                      <p:to>
                                        <p:strVal val="visible"/>
                                      </p:to>
                                    </p:set>
                                    <p:animEffect transition="in" filter="fade">
                                      <p:cBhvr>
                                        <p:cTn id="206" dur="500"/>
                                        <p:tgtEl>
                                          <p:spTgt spid="72"/>
                                        </p:tgtEl>
                                      </p:cBhvr>
                                    </p:animEffect>
                                  </p:childTnLst>
                                </p:cTn>
                              </p:par>
                              <p:par>
                                <p:cTn id="208" presetID="10" presetClass="entr" presetSubtype="0" fill="hold" grpId="0" nodeType="withEffect">
                                  <p:stCondLst>
                                    <p:cond delay="470"/>
                                  </p:stCondLst>
                                  <p:childTnLst>
                                    <p:set>
                                      <p:cBhvr>
                                        <p:cTn id="207" dur="1" fill="hold">
                                          <p:stCondLst>
                                            <p:cond delay="0"/>
                                          </p:stCondLst>
                                        </p:cTn>
                                        <p:tgtEl>
                                          <p:spTgt spid="73"/>
                                        </p:tgtEl>
                                        <p:attrNameLst>
                                          <p:attrName>style.visibility</p:attrName>
                                        </p:attrNameLst>
                                      </p:cBhvr>
                                      <p:to>
                                        <p:strVal val="visible"/>
                                      </p:to>
                                    </p:set>
                                    <p:animEffect transition="in" filter="fade">
                                      <p:cBhvr>
                                        <p:cTn id="209" dur="500"/>
                                        <p:tgtEl>
                                          <p:spTgt spid="73"/>
                                        </p:tgtEl>
                                      </p:cBhvr>
                                    </p:animEffect>
                                  </p:childTnLst>
                                </p:cTn>
                              </p:par>
                              <p:par>
                                <p:cTn id="211" presetID="10" presetClass="entr" presetSubtype="0" fill="hold" grpId="0" nodeType="withEffect">
                                  <p:stCondLst>
                                    <p:cond delay="470"/>
                                  </p:stCondLst>
                                  <p:childTnLst>
                                    <p:set>
                                      <p:cBhvr>
                                        <p:cTn id="210" dur="1" fill="hold">
                                          <p:stCondLst>
                                            <p:cond delay="0"/>
                                          </p:stCondLst>
                                        </p:cTn>
                                        <p:tgtEl>
                                          <p:spTgt spid="74"/>
                                        </p:tgtEl>
                                        <p:attrNameLst>
                                          <p:attrName>style.visibility</p:attrName>
                                        </p:attrNameLst>
                                      </p:cBhvr>
                                      <p:to>
                                        <p:strVal val="visible"/>
                                      </p:to>
                                    </p:set>
                                    <p:animEffect transition="in" filter="fade">
                                      <p:cBhvr>
                                        <p:cTn id="212" dur="500"/>
                                        <p:tgtEl>
                                          <p:spTgt spid="74"/>
                                        </p:tgtEl>
                                      </p:cBhvr>
                                    </p:animEffect>
                                  </p:childTnLst>
                                </p:cTn>
                              </p:par>
                            </p:childTnLst>
                          </p:cTn>
                        </p:par>
                      </p:childTnLst>
                    </p:cTn>
                  </p:par>
                  <p:par>
                    <p:cTn id="213" fill="hold">
                      <p:stCondLst>
                        <p:cond delay="indefinite"/>
                      </p:stCondLst>
                      <p:childTnLst>
                        <p:par>
                          <p:cTn id="214" fill="hold">
                            <p:stCondLst>
                              <p:cond delay="0"/>
                            </p:stCondLst>
                            <p:childTnLst>
                              <p:par>
                                <p:cTn id="216" presetID="42" presetClass="entr" presetSubtype="0" fill="hold" grpId="0" nodeType="clickEffect">
                                  <p:stCondLst>
                                    <p:cond delay="0"/>
                                  </p:stCondLst>
                                  <p:childTnLst>
                                    <p:set>
                                      <p:cBhvr>
                                        <p:cTn id="215" dur="1" fill="hold">
                                          <p:stCondLst>
                                            <p:cond delay="0"/>
                                          </p:stCondLst>
                                        </p:cTn>
                                        <p:tgtEl>
                                          <p:spTgt spid="81"/>
                                        </p:tgtEl>
                                        <p:attrNameLst>
                                          <p:attrName>style.visibility</p:attrName>
                                        </p:attrNameLst>
                                      </p:cBhvr>
                                      <p:to>
                                        <p:strVal val="visible"/>
                                      </p:to>
                                    </p:set>
                                    <p:animEffect transition="in" filter="fade">
                                      <p:cBhvr>
                                        <p:cTn id="217" dur="500"/>
                                        <p:tgtEl>
                                          <p:spTgt spid="81"/>
                                        </p:tgtEl>
                                      </p:cBhvr>
                                    </p:animEffect>
                                    <p:anim calcmode="lin" valueType="num">
                                      <p:cBhvr>
                                        <p:cTn id="218" dur="500" fill="hold"/>
                                        <p:tgtEl>
                                          <p:spTgt spid="81"/>
                                        </p:tgtEl>
                                        <p:attrNameLst>
                                          <p:attrName>ppt_x</p:attrName>
                                        </p:attrNameLst>
                                      </p:cBhvr>
                                      <p:tavLst>
                                        <p:tav tm="0">
                                          <p:val>
                                            <p:strVal val="#ppt_x"/>
                                          </p:val>
                                        </p:tav>
                                        <p:tav tm="100000">
                                          <p:val>
                                            <p:strVal val="#ppt_x"/>
                                          </p:val>
                                        </p:tav>
                                      </p:tavLst>
                                    </p:anim>
                                    <p:anim calcmode="lin" valueType="num">
                                      <p:cBhvr>
                                        <p:cTn id="219" dur="500" fill="hold"/>
                                        <p:tgtEl>
                                          <p:spTgt spid="81"/>
                                        </p:tgtEl>
                                        <p:attrNameLst>
                                          <p:attrName>ppt_y</p:attrName>
                                        </p:attrNameLst>
                                      </p:cBhvr>
                                      <p:tavLst>
                                        <p:tav tm="0">
                                          <p:val>
                                            <p:strVal val="#ppt_y+0.06"/>
                                          </p:val>
                                        </p:tav>
                                        <p:tav tm="100000">
                                          <p:val>
                                            <p:strVal val="#ppt_y"/>
                                          </p:val>
                                        </p:tav>
                                      </p:tavLst>
                                    </p:anim>
                                  </p:childTnLst>
                                </p:cTn>
                              </p:par>
                              <p:par>
                                <p:cTn id="221" presetID="42" presetClass="entr" presetSubtype="0" fill="hold" grpId="0" nodeType="withEffect">
                                  <p:stCondLst>
                                    <p:cond delay="0"/>
                                  </p:stCondLst>
                                  <p:childTnLst>
                                    <p:set>
                                      <p:cBhvr>
                                        <p:cTn id="220" dur="1" fill="hold">
                                          <p:stCondLst>
                                            <p:cond delay="0"/>
                                          </p:stCondLst>
                                        </p:cTn>
                                        <p:tgtEl>
                                          <p:spTgt spid="82"/>
                                        </p:tgtEl>
                                        <p:attrNameLst>
                                          <p:attrName>style.visibility</p:attrName>
                                        </p:attrNameLst>
                                      </p:cBhvr>
                                      <p:to>
                                        <p:strVal val="visible"/>
                                      </p:to>
                                    </p:set>
                                    <p:animEffect transition="in" filter="fade">
                                      <p:cBhvr>
                                        <p:cTn id="222" dur="500"/>
                                        <p:tgtEl>
                                          <p:spTgt spid="82"/>
                                        </p:tgtEl>
                                      </p:cBhvr>
                                    </p:animEffect>
                                    <p:anim calcmode="lin" valueType="num">
                                      <p:cBhvr>
                                        <p:cTn id="223" dur="500" fill="hold"/>
                                        <p:tgtEl>
                                          <p:spTgt spid="82"/>
                                        </p:tgtEl>
                                        <p:attrNameLst>
                                          <p:attrName>ppt_x</p:attrName>
                                        </p:attrNameLst>
                                      </p:cBhvr>
                                      <p:tavLst>
                                        <p:tav tm="0">
                                          <p:val>
                                            <p:strVal val="#ppt_x"/>
                                          </p:val>
                                        </p:tav>
                                        <p:tav tm="100000">
                                          <p:val>
                                            <p:strVal val="#ppt_x"/>
                                          </p:val>
                                        </p:tav>
                                      </p:tavLst>
                                    </p:anim>
                                    <p:anim calcmode="lin" valueType="num">
                                      <p:cBhvr>
                                        <p:cTn id="224" dur="500" fill="hold"/>
                                        <p:tgtEl>
                                          <p:spTgt spid="82"/>
                                        </p:tgtEl>
                                        <p:attrNameLst>
                                          <p:attrName>ppt_y</p:attrName>
                                        </p:attrNameLst>
                                      </p:cBhvr>
                                      <p:tavLst>
                                        <p:tav tm="0">
                                          <p:val>
                                            <p:strVal val="#ppt_y+0.06"/>
                                          </p:val>
                                        </p:tav>
                                        <p:tav tm="100000">
                                          <p:val>
                                            <p:strVal val="#ppt_y"/>
                                          </p:val>
                                        </p:tav>
                                      </p:tavLst>
                                    </p:anim>
                                  </p:childTnLst>
                                </p:cTn>
                              </p:par>
                              <p:par>
                                <p:cTn id="226" presetID="10" presetClass="entr" presetSubtype="0" fill="hold" grpId="0" nodeType="withEffect">
                                  <p:stCondLst>
                                    <p:cond delay="100"/>
                                  </p:stCondLst>
                                  <p:childTnLst>
                                    <p:set>
                                      <p:cBhvr>
                                        <p:cTn id="225" dur="1" fill="hold">
                                          <p:stCondLst>
                                            <p:cond delay="0"/>
                                          </p:stCondLst>
                                        </p:cTn>
                                        <p:tgtEl>
                                          <p:spTgt spid="83"/>
                                        </p:tgtEl>
                                        <p:attrNameLst>
                                          <p:attrName>style.visibility</p:attrName>
                                        </p:attrNameLst>
                                      </p:cBhvr>
                                      <p:to>
                                        <p:strVal val="visible"/>
                                      </p:to>
                                    </p:set>
                                    <p:animEffect transition="in" filter="fade">
                                      <p:cBhvr>
                                        <p:cTn id="227" dur="500"/>
                                        <p:tgtEl>
                                          <p:spTgt spid="83"/>
                                        </p:tgtEl>
                                      </p:cBhvr>
                                    </p:animEffect>
                                  </p:childTnLst>
                                </p:cTn>
                              </p:par>
                              <p:par>
                                <p:cTn id="229" presetID="10" presetClass="entr" presetSubtype="0" fill="hold" grpId="0" nodeType="withEffect">
                                  <p:stCondLst>
                                    <p:cond delay="100"/>
                                  </p:stCondLst>
                                  <p:childTnLst>
                                    <p:set>
                                      <p:cBhvr>
                                        <p:cTn id="228" dur="1" fill="hold">
                                          <p:stCondLst>
                                            <p:cond delay="0"/>
                                          </p:stCondLst>
                                        </p:cTn>
                                        <p:tgtEl>
                                          <p:spTgt spid="89"/>
                                        </p:tgtEl>
                                        <p:attrNameLst>
                                          <p:attrName>style.visibility</p:attrName>
                                        </p:attrNameLst>
                                      </p:cBhvr>
                                      <p:to>
                                        <p:strVal val="visible"/>
                                      </p:to>
                                    </p:set>
                                    <p:animEffect transition="in" filter="fade">
                                      <p:cBhvr>
                                        <p:cTn id="230" dur="500"/>
                                        <p:tgtEl>
                                          <p:spTgt spid="89"/>
                                        </p:tgtEl>
                                      </p:cBhvr>
                                    </p:animEffect>
                                  </p:childTnLst>
                                </p:cTn>
                              </p:par>
                              <p:par>
                                <p:cTn id="232" presetID="10" presetClass="entr" presetSubtype="0" fill="hold" grpId="0" nodeType="withEffect">
                                  <p:stCondLst>
                                    <p:cond delay="100"/>
                                  </p:stCondLst>
                                  <p:childTnLst>
                                    <p:set>
                                      <p:cBhvr>
                                        <p:cTn id="231" dur="1" fill="hold">
                                          <p:stCondLst>
                                            <p:cond delay="0"/>
                                          </p:stCondLst>
                                        </p:cTn>
                                        <p:tgtEl>
                                          <p:spTgt spid="95"/>
                                        </p:tgtEl>
                                        <p:attrNameLst>
                                          <p:attrName>style.visibility</p:attrName>
                                        </p:attrNameLst>
                                      </p:cBhvr>
                                      <p:to>
                                        <p:strVal val="visible"/>
                                      </p:to>
                                    </p:set>
                                    <p:animEffect transition="in" filter="fade">
                                      <p:cBhvr>
                                        <p:cTn id="233" dur="500"/>
                                        <p:tgtEl>
                                          <p:spTgt spid="95"/>
                                        </p:tgtEl>
                                      </p:cBhvr>
                                    </p:animEffect>
                                  </p:childTnLst>
                                </p:cTn>
                              </p:par>
                              <p:par>
                                <p:cTn id="235" presetID="10" presetClass="entr" presetSubtype="0" fill="hold" grpId="0" nodeType="withEffect">
                                  <p:stCondLst>
                                    <p:cond delay="100"/>
                                  </p:stCondLst>
                                  <p:childTnLst>
                                    <p:set>
                                      <p:cBhvr>
                                        <p:cTn id="234" dur="1" fill="hold">
                                          <p:stCondLst>
                                            <p:cond delay="0"/>
                                          </p:stCondLst>
                                        </p:cTn>
                                        <p:tgtEl>
                                          <p:spTgt spid="101"/>
                                        </p:tgtEl>
                                        <p:attrNameLst>
                                          <p:attrName>style.visibility</p:attrName>
                                        </p:attrNameLst>
                                      </p:cBhvr>
                                      <p:to>
                                        <p:strVal val="visible"/>
                                      </p:to>
                                    </p:set>
                                    <p:animEffect transition="in" filter="fade">
                                      <p:cBhvr>
                                        <p:cTn id="236" dur="500"/>
                                        <p:tgtEl>
                                          <p:spTgt spid="101"/>
                                        </p:tgtEl>
                                      </p:cBhvr>
                                    </p:animEffect>
                                  </p:childTnLst>
                                </p:cTn>
                              </p:par>
                              <p:par>
                                <p:cTn id="238" presetID="10" presetClass="entr" presetSubtype="0" fill="hold" grpId="0" nodeType="withEffect">
                                  <p:stCondLst>
                                    <p:cond delay="100"/>
                                  </p:stCondLst>
                                  <p:childTnLst>
                                    <p:set>
                                      <p:cBhvr>
                                        <p:cTn id="237" dur="1" fill="hold">
                                          <p:stCondLst>
                                            <p:cond delay="0"/>
                                          </p:stCondLst>
                                        </p:cTn>
                                        <p:tgtEl>
                                          <p:spTgt spid="107"/>
                                        </p:tgtEl>
                                        <p:attrNameLst>
                                          <p:attrName>style.visibility</p:attrName>
                                        </p:attrNameLst>
                                      </p:cBhvr>
                                      <p:to>
                                        <p:strVal val="visible"/>
                                      </p:to>
                                    </p:set>
                                    <p:animEffect transition="in" filter="fade">
                                      <p:cBhvr>
                                        <p:cTn id="239" dur="500"/>
                                        <p:tgtEl>
                                          <p:spTgt spid="107"/>
                                        </p:tgtEl>
                                      </p:cBhvr>
                                    </p:animEffect>
                                  </p:childTnLst>
                                </p:cTn>
                              </p:par>
                              <p:par>
                                <p:cTn id="241" presetID="10" presetClass="entr" presetSubtype="0" fill="hold" grpId="0" nodeType="withEffect">
                                  <p:stCondLst>
                                    <p:cond delay="150"/>
                                  </p:stCondLst>
                                  <p:childTnLst>
                                    <p:set>
                                      <p:cBhvr>
                                        <p:cTn id="240" dur="1" fill="hold">
                                          <p:stCondLst>
                                            <p:cond delay="0"/>
                                          </p:stCondLst>
                                        </p:cTn>
                                        <p:tgtEl>
                                          <p:spTgt spid="84"/>
                                        </p:tgtEl>
                                        <p:attrNameLst>
                                          <p:attrName>style.visibility</p:attrName>
                                        </p:attrNameLst>
                                      </p:cBhvr>
                                      <p:to>
                                        <p:strVal val="visible"/>
                                      </p:to>
                                    </p:set>
                                    <p:animEffect transition="in" filter="fade">
                                      <p:cBhvr>
                                        <p:cTn id="242" dur="500"/>
                                        <p:tgtEl>
                                          <p:spTgt spid="84"/>
                                        </p:tgtEl>
                                      </p:cBhvr>
                                    </p:animEffect>
                                  </p:childTnLst>
                                </p:cTn>
                              </p:par>
                              <p:par>
                                <p:cTn id="244" presetID="10" presetClass="entr" presetSubtype="0" fill="hold" grpId="0" nodeType="withEffect">
                                  <p:stCondLst>
                                    <p:cond delay="150"/>
                                  </p:stCondLst>
                                  <p:childTnLst>
                                    <p:set>
                                      <p:cBhvr>
                                        <p:cTn id="243" dur="1" fill="hold">
                                          <p:stCondLst>
                                            <p:cond delay="0"/>
                                          </p:stCondLst>
                                        </p:cTn>
                                        <p:tgtEl>
                                          <p:spTgt spid="85"/>
                                        </p:tgtEl>
                                        <p:attrNameLst>
                                          <p:attrName>style.visibility</p:attrName>
                                        </p:attrNameLst>
                                      </p:cBhvr>
                                      <p:to>
                                        <p:strVal val="visible"/>
                                      </p:to>
                                    </p:set>
                                    <p:animEffect transition="in" filter="fade">
                                      <p:cBhvr>
                                        <p:cTn id="245" dur="500"/>
                                        <p:tgtEl>
                                          <p:spTgt spid="85"/>
                                        </p:tgtEl>
                                      </p:cBhvr>
                                    </p:animEffect>
                                  </p:childTnLst>
                                </p:cTn>
                              </p:par>
                              <p:par>
                                <p:cTn id="247" presetID="10" presetClass="entr" presetSubtype="0" fill="hold" grpId="0" nodeType="withEffect">
                                  <p:stCondLst>
                                    <p:cond delay="150"/>
                                  </p:stCondLst>
                                  <p:childTnLst>
                                    <p:set>
                                      <p:cBhvr>
                                        <p:cTn id="246" dur="1" fill="hold">
                                          <p:stCondLst>
                                            <p:cond delay="0"/>
                                          </p:stCondLst>
                                        </p:cTn>
                                        <p:tgtEl>
                                          <p:spTgt spid="86"/>
                                        </p:tgtEl>
                                        <p:attrNameLst>
                                          <p:attrName>style.visibility</p:attrName>
                                        </p:attrNameLst>
                                      </p:cBhvr>
                                      <p:to>
                                        <p:strVal val="visible"/>
                                      </p:to>
                                    </p:set>
                                    <p:animEffect transition="in" filter="fade">
                                      <p:cBhvr>
                                        <p:cTn id="248" dur="500"/>
                                        <p:tgtEl>
                                          <p:spTgt spid="86"/>
                                        </p:tgtEl>
                                      </p:cBhvr>
                                    </p:animEffect>
                                  </p:childTnLst>
                                </p:cTn>
                              </p:par>
                              <p:par>
                                <p:cTn id="250" presetID="10" presetClass="entr" presetSubtype="0" fill="hold" grpId="0" nodeType="withEffect">
                                  <p:stCondLst>
                                    <p:cond delay="150"/>
                                  </p:stCondLst>
                                  <p:childTnLst>
                                    <p:set>
                                      <p:cBhvr>
                                        <p:cTn id="249" dur="1" fill="hold">
                                          <p:stCondLst>
                                            <p:cond delay="0"/>
                                          </p:stCondLst>
                                        </p:cTn>
                                        <p:tgtEl>
                                          <p:spTgt spid="87"/>
                                        </p:tgtEl>
                                        <p:attrNameLst>
                                          <p:attrName>style.visibility</p:attrName>
                                        </p:attrNameLst>
                                      </p:cBhvr>
                                      <p:to>
                                        <p:strVal val="visible"/>
                                      </p:to>
                                    </p:set>
                                    <p:animEffect transition="in" filter="fade">
                                      <p:cBhvr>
                                        <p:cTn id="251" dur="500"/>
                                        <p:tgtEl>
                                          <p:spTgt spid="87"/>
                                        </p:tgtEl>
                                      </p:cBhvr>
                                    </p:animEffect>
                                  </p:childTnLst>
                                </p:cTn>
                              </p:par>
                              <p:par>
                                <p:cTn id="253" presetID="10" presetClass="entr" presetSubtype="0" fill="hold" grpId="0" nodeType="withEffect">
                                  <p:stCondLst>
                                    <p:cond delay="150"/>
                                  </p:stCondLst>
                                  <p:childTnLst>
                                    <p:set>
                                      <p:cBhvr>
                                        <p:cTn id="252" dur="1" fill="hold">
                                          <p:stCondLst>
                                            <p:cond delay="0"/>
                                          </p:stCondLst>
                                        </p:cTn>
                                        <p:tgtEl>
                                          <p:spTgt spid="88"/>
                                        </p:tgtEl>
                                        <p:attrNameLst>
                                          <p:attrName>style.visibility</p:attrName>
                                        </p:attrNameLst>
                                      </p:cBhvr>
                                      <p:to>
                                        <p:strVal val="visible"/>
                                      </p:to>
                                    </p:set>
                                    <p:animEffect transition="in" filter="fade">
                                      <p:cBhvr>
                                        <p:cTn id="254" dur="500"/>
                                        <p:tgtEl>
                                          <p:spTgt spid="88"/>
                                        </p:tgtEl>
                                      </p:cBhvr>
                                    </p:animEffect>
                                  </p:childTnLst>
                                </p:cTn>
                              </p:par>
                              <p:par>
                                <p:cTn id="256" presetID="10" presetClass="entr" presetSubtype="0" fill="hold" grpId="0" nodeType="withEffect">
                                  <p:stCondLst>
                                    <p:cond delay="230"/>
                                  </p:stCondLst>
                                  <p:childTnLst>
                                    <p:set>
                                      <p:cBhvr>
                                        <p:cTn id="255" dur="1" fill="hold">
                                          <p:stCondLst>
                                            <p:cond delay="0"/>
                                          </p:stCondLst>
                                        </p:cTn>
                                        <p:tgtEl>
                                          <p:spTgt spid="90"/>
                                        </p:tgtEl>
                                        <p:attrNameLst>
                                          <p:attrName>style.visibility</p:attrName>
                                        </p:attrNameLst>
                                      </p:cBhvr>
                                      <p:to>
                                        <p:strVal val="visible"/>
                                      </p:to>
                                    </p:set>
                                    <p:animEffect transition="in" filter="fade">
                                      <p:cBhvr>
                                        <p:cTn id="257" dur="500"/>
                                        <p:tgtEl>
                                          <p:spTgt spid="90"/>
                                        </p:tgtEl>
                                      </p:cBhvr>
                                    </p:animEffect>
                                  </p:childTnLst>
                                </p:cTn>
                              </p:par>
                              <p:par>
                                <p:cTn id="259" presetID="10" presetClass="entr" presetSubtype="0" fill="hold" grpId="0" nodeType="withEffect">
                                  <p:stCondLst>
                                    <p:cond delay="230"/>
                                  </p:stCondLst>
                                  <p:childTnLst>
                                    <p:set>
                                      <p:cBhvr>
                                        <p:cTn id="258" dur="1" fill="hold">
                                          <p:stCondLst>
                                            <p:cond delay="0"/>
                                          </p:stCondLst>
                                        </p:cTn>
                                        <p:tgtEl>
                                          <p:spTgt spid="91"/>
                                        </p:tgtEl>
                                        <p:attrNameLst>
                                          <p:attrName>style.visibility</p:attrName>
                                        </p:attrNameLst>
                                      </p:cBhvr>
                                      <p:to>
                                        <p:strVal val="visible"/>
                                      </p:to>
                                    </p:set>
                                    <p:animEffect transition="in" filter="fade">
                                      <p:cBhvr>
                                        <p:cTn id="260" dur="500"/>
                                        <p:tgtEl>
                                          <p:spTgt spid="91"/>
                                        </p:tgtEl>
                                      </p:cBhvr>
                                    </p:animEffect>
                                  </p:childTnLst>
                                </p:cTn>
                              </p:par>
                              <p:par>
                                <p:cTn id="262" presetID="10" presetClass="entr" presetSubtype="0" fill="hold" grpId="0" nodeType="withEffect">
                                  <p:stCondLst>
                                    <p:cond delay="230"/>
                                  </p:stCondLst>
                                  <p:childTnLst>
                                    <p:set>
                                      <p:cBhvr>
                                        <p:cTn id="261" dur="1" fill="hold">
                                          <p:stCondLst>
                                            <p:cond delay="0"/>
                                          </p:stCondLst>
                                        </p:cTn>
                                        <p:tgtEl>
                                          <p:spTgt spid="92"/>
                                        </p:tgtEl>
                                        <p:attrNameLst>
                                          <p:attrName>style.visibility</p:attrName>
                                        </p:attrNameLst>
                                      </p:cBhvr>
                                      <p:to>
                                        <p:strVal val="visible"/>
                                      </p:to>
                                    </p:set>
                                    <p:animEffect transition="in" filter="fade">
                                      <p:cBhvr>
                                        <p:cTn id="263" dur="500"/>
                                        <p:tgtEl>
                                          <p:spTgt spid="92"/>
                                        </p:tgtEl>
                                      </p:cBhvr>
                                    </p:animEffect>
                                  </p:childTnLst>
                                </p:cTn>
                              </p:par>
                              <p:par>
                                <p:cTn id="265" presetID="10" presetClass="entr" presetSubtype="0" fill="hold" grpId="0" nodeType="withEffect">
                                  <p:stCondLst>
                                    <p:cond delay="230"/>
                                  </p:stCondLst>
                                  <p:childTnLst>
                                    <p:set>
                                      <p:cBhvr>
                                        <p:cTn id="264" dur="1" fill="hold">
                                          <p:stCondLst>
                                            <p:cond delay="0"/>
                                          </p:stCondLst>
                                        </p:cTn>
                                        <p:tgtEl>
                                          <p:spTgt spid="93"/>
                                        </p:tgtEl>
                                        <p:attrNameLst>
                                          <p:attrName>style.visibility</p:attrName>
                                        </p:attrNameLst>
                                      </p:cBhvr>
                                      <p:to>
                                        <p:strVal val="visible"/>
                                      </p:to>
                                    </p:set>
                                    <p:animEffect transition="in" filter="fade">
                                      <p:cBhvr>
                                        <p:cTn id="266" dur="500"/>
                                        <p:tgtEl>
                                          <p:spTgt spid="93"/>
                                        </p:tgtEl>
                                      </p:cBhvr>
                                    </p:animEffect>
                                  </p:childTnLst>
                                </p:cTn>
                              </p:par>
                              <p:par>
                                <p:cTn id="268" presetID="10" presetClass="entr" presetSubtype="0" fill="hold" grpId="0" nodeType="withEffect">
                                  <p:stCondLst>
                                    <p:cond delay="230"/>
                                  </p:stCondLst>
                                  <p:childTnLst>
                                    <p:set>
                                      <p:cBhvr>
                                        <p:cTn id="267" dur="1" fill="hold">
                                          <p:stCondLst>
                                            <p:cond delay="0"/>
                                          </p:stCondLst>
                                        </p:cTn>
                                        <p:tgtEl>
                                          <p:spTgt spid="94"/>
                                        </p:tgtEl>
                                        <p:attrNameLst>
                                          <p:attrName>style.visibility</p:attrName>
                                        </p:attrNameLst>
                                      </p:cBhvr>
                                      <p:to>
                                        <p:strVal val="visible"/>
                                      </p:to>
                                    </p:set>
                                    <p:animEffect transition="in" filter="fade">
                                      <p:cBhvr>
                                        <p:cTn id="269" dur="500"/>
                                        <p:tgtEl>
                                          <p:spTgt spid="94"/>
                                        </p:tgtEl>
                                      </p:cBhvr>
                                    </p:animEffect>
                                  </p:childTnLst>
                                </p:cTn>
                              </p:par>
                              <p:par>
                                <p:cTn id="271" presetID="10" presetClass="entr" presetSubtype="0" fill="hold" grpId="0" nodeType="withEffect">
                                  <p:stCondLst>
                                    <p:cond delay="300"/>
                                  </p:stCondLst>
                                  <p:childTnLst>
                                    <p:set>
                                      <p:cBhvr>
                                        <p:cTn id="270" dur="1" fill="hold">
                                          <p:stCondLst>
                                            <p:cond delay="0"/>
                                          </p:stCondLst>
                                        </p:cTn>
                                        <p:tgtEl>
                                          <p:spTgt spid="113"/>
                                        </p:tgtEl>
                                        <p:attrNameLst>
                                          <p:attrName>style.visibility</p:attrName>
                                        </p:attrNameLst>
                                      </p:cBhvr>
                                      <p:to>
                                        <p:strVal val="visible"/>
                                      </p:to>
                                    </p:set>
                                    <p:animEffect transition="in" filter="fade">
                                      <p:cBhvr>
                                        <p:cTn id="272" dur="500"/>
                                        <p:tgtEl>
                                          <p:spTgt spid="113"/>
                                        </p:tgtEl>
                                      </p:cBhvr>
                                    </p:animEffect>
                                  </p:childTnLst>
                                </p:cTn>
                              </p:par>
                              <p:par>
                                <p:cTn id="274" presetID="10" presetClass="entr" presetSubtype="0" fill="hold" grpId="0" nodeType="withEffect">
                                  <p:stCondLst>
                                    <p:cond delay="310"/>
                                  </p:stCondLst>
                                  <p:childTnLst>
                                    <p:set>
                                      <p:cBhvr>
                                        <p:cTn id="273" dur="1" fill="hold">
                                          <p:stCondLst>
                                            <p:cond delay="0"/>
                                          </p:stCondLst>
                                        </p:cTn>
                                        <p:tgtEl>
                                          <p:spTgt spid="96"/>
                                        </p:tgtEl>
                                        <p:attrNameLst>
                                          <p:attrName>style.visibility</p:attrName>
                                        </p:attrNameLst>
                                      </p:cBhvr>
                                      <p:to>
                                        <p:strVal val="visible"/>
                                      </p:to>
                                    </p:set>
                                    <p:animEffect transition="in" filter="fade">
                                      <p:cBhvr>
                                        <p:cTn id="275" dur="500"/>
                                        <p:tgtEl>
                                          <p:spTgt spid="96"/>
                                        </p:tgtEl>
                                      </p:cBhvr>
                                    </p:animEffect>
                                  </p:childTnLst>
                                </p:cTn>
                              </p:par>
                              <p:par>
                                <p:cTn id="277" presetID="10" presetClass="entr" presetSubtype="0" fill="hold" grpId="0" nodeType="withEffect">
                                  <p:stCondLst>
                                    <p:cond delay="310"/>
                                  </p:stCondLst>
                                  <p:childTnLst>
                                    <p:set>
                                      <p:cBhvr>
                                        <p:cTn id="276" dur="1" fill="hold">
                                          <p:stCondLst>
                                            <p:cond delay="0"/>
                                          </p:stCondLst>
                                        </p:cTn>
                                        <p:tgtEl>
                                          <p:spTgt spid="97"/>
                                        </p:tgtEl>
                                        <p:attrNameLst>
                                          <p:attrName>style.visibility</p:attrName>
                                        </p:attrNameLst>
                                      </p:cBhvr>
                                      <p:to>
                                        <p:strVal val="visible"/>
                                      </p:to>
                                    </p:set>
                                    <p:animEffect transition="in" filter="fade">
                                      <p:cBhvr>
                                        <p:cTn id="278" dur="500"/>
                                        <p:tgtEl>
                                          <p:spTgt spid="97"/>
                                        </p:tgtEl>
                                      </p:cBhvr>
                                    </p:animEffect>
                                  </p:childTnLst>
                                </p:cTn>
                              </p:par>
                              <p:par>
                                <p:cTn id="280" presetID="10" presetClass="entr" presetSubtype="0" fill="hold" grpId="0" nodeType="withEffect">
                                  <p:stCondLst>
                                    <p:cond delay="310"/>
                                  </p:stCondLst>
                                  <p:childTnLst>
                                    <p:set>
                                      <p:cBhvr>
                                        <p:cTn id="279" dur="1" fill="hold">
                                          <p:stCondLst>
                                            <p:cond delay="0"/>
                                          </p:stCondLst>
                                        </p:cTn>
                                        <p:tgtEl>
                                          <p:spTgt spid="98"/>
                                        </p:tgtEl>
                                        <p:attrNameLst>
                                          <p:attrName>style.visibility</p:attrName>
                                        </p:attrNameLst>
                                      </p:cBhvr>
                                      <p:to>
                                        <p:strVal val="visible"/>
                                      </p:to>
                                    </p:set>
                                    <p:animEffect transition="in" filter="fade">
                                      <p:cBhvr>
                                        <p:cTn id="281" dur="500"/>
                                        <p:tgtEl>
                                          <p:spTgt spid="98"/>
                                        </p:tgtEl>
                                      </p:cBhvr>
                                    </p:animEffect>
                                  </p:childTnLst>
                                </p:cTn>
                              </p:par>
                              <p:par>
                                <p:cTn id="283" presetID="10" presetClass="entr" presetSubtype="0" fill="hold" grpId="0" nodeType="withEffect">
                                  <p:stCondLst>
                                    <p:cond delay="310"/>
                                  </p:stCondLst>
                                  <p:childTnLst>
                                    <p:set>
                                      <p:cBhvr>
                                        <p:cTn id="282" dur="1" fill="hold">
                                          <p:stCondLst>
                                            <p:cond delay="0"/>
                                          </p:stCondLst>
                                        </p:cTn>
                                        <p:tgtEl>
                                          <p:spTgt spid="99"/>
                                        </p:tgtEl>
                                        <p:attrNameLst>
                                          <p:attrName>style.visibility</p:attrName>
                                        </p:attrNameLst>
                                      </p:cBhvr>
                                      <p:to>
                                        <p:strVal val="visible"/>
                                      </p:to>
                                    </p:set>
                                    <p:animEffect transition="in" filter="fade">
                                      <p:cBhvr>
                                        <p:cTn id="284" dur="500"/>
                                        <p:tgtEl>
                                          <p:spTgt spid="99"/>
                                        </p:tgtEl>
                                      </p:cBhvr>
                                    </p:animEffect>
                                  </p:childTnLst>
                                </p:cTn>
                              </p:par>
                              <p:par>
                                <p:cTn id="286" presetID="10" presetClass="entr" presetSubtype="0" fill="hold" grpId="0" nodeType="withEffect">
                                  <p:stCondLst>
                                    <p:cond delay="310"/>
                                  </p:stCondLst>
                                  <p:childTnLst>
                                    <p:set>
                                      <p:cBhvr>
                                        <p:cTn id="285" dur="1" fill="hold">
                                          <p:stCondLst>
                                            <p:cond delay="0"/>
                                          </p:stCondLst>
                                        </p:cTn>
                                        <p:tgtEl>
                                          <p:spTgt spid="100"/>
                                        </p:tgtEl>
                                        <p:attrNameLst>
                                          <p:attrName>style.visibility</p:attrName>
                                        </p:attrNameLst>
                                      </p:cBhvr>
                                      <p:to>
                                        <p:strVal val="visible"/>
                                      </p:to>
                                    </p:set>
                                    <p:animEffect transition="in" filter="fade">
                                      <p:cBhvr>
                                        <p:cTn id="287" dur="500"/>
                                        <p:tgtEl>
                                          <p:spTgt spid="100"/>
                                        </p:tgtEl>
                                      </p:cBhvr>
                                    </p:animEffect>
                                  </p:childTnLst>
                                </p:cTn>
                              </p:par>
                              <p:par>
                                <p:cTn id="289" presetID="10" presetClass="entr" presetSubtype="0" fill="hold" grpId="0" nodeType="withEffect">
                                  <p:stCondLst>
                                    <p:cond delay="390"/>
                                  </p:stCondLst>
                                  <p:childTnLst>
                                    <p:set>
                                      <p:cBhvr>
                                        <p:cTn id="288" dur="1" fill="hold">
                                          <p:stCondLst>
                                            <p:cond delay="0"/>
                                          </p:stCondLst>
                                        </p:cTn>
                                        <p:tgtEl>
                                          <p:spTgt spid="102"/>
                                        </p:tgtEl>
                                        <p:attrNameLst>
                                          <p:attrName>style.visibility</p:attrName>
                                        </p:attrNameLst>
                                      </p:cBhvr>
                                      <p:to>
                                        <p:strVal val="visible"/>
                                      </p:to>
                                    </p:set>
                                    <p:animEffect transition="in" filter="fade">
                                      <p:cBhvr>
                                        <p:cTn id="290" dur="500"/>
                                        <p:tgtEl>
                                          <p:spTgt spid="102"/>
                                        </p:tgtEl>
                                      </p:cBhvr>
                                    </p:animEffect>
                                  </p:childTnLst>
                                </p:cTn>
                              </p:par>
                              <p:par>
                                <p:cTn id="292" presetID="10" presetClass="entr" presetSubtype="0" fill="hold" grpId="0" nodeType="withEffect">
                                  <p:stCondLst>
                                    <p:cond delay="390"/>
                                  </p:stCondLst>
                                  <p:childTnLst>
                                    <p:set>
                                      <p:cBhvr>
                                        <p:cTn id="291" dur="1" fill="hold">
                                          <p:stCondLst>
                                            <p:cond delay="0"/>
                                          </p:stCondLst>
                                        </p:cTn>
                                        <p:tgtEl>
                                          <p:spTgt spid="103"/>
                                        </p:tgtEl>
                                        <p:attrNameLst>
                                          <p:attrName>style.visibility</p:attrName>
                                        </p:attrNameLst>
                                      </p:cBhvr>
                                      <p:to>
                                        <p:strVal val="visible"/>
                                      </p:to>
                                    </p:set>
                                    <p:animEffect transition="in" filter="fade">
                                      <p:cBhvr>
                                        <p:cTn id="293" dur="500"/>
                                        <p:tgtEl>
                                          <p:spTgt spid="103"/>
                                        </p:tgtEl>
                                      </p:cBhvr>
                                    </p:animEffect>
                                  </p:childTnLst>
                                </p:cTn>
                              </p:par>
                              <p:par>
                                <p:cTn id="295" presetID="10" presetClass="entr" presetSubtype="0" fill="hold" grpId="0" nodeType="withEffect">
                                  <p:stCondLst>
                                    <p:cond delay="390"/>
                                  </p:stCondLst>
                                  <p:childTnLst>
                                    <p:set>
                                      <p:cBhvr>
                                        <p:cTn id="294" dur="1" fill="hold">
                                          <p:stCondLst>
                                            <p:cond delay="0"/>
                                          </p:stCondLst>
                                        </p:cTn>
                                        <p:tgtEl>
                                          <p:spTgt spid="104"/>
                                        </p:tgtEl>
                                        <p:attrNameLst>
                                          <p:attrName>style.visibility</p:attrName>
                                        </p:attrNameLst>
                                      </p:cBhvr>
                                      <p:to>
                                        <p:strVal val="visible"/>
                                      </p:to>
                                    </p:set>
                                    <p:animEffect transition="in" filter="fade">
                                      <p:cBhvr>
                                        <p:cTn id="296" dur="500"/>
                                        <p:tgtEl>
                                          <p:spTgt spid="104"/>
                                        </p:tgtEl>
                                      </p:cBhvr>
                                    </p:animEffect>
                                  </p:childTnLst>
                                </p:cTn>
                              </p:par>
                              <p:par>
                                <p:cTn id="298" presetID="10" presetClass="entr" presetSubtype="0" fill="hold" grpId="0" nodeType="withEffect">
                                  <p:stCondLst>
                                    <p:cond delay="390"/>
                                  </p:stCondLst>
                                  <p:childTnLst>
                                    <p:set>
                                      <p:cBhvr>
                                        <p:cTn id="297" dur="1" fill="hold">
                                          <p:stCondLst>
                                            <p:cond delay="0"/>
                                          </p:stCondLst>
                                        </p:cTn>
                                        <p:tgtEl>
                                          <p:spTgt spid="105"/>
                                        </p:tgtEl>
                                        <p:attrNameLst>
                                          <p:attrName>style.visibility</p:attrName>
                                        </p:attrNameLst>
                                      </p:cBhvr>
                                      <p:to>
                                        <p:strVal val="visible"/>
                                      </p:to>
                                    </p:set>
                                    <p:animEffect transition="in" filter="fade">
                                      <p:cBhvr>
                                        <p:cTn id="299" dur="500"/>
                                        <p:tgtEl>
                                          <p:spTgt spid="105"/>
                                        </p:tgtEl>
                                      </p:cBhvr>
                                    </p:animEffect>
                                  </p:childTnLst>
                                </p:cTn>
                              </p:par>
                              <p:par>
                                <p:cTn id="301" presetID="10" presetClass="entr" presetSubtype="0" fill="hold" grpId="0" nodeType="withEffect">
                                  <p:stCondLst>
                                    <p:cond delay="390"/>
                                  </p:stCondLst>
                                  <p:childTnLst>
                                    <p:set>
                                      <p:cBhvr>
                                        <p:cTn id="300" dur="1" fill="hold">
                                          <p:stCondLst>
                                            <p:cond delay="0"/>
                                          </p:stCondLst>
                                        </p:cTn>
                                        <p:tgtEl>
                                          <p:spTgt spid="106"/>
                                        </p:tgtEl>
                                        <p:attrNameLst>
                                          <p:attrName>style.visibility</p:attrName>
                                        </p:attrNameLst>
                                      </p:cBhvr>
                                      <p:to>
                                        <p:strVal val="visible"/>
                                      </p:to>
                                    </p:set>
                                    <p:animEffect transition="in" filter="fade">
                                      <p:cBhvr>
                                        <p:cTn id="302" dur="500"/>
                                        <p:tgtEl>
                                          <p:spTgt spid="106"/>
                                        </p:tgtEl>
                                      </p:cBhvr>
                                    </p:animEffect>
                                  </p:childTnLst>
                                </p:cTn>
                              </p:par>
                              <p:par>
                                <p:cTn id="304" presetID="10" presetClass="entr" presetSubtype="0" fill="hold" grpId="0" nodeType="withEffect">
                                  <p:stCondLst>
                                    <p:cond delay="470"/>
                                  </p:stCondLst>
                                  <p:childTnLst>
                                    <p:set>
                                      <p:cBhvr>
                                        <p:cTn id="303" dur="1" fill="hold">
                                          <p:stCondLst>
                                            <p:cond delay="0"/>
                                          </p:stCondLst>
                                        </p:cTn>
                                        <p:tgtEl>
                                          <p:spTgt spid="108"/>
                                        </p:tgtEl>
                                        <p:attrNameLst>
                                          <p:attrName>style.visibility</p:attrName>
                                        </p:attrNameLst>
                                      </p:cBhvr>
                                      <p:to>
                                        <p:strVal val="visible"/>
                                      </p:to>
                                    </p:set>
                                    <p:animEffect transition="in" filter="fade">
                                      <p:cBhvr>
                                        <p:cTn id="305" dur="500"/>
                                        <p:tgtEl>
                                          <p:spTgt spid="108"/>
                                        </p:tgtEl>
                                      </p:cBhvr>
                                    </p:animEffect>
                                  </p:childTnLst>
                                </p:cTn>
                              </p:par>
                              <p:par>
                                <p:cTn id="307" presetID="10" presetClass="entr" presetSubtype="0" fill="hold" grpId="0" nodeType="withEffect">
                                  <p:stCondLst>
                                    <p:cond delay="470"/>
                                  </p:stCondLst>
                                  <p:childTnLst>
                                    <p:set>
                                      <p:cBhvr>
                                        <p:cTn id="306" dur="1" fill="hold">
                                          <p:stCondLst>
                                            <p:cond delay="0"/>
                                          </p:stCondLst>
                                        </p:cTn>
                                        <p:tgtEl>
                                          <p:spTgt spid="109"/>
                                        </p:tgtEl>
                                        <p:attrNameLst>
                                          <p:attrName>style.visibility</p:attrName>
                                        </p:attrNameLst>
                                      </p:cBhvr>
                                      <p:to>
                                        <p:strVal val="visible"/>
                                      </p:to>
                                    </p:set>
                                    <p:animEffect transition="in" filter="fade">
                                      <p:cBhvr>
                                        <p:cTn id="308" dur="500"/>
                                        <p:tgtEl>
                                          <p:spTgt spid="109"/>
                                        </p:tgtEl>
                                      </p:cBhvr>
                                    </p:animEffect>
                                  </p:childTnLst>
                                </p:cTn>
                              </p:par>
                              <p:par>
                                <p:cTn id="310" presetID="10" presetClass="entr" presetSubtype="0" fill="hold" grpId="0" nodeType="withEffect">
                                  <p:stCondLst>
                                    <p:cond delay="470"/>
                                  </p:stCondLst>
                                  <p:childTnLst>
                                    <p:set>
                                      <p:cBhvr>
                                        <p:cTn id="309" dur="1" fill="hold">
                                          <p:stCondLst>
                                            <p:cond delay="0"/>
                                          </p:stCondLst>
                                        </p:cTn>
                                        <p:tgtEl>
                                          <p:spTgt spid="110"/>
                                        </p:tgtEl>
                                        <p:attrNameLst>
                                          <p:attrName>style.visibility</p:attrName>
                                        </p:attrNameLst>
                                      </p:cBhvr>
                                      <p:to>
                                        <p:strVal val="visible"/>
                                      </p:to>
                                    </p:set>
                                    <p:animEffect transition="in" filter="fade">
                                      <p:cBhvr>
                                        <p:cTn id="311" dur="500"/>
                                        <p:tgtEl>
                                          <p:spTgt spid="110"/>
                                        </p:tgtEl>
                                      </p:cBhvr>
                                    </p:animEffect>
                                  </p:childTnLst>
                                </p:cTn>
                              </p:par>
                              <p:par>
                                <p:cTn id="313" presetID="10" presetClass="entr" presetSubtype="0" fill="hold" grpId="0" nodeType="withEffect">
                                  <p:stCondLst>
                                    <p:cond delay="470"/>
                                  </p:stCondLst>
                                  <p:childTnLst>
                                    <p:set>
                                      <p:cBhvr>
                                        <p:cTn id="312" dur="1" fill="hold">
                                          <p:stCondLst>
                                            <p:cond delay="0"/>
                                          </p:stCondLst>
                                        </p:cTn>
                                        <p:tgtEl>
                                          <p:spTgt spid="111"/>
                                        </p:tgtEl>
                                        <p:attrNameLst>
                                          <p:attrName>style.visibility</p:attrName>
                                        </p:attrNameLst>
                                      </p:cBhvr>
                                      <p:to>
                                        <p:strVal val="visible"/>
                                      </p:to>
                                    </p:set>
                                    <p:animEffect transition="in" filter="fade">
                                      <p:cBhvr>
                                        <p:cTn id="314" dur="500"/>
                                        <p:tgtEl>
                                          <p:spTgt spid="111"/>
                                        </p:tgtEl>
                                      </p:cBhvr>
                                    </p:animEffect>
                                  </p:childTnLst>
                                </p:cTn>
                              </p:par>
                              <p:par>
                                <p:cTn id="316" presetID="10" presetClass="entr" presetSubtype="0" fill="hold" grpId="0" nodeType="withEffect">
                                  <p:stCondLst>
                                    <p:cond delay="470"/>
                                  </p:stCondLst>
                                  <p:childTnLst>
                                    <p:set>
                                      <p:cBhvr>
                                        <p:cTn id="315" dur="1" fill="hold">
                                          <p:stCondLst>
                                            <p:cond delay="0"/>
                                          </p:stCondLst>
                                        </p:cTn>
                                        <p:tgtEl>
                                          <p:spTgt spid="112"/>
                                        </p:tgtEl>
                                        <p:attrNameLst>
                                          <p:attrName>style.visibility</p:attrName>
                                        </p:attrNameLst>
                                      </p:cBhvr>
                                      <p:to>
                                        <p:strVal val="visible"/>
                                      </p:to>
                                    </p:set>
                                    <p:animEffect transition="in" filter="fade">
                                      <p:cBhvr>
                                        <p:cTn id="317" dur="500"/>
                                        <p:tgtEl>
                                          <p:spTgt spid="112"/>
                                        </p:tgtEl>
                                      </p:cBhvr>
                                    </p:animEffect>
                                  </p:childTnLst>
                                </p:cTn>
                              </p:par>
                            </p:childTnLst>
                          </p:cTn>
                        </p:par>
                      </p:childTnLst>
                    </p:cTn>
                  </p:par>
                  <p:par>
                    <p:cTn id="318" fill="hold">
                      <p:stCondLst>
                        <p:cond delay="indefinite"/>
                      </p:stCondLst>
                      <p:childTnLst>
                        <p:par>
                          <p:cTn id="319" fill="hold">
                            <p:stCondLst>
                              <p:cond delay="0"/>
                            </p:stCondLst>
                            <p:childTnLst>
                              <p:par>
                                <p:cTn id="321" presetID="42" presetClass="entr" presetSubtype="0" fill="hold" grpId="0" nodeType="clickEffect">
                                  <p:stCondLst>
                                    <p:cond delay="0"/>
                                  </p:stCondLst>
                                  <p:childTnLst>
                                    <p:set>
                                      <p:cBhvr>
                                        <p:cTn id="320" dur="1" fill="hold">
                                          <p:stCondLst>
                                            <p:cond delay="0"/>
                                          </p:stCondLst>
                                        </p:cTn>
                                        <p:tgtEl>
                                          <p:spTgt spid="119"/>
                                        </p:tgtEl>
                                        <p:attrNameLst>
                                          <p:attrName>style.visibility</p:attrName>
                                        </p:attrNameLst>
                                      </p:cBhvr>
                                      <p:to>
                                        <p:strVal val="visible"/>
                                      </p:to>
                                    </p:set>
                                    <p:animEffect transition="in" filter="fade">
                                      <p:cBhvr>
                                        <p:cTn id="322" dur="500"/>
                                        <p:tgtEl>
                                          <p:spTgt spid="119"/>
                                        </p:tgtEl>
                                      </p:cBhvr>
                                    </p:animEffect>
                                    <p:anim calcmode="lin" valueType="num">
                                      <p:cBhvr>
                                        <p:cTn id="323" dur="500" fill="hold"/>
                                        <p:tgtEl>
                                          <p:spTgt spid="119"/>
                                        </p:tgtEl>
                                        <p:attrNameLst>
                                          <p:attrName>ppt_x</p:attrName>
                                        </p:attrNameLst>
                                      </p:cBhvr>
                                      <p:tavLst>
                                        <p:tav tm="0">
                                          <p:val>
                                            <p:strVal val="#ppt_x"/>
                                          </p:val>
                                        </p:tav>
                                        <p:tav tm="100000">
                                          <p:val>
                                            <p:strVal val="#ppt_x"/>
                                          </p:val>
                                        </p:tav>
                                      </p:tavLst>
                                    </p:anim>
                                    <p:anim calcmode="lin" valueType="num">
                                      <p:cBhvr>
                                        <p:cTn id="324" dur="500" fill="hold"/>
                                        <p:tgtEl>
                                          <p:spTgt spid="119"/>
                                        </p:tgtEl>
                                        <p:attrNameLst>
                                          <p:attrName>ppt_y</p:attrName>
                                        </p:attrNameLst>
                                      </p:cBhvr>
                                      <p:tavLst>
                                        <p:tav tm="0">
                                          <p:val>
                                            <p:strVal val="#ppt_y+0.06"/>
                                          </p:val>
                                        </p:tav>
                                        <p:tav tm="100000">
                                          <p:val>
                                            <p:strVal val="#ppt_y"/>
                                          </p:val>
                                        </p:tav>
                                      </p:tavLst>
                                    </p:anim>
                                  </p:childTnLst>
                                </p:cTn>
                              </p:par>
                              <p:par>
                                <p:cTn id="326" presetID="42" presetClass="entr" presetSubtype="0" fill="hold" grpId="0" nodeType="withEffect">
                                  <p:stCondLst>
                                    <p:cond delay="0"/>
                                  </p:stCondLst>
                                  <p:childTnLst>
                                    <p:set>
                                      <p:cBhvr>
                                        <p:cTn id="325" dur="1" fill="hold">
                                          <p:stCondLst>
                                            <p:cond delay="0"/>
                                          </p:stCondLst>
                                        </p:cTn>
                                        <p:tgtEl>
                                          <p:spTgt spid="120"/>
                                        </p:tgtEl>
                                        <p:attrNameLst>
                                          <p:attrName>style.visibility</p:attrName>
                                        </p:attrNameLst>
                                      </p:cBhvr>
                                      <p:to>
                                        <p:strVal val="visible"/>
                                      </p:to>
                                    </p:set>
                                    <p:animEffect transition="in" filter="fade">
                                      <p:cBhvr>
                                        <p:cTn id="327" dur="500"/>
                                        <p:tgtEl>
                                          <p:spTgt spid="120"/>
                                        </p:tgtEl>
                                      </p:cBhvr>
                                    </p:animEffect>
                                    <p:anim calcmode="lin" valueType="num">
                                      <p:cBhvr>
                                        <p:cTn id="328" dur="500" fill="hold"/>
                                        <p:tgtEl>
                                          <p:spTgt spid="120"/>
                                        </p:tgtEl>
                                        <p:attrNameLst>
                                          <p:attrName>ppt_x</p:attrName>
                                        </p:attrNameLst>
                                      </p:cBhvr>
                                      <p:tavLst>
                                        <p:tav tm="0">
                                          <p:val>
                                            <p:strVal val="#ppt_x"/>
                                          </p:val>
                                        </p:tav>
                                        <p:tav tm="100000">
                                          <p:val>
                                            <p:strVal val="#ppt_x"/>
                                          </p:val>
                                        </p:tav>
                                      </p:tavLst>
                                    </p:anim>
                                    <p:anim calcmode="lin" valueType="num">
                                      <p:cBhvr>
                                        <p:cTn id="329" dur="500" fill="hold"/>
                                        <p:tgtEl>
                                          <p:spTgt spid="120"/>
                                        </p:tgtEl>
                                        <p:attrNameLst>
                                          <p:attrName>ppt_y</p:attrName>
                                        </p:attrNameLst>
                                      </p:cBhvr>
                                      <p:tavLst>
                                        <p:tav tm="0">
                                          <p:val>
                                            <p:strVal val="#ppt_y+0.06"/>
                                          </p:val>
                                        </p:tav>
                                        <p:tav tm="100000">
                                          <p:val>
                                            <p:strVal val="#ppt_y"/>
                                          </p:val>
                                        </p:tav>
                                      </p:tavLst>
                                    </p:anim>
                                  </p:childTnLst>
                                </p:cTn>
                              </p:par>
                              <p:par>
                                <p:cTn id="331" presetID="10" presetClass="entr" presetSubtype="0" fill="hold" grpId="0" nodeType="withEffect">
                                  <p:stCondLst>
                                    <p:cond delay="100"/>
                                  </p:stCondLst>
                                  <p:childTnLst>
                                    <p:set>
                                      <p:cBhvr>
                                        <p:cTn id="330" dur="1" fill="hold">
                                          <p:stCondLst>
                                            <p:cond delay="0"/>
                                          </p:stCondLst>
                                        </p:cTn>
                                        <p:tgtEl>
                                          <p:spTgt spid="121"/>
                                        </p:tgtEl>
                                        <p:attrNameLst>
                                          <p:attrName>style.visibility</p:attrName>
                                        </p:attrNameLst>
                                      </p:cBhvr>
                                      <p:to>
                                        <p:strVal val="visible"/>
                                      </p:to>
                                    </p:set>
                                    <p:animEffect transition="in" filter="fade">
                                      <p:cBhvr>
                                        <p:cTn id="332" dur="500"/>
                                        <p:tgtEl>
                                          <p:spTgt spid="121"/>
                                        </p:tgtEl>
                                      </p:cBhvr>
                                    </p:animEffect>
                                  </p:childTnLst>
                                </p:cTn>
                              </p:par>
                              <p:par>
                                <p:cTn id="334" presetID="10" presetClass="entr" presetSubtype="0" fill="hold" grpId="0" nodeType="withEffect">
                                  <p:stCondLst>
                                    <p:cond delay="100"/>
                                  </p:stCondLst>
                                  <p:childTnLst>
                                    <p:set>
                                      <p:cBhvr>
                                        <p:cTn id="333" dur="1" fill="hold">
                                          <p:stCondLst>
                                            <p:cond delay="0"/>
                                          </p:stCondLst>
                                        </p:cTn>
                                        <p:tgtEl>
                                          <p:spTgt spid="127"/>
                                        </p:tgtEl>
                                        <p:attrNameLst>
                                          <p:attrName>style.visibility</p:attrName>
                                        </p:attrNameLst>
                                      </p:cBhvr>
                                      <p:to>
                                        <p:strVal val="visible"/>
                                      </p:to>
                                    </p:set>
                                    <p:animEffect transition="in" filter="fade">
                                      <p:cBhvr>
                                        <p:cTn id="335" dur="500"/>
                                        <p:tgtEl>
                                          <p:spTgt spid="127"/>
                                        </p:tgtEl>
                                      </p:cBhvr>
                                    </p:animEffect>
                                  </p:childTnLst>
                                </p:cTn>
                              </p:par>
                              <p:par>
                                <p:cTn id="337" presetID="10" presetClass="entr" presetSubtype="0" fill="hold" grpId="0" nodeType="withEffect">
                                  <p:stCondLst>
                                    <p:cond delay="100"/>
                                  </p:stCondLst>
                                  <p:childTnLst>
                                    <p:set>
                                      <p:cBhvr>
                                        <p:cTn id="336" dur="1" fill="hold">
                                          <p:stCondLst>
                                            <p:cond delay="0"/>
                                          </p:stCondLst>
                                        </p:cTn>
                                        <p:tgtEl>
                                          <p:spTgt spid="133"/>
                                        </p:tgtEl>
                                        <p:attrNameLst>
                                          <p:attrName>style.visibility</p:attrName>
                                        </p:attrNameLst>
                                      </p:cBhvr>
                                      <p:to>
                                        <p:strVal val="visible"/>
                                      </p:to>
                                    </p:set>
                                    <p:animEffect transition="in" filter="fade">
                                      <p:cBhvr>
                                        <p:cTn id="338" dur="500"/>
                                        <p:tgtEl>
                                          <p:spTgt spid="133"/>
                                        </p:tgtEl>
                                      </p:cBhvr>
                                    </p:animEffect>
                                  </p:childTnLst>
                                </p:cTn>
                              </p:par>
                              <p:par>
                                <p:cTn id="340" presetID="10" presetClass="entr" presetSubtype="0" fill="hold" grpId="0" nodeType="withEffect">
                                  <p:stCondLst>
                                    <p:cond delay="100"/>
                                  </p:stCondLst>
                                  <p:childTnLst>
                                    <p:set>
                                      <p:cBhvr>
                                        <p:cTn id="339" dur="1" fill="hold">
                                          <p:stCondLst>
                                            <p:cond delay="0"/>
                                          </p:stCondLst>
                                        </p:cTn>
                                        <p:tgtEl>
                                          <p:spTgt spid="139"/>
                                        </p:tgtEl>
                                        <p:attrNameLst>
                                          <p:attrName>style.visibility</p:attrName>
                                        </p:attrNameLst>
                                      </p:cBhvr>
                                      <p:to>
                                        <p:strVal val="visible"/>
                                      </p:to>
                                    </p:set>
                                    <p:animEffect transition="in" filter="fade">
                                      <p:cBhvr>
                                        <p:cTn id="341" dur="500"/>
                                        <p:tgtEl>
                                          <p:spTgt spid="139"/>
                                        </p:tgtEl>
                                      </p:cBhvr>
                                    </p:animEffect>
                                  </p:childTnLst>
                                </p:cTn>
                              </p:par>
                              <p:par>
                                <p:cTn id="343" presetID="10" presetClass="entr" presetSubtype="0" fill="hold" grpId="0" nodeType="withEffect">
                                  <p:stCondLst>
                                    <p:cond delay="100"/>
                                  </p:stCondLst>
                                  <p:childTnLst>
                                    <p:set>
                                      <p:cBhvr>
                                        <p:cTn id="342" dur="1" fill="hold">
                                          <p:stCondLst>
                                            <p:cond delay="0"/>
                                          </p:stCondLst>
                                        </p:cTn>
                                        <p:tgtEl>
                                          <p:spTgt spid="145"/>
                                        </p:tgtEl>
                                        <p:attrNameLst>
                                          <p:attrName>style.visibility</p:attrName>
                                        </p:attrNameLst>
                                      </p:cBhvr>
                                      <p:to>
                                        <p:strVal val="visible"/>
                                      </p:to>
                                    </p:set>
                                    <p:animEffect transition="in" filter="fade">
                                      <p:cBhvr>
                                        <p:cTn id="344" dur="500"/>
                                        <p:tgtEl>
                                          <p:spTgt spid="145"/>
                                        </p:tgtEl>
                                      </p:cBhvr>
                                    </p:animEffect>
                                  </p:childTnLst>
                                </p:cTn>
                              </p:par>
                              <p:par>
                                <p:cTn id="346" presetID="10" presetClass="entr" presetSubtype="0" fill="hold" grpId="0" nodeType="withEffect">
                                  <p:stCondLst>
                                    <p:cond delay="150"/>
                                  </p:stCondLst>
                                  <p:childTnLst>
                                    <p:set>
                                      <p:cBhvr>
                                        <p:cTn id="345" dur="1" fill="hold">
                                          <p:stCondLst>
                                            <p:cond delay="0"/>
                                          </p:stCondLst>
                                        </p:cTn>
                                        <p:tgtEl>
                                          <p:spTgt spid="122"/>
                                        </p:tgtEl>
                                        <p:attrNameLst>
                                          <p:attrName>style.visibility</p:attrName>
                                        </p:attrNameLst>
                                      </p:cBhvr>
                                      <p:to>
                                        <p:strVal val="visible"/>
                                      </p:to>
                                    </p:set>
                                    <p:animEffect transition="in" filter="fade">
                                      <p:cBhvr>
                                        <p:cTn id="347" dur="500"/>
                                        <p:tgtEl>
                                          <p:spTgt spid="122"/>
                                        </p:tgtEl>
                                      </p:cBhvr>
                                    </p:animEffect>
                                  </p:childTnLst>
                                </p:cTn>
                              </p:par>
                              <p:par>
                                <p:cTn id="349" presetID="10" presetClass="entr" presetSubtype="0" fill="hold" grpId="0" nodeType="withEffect">
                                  <p:stCondLst>
                                    <p:cond delay="150"/>
                                  </p:stCondLst>
                                  <p:childTnLst>
                                    <p:set>
                                      <p:cBhvr>
                                        <p:cTn id="348" dur="1" fill="hold">
                                          <p:stCondLst>
                                            <p:cond delay="0"/>
                                          </p:stCondLst>
                                        </p:cTn>
                                        <p:tgtEl>
                                          <p:spTgt spid="123"/>
                                        </p:tgtEl>
                                        <p:attrNameLst>
                                          <p:attrName>style.visibility</p:attrName>
                                        </p:attrNameLst>
                                      </p:cBhvr>
                                      <p:to>
                                        <p:strVal val="visible"/>
                                      </p:to>
                                    </p:set>
                                    <p:animEffect transition="in" filter="fade">
                                      <p:cBhvr>
                                        <p:cTn id="350" dur="500"/>
                                        <p:tgtEl>
                                          <p:spTgt spid="123"/>
                                        </p:tgtEl>
                                      </p:cBhvr>
                                    </p:animEffect>
                                  </p:childTnLst>
                                </p:cTn>
                              </p:par>
                              <p:par>
                                <p:cTn id="352" presetID="10" presetClass="entr" presetSubtype="0" fill="hold" grpId="0" nodeType="withEffect">
                                  <p:stCondLst>
                                    <p:cond delay="150"/>
                                  </p:stCondLst>
                                  <p:childTnLst>
                                    <p:set>
                                      <p:cBhvr>
                                        <p:cTn id="351" dur="1" fill="hold">
                                          <p:stCondLst>
                                            <p:cond delay="0"/>
                                          </p:stCondLst>
                                        </p:cTn>
                                        <p:tgtEl>
                                          <p:spTgt spid="124"/>
                                        </p:tgtEl>
                                        <p:attrNameLst>
                                          <p:attrName>style.visibility</p:attrName>
                                        </p:attrNameLst>
                                      </p:cBhvr>
                                      <p:to>
                                        <p:strVal val="visible"/>
                                      </p:to>
                                    </p:set>
                                    <p:animEffect transition="in" filter="fade">
                                      <p:cBhvr>
                                        <p:cTn id="353" dur="500"/>
                                        <p:tgtEl>
                                          <p:spTgt spid="124"/>
                                        </p:tgtEl>
                                      </p:cBhvr>
                                    </p:animEffect>
                                  </p:childTnLst>
                                </p:cTn>
                              </p:par>
                              <p:par>
                                <p:cTn id="355" presetID="10" presetClass="entr" presetSubtype="0" fill="hold" grpId="0" nodeType="withEffect">
                                  <p:stCondLst>
                                    <p:cond delay="150"/>
                                  </p:stCondLst>
                                  <p:childTnLst>
                                    <p:set>
                                      <p:cBhvr>
                                        <p:cTn id="354" dur="1" fill="hold">
                                          <p:stCondLst>
                                            <p:cond delay="0"/>
                                          </p:stCondLst>
                                        </p:cTn>
                                        <p:tgtEl>
                                          <p:spTgt spid="125"/>
                                        </p:tgtEl>
                                        <p:attrNameLst>
                                          <p:attrName>style.visibility</p:attrName>
                                        </p:attrNameLst>
                                      </p:cBhvr>
                                      <p:to>
                                        <p:strVal val="visible"/>
                                      </p:to>
                                    </p:set>
                                    <p:animEffect transition="in" filter="fade">
                                      <p:cBhvr>
                                        <p:cTn id="356" dur="500"/>
                                        <p:tgtEl>
                                          <p:spTgt spid="125"/>
                                        </p:tgtEl>
                                      </p:cBhvr>
                                    </p:animEffect>
                                  </p:childTnLst>
                                </p:cTn>
                              </p:par>
                              <p:par>
                                <p:cTn id="358" presetID="10" presetClass="entr" presetSubtype="0" fill="hold" grpId="0" nodeType="withEffect">
                                  <p:stCondLst>
                                    <p:cond delay="150"/>
                                  </p:stCondLst>
                                  <p:childTnLst>
                                    <p:set>
                                      <p:cBhvr>
                                        <p:cTn id="357" dur="1" fill="hold">
                                          <p:stCondLst>
                                            <p:cond delay="0"/>
                                          </p:stCondLst>
                                        </p:cTn>
                                        <p:tgtEl>
                                          <p:spTgt spid="126"/>
                                        </p:tgtEl>
                                        <p:attrNameLst>
                                          <p:attrName>style.visibility</p:attrName>
                                        </p:attrNameLst>
                                      </p:cBhvr>
                                      <p:to>
                                        <p:strVal val="visible"/>
                                      </p:to>
                                    </p:set>
                                    <p:animEffect transition="in" filter="fade">
                                      <p:cBhvr>
                                        <p:cTn id="359" dur="500"/>
                                        <p:tgtEl>
                                          <p:spTgt spid="126"/>
                                        </p:tgtEl>
                                      </p:cBhvr>
                                    </p:animEffect>
                                  </p:childTnLst>
                                </p:cTn>
                              </p:par>
                              <p:par>
                                <p:cTn id="361" presetID="10" presetClass="entr" presetSubtype="0" fill="hold" grpId="0" nodeType="withEffect">
                                  <p:stCondLst>
                                    <p:cond delay="230"/>
                                  </p:stCondLst>
                                  <p:childTnLst>
                                    <p:set>
                                      <p:cBhvr>
                                        <p:cTn id="360" dur="1" fill="hold">
                                          <p:stCondLst>
                                            <p:cond delay="0"/>
                                          </p:stCondLst>
                                        </p:cTn>
                                        <p:tgtEl>
                                          <p:spTgt spid="128"/>
                                        </p:tgtEl>
                                        <p:attrNameLst>
                                          <p:attrName>style.visibility</p:attrName>
                                        </p:attrNameLst>
                                      </p:cBhvr>
                                      <p:to>
                                        <p:strVal val="visible"/>
                                      </p:to>
                                    </p:set>
                                    <p:animEffect transition="in" filter="fade">
                                      <p:cBhvr>
                                        <p:cTn id="362" dur="500"/>
                                        <p:tgtEl>
                                          <p:spTgt spid="128"/>
                                        </p:tgtEl>
                                      </p:cBhvr>
                                    </p:animEffect>
                                  </p:childTnLst>
                                </p:cTn>
                              </p:par>
                              <p:par>
                                <p:cTn id="364" presetID="10" presetClass="entr" presetSubtype="0" fill="hold" grpId="0" nodeType="withEffect">
                                  <p:stCondLst>
                                    <p:cond delay="230"/>
                                  </p:stCondLst>
                                  <p:childTnLst>
                                    <p:set>
                                      <p:cBhvr>
                                        <p:cTn id="363" dur="1" fill="hold">
                                          <p:stCondLst>
                                            <p:cond delay="0"/>
                                          </p:stCondLst>
                                        </p:cTn>
                                        <p:tgtEl>
                                          <p:spTgt spid="129"/>
                                        </p:tgtEl>
                                        <p:attrNameLst>
                                          <p:attrName>style.visibility</p:attrName>
                                        </p:attrNameLst>
                                      </p:cBhvr>
                                      <p:to>
                                        <p:strVal val="visible"/>
                                      </p:to>
                                    </p:set>
                                    <p:animEffect transition="in" filter="fade">
                                      <p:cBhvr>
                                        <p:cTn id="365" dur="500"/>
                                        <p:tgtEl>
                                          <p:spTgt spid="129"/>
                                        </p:tgtEl>
                                      </p:cBhvr>
                                    </p:animEffect>
                                  </p:childTnLst>
                                </p:cTn>
                              </p:par>
                              <p:par>
                                <p:cTn id="367" presetID="10" presetClass="entr" presetSubtype="0" fill="hold" grpId="0" nodeType="withEffect">
                                  <p:stCondLst>
                                    <p:cond delay="230"/>
                                  </p:stCondLst>
                                  <p:childTnLst>
                                    <p:set>
                                      <p:cBhvr>
                                        <p:cTn id="366" dur="1" fill="hold">
                                          <p:stCondLst>
                                            <p:cond delay="0"/>
                                          </p:stCondLst>
                                        </p:cTn>
                                        <p:tgtEl>
                                          <p:spTgt spid="130"/>
                                        </p:tgtEl>
                                        <p:attrNameLst>
                                          <p:attrName>style.visibility</p:attrName>
                                        </p:attrNameLst>
                                      </p:cBhvr>
                                      <p:to>
                                        <p:strVal val="visible"/>
                                      </p:to>
                                    </p:set>
                                    <p:animEffect transition="in" filter="fade">
                                      <p:cBhvr>
                                        <p:cTn id="368" dur="500"/>
                                        <p:tgtEl>
                                          <p:spTgt spid="130"/>
                                        </p:tgtEl>
                                      </p:cBhvr>
                                    </p:animEffect>
                                  </p:childTnLst>
                                </p:cTn>
                              </p:par>
                              <p:par>
                                <p:cTn id="370" presetID="10" presetClass="entr" presetSubtype="0" fill="hold" grpId="0" nodeType="withEffect">
                                  <p:stCondLst>
                                    <p:cond delay="230"/>
                                  </p:stCondLst>
                                  <p:childTnLst>
                                    <p:set>
                                      <p:cBhvr>
                                        <p:cTn id="369" dur="1" fill="hold">
                                          <p:stCondLst>
                                            <p:cond delay="0"/>
                                          </p:stCondLst>
                                        </p:cTn>
                                        <p:tgtEl>
                                          <p:spTgt spid="131"/>
                                        </p:tgtEl>
                                        <p:attrNameLst>
                                          <p:attrName>style.visibility</p:attrName>
                                        </p:attrNameLst>
                                      </p:cBhvr>
                                      <p:to>
                                        <p:strVal val="visible"/>
                                      </p:to>
                                    </p:set>
                                    <p:animEffect transition="in" filter="fade">
                                      <p:cBhvr>
                                        <p:cTn id="371" dur="500"/>
                                        <p:tgtEl>
                                          <p:spTgt spid="131"/>
                                        </p:tgtEl>
                                      </p:cBhvr>
                                    </p:animEffect>
                                  </p:childTnLst>
                                </p:cTn>
                              </p:par>
                              <p:par>
                                <p:cTn id="373" presetID="10" presetClass="entr" presetSubtype="0" fill="hold" grpId="0" nodeType="withEffect">
                                  <p:stCondLst>
                                    <p:cond delay="230"/>
                                  </p:stCondLst>
                                  <p:childTnLst>
                                    <p:set>
                                      <p:cBhvr>
                                        <p:cTn id="372" dur="1" fill="hold">
                                          <p:stCondLst>
                                            <p:cond delay="0"/>
                                          </p:stCondLst>
                                        </p:cTn>
                                        <p:tgtEl>
                                          <p:spTgt spid="132"/>
                                        </p:tgtEl>
                                        <p:attrNameLst>
                                          <p:attrName>style.visibility</p:attrName>
                                        </p:attrNameLst>
                                      </p:cBhvr>
                                      <p:to>
                                        <p:strVal val="visible"/>
                                      </p:to>
                                    </p:set>
                                    <p:animEffect transition="in" filter="fade">
                                      <p:cBhvr>
                                        <p:cTn id="374" dur="500"/>
                                        <p:tgtEl>
                                          <p:spTgt spid="132"/>
                                        </p:tgtEl>
                                      </p:cBhvr>
                                    </p:animEffect>
                                  </p:childTnLst>
                                </p:cTn>
                              </p:par>
                              <p:par>
                                <p:cTn id="376" presetID="10" presetClass="entr" presetSubtype="0" fill="hold" grpId="0" nodeType="withEffect">
                                  <p:stCondLst>
                                    <p:cond delay="300"/>
                                  </p:stCondLst>
                                  <p:childTnLst>
                                    <p:set>
                                      <p:cBhvr>
                                        <p:cTn id="375" dur="1" fill="hold">
                                          <p:stCondLst>
                                            <p:cond delay="0"/>
                                          </p:stCondLst>
                                        </p:cTn>
                                        <p:tgtEl>
                                          <p:spTgt spid="151"/>
                                        </p:tgtEl>
                                        <p:attrNameLst>
                                          <p:attrName>style.visibility</p:attrName>
                                        </p:attrNameLst>
                                      </p:cBhvr>
                                      <p:to>
                                        <p:strVal val="visible"/>
                                      </p:to>
                                    </p:set>
                                    <p:animEffect transition="in" filter="fade">
                                      <p:cBhvr>
                                        <p:cTn id="377" dur="500"/>
                                        <p:tgtEl>
                                          <p:spTgt spid="151"/>
                                        </p:tgtEl>
                                      </p:cBhvr>
                                    </p:animEffect>
                                  </p:childTnLst>
                                </p:cTn>
                              </p:par>
                              <p:par>
                                <p:cTn id="379" presetID="10" presetClass="entr" presetSubtype="0" fill="hold" grpId="0" nodeType="withEffect">
                                  <p:stCondLst>
                                    <p:cond delay="310"/>
                                  </p:stCondLst>
                                  <p:childTnLst>
                                    <p:set>
                                      <p:cBhvr>
                                        <p:cTn id="378" dur="1" fill="hold">
                                          <p:stCondLst>
                                            <p:cond delay="0"/>
                                          </p:stCondLst>
                                        </p:cTn>
                                        <p:tgtEl>
                                          <p:spTgt spid="134"/>
                                        </p:tgtEl>
                                        <p:attrNameLst>
                                          <p:attrName>style.visibility</p:attrName>
                                        </p:attrNameLst>
                                      </p:cBhvr>
                                      <p:to>
                                        <p:strVal val="visible"/>
                                      </p:to>
                                    </p:set>
                                    <p:animEffect transition="in" filter="fade">
                                      <p:cBhvr>
                                        <p:cTn id="380" dur="500"/>
                                        <p:tgtEl>
                                          <p:spTgt spid="134"/>
                                        </p:tgtEl>
                                      </p:cBhvr>
                                    </p:animEffect>
                                  </p:childTnLst>
                                </p:cTn>
                              </p:par>
                              <p:par>
                                <p:cTn id="382" presetID="10" presetClass="entr" presetSubtype="0" fill="hold" grpId="0" nodeType="withEffect">
                                  <p:stCondLst>
                                    <p:cond delay="310"/>
                                  </p:stCondLst>
                                  <p:childTnLst>
                                    <p:set>
                                      <p:cBhvr>
                                        <p:cTn id="381" dur="1" fill="hold">
                                          <p:stCondLst>
                                            <p:cond delay="0"/>
                                          </p:stCondLst>
                                        </p:cTn>
                                        <p:tgtEl>
                                          <p:spTgt spid="135"/>
                                        </p:tgtEl>
                                        <p:attrNameLst>
                                          <p:attrName>style.visibility</p:attrName>
                                        </p:attrNameLst>
                                      </p:cBhvr>
                                      <p:to>
                                        <p:strVal val="visible"/>
                                      </p:to>
                                    </p:set>
                                    <p:animEffect transition="in" filter="fade">
                                      <p:cBhvr>
                                        <p:cTn id="383" dur="500"/>
                                        <p:tgtEl>
                                          <p:spTgt spid="135"/>
                                        </p:tgtEl>
                                      </p:cBhvr>
                                    </p:animEffect>
                                  </p:childTnLst>
                                </p:cTn>
                              </p:par>
                              <p:par>
                                <p:cTn id="385" presetID="10" presetClass="entr" presetSubtype="0" fill="hold" grpId="0" nodeType="withEffect">
                                  <p:stCondLst>
                                    <p:cond delay="310"/>
                                  </p:stCondLst>
                                  <p:childTnLst>
                                    <p:set>
                                      <p:cBhvr>
                                        <p:cTn id="384" dur="1" fill="hold">
                                          <p:stCondLst>
                                            <p:cond delay="0"/>
                                          </p:stCondLst>
                                        </p:cTn>
                                        <p:tgtEl>
                                          <p:spTgt spid="136"/>
                                        </p:tgtEl>
                                        <p:attrNameLst>
                                          <p:attrName>style.visibility</p:attrName>
                                        </p:attrNameLst>
                                      </p:cBhvr>
                                      <p:to>
                                        <p:strVal val="visible"/>
                                      </p:to>
                                    </p:set>
                                    <p:animEffect transition="in" filter="fade">
                                      <p:cBhvr>
                                        <p:cTn id="386" dur="500"/>
                                        <p:tgtEl>
                                          <p:spTgt spid="136"/>
                                        </p:tgtEl>
                                      </p:cBhvr>
                                    </p:animEffect>
                                  </p:childTnLst>
                                </p:cTn>
                              </p:par>
                              <p:par>
                                <p:cTn id="388" presetID="10" presetClass="entr" presetSubtype="0" fill="hold" grpId="0" nodeType="withEffect">
                                  <p:stCondLst>
                                    <p:cond delay="310"/>
                                  </p:stCondLst>
                                  <p:childTnLst>
                                    <p:set>
                                      <p:cBhvr>
                                        <p:cTn id="387" dur="1" fill="hold">
                                          <p:stCondLst>
                                            <p:cond delay="0"/>
                                          </p:stCondLst>
                                        </p:cTn>
                                        <p:tgtEl>
                                          <p:spTgt spid="137"/>
                                        </p:tgtEl>
                                        <p:attrNameLst>
                                          <p:attrName>style.visibility</p:attrName>
                                        </p:attrNameLst>
                                      </p:cBhvr>
                                      <p:to>
                                        <p:strVal val="visible"/>
                                      </p:to>
                                    </p:set>
                                    <p:animEffect transition="in" filter="fade">
                                      <p:cBhvr>
                                        <p:cTn id="389" dur="500"/>
                                        <p:tgtEl>
                                          <p:spTgt spid="137"/>
                                        </p:tgtEl>
                                      </p:cBhvr>
                                    </p:animEffect>
                                  </p:childTnLst>
                                </p:cTn>
                              </p:par>
                              <p:par>
                                <p:cTn id="391" presetID="10" presetClass="entr" presetSubtype="0" fill="hold" grpId="0" nodeType="withEffect">
                                  <p:stCondLst>
                                    <p:cond delay="310"/>
                                  </p:stCondLst>
                                  <p:childTnLst>
                                    <p:set>
                                      <p:cBhvr>
                                        <p:cTn id="390" dur="1" fill="hold">
                                          <p:stCondLst>
                                            <p:cond delay="0"/>
                                          </p:stCondLst>
                                        </p:cTn>
                                        <p:tgtEl>
                                          <p:spTgt spid="138"/>
                                        </p:tgtEl>
                                        <p:attrNameLst>
                                          <p:attrName>style.visibility</p:attrName>
                                        </p:attrNameLst>
                                      </p:cBhvr>
                                      <p:to>
                                        <p:strVal val="visible"/>
                                      </p:to>
                                    </p:set>
                                    <p:animEffect transition="in" filter="fade">
                                      <p:cBhvr>
                                        <p:cTn id="392" dur="500"/>
                                        <p:tgtEl>
                                          <p:spTgt spid="138"/>
                                        </p:tgtEl>
                                      </p:cBhvr>
                                    </p:animEffect>
                                  </p:childTnLst>
                                </p:cTn>
                              </p:par>
                              <p:par>
                                <p:cTn id="394" presetID="10" presetClass="entr" presetSubtype="0" fill="hold" grpId="0" nodeType="withEffect">
                                  <p:stCondLst>
                                    <p:cond delay="390"/>
                                  </p:stCondLst>
                                  <p:childTnLst>
                                    <p:set>
                                      <p:cBhvr>
                                        <p:cTn id="393" dur="1" fill="hold">
                                          <p:stCondLst>
                                            <p:cond delay="0"/>
                                          </p:stCondLst>
                                        </p:cTn>
                                        <p:tgtEl>
                                          <p:spTgt spid="140"/>
                                        </p:tgtEl>
                                        <p:attrNameLst>
                                          <p:attrName>style.visibility</p:attrName>
                                        </p:attrNameLst>
                                      </p:cBhvr>
                                      <p:to>
                                        <p:strVal val="visible"/>
                                      </p:to>
                                    </p:set>
                                    <p:animEffect transition="in" filter="fade">
                                      <p:cBhvr>
                                        <p:cTn id="395" dur="500"/>
                                        <p:tgtEl>
                                          <p:spTgt spid="140"/>
                                        </p:tgtEl>
                                      </p:cBhvr>
                                    </p:animEffect>
                                  </p:childTnLst>
                                </p:cTn>
                              </p:par>
                              <p:par>
                                <p:cTn id="397" presetID="10" presetClass="entr" presetSubtype="0" fill="hold" grpId="0" nodeType="withEffect">
                                  <p:stCondLst>
                                    <p:cond delay="390"/>
                                  </p:stCondLst>
                                  <p:childTnLst>
                                    <p:set>
                                      <p:cBhvr>
                                        <p:cTn id="396" dur="1" fill="hold">
                                          <p:stCondLst>
                                            <p:cond delay="0"/>
                                          </p:stCondLst>
                                        </p:cTn>
                                        <p:tgtEl>
                                          <p:spTgt spid="141"/>
                                        </p:tgtEl>
                                        <p:attrNameLst>
                                          <p:attrName>style.visibility</p:attrName>
                                        </p:attrNameLst>
                                      </p:cBhvr>
                                      <p:to>
                                        <p:strVal val="visible"/>
                                      </p:to>
                                    </p:set>
                                    <p:animEffect transition="in" filter="fade">
                                      <p:cBhvr>
                                        <p:cTn id="398" dur="500"/>
                                        <p:tgtEl>
                                          <p:spTgt spid="141"/>
                                        </p:tgtEl>
                                      </p:cBhvr>
                                    </p:animEffect>
                                  </p:childTnLst>
                                </p:cTn>
                              </p:par>
                              <p:par>
                                <p:cTn id="400" presetID="10" presetClass="entr" presetSubtype="0" fill="hold" grpId="0" nodeType="withEffect">
                                  <p:stCondLst>
                                    <p:cond delay="390"/>
                                  </p:stCondLst>
                                  <p:childTnLst>
                                    <p:set>
                                      <p:cBhvr>
                                        <p:cTn id="399" dur="1" fill="hold">
                                          <p:stCondLst>
                                            <p:cond delay="0"/>
                                          </p:stCondLst>
                                        </p:cTn>
                                        <p:tgtEl>
                                          <p:spTgt spid="142"/>
                                        </p:tgtEl>
                                        <p:attrNameLst>
                                          <p:attrName>style.visibility</p:attrName>
                                        </p:attrNameLst>
                                      </p:cBhvr>
                                      <p:to>
                                        <p:strVal val="visible"/>
                                      </p:to>
                                    </p:set>
                                    <p:animEffect transition="in" filter="fade">
                                      <p:cBhvr>
                                        <p:cTn id="401" dur="500"/>
                                        <p:tgtEl>
                                          <p:spTgt spid="142"/>
                                        </p:tgtEl>
                                      </p:cBhvr>
                                    </p:animEffect>
                                  </p:childTnLst>
                                </p:cTn>
                              </p:par>
                              <p:par>
                                <p:cTn id="403" presetID="10" presetClass="entr" presetSubtype="0" fill="hold" grpId="0" nodeType="withEffect">
                                  <p:stCondLst>
                                    <p:cond delay="390"/>
                                  </p:stCondLst>
                                  <p:childTnLst>
                                    <p:set>
                                      <p:cBhvr>
                                        <p:cTn id="402" dur="1" fill="hold">
                                          <p:stCondLst>
                                            <p:cond delay="0"/>
                                          </p:stCondLst>
                                        </p:cTn>
                                        <p:tgtEl>
                                          <p:spTgt spid="143"/>
                                        </p:tgtEl>
                                        <p:attrNameLst>
                                          <p:attrName>style.visibility</p:attrName>
                                        </p:attrNameLst>
                                      </p:cBhvr>
                                      <p:to>
                                        <p:strVal val="visible"/>
                                      </p:to>
                                    </p:set>
                                    <p:animEffect transition="in" filter="fade">
                                      <p:cBhvr>
                                        <p:cTn id="404" dur="500"/>
                                        <p:tgtEl>
                                          <p:spTgt spid="143"/>
                                        </p:tgtEl>
                                      </p:cBhvr>
                                    </p:animEffect>
                                  </p:childTnLst>
                                </p:cTn>
                              </p:par>
                              <p:par>
                                <p:cTn id="406" presetID="10" presetClass="entr" presetSubtype="0" fill="hold" grpId="0" nodeType="withEffect">
                                  <p:stCondLst>
                                    <p:cond delay="390"/>
                                  </p:stCondLst>
                                  <p:childTnLst>
                                    <p:set>
                                      <p:cBhvr>
                                        <p:cTn id="405" dur="1" fill="hold">
                                          <p:stCondLst>
                                            <p:cond delay="0"/>
                                          </p:stCondLst>
                                        </p:cTn>
                                        <p:tgtEl>
                                          <p:spTgt spid="144"/>
                                        </p:tgtEl>
                                        <p:attrNameLst>
                                          <p:attrName>style.visibility</p:attrName>
                                        </p:attrNameLst>
                                      </p:cBhvr>
                                      <p:to>
                                        <p:strVal val="visible"/>
                                      </p:to>
                                    </p:set>
                                    <p:animEffect transition="in" filter="fade">
                                      <p:cBhvr>
                                        <p:cTn id="407" dur="500"/>
                                        <p:tgtEl>
                                          <p:spTgt spid="144"/>
                                        </p:tgtEl>
                                      </p:cBhvr>
                                    </p:animEffect>
                                  </p:childTnLst>
                                </p:cTn>
                              </p:par>
                              <p:par>
                                <p:cTn id="409" presetID="10" presetClass="entr" presetSubtype="0" fill="hold" grpId="0" nodeType="withEffect">
                                  <p:stCondLst>
                                    <p:cond delay="470"/>
                                  </p:stCondLst>
                                  <p:childTnLst>
                                    <p:set>
                                      <p:cBhvr>
                                        <p:cTn id="408" dur="1" fill="hold">
                                          <p:stCondLst>
                                            <p:cond delay="0"/>
                                          </p:stCondLst>
                                        </p:cTn>
                                        <p:tgtEl>
                                          <p:spTgt spid="146"/>
                                        </p:tgtEl>
                                        <p:attrNameLst>
                                          <p:attrName>style.visibility</p:attrName>
                                        </p:attrNameLst>
                                      </p:cBhvr>
                                      <p:to>
                                        <p:strVal val="visible"/>
                                      </p:to>
                                    </p:set>
                                    <p:animEffect transition="in" filter="fade">
                                      <p:cBhvr>
                                        <p:cTn id="410" dur="500"/>
                                        <p:tgtEl>
                                          <p:spTgt spid="146"/>
                                        </p:tgtEl>
                                      </p:cBhvr>
                                    </p:animEffect>
                                  </p:childTnLst>
                                </p:cTn>
                              </p:par>
                              <p:par>
                                <p:cTn id="412" presetID="10" presetClass="entr" presetSubtype="0" fill="hold" grpId="0" nodeType="withEffect">
                                  <p:stCondLst>
                                    <p:cond delay="470"/>
                                  </p:stCondLst>
                                  <p:childTnLst>
                                    <p:set>
                                      <p:cBhvr>
                                        <p:cTn id="411" dur="1" fill="hold">
                                          <p:stCondLst>
                                            <p:cond delay="0"/>
                                          </p:stCondLst>
                                        </p:cTn>
                                        <p:tgtEl>
                                          <p:spTgt spid="147"/>
                                        </p:tgtEl>
                                        <p:attrNameLst>
                                          <p:attrName>style.visibility</p:attrName>
                                        </p:attrNameLst>
                                      </p:cBhvr>
                                      <p:to>
                                        <p:strVal val="visible"/>
                                      </p:to>
                                    </p:set>
                                    <p:animEffect transition="in" filter="fade">
                                      <p:cBhvr>
                                        <p:cTn id="413" dur="500"/>
                                        <p:tgtEl>
                                          <p:spTgt spid="147"/>
                                        </p:tgtEl>
                                      </p:cBhvr>
                                    </p:animEffect>
                                  </p:childTnLst>
                                </p:cTn>
                              </p:par>
                              <p:par>
                                <p:cTn id="415" presetID="10" presetClass="entr" presetSubtype="0" fill="hold" grpId="0" nodeType="withEffect">
                                  <p:stCondLst>
                                    <p:cond delay="470"/>
                                  </p:stCondLst>
                                  <p:childTnLst>
                                    <p:set>
                                      <p:cBhvr>
                                        <p:cTn id="414" dur="1" fill="hold">
                                          <p:stCondLst>
                                            <p:cond delay="0"/>
                                          </p:stCondLst>
                                        </p:cTn>
                                        <p:tgtEl>
                                          <p:spTgt spid="148"/>
                                        </p:tgtEl>
                                        <p:attrNameLst>
                                          <p:attrName>style.visibility</p:attrName>
                                        </p:attrNameLst>
                                      </p:cBhvr>
                                      <p:to>
                                        <p:strVal val="visible"/>
                                      </p:to>
                                    </p:set>
                                    <p:animEffect transition="in" filter="fade">
                                      <p:cBhvr>
                                        <p:cTn id="416" dur="500"/>
                                        <p:tgtEl>
                                          <p:spTgt spid="148"/>
                                        </p:tgtEl>
                                      </p:cBhvr>
                                    </p:animEffect>
                                  </p:childTnLst>
                                </p:cTn>
                              </p:par>
                              <p:par>
                                <p:cTn id="418" presetID="10" presetClass="entr" presetSubtype="0" fill="hold" grpId="0" nodeType="withEffect">
                                  <p:stCondLst>
                                    <p:cond delay="470"/>
                                  </p:stCondLst>
                                  <p:childTnLst>
                                    <p:set>
                                      <p:cBhvr>
                                        <p:cTn id="417" dur="1" fill="hold">
                                          <p:stCondLst>
                                            <p:cond delay="0"/>
                                          </p:stCondLst>
                                        </p:cTn>
                                        <p:tgtEl>
                                          <p:spTgt spid="149"/>
                                        </p:tgtEl>
                                        <p:attrNameLst>
                                          <p:attrName>style.visibility</p:attrName>
                                        </p:attrNameLst>
                                      </p:cBhvr>
                                      <p:to>
                                        <p:strVal val="visible"/>
                                      </p:to>
                                    </p:set>
                                    <p:animEffect transition="in" filter="fade">
                                      <p:cBhvr>
                                        <p:cTn id="419" dur="500"/>
                                        <p:tgtEl>
                                          <p:spTgt spid="149"/>
                                        </p:tgtEl>
                                      </p:cBhvr>
                                    </p:animEffect>
                                  </p:childTnLst>
                                </p:cTn>
                              </p:par>
                              <p:par>
                                <p:cTn id="421" presetID="10" presetClass="entr" presetSubtype="0" fill="hold" grpId="0" nodeType="withEffect">
                                  <p:stCondLst>
                                    <p:cond delay="470"/>
                                  </p:stCondLst>
                                  <p:childTnLst>
                                    <p:set>
                                      <p:cBhvr>
                                        <p:cTn id="420" dur="1" fill="hold">
                                          <p:stCondLst>
                                            <p:cond delay="0"/>
                                          </p:stCondLst>
                                        </p:cTn>
                                        <p:tgtEl>
                                          <p:spTgt spid="150"/>
                                        </p:tgtEl>
                                        <p:attrNameLst>
                                          <p:attrName>style.visibility</p:attrName>
                                        </p:attrNameLst>
                                      </p:cBhvr>
                                      <p:to>
                                        <p:strVal val="visible"/>
                                      </p:to>
                                    </p:set>
                                    <p:animEffect transition="in" filter="fade">
                                      <p:cBhvr>
                                        <p:cTn id="422" dur="500"/>
                                        <p:tgtEl>
                                          <p:spTgt spid="150"/>
                                        </p:tgtEl>
                                      </p:cBhvr>
                                    </p:animEffect>
                                  </p:childTnLst>
                                </p:cTn>
                              </p:par>
                            </p:childTnLst>
                          </p:cTn>
                        </p:par>
                      </p:childTnLst>
                    </p:cTn>
                  </p:par>
                  <p:par>
                    <p:cTn id="423" fill="hold">
                      <p:stCondLst>
                        <p:cond delay="indefinite"/>
                      </p:stCondLst>
                      <p:childTnLst>
                        <p:par>
                          <p:cTn id="424" fill="hold">
                            <p:stCondLst>
                              <p:cond delay="0"/>
                            </p:stCondLst>
                            <p:childTnLst>
                              <p:par>
                                <p:cTn id="426" presetID="10" presetClass="entr" presetSubtype="0" fill="hold" grpId="0" nodeType="clickEffect">
                                  <p:stCondLst>
                                    <p:cond delay="0"/>
                                  </p:stCondLst>
                                  <p:childTnLst>
                                    <p:set>
                                      <p:cBhvr>
                                        <p:cTn id="425" dur="1" fill="hold">
                                          <p:stCondLst>
                                            <p:cond delay="0"/>
                                          </p:stCondLst>
                                        </p:cTn>
                                        <p:tgtEl>
                                          <p:spTgt spid="38"/>
                                        </p:tgtEl>
                                        <p:attrNameLst>
                                          <p:attrName>style.visibility</p:attrName>
                                        </p:attrNameLst>
                                      </p:cBhvr>
                                      <p:to>
                                        <p:strVal val="visible"/>
                                      </p:to>
                                    </p:set>
                                    <p:animEffect transition="in" filter="fade">
                                      <p:cBhvr>
                                        <p:cTn id="427" dur="500"/>
                                        <p:tgtEl>
                                          <p:spTgt spid="38"/>
                                        </p:tgtEl>
                                      </p:cBhvr>
                                    </p:animEffect>
                                  </p:childTnLst>
                                </p:cTn>
                              </p:par>
                              <p:par>
                                <p:cTn id="429" presetID="10" presetClass="entr" presetSubtype="0" fill="hold" grpId="0" nodeType="withEffect">
                                  <p:stCondLst>
                                    <p:cond delay="0"/>
                                  </p:stCondLst>
                                  <p:childTnLst>
                                    <p:set>
                                      <p:cBhvr>
                                        <p:cTn id="428" dur="1" fill="hold">
                                          <p:stCondLst>
                                            <p:cond delay="0"/>
                                          </p:stCondLst>
                                        </p:cTn>
                                        <p:tgtEl>
                                          <p:spTgt spid="39"/>
                                        </p:tgtEl>
                                        <p:attrNameLst>
                                          <p:attrName>style.visibility</p:attrName>
                                        </p:attrNameLst>
                                      </p:cBhvr>
                                      <p:to>
                                        <p:strVal val="visible"/>
                                      </p:to>
                                    </p:set>
                                    <p:animEffect transition="in" filter="fade">
                                      <p:cBhvr>
                                        <p:cTn id="430" dur="500"/>
                                        <p:tgtEl>
                                          <p:spTgt spid="39"/>
                                        </p:tgtEl>
                                      </p:cBhvr>
                                    </p:animEffect>
                                  </p:childTnLst>
                                </p:cTn>
                              </p:par>
                              <p:par>
                                <p:cTn id="432" presetID="10" presetClass="entr" presetSubtype="0" fill="hold" grpId="0" nodeType="withEffect">
                                  <p:stCondLst>
                                    <p:cond delay="0"/>
                                  </p:stCondLst>
                                  <p:childTnLst>
                                    <p:set>
                                      <p:cBhvr>
                                        <p:cTn id="431" dur="1" fill="hold">
                                          <p:stCondLst>
                                            <p:cond delay="0"/>
                                          </p:stCondLst>
                                        </p:cTn>
                                        <p:tgtEl>
                                          <p:spTgt spid="40"/>
                                        </p:tgtEl>
                                        <p:attrNameLst>
                                          <p:attrName>style.visibility</p:attrName>
                                        </p:attrNameLst>
                                      </p:cBhvr>
                                      <p:to>
                                        <p:strVal val="visible"/>
                                      </p:to>
                                    </p:set>
                                    <p:animEffect transition="in" filter="fade">
                                      <p:cBhvr>
                                        <p:cTn id="433" dur="500"/>
                                        <p:tgtEl>
                                          <p:spTgt spid="40"/>
                                        </p:tgtEl>
                                      </p:cBhvr>
                                    </p:animEffect>
                                  </p:childTnLst>
                                </p:cTn>
                              </p:par>
                              <p:par>
                                <p:cTn id="435" presetID="10" presetClass="entr" presetSubtype="0" fill="hold" grpId="0" nodeType="withEffect">
                                  <p:stCondLst>
                                    <p:cond delay="0"/>
                                  </p:stCondLst>
                                  <p:childTnLst>
                                    <p:set>
                                      <p:cBhvr>
                                        <p:cTn id="434" dur="1" fill="hold">
                                          <p:stCondLst>
                                            <p:cond delay="0"/>
                                          </p:stCondLst>
                                        </p:cTn>
                                        <p:tgtEl>
                                          <p:spTgt spid="41"/>
                                        </p:tgtEl>
                                        <p:attrNameLst>
                                          <p:attrName>style.visibility</p:attrName>
                                        </p:attrNameLst>
                                      </p:cBhvr>
                                      <p:to>
                                        <p:strVal val="visible"/>
                                      </p:to>
                                    </p:set>
                                    <p:animEffect transition="in" filter="fade">
                                      <p:cBhvr>
                                        <p:cTn id="436" dur="500"/>
                                        <p:tgtEl>
                                          <p:spTgt spid="41"/>
                                        </p:tgtEl>
                                      </p:cBhvr>
                                    </p:animEffect>
                                  </p:childTnLst>
                                </p:cTn>
                              </p:par>
                              <p:par>
                                <p:cTn id="438" presetID="10" presetClass="entr" presetSubtype="0" fill="hold" grpId="0" nodeType="withEffect">
                                  <p:stCondLst>
                                    <p:cond delay="100"/>
                                  </p:stCondLst>
                                  <p:childTnLst>
                                    <p:set>
                                      <p:cBhvr>
                                        <p:cTn id="437" dur="1" fill="hold">
                                          <p:stCondLst>
                                            <p:cond delay="0"/>
                                          </p:stCondLst>
                                        </p:cTn>
                                        <p:tgtEl>
                                          <p:spTgt spid="76"/>
                                        </p:tgtEl>
                                        <p:attrNameLst>
                                          <p:attrName>style.visibility</p:attrName>
                                        </p:attrNameLst>
                                      </p:cBhvr>
                                      <p:to>
                                        <p:strVal val="visible"/>
                                      </p:to>
                                    </p:set>
                                    <p:animEffect transition="in" filter="fade">
                                      <p:cBhvr>
                                        <p:cTn id="439" dur="500"/>
                                        <p:tgtEl>
                                          <p:spTgt spid="76"/>
                                        </p:tgtEl>
                                      </p:cBhvr>
                                    </p:animEffect>
                                  </p:childTnLst>
                                </p:cTn>
                              </p:par>
                              <p:par>
                                <p:cTn id="441" presetID="10" presetClass="entr" presetSubtype="0" fill="hold" grpId="0" nodeType="withEffect">
                                  <p:stCondLst>
                                    <p:cond delay="100"/>
                                  </p:stCondLst>
                                  <p:childTnLst>
                                    <p:set>
                                      <p:cBhvr>
                                        <p:cTn id="440" dur="1" fill="hold">
                                          <p:stCondLst>
                                            <p:cond delay="0"/>
                                          </p:stCondLst>
                                        </p:cTn>
                                        <p:tgtEl>
                                          <p:spTgt spid="77"/>
                                        </p:tgtEl>
                                        <p:attrNameLst>
                                          <p:attrName>style.visibility</p:attrName>
                                        </p:attrNameLst>
                                      </p:cBhvr>
                                      <p:to>
                                        <p:strVal val="visible"/>
                                      </p:to>
                                    </p:set>
                                    <p:animEffect transition="in" filter="fade">
                                      <p:cBhvr>
                                        <p:cTn id="442" dur="500"/>
                                        <p:tgtEl>
                                          <p:spTgt spid="77"/>
                                        </p:tgtEl>
                                      </p:cBhvr>
                                    </p:animEffect>
                                  </p:childTnLst>
                                </p:cTn>
                              </p:par>
                              <p:par>
                                <p:cTn id="444" presetID="10" presetClass="entr" presetSubtype="0" fill="hold" grpId="0" nodeType="withEffect">
                                  <p:stCondLst>
                                    <p:cond delay="100"/>
                                  </p:stCondLst>
                                  <p:childTnLst>
                                    <p:set>
                                      <p:cBhvr>
                                        <p:cTn id="443" dur="1" fill="hold">
                                          <p:stCondLst>
                                            <p:cond delay="0"/>
                                          </p:stCondLst>
                                        </p:cTn>
                                        <p:tgtEl>
                                          <p:spTgt spid="78"/>
                                        </p:tgtEl>
                                        <p:attrNameLst>
                                          <p:attrName>style.visibility</p:attrName>
                                        </p:attrNameLst>
                                      </p:cBhvr>
                                      <p:to>
                                        <p:strVal val="visible"/>
                                      </p:to>
                                    </p:set>
                                    <p:animEffect transition="in" filter="fade">
                                      <p:cBhvr>
                                        <p:cTn id="445" dur="500"/>
                                        <p:tgtEl>
                                          <p:spTgt spid="78"/>
                                        </p:tgtEl>
                                      </p:cBhvr>
                                    </p:animEffect>
                                  </p:childTnLst>
                                </p:cTn>
                              </p:par>
                              <p:par>
                                <p:cTn id="447" presetID="10" presetClass="entr" presetSubtype="0" fill="hold" grpId="0" nodeType="withEffect">
                                  <p:stCondLst>
                                    <p:cond delay="100"/>
                                  </p:stCondLst>
                                  <p:childTnLst>
                                    <p:set>
                                      <p:cBhvr>
                                        <p:cTn id="446" dur="1" fill="hold">
                                          <p:stCondLst>
                                            <p:cond delay="0"/>
                                          </p:stCondLst>
                                        </p:cTn>
                                        <p:tgtEl>
                                          <p:spTgt spid="79"/>
                                        </p:tgtEl>
                                        <p:attrNameLst>
                                          <p:attrName>style.visibility</p:attrName>
                                        </p:attrNameLst>
                                      </p:cBhvr>
                                      <p:to>
                                        <p:strVal val="visible"/>
                                      </p:to>
                                    </p:set>
                                    <p:animEffect transition="in" filter="fade">
                                      <p:cBhvr>
                                        <p:cTn id="448" dur="500"/>
                                        <p:tgtEl>
                                          <p:spTgt spid="79"/>
                                        </p:tgtEl>
                                      </p:cBhvr>
                                    </p:animEffect>
                                  </p:childTnLst>
                                </p:cTn>
                              </p:par>
                              <p:par>
                                <p:cTn id="450" presetID="10" presetClass="entr" presetSubtype="0" fill="hold" grpId="0" nodeType="withEffect">
                                  <p:stCondLst>
                                    <p:cond delay="200"/>
                                  </p:stCondLst>
                                  <p:childTnLst>
                                    <p:set>
                                      <p:cBhvr>
                                        <p:cTn id="449" dur="1" fill="hold">
                                          <p:stCondLst>
                                            <p:cond delay="0"/>
                                          </p:stCondLst>
                                        </p:cTn>
                                        <p:tgtEl>
                                          <p:spTgt spid="114"/>
                                        </p:tgtEl>
                                        <p:attrNameLst>
                                          <p:attrName>style.visibility</p:attrName>
                                        </p:attrNameLst>
                                      </p:cBhvr>
                                      <p:to>
                                        <p:strVal val="visible"/>
                                      </p:to>
                                    </p:set>
                                    <p:animEffect transition="in" filter="fade">
                                      <p:cBhvr>
                                        <p:cTn id="451" dur="500"/>
                                        <p:tgtEl>
                                          <p:spTgt spid="114"/>
                                        </p:tgtEl>
                                      </p:cBhvr>
                                    </p:animEffect>
                                  </p:childTnLst>
                                </p:cTn>
                              </p:par>
                              <p:par>
                                <p:cTn id="453" presetID="10" presetClass="entr" presetSubtype="0" fill="hold" grpId="0" nodeType="withEffect">
                                  <p:stCondLst>
                                    <p:cond delay="200"/>
                                  </p:stCondLst>
                                  <p:childTnLst>
                                    <p:set>
                                      <p:cBhvr>
                                        <p:cTn id="452" dur="1" fill="hold">
                                          <p:stCondLst>
                                            <p:cond delay="0"/>
                                          </p:stCondLst>
                                        </p:cTn>
                                        <p:tgtEl>
                                          <p:spTgt spid="115"/>
                                        </p:tgtEl>
                                        <p:attrNameLst>
                                          <p:attrName>style.visibility</p:attrName>
                                        </p:attrNameLst>
                                      </p:cBhvr>
                                      <p:to>
                                        <p:strVal val="visible"/>
                                      </p:to>
                                    </p:set>
                                    <p:animEffect transition="in" filter="fade">
                                      <p:cBhvr>
                                        <p:cTn id="454" dur="500"/>
                                        <p:tgtEl>
                                          <p:spTgt spid="115"/>
                                        </p:tgtEl>
                                      </p:cBhvr>
                                    </p:animEffect>
                                  </p:childTnLst>
                                </p:cTn>
                              </p:par>
                              <p:par>
                                <p:cTn id="456" presetID="10" presetClass="entr" presetSubtype="0" fill="hold" grpId="0" nodeType="withEffect">
                                  <p:stCondLst>
                                    <p:cond delay="200"/>
                                  </p:stCondLst>
                                  <p:childTnLst>
                                    <p:set>
                                      <p:cBhvr>
                                        <p:cTn id="455" dur="1" fill="hold">
                                          <p:stCondLst>
                                            <p:cond delay="0"/>
                                          </p:stCondLst>
                                        </p:cTn>
                                        <p:tgtEl>
                                          <p:spTgt spid="116"/>
                                        </p:tgtEl>
                                        <p:attrNameLst>
                                          <p:attrName>style.visibility</p:attrName>
                                        </p:attrNameLst>
                                      </p:cBhvr>
                                      <p:to>
                                        <p:strVal val="visible"/>
                                      </p:to>
                                    </p:set>
                                    <p:animEffect transition="in" filter="fade">
                                      <p:cBhvr>
                                        <p:cTn id="457" dur="500"/>
                                        <p:tgtEl>
                                          <p:spTgt spid="116"/>
                                        </p:tgtEl>
                                      </p:cBhvr>
                                    </p:animEffect>
                                  </p:childTnLst>
                                </p:cTn>
                              </p:par>
                              <p:par>
                                <p:cTn id="459" presetID="10" presetClass="entr" presetSubtype="0" fill="hold" grpId="0" nodeType="withEffect">
                                  <p:stCondLst>
                                    <p:cond delay="200"/>
                                  </p:stCondLst>
                                  <p:childTnLst>
                                    <p:set>
                                      <p:cBhvr>
                                        <p:cTn id="458" dur="1" fill="hold">
                                          <p:stCondLst>
                                            <p:cond delay="0"/>
                                          </p:stCondLst>
                                        </p:cTn>
                                        <p:tgtEl>
                                          <p:spTgt spid="117"/>
                                        </p:tgtEl>
                                        <p:attrNameLst>
                                          <p:attrName>style.visibility</p:attrName>
                                        </p:attrNameLst>
                                      </p:cBhvr>
                                      <p:to>
                                        <p:strVal val="visible"/>
                                      </p:to>
                                    </p:set>
                                    <p:animEffect transition="in" filter="fade">
                                      <p:cBhvr>
                                        <p:cTn id="460" dur="500"/>
                                        <p:tgtEl>
                                          <p:spTgt spid="117"/>
                                        </p:tgtEl>
                                      </p:cBhvr>
                                    </p:animEffect>
                                  </p:childTnLst>
                                </p:cTn>
                              </p:par>
                              <p:par>
                                <p:cTn id="462" presetID="10" presetClass="entr" presetSubtype="0" fill="hold" grpId="0" nodeType="withEffect">
                                  <p:stCondLst>
                                    <p:cond delay="300"/>
                                  </p:stCondLst>
                                  <p:childTnLst>
                                    <p:set>
                                      <p:cBhvr>
                                        <p:cTn id="461" dur="1" fill="hold">
                                          <p:stCondLst>
                                            <p:cond delay="0"/>
                                          </p:stCondLst>
                                        </p:cTn>
                                        <p:tgtEl>
                                          <p:spTgt spid="42"/>
                                        </p:tgtEl>
                                        <p:attrNameLst>
                                          <p:attrName>style.visibility</p:attrName>
                                        </p:attrNameLst>
                                      </p:cBhvr>
                                      <p:to>
                                        <p:strVal val="visible"/>
                                      </p:to>
                                    </p:set>
                                    <p:animEffect transition="in" filter="fade">
                                      <p:cBhvr>
                                        <p:cTn id="463" dur="500"/>
                                        <p:tgtEl>
                                          <p:spTgt spid="42"/>
                                        </p:tgtEl>
                                      </p:cBhvr>
                                    </p:animEffect>
                                  </p:childTnLst>
                                </p:cTn>
                              </p:par>
                              <p:par>
                                <p:cTn id="465" presetID="10" presetClass="entr" presetSubtype="0" fill="hold" grpId="0" nodeType="withEffect">
                                  <p:stCondLst>
                                    <p:cond delay="300"/>
                                  </p:stCondLst>
                                  <p:childTnLst>
                                    <p:set>
                                      <p:cBhvr>
                                        <p:cTn id="464" dur="1" fill="hold">
                                          <p:stCondLst>
                                            <p:cond delay="0"/>
                                          </p:stCondLst>
                                        </p:cTn>
                                        <p:tgtEl>
                                          <p:spTgt spid="152"/>
                                        </p:tgtEl>
                                        <p:attrNameLst>
                                          <p:attrName>style.visibility</p:attrName>
                                        </p:attrNameLst>
                                      </p:cBhvr>
                                      <p:to>
                                        <p:strVal val="visible"/>
                                      </p:to>
                                    </p:set>
                                    <p:animEffect transition="in" filter="fade">
                                      <p:cBhvr>
                                        <p:cTn id="466" dur="500"/>
                                        <p:tgtEl>
                                          <p:spTgt spid="152"/>
                                        </p:tgtEl>
                                      </p:cBhvr>
                                    </p:animEffect>
                                  </p:childTnLst>
                                </p:cTn>
                              </p:par>
                              <p:par>
                                <p:cTn id="468" presetID="10" presetClass="entr" presetSubtype="0" fill="hold" grpId="0" nodeType="withEffect">
                                  <p:stCondLst>
                                    <p:cond delay="300"/>
                                  </p:stCondLst>
                                  <p:childTnLst>
                                    <p:set>
                                      <p:cBhvr>
                                        <p:cTn id="467" dur="1" fill="hold">
                                          <p:stCondLst>
                                            <p:cond delay="0"/>
                                          </p:stCondLst>
                                        </p:cTn>
                                        <p:tgtEl>
                                          <p:spTgt spid="153"/>
                                        </p:tgtEl>
                                        <p:attrNameLst>
                                          <p:attrName>style.visibility</p:attrName>
                                        </p:attrNameLst>
                                      </p:cBhvr>
                                      <p:to>
                                        <p:strVal val="visible"/>
                                      </p:to>
                                    </p:set>
                                    <p:animEffect transition="in" filter="fade">
                                      <p:cBhvr>
                                        <p:cTn id="469" dur="500"/>
                                        <p:tgtEl>
                                          <p:spTgt spid="153"/>
                                        </p:tgtEl>
                                      </p:cBhvr>
                                    </p:animEffect>
                                  </p:childTnLst>
                                </p:cTn>
                              </p:par>
                              <p:par>
                                <p:cTn id="471" presetID="10" presetClass="entr" presetSubtype="0" fill="hold" grpId="0" nodeType="withEffect">
                                  <p:stCondLst>
                                    <p:cond delay="300"/>
                                  </p:stCondLst>
                                  <p:childTnLst>
                                    <p:set>
                                      <p:cBhvr>
                                        <p:cTn id="470" dur="1" fill="hold">
                                          <p:stCondLst>
                                            <p:cond delay="0"/>
                                          </p:stCondLst>
                                        </p:cTn>
                                        <p:tgtEl>
                                          <p:spTgt spid="154"/>
                                        </p:tgtEl>
                                        <p:attrNameLst>
                                          <p:attrName>style.visibility</p:attrName>
                                        </p:attrNameLst>
                                      </p:cBhvr>
                                      <p:to>
                                        <p:strVal val="visible"/>
                                      </p:to>
                                    </p:set>
                                    <p:animEffect transition="in" filter="fade">
                                      <p:cBhvr>
                                        <p:cTn id="472" dur="500"/>
                                        <p:tgtEl>
                                          <p:spTgt spid="154"/>
                                        </p:tgtEl>
                                      </p:cBhvr>
                                    </p:animEffect>
                                  </p:childTnLst>
                                </p:cTn>
                              </p:par>
                              <p:par>
                                <p:cTn id="474" presetID="10" presetClass="entr" presetSubtype="0" fill="hold" grpId="0" nodeType="withEffect">
                                  <p:stCondLst>
                                    <p:cond delay="300"/>
                                  </p:stCondLst>
                                  <p:childTnLst>
                                    <p:set>
                                      <p:cBhvr>
                                        <p:cTn id="473" dur="1" fill="hold">
                                          <p:stCondLst>
                                            <p:cond delay="0"/>
                                          </p:stCondLst>
                                        </p:cTn>
                                        <p:tgtEl>
                                          <p:spTgt spid="155"/>
                                        </p:tgtEl>
                                        <p:attrNameLst>
                                          <p:attrName>style.visibility</p:attrName>
                                        </p:attrNameLst>
                                      </p:cBhvr>
                                      <p:to>
                                        <p:strVal val="visible"/>
                                      </p:to>
                                    </p:set>
                                    <p:animEffect transition="in" filter="fade">
                                      <p:cBhvr>
                                        <p:cTn id="475" dur="500"/>
                                        <p:tgtEl>
                                          <p:spTgt spid="155"/>
                                        </p:tgtEl>
                                      </p:cBhvr>
                                    </p:animEffect>
                                  </p:childTnLst>
                                </p:cTn>
                              </p:par>
                              <p:par>
                                <p:cTn id="477" presetID="10" presetClass="entr" presetSubtype="0" fill="hold" grpId="0" nodeType="withEffect">
                                  <p:stCondLst>
                                    <p:cond delay="400"/>
                                  </p:stCondLst>
                                  <p:childTnLst>
                                    <p:set>
                                      <p:cBhvr>
                                        <p:cTn id="476" dur="1" fill="hold">
                                          <p:stCondLst>
                                            <p:cond delay="0"/>
                                          </p:stCondLst>
                                        </p:cTn>
                                        <p:tgtEl>
                                          <p:spTgt spid="80"/>
                                        </p:tgtEl>
                                        <p:attrNameLst>
                                          <p:attrName>style.visibility</p:attrName>
                                        </p:attrNameLst>
                                      </p:cBhvr>
                                      <p:to>
                                        <p:strVal val="visible"/>
                                      </p:to>
                                    </p:set>
                                    <p:animEffect transition="in" filter="fade">
                                      <p:cBhvr>
                                        <p:cTn id="478" dur="500"/>
                                        <p:tgtEl>
                                          <p:spTgt spid="80"/>
                                        </p:tgtEl>
                                      </p:cBhvr>
                                    </p:animEffect>
                                  </p:childTnLst>
                                </p:cTn>
                              </p:par>
                              <p:par>
                                <p:cTn id="480" presetID="10" presetClass="entr" presetSubtype="0" fill="hold" grpId="0" nodeType="withEffect">
                                  <p:stCondLst>
                                    <p:cond delay="500"/>
                                  </p:stCondLst>
                                  <p:childTnLst>
                                    <p:set>
                                      <p:cBhvr>
                                        <p:cTn id="479" dur="1" fill="hold">
                                          <p:stCondLst>
                                            <p:cond delay="0"/>
                                          </p:stCondLst>
                                        </p:cTn>
                                        <p:tgtEl>
                                          <p:spTgt spid="118"/>
                                        </p:tgtEl>
                                        <p:attrNameLst>
                                          <p:attrName>style.visibility</p:attrName>
                                        </p:attrNameLst>
                                      </p:cBhvr>
                                      <p:to>
                                        <p:strVal val="visible"/>
                                      </p:to>
                                    </p:set>
                                    <p:animEffect transition="in" filter="fade">
                                      <p:cBhvr>
                                        <p:cTn id="481" dur="500"/>
                                        <p:tgtEl>
                                          <p:spTgt spid="118"/>
                                        </p:tgtEl>
                                      </p:cBhvr>
                                    </p:animEffect>
                                  </p:childTnLst>
                                </p:cTn>
                              </p:par>
                              <p:par>
                                <p:cTn id="483" presetID="10" presetClass="entr" presetSubtype="0" fill="hold" grpId="0" nodeType="withEffect">
                                  <p:stCondLst>
                                    <p:cond delay="600"/>
                                  </p:stCondLst>
                                  <p:childTnLst>
                                    <p:set>
                                      <p:cBhvr>
                                        <p:cTn id="482" dur="1" fill="hold">
                                          <p:stCondLst>
                                            <p:cond delay="0"/>
                                          </p:stCondLst>
                                        </p:cTn>
                                        <p:tgtEl>
                                          <p:spTgt spid="156"/>
                                        </p:tgtEl>
                                        <p:attrNameLst>
                                          <p:attrName>style.visibility</p:attrName>
                                        </p:attrNameLst>
                                      </p:cBhvr>
                                      <p:to>
                                        <p:strVal val="visible"/>
                                      </p:to>
                                    </p:set>
                                    <p:animEffect transition="in" filter="fade">
                                      <p:cBhvr>
                                        <p:cTn id="484" dur="500"/>
                                        <p:tgtEl>
                                          <p:spTgt spid="156"/>
                                        </p:tgtEl>
                                      </p:cBhvr>
                                    </p:animEffect>
                                  </p:childTnLst>
                                </p:cTn>
                              </p:par>
                              <p:par>
                                <p:cTn id="486" presetID="53" presetClass="entr" presetSubtype="16" fill="hold" grpId="0" nodeType="withEffect">
                                  <p:stCondLst>
                                    <p:cond delay="700"/>
                                  </p:stCondLst>
                                  <p:childTnLst>
                                    <p:set>
                                      <p:cBhvr>
                                        <p:cTn id="485" dur="1" fill="hold">
                                          <p:stCondLst>
                                            <p:cond delay="0"/>
                                          </p:stCondLst>
                                        </p:cTn>
                                        <p:tgtEl>
                                          <p:spTgt spid="157"/>
                                        </p:tgtEl>
                                        <p:attrNameLst>
                                          <p:attrName>style.visibility</p:attrName>
                                        </p:attrNameLst>
                                      </p:cBhvr>
                                      <p:to>
                                        <p:strVal val="visible"/>
                                      </p:to>
                                    </p:set>
                                    <p:anim calcmode="lin" valueType="num">
                                      <p:cBhvr>
                                        <p:cTn id="487" dur="500" fill="hold"/>
                                        <p:tgtEl>
                                          <p:spTgt spid="157"/>
                                        </p:tgtEl>
                                        <p:attrNameLst>
                                          <p:attrName>ppt_w</p:attrName>
                                        </p:attrNameLst>
                                      </p:cBhvr>
                                      <p:tavLst>
                                        <p:tav tm="0">
                                          <p:val>
                                            <p:fltVal val="0"/>
                                          </p:val>
                                        </p:tav>
                                        <p:tav tm="100000">
                                          <p:val>
                                            <p:strVal val="#ppt_w"/>
                                          </p:val>
                                        </p:tav>
                                      </p:tavLst>
                                    </p:anim>
                                    <p:anim calcmode="lin" valueType="num">
                                      <p:cBhvr>
                                        <p:cTn id="488" dur="500" fill="hold"/>
                                        <p:tgtEl>
                                          <p:spTgt spid="157"/>
                                        </p:tgtEl>
                                        <p:attrNameLst>
                                          <p:attrName>ppt_h</p:attrName>
                                        </p:attrNameLst>
                                      </p:cBhvr>
                                      <p:tavLst>
                                        <p:tav tm="0">
                                          <p:val>
                                            <p:fltVal val="0"/>
                                          </p:val>
                                        </p:tav>
                                        <p:tav tm="100000">
                                          <p:val>
                                            <p:strVal val="#ppt_h"/>
                                          </p:val>
                                        </p:tav>
                                      </p:tavLst>
                                    </p:anim>
                                    <p:animEffect transition="in" filter="fade">
                                      <p:cBhvr>
                                        <p:cTn id="489" dur="500"/>
                                        <p:tgtEl>
                                          <p:spTgt spid="157"/>
                                        </p:tgtEl>
                                      </p:cBhvr>
                                    </p:animEffect>
                                  </p:childTnLst>
                                </p:cTn>
                              </p:par>
                              <p:par>
                                <p:cTn id="491" presetID="22" presetClass="entr" presetSubtype="8" fill="hold" grpId="0" nodeType="withEffect">
                                  <p:stCondLst>
                                    <p:cond delay="900"/>
                                  </p:stCondLst>
                                  <p:childTnLst>
                                    <p:set>
                                      <p:cBhvr>
                                        <p:cTn id="490" dur="1" fill="hold">
                                          <p:stCondLst>
                                            <p:cond delay="0"/>
                                          </p:stCondLst>
                                        </p:cTn>
                                        <p:tgtEl>
                                          <p:spTgt spid="158"/>
                                        </p:tgtEl>
                                        <p:attrNameLst>
                                          <p:attrName>style.visibility</p:attrName>
                                        </p:attrNameLst>
                                      </p:cBhvr>
                                      <p:to>
                                        <p:strVal val="visible"/>
                                      </p:to>
                                    </p:set>
                                    <p:animEffect transition="in" filter="wipe(left)">
                                      <p:cBhvr>
                                        <p:cTn id="492" dur="450"/>
                                        <p:tgtEl>
                                          <p:spTgt spid="158"/>
                                        </p:tgtEl>
                                      </p:cBhvr>
                                    </p:animEffect>
                                  </p:childTnLst>
                                </p:cTn>
                              </p:par>
                              <p:par>
                                <p:cTn id="494" presetID="10" presetClass="entr" presetSubtype="0" fill="hold" grpId="0" nodeType="withEffect">
                                  <p:stCondLst>
                                    <p:cond delay="1000"/>
                                  </p:stCondLst>
                                  <p:childTnLst>
                                    <p:set>
                                      <p:cBhvr>
                                        <p:cTn id="493" dur="1" fill="hold">
                                          <p:stCondLst>
                                            <p:cond delay="0"/>
                                          </p:stCondLst>
                                        </p:cTn>
                                        <p:tgtEl>
                                          <p:spTgt spid="159"/>
                                        </p:tgtEl>
                                        <p:attrNameLst>
                                          <p:attrName>style.visibility</p:attrName>
                                        </p:attrNameLst>
                                      </p:cBhvr>
                                      <p:to>
                                        <p:strVal val="visible"/>
                                      </p:to>
                                    </p:set>
                                    <p:animEffect transition="in" filter="fade">
                                      <p:cBhvr>
                                        <p:cTn id="495" dur="500"/>
                                        <p:tgtEl>
                                          <p:spTgt spid="159"/>
                                        </p:tgtEl>
                                      </p:cBhvr>
                                    </p:animEffect>
                                  </p:childTnLst>
                                </p:cTn>
                              </p:par>
                              <p:par>
                                <p:cTn id="497" presetID="10" presetClass="entr" presetSubtype="0" fill="hold" grpId="0" nodeType="withEffect">
                                  <p:stCondLst>
                                    <p:cond delay="1000"/>
                                  </p:stCondLst>
                                  <p:childTnLst>
                                    <p:set>
                                      <p:cBhvr>
                                        <p:cTn id="496" dur="1" fill="hold">
                                          <p:stCondLst>
                                            <p:cond delay="0"/>
                                          </p:stCondLst>
                                        </p:cTn>
                                        <p:tgtEl>
                                          <p:spTgt spid="160"/>
                                        </p:tgtEl>
                                        <p:attrNameLst>
                                          <p:attrName>style.visibility</p:attrName>
                                        </p:attrNameLst>
                                      </p:cBhvr>
                                      <p:to>
                                        <p:strVal val="visible"/>
                                      </p:to>
                                    </p:set>
                                    <p:animEffect transition="in" filter="fade">
                                      <p:cBhvr>
                                        <p:cTn id="498" dur="500"/>
                                        <p:tgtEl>
                                          <p:spTgt spid="160"/>
                                        </p:tgtEl>
                                      </p:cBhvr>
                                    </p:animEffect>
                                  </p:childTnLst>
                                </p:cTn>
                              </p:par>
                              <p:par>
                                <p:cTn id="500" presetID="10" presetClass="entr" presetSubtype="0" fill="hold" grpId="0" nodeType="withEffect">
                                  <p:stCondLst>
                                    <p:cond delay="1000"/>
                                  </p:stCondLst>
                                  <p:childTnLst>
                                    <p:set>
                                      <p:cBhvr>
                                        <p:cTn id="499" dur="1" fill="hold">
                                          <p:stCondLst>
                                            <p:cond delay="0"/>
                                          </p:stCondLst>
                                        </p:cTn>
                                        <p:tgtEl>
                                          <p:spTgt spid="161"/>
                                        </p:tgtEl>
                                        <p:attrNameLst>
                                          <p:attrName>style.visibility</p:attrName>
                                        </p:attrNameLst>
                                      </p:cBhvr>
                                      <p:to>
                                        <p:strVal val="visible"/>
                                      </p:to>
                                    </p:set>
                                    <p:animEffect transition="in" filter="fade">
                                      <p:cBhvr>
                                        <p:cTn id="501" dur="500"/>
                                        <p:tgtEl>
                                          <p:spTgt spid="161"/>
                                        </p:tgtEl>
                                      </p:cBhvr>
                                    </p:animEffect>
                                  </p:childTnLst>
                                </p:cTn>
                              </p:par>
                              <p:par>
                                <p:cTn id="503" presetID="10" presetClass="entr" presetSubtype="0" fill="hold" grpId="0" nodeType="withEffect">
                                  <p:stCondLst>
                                    <p:cond delay="1000"/>
                                  </p:stCondLst>
                                  <p:childTnLst>
                                    <p:set>
                                      <p:cBhvr>
                                        <p:cTn id="502" dur="1" fill="hold">
                                          <p:stCondLst>
                                            <p:cond delay="0"/>
                                          </p:stCondLst>
                                        </p:cTn>
                                        <p:tgtEl>
                                          <p:spTgt spid="162"/>
                                        </p:tgtEl>
                                        <p:attrNameLst>
                                          <p:attrName>style.visibility</p:attrName>
                                        </p:attrNameLst>
                                      </p:cBhvr>
                                      <p:to>
                                        <p:strVal val="visible"/>
                                      </p:to>
                                    </p:set>
                                    <p:animEffect transition="in" filter="fade">
                                      <p:cBhvr>
                                        <p:cTn id="504" dur="500"/>
                                        <p:tgtEl>
                                          <p:spTgt spid="162"/>
                                        </p:tgtEl>
                                      </p:cBhvr>
                                    </p:animEffect>
                                  </p:childTnLst>
                                </p:cTn>
                              </p:par>
                              <p:par>
                                <p:cTn id="506" presetID="10" presetClass="entr" presetSubtype="0" fill="hold" grpId="0" nodeType="withEffect">
                                  <p:stCondLst>
                                    <p:cond delay="1000"/>
                                  </p:stCondLst>
                                  <p:childTnLst>
                                    <p:set>
                                      <p:cBhvr>
                                        <p:cTn id="505" dur="1" fill="hold">
                                          <p:stCondLst>
                                            <p:cond delay="0"/>
                                          </p:stCondLst>
                                        </p:cTn>
                                        <p:tgtEl>
                                          <p:spTgt spid="163"/>
                                        </p:tgtEl>
                                        <p:attrNameLst>
                                          <p:attrName>style.visibility</p:attrName>
                                        </p:attrNameLst>
                                      </p:cBhvr>
                                      <p:to>
                                        <p:strVal val="visible"/>
                                      </p:to>
                                    </p:set>
                                    <p:animEffect transition="in" filter="fade">
                                      <p:cBhvr>
                                        <p:cTn id="507" dur="500"/>
                                        <p:tgtEl>
                                          <p:spTgt spid="163"/>
                                        </p:tgtEl>
                                      </p:cBhvr>
                                    </p:animEffect>
                                  </p:childTnLst>
                                </p:cTn>
                              </p:par>
                              <p:par>
                                <p:cTn id="509" presetID="10" presetClass="entr" presetSubtype="0" fill="hold" grpId="0" nodeType="withEffect">
                                  <p:stCondLst>
                                    <p:cond delay="1000"/>
                                  </p:stCondLst>
                                  <p:childTnLst>
                                    <p:set>
                                      <p:cBhvr>
                                        <p:cTn id="508" dur="1" fill="hold">
                                          <p:stCondLst>
                                            <p:cond delay="0"/>
                                          </p:stCondLst>
                                        </p:cTn>
                                        <p:tgtEl>
                                          <p:spTgt spid="164"/>
                                        </p:tgtEl>
                                        <p:attrNameLst>
                                          <p:attrName>style.visibility</p:attrName>
                                        </p:attrNameLst>
                                      </p:cBhvr>
                                      <p:to>
                                        <p:strVal val="visible"/>
                                      </p:to>
                                    </p:set>
                                    <p:animEffect transition="in" filter="fade">
                                      <p:cBhvr>
                                        <p:cTn id="510" dur="500"/>
                                        <p:tgtEl>
                                          <p:spTgt spid="164"/>
                                        </p:tgtEl>
                                      </p:cBhvr>
                                    </p:animEffect>
                                  </p:childTnLst>
                                </p:cTn>
                              </p:par>
                              <p:par>
                                <p:cTn id="512" presetID="10" presetClass="entr" presetSubtype="0" fill="hold" grpId="0" nodeType="withEffect">
                                  <p:stCondLst>
                                    <p:cond delay="1000"/>
                                  </p:stCondLst>
                                  <p:childTnLst>
                                    <p:set>
                                      <p:cBhvr>
                                        <p:cTn id="511" dur="1" fill="hold">
                                          <p:stCondLst>
                                            <p:cond delay="0"/>
                                          </p:stCondLst>
                                        </p:cTn>
                                        <p:tgtEl>
                                          <p:spTgt spid="165"/>
                                        </p:tgtEl>
                                        <p:attrNameLst>
                                          <p:attrName>style.visibility</p:attrName>
                                        </p:attrNameLst>
                                      </p:cBhvr>
                                      <p:to>
                                        <p:strVal val="visible"/>
                                      </p:to>
                                    </p:set>
                                    <p:animEffect transition="in" filter="fade">
                                      <p:cBhvr>
                                        <p:cTn id="513" dur="500"/>
                                        <p:tgtEl>
                                          <p:spTgt spid="165"/>
                                        </p:tgtEl>
                                      </p:cBhvr>
                                    </p:animEffect>
                                  </p:childTnLst>
                                </p:cTn>
                              </p:par>
                              <p:par>
                                <p:cTn id="515" presetID="10" presetClass="entr" presetSubtype="0" fill="hold" grpId="0" nodeType="withEffect">
                                  <p:stCondLst>
                                    <p:cond delay="1000"/>
                                  </p:stCondLst>
                                  <p:childTnLst>
                                    <p:set>
                                      <p:cBhvr>
                                        <p:cTn id="514" dur="1" fill="hold">
                                          <p:stCondLst>
                                            <p:cond delay="0"/>
                                          </p:stCondLst>
                                        </p:cTn>
                                        <p:tgtEl>
                                          <p:spTgt spid="166"/>
                                        </p:tgtEl>
                                        <p:attrNameLst>
                                          <p:attrName>style.visibility</p:attrName>
                                        </p:attrNameLst>
                                      </p:cBhvr>
                                      <p:to>
                                        <p:strVal val="visible"/>
                                      </p:to>
                                    </p:set>
                                    <p:animEffect transition="in" filter="fade">
                                      <p:cBhvr>
                                        <p:cTn id="516" dur="500"/>
                                        <p:tgtEl>
                                          <p:spTgt spid="166"/>
                                        </p:tgtEl>
                                      </p:cBhvr>
                                    </p:animEffect>
                                  </p:childTnLst>
                                </p:cTn>
                              </p:par>
                              <p:par>
                                <p:cTn id="518" presetID="10" presetClass="entr" presetSubtype="0" fill="hold" grpId="0" nodeType="withEffect">
                                  <p:stCondLst>
                                    <p:cond delay="1100"/>
                                  </p:stCondLst>
                                  <p:childTnLst>
                                    <p:set>
                                      <p:cBhvr>
                                        <p:cTn id="517" dur="1" fill="hold">
                                          <p:stCondLst>
                                            <p:cond delay="0"/>
                                          </p:stCondLst>
                                        </p:cTn>
                                        <p:tgtEl>
                                          <p:spTgt spid="167"/>
                                        </p:tgtEl>
                                        <p:attrNameLst>
                                          <p:attrName>style.visibility</p:attrName>
                                        </p:attrNameLst>
                                      </p:cBhvr>
                                      <p:to>
                                        <p:strVal val="visible"/>
                                      </p:to>
                                    </p:set>
                                    <p:animEffect transition="in" filter="fade">
                                      <p:cBhvr>
                                        <p:cTn id="519"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0D9488"/>
                </a:solidFill>
                <a:latin typeface="Inter" pitchFamily="34" charset="0"/>
                <a:ea typeface="Inter" pitchFamily="34" charset="-122"/>
                <a:cs typeface="Inter" pitchFamily="34" charset="-120"/>
              </a:rPr>
              <a:t>13 · THE FEED-FORWARD NETWORK</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The feed-forward network: each token thinks on its own</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Attention mixes information between tokens. The feed-forward network then transforms each token’s vector by itself.</a:t>
            </a:r>
            <a:endParaRPr lang="en-US" sz="1300" dirty="0"/>
          </a:p>
        </p:txBody>
      </p:sp>
      <p:sp>
        <p:nvSpPr>
          <p:cNvPr id="5" name="Text 3"/>
          <p:cNvSpPr/>
          <p:nvPr/>
        </p:nvSpPr>
        <p:spPr>
          <a:xfrm>
            <a:off x="868680" y="1691640"/>
            <a:ext cx="777240" cy="365760"/>
          </a:xfrm>
          <a:prstGeom prst="roundRect">
            <a:avLst>
              <a:gd name="adj" fmla="val 17500"/>
            </a:avLst>
          </a:prstGeom>
          <a:solidFill>
            <a:srgbClr val="FEF3C7"/>
          </a:solidFill>
          <a:ln w="12700">
            <a:solidFill>
              <a:srgbClr val="D97706"/>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the</a:t>
            </a:r>
            <a:endParaRPr lang="en-US" sz="1200" dirty="0"/>
          </a:p>
        </p:txBody>
      </p:sp>
      <p:sp>
        <p:nvSpPr>
          <p:cNvPr id="6" name="Text 4"/>
          <p:cNvSpPr txBox="1"/>
          <p:nvPr/>
        </p:nvSpPr>
        <p:spPr>
          <a:xfrm>
            <a:off x="1737360" y="1755648"/>
            <a:ext cx="3840480" cy="237744"/>
          </a:xfrm>
          <a:prstGeom prst="rect">
            <a:avLst/>
          </a:prstGeom>
          <a:noFill/>
          <a:ln/>
        </p:spPr>
        <p:txBody>
          <a:bodyPr wrap="square" lIns="0" tIns="0" rIns="0" bIns="0" rtlCol="0" anchor="t"/>
          <a:lstStyle/>
          <a:p>
            <a:pPr indent="0" marL="0">
              <a:buNone/>
            </a:pPr>
            <a:r>
              <a:rPr lang="en-US" sz="1000" i="1" dirty="0">
                <a:solidFill>
                  <a:srgbClr val="64748B"/>
                </a:solidFill>
                <a:latin typeface="Inter" pitchFamily="34" charset="0"/>
                <a:ea typeface="Inter" pitchFamily="34" charset="-122"/>
                <a:cs typeface="Inter" pitchFamily="34" charset="-120"/>
              </a:rPr>
              <a:t>vector for the last “the”, after attention</a:t>
            </a:r>
            <a:endParaRPr lang="en-US" sz="1000" dirty="0"/>
          </a:p>
        </p:txBody>
      </p:sp>
      <p:sp>
        <p:nvSpPr>
          <p:cNvPr id="7" name="anim-1-fade-0-694"/>
          <p:cNvSpPr/>
          <p:nvPr/>
        </p:nvSpPr>
        <p:spPr>
          <a:xfrm>
            <a:off x="1097280" y="2286000"/>
            <a:ext cx="292608" cy="274320"/>
          </a:xfrm>
          <a:prstGeom prst="rect">
            <a:avLst/>
          </a:prstGeom>
          <a:solidFill>
            <a:srgbClr val="D97706"/>
          </a:solidFill>
          <a:ln w="6350">
            <a:solidFill>
              <a:srgbClr val="FFFFFF"/>
            </a:solidFill>
            <a:prstDash val="solid"/>
          </a:ln>
        </p:spPr>
      </p:sp>
      <p:sp>
        <p:nvSpPr>
          <p:cNvPr id="8" name="anim-1-fade-0-695"/>
          <p:cNvSpPr/>
          <p:nvPr/>
        </p:nvSpPr>
        <p:spPr>
          <a:xfrm>
            <a:off x="1097280" y="2596896"/>
            <a:ext cx="292608" cy="274320"/>
          </a:xfrm>
          <a:prstGeom prst="rect">
            <a:avLst/>
          </a:prstGeom>
          <a:solidFill>
            <a:srgbClr val="DA7C0F"/>
          </a:solidFill>
          <a:ln w="6350">
            <a:solidFill>
              <a:srgbClr val="FFFFFF"/>
            </a:solidFill>
            <a:prstDash val="solid"/>
          </a:ln>
        </p:spPr>
      </p:sp>
      <p:sp>
        <p:nvSpPr>
          <p:cNvPr id="9" name="anim-1-fade-0-696"/>
          <p:cNvSpPr/>
          <p:nvPr/>
        </p:nvSpPr>
        <p:spPr>
          <a:xfrm>
            <a:off x="1097280" y="2907792"/>
            <a:ext cx="292608" cy="274320"/>
          </a:xfrm>
          <a:prstGeom prst="rect">
            <a:avLst/>
          </a:prstGeom>
          <a:solidFill>
            <a:srgbClr val="A77BF3"/>
          </a:solidFill>
          <a:ln w="6350">
            <a:solidFill>
              <a:srgbClr val="FFFFFF"/>
            </a:solidFill>
            <a:prstDash val="solid"/>
          </a:ln>
        </p:spPr>
      </p:sp>
      <p:sp>
        <p:nvSpPr>
          <p:cNvPr id="10" name="anim-1-fade-0-697"/>
          <p:cNvSpPr/>
          <p:nvPr/>
        </p:nvSpPr>
        <p:spPr>
          <a:xfrm>
            <a:off x="1097280" y="3218688"/>
            <a:ext cx="292608" cy="274320"/>
          </a:xfrm>
          <a:prstGeom prst="rect">
            <a:avLst/>
          </a:prstGeom>
          <a:solidFill>
            <a:srgbClr val="F3D5B2"/>
          </a:solidFill>
          <a:ln w="6350">
            <a:solidFill>
              <a:srgbClr val="FFFFFF"/>
            </a:solidFill>
            <a:prstDash val="solid"/>
          </a:ln>
        </p:spPr>
      </p:sp>
      <p:sp>
        <p:nvSpPr>
          <p:cNvPr id="11" name="anim-1-fade-0-698"/>
          <p:cNvSpPr/>
          <p:nvPr/>
        </p:nvSpPr>
        <p:spPr>
          <a:xfrm>
            <a:off x="1097280" y="3529584"/>
            <a:ext cx="292608" cy="274320"/>
          </a:xfrm>
          <a:prstGeom prst="rect">
            <a:avLst/>
          </a:prstGeom>
          <a:solidFill>
            <a:srgbClr val="B590F5"/>
          </a:solidFill>
          <a:ln w="6350">
            <a:solidFill>
              <a:srgbClr val="FFFFFF"/>
            </a:solidFill>
            <a:prstDash val="solid"/>
          </a:ln>
        </p:spPr>
      </p:sp>
      <p:sp>
        <p:nvSpPr>
          <p:cNvPr id="12" name="anim-1-fade-0-699"/>
          <p:cNvSpPr/>
          <p:nvPr/>
        </p:nvSpPr>
        <p:spPr>
          <a:xfrm>
            <a:off x="1097280" y="3840480"/>
            <a:ext cx="292608" cy="274320"/>
          </a:xfrm>
          <a:prstGeom prst="rect">
            <a:avLst/>
          </a:prstGeom>
          <a:solidFill>
            <a:srgbClr val="C4A6F7"/>
          </a:solidFill>
          <a:ln w="6350">
            <a:solidFill>
              <a:srgbClr val="FFFFFF"/>
            </a:solidFill>
            <a:prstDash val="solid"/>
          </a:ln>
        </p:spPr>
      </p:sp>
      <p:sp>
        <p:nvSpPr>
          <p:cNvPr id="13" name="anim-1-fade-0-700"/>
          <p:cNvSpPr/>
          <p:nvPr/>
        </p:nvSpPr>
        <p:spPr>
          <a:xfrm>
            <a:off x="1097280" y="4151376"/>
            <a:ext cx="292608" cy="274320"/>
          </a:xfrm>
          <a:prstGeom prst="rect">
            <a:avLst/>
          </a:prstGeom>
          <a:solidFill>
            <a:srgbClr val="C8ADF7"/>
          </a:solidFill>
          <a:ln w="6350">
            <a:solidFill>
              <a:srgbClr val="FFFFFF"/>
            </a:solidFill>
            <a:prstDash val="solid"/>
          </a:ln>
        </p:spPr>
      </p:sp>
      <p:sp>
        <p:nvSpPr>
          <p:cNvPr id="14" name="anim-1-fade-0-701"/>
          <p:cNvSpPr/>
          <p:nvPr/>
        </p:nvSpPr>
        <p:spPr>
          <a:xfrm>
            <a:off x="1097280" y="4462272"/>
            <a:ext cx="292608" cy="274320"/>
          </a:xfrm>
          <a:prstGeom prst="rect">
            <a:avLst/>
          </a:prstGeom>
          <a:solidFill>
            <a:srgbClr val="E6A75E"/>
          </a:solidFill>
          <a:ln w="6350">
            <a:solidFill>
              <a:srgbClr val="FFFFFF"/>
            </a:solidFill>
            <a:prstDash val="solid"/>
          </a:ln>
        </p:spPr>
      </p:sp>
      <p:sp>
        <p:nvSpPr>
          <p:cNvPr id="15" name="anim-2-wipe-0-702"/>
          <p:cNvSpPr/>
          <p:nvPr/>
        </p:nvSpPr>
        <p:spPr>
          <a:xfrm flipV="1">
            <a:off x="1417320" y="2103120"/>
            <a:ext cx="1810512" cy="182880"/>
          </a:xfrm>
          <a:prstGeom prst="line">
            <a:avLst/>
          </a:prstGeom>
          <a:noFill/>
          <a:ln w="12700">
            <a:solidFill>
              <a:srgbClr val="5EEAD4"/>
            </a:solidFill>
            <a:prstDash val="solid"/>
          </a:ln>
        </p:spPr>
      </p:sp>
      <p:sp>
        <p:nvSpPr>
          <p:cNvPr id="16" name="anim-2-wipe-0-703"/>
          <p:cNvSpPr/>
          <p:nvPr/>
        </p:nvSpPr>
        <p:spPr>
          <a:xfrm>
            <a:off x="1417320" y="4736592"/>
            <a:ext cx="1810512" cy="109728"/>
          </a:xfrm>
          <a:prstGeom prst="line">
            <a:avLst/>
          </a:prstGeom>
          <a:noFill/>
          <a:ln w="12700">
            <a:solidFill>
              <a:srgbClr val="5EEAD4"/>
            </a:solidFill>
            <a:prstDash val="solid"/>
          </a:ln>
        </p:spPr>
      </p:sp>
      <p:sp>
        <p:nvSpPr>
          <p:cNvPr id="17" name="anim-2-fade-200-704"/>
          <p:cNvSpPr/>
          <p:nvPr/>
        </p:nvSpPr>
        <p:spPr>
          <a:xfrm>
            <a:off x="3246120" y="2103120"/>
            <a:ext cx="137160" cy="137160"/>
          </a:xfrm>
          <a:prstGeom prst="ellipse">
            <a:avLst/>
          </a:prstGeom>
          <a:solidFill>
            <a:srgbClr val="FFFFFF"/>
          </a:solidFill>
          <a:ln w="9525">
            <a:solidFill>
              <a:srgbClr val="94A3B8"/>
            </a:solidFill>
            <a:prstDash val="solid"/>
          </a:ln>
        </p:spPr>
      </p:sp>
      <p:sp>
        <p:nvSpPr>
          <p:cNvPr id="18" name="anim-2-fade-230-705"/>
          <p:cNvSpPr/>
          <p:nvPr/>
        </p:nvSpPr>
        <p:spPr>
          <a:xfrm>
            <a:off x="3246120" y="2276856"/>
            <a:ext cx="137160" cy="137160"/>
          </a:xfrm>
          <a:prstGeom prst="ellipse">
            <a:avLst/>
          </a:prstGeom>
          <a:solidFill>
            <a:srgbClr val="FFFFFF"/>
          </a:solidFill>
          <a:ln w="9525">
            <a:solidFill>
              <a:srgbClr val="94A3B8"/>
            </a:solidFill>
            <a:prstDash val="solid"/>
          </a:ln>
        </p:spPr>
      </p:sp>
      <p:sp>
        <p:nvSpPr>
          <p:cNvPr id="19" name="anim-2-fade-260-706"/>
          <p:cNvSpPr/>
          <p:nvPr/>
        </p:nvSpPr>
        <p:spPr>
          <a:xfrm>
            <a:off x="3246120" y="2450592"/>
            <a:ext cx="137160" cy="137160"/>
          </a:xfrm>
          <a:prstGeom prst="ellipse">
            <a:avLst/>
          </a:prstGeom>
          <a:solidFill>
            <a:srgbClr val="FFFFFF"/>
          </a:solidFill>
          <a:ln w="9525">
            <a:solidFill>
              <a:srgbClr val="94A3B8"/>
            </a:solidFill>
            <a:prstDash val="solid"/>
          </a:ln>
        </p:spPr>
      </p:sp>
      <p:sp>
        <p:nvSpPr>
          <p:cNvPr id="20" name="anim-3-zoom-0-707"/>
          <p:cNvSpPr/>
          <p:nvPr/>
        </p:nvSpPr>
        <p:spPr>
          <a:xfrm>
            <a:off x="3246120" y="2450592"/>
            <a:ext cx="137160" cy="137160"/>
          </a:xfrm>
          <a:prstGeom prst="ellipse">
            <a:avLst/>
          </a:prstGeom>
          <a:solidFill>
            <a:srgbClr val="0D9488"/>
          </a:solidFill>
          <a:ln w="12700">
            <a:solidFill>
              <a:srgbClr val="0D9488"/>
            </a:solidFill>
            <a:prstDash val="solid"/>
          </a:ln>
        </p:spPr>
      </p:sp>
      <p:sp>
        <p:nvSpPr>
          <p:cNvPr id="21" name="anim-2-fade-290-708"/>
          <p:cNvSpPr/>
          <p:nvPr/>
        </p:nvSpPr>
        <p:spPr>
          <a:xfrm>
            <a:off x="3246120" y="2624328"/>
            <a:ext cx="137160" cy="137160"/>
          </a:xfrm>
          <a:prstGeom prst="ellipse">
            <a:avLst/>
          </a:prstGeom>
          <a:solidFill>
            <a:srgbClr val="FFFFFF"/>
          </a:solidFill>
          <a:ln w="9525">
            <a:solidFill>
              <a:srgbClr val="94A3B8"/>
            </a:solidFill>
            <a:prstDash val="solid"/>
          </a:ln>
        </p:spPr>
      </p:sp>
      <p:sp>
        <p:nvSpPr>
          <p:cNvPr id="22" name="anim-2-fade-320-709"/>
          <p:cNvSpPr/>
          <p:nvPr/>
        </p:nvSpPr>
        <p:spPr>
          <a:xfrm>
            <a:off x="3246120" y="2798064"/>
            <a:ext cx="137160" cy="137160"/>
          </a:xfrm>
          <a:prstGeom prst="ellipse">
            <a:avLst/>
          </a:prstGeom>
          <a:solidFill>
            <a:srgbClr val="FFFFFF"/>
          </a:solidFill>
          <a:ln w="9525">
            <a:solidFill>
              <a:srgbClr val="94A3B8"/>
            </a:solidFill>
            <a:prstDash val="solid"/>
          </a:ln>
        </p:spPr>
      </p:sp>
      <p:sp>
        <p:nvSpPr>
          <p:cNvPr id="23" name="anim-2-fade-350-710"/>
          <p:cNvSpPr/>
          <p:nvPr/>
        </p:nvSpPr>
        <p:spPr>
          <a:xfrm>
            <a:off x="3246120" y="2971800"/>
            <a:ext cx="137160" cy="137160"/>
          </a:xfrm>
          <a:prstGeom prst="ellipse">
            <a:avLst/>
          </a:prstGeom>
          <a:solidFill>
            <a:srgbClr val="FFFFFF"/>
          </a:solidFill>
          <a:ln w="9525">
            <a:solidFill>
              <a:srgbClr val="94A3B8"/>
            </a:solidFill>
            <a:prstDash val="solid"/>
          </a:ln>
        </p:spPr>
      </p:sp>
      <p:sp>
        <p:nvSpPr>
          <p:cNvPr id="24" name="anim-3-zoom-150-711"/>
          <p:cNvSpPr/>
          <p:nvPr/>
        </p:nvSpPr>
        <p:spPr>
          <a:xfrm>
            <a:off x="3246120" y="2971800"/>
            <a:ext cx="137160" cy="137160"/>
          </a:xfrm>
          <a:prstGeom prst="ellipse">
            <a:avLst/>
          </a:prstGeom>
          <a:solidFill>
            <a:srgbClr val="0D9488"/>
          </a:solidFill>
          <a:ln w="12700">
            <a:solidFill>
              <a:srgbClr val="0D9488"/>
            </a:solidFill>
            <a:prstDash val="solid"/>
          </a:ln>
        </p:spPr>
      </p:sp>
      <p:sp>
        <p:nvSpPr>
          <p:cNvPr id="25" name="anim-2-fade-380-712"/>
          <p:cNvSpPr/>
          <p:nvPr/>
        </p:nvSpPr>
        <p:spPr>
          <a:xfrm>
            <a:off x="3246120" y="3145536"/>
            <a:ext cx="137160" cy="137160"/>
          </a:xfrm>
          <a:prstGeom prst="ellipse">
            <a:avLst/>
          </a:prstGeom>
          <a:solidFill>
            <a:srgbClr val="FFFFFF"/>
          </a:solidFill>
          <a:ln w="9525">
            <a:solidFill>
              <a:srgbClr val="94A3B8"/>
            </a:solidFill>
            <a:prstDash val="solid"/>
          </a:ln>
        </p:spPr>
      </p:sp>
      <p:sp>
        <p:nvSpPr>
          <p:cNvPr id="26" name="anim-2-fade-410-713"/>
          <p:cNvSpPr/>
          <p:nvPr/>
        </p:nvSpPr>
        <p:spPr>
          <a:xfrm>
            <a:off x="3246120" y="3319272"/>
            <a:ext cx="137160" cy="137160"/>
          </a:xfrm>
          <a:prstGeom prst="ellipse">
            <a:avLst/>
          </a:prstGeom>
          <a:solidFill>
            <a:srgbClr val="FFFFFF"/>
          </a:solidFill>
          <a:ln w="9525">
            <a:solidFill>
              <a:srgbClr val="94A3B8"/>
            </a:solidFill>
            <a:prstDash val="solid"/>
          </a:ln>
        </p:spPr>
      </p:sp>
      <p:sp>
        <p:nvSpPr>
          <p:cNvPr id="27" name="anim-2-fade-440-714"/>
          <p:cNvSpPr/>
          <p:nvPr/>
        </p:nvSpPr>
        <p:spPr>
          <a:xfrm>
            <a:off x="3246120" y="3493008"/>
            <a:ext cx="137160" cy="137160"/>
          </a:xfrm>
          <a:prstGeom prst="ellipse">
            <a:avLst/>
          </a:prstGeom>
          <a:solidFill>
            <a:srgbClr val="FFFFFF"/>
          </a:solidFill>
          <a:ln w="9525">
            <a:solidFill>
              <a:srgbClr val="94A3B8"/>
            </a:solidFill>
            <a:prstDash val="solid"/>
          </a:ln>
        </p:spPr>
      </p:sp>
      <p:sp>
        <p:nvSpPr>
          <p:cNvPr id="28" name="anim-2-fade-470-715"/>
          <p:cNvSpPr/>
          <p:nvPr/>
        </p:nvSpPr>
        <p:spPr>
          <a:xfrm>
            <a:off x="3246120" y="3666744"/>
            <a:ext cx="137160" cy="137160"/>
          </a:xfrm>
          <a:prstGeom prst="ellipse">
            <a:avLst/>
          </a:prstGeom>
          <a:solidFill>
            <a:srgbClr val="FFFFFF"/>
          </a:solidFill>
          <a:ln w="9525">
            <a:solidFill>
              <a:srgbClr val="94A3B8"/>
            </a:solidFill>
            <a:prstDash val="solid"/>
          </a:ln>
        </p:spPr>
      </p:sp>
      <p:sp>
        <p:nvSpPr>
          <p:cNvPr id="29" name="anim-3-zoom-300-716"/>
          <p:cNvSpPr/>
          <p:nvPr/>
        </p:nvSpPr>
        <p:spPr>
          <a:xfrm>
            <a:off x="3246120" y="3666744"/>
            <a:ext cx="137160" cy="137160"/>
          </a:xfrm>
          <a:prstGeom prst="ellipse">
            <a:avLst/>
          </a:prstGeom>
          <a:solidFill>
            <a:srgbClr val="0D9488"/>
          </a:solidFill>
          <a:ln w="12700">
            <a:solidFill>
              <a:srgbClr val="0D9488"/>
            </a:solidFill>
            <a:prstDash val="solid"/>
          </a:ln>
        </p:spPr>
      </p:sp>
      <p:sp>
        <p:nvSpPr>
          <p:cNvPr id="30" name="anim-2-fade-500-717"/>
          <p:cNvSpPr/>
          <p:nvPr/>
        </p:nvSpPr>
        <p:spPr>
          <a:xfrm>
            <a:off x="3246120" y="3840480"/>
            <a:ext cx="137160" cy="137160"/>
          </a:xfrm>
          <a:prstGeom prst="ellipse">
            <a:avLst/>
          </a:prstGeom>
          <a:solidFill>
            <a:srgbClr val="FFFFFF"/>
          </a:solidFill>
          <a:ln w="9525">
            <a:solidFill>
              <a:srgbClr val="94A3B8"/>
            </a:solidFill>
            <a:prstDash val="solid"/>
          </a:ln>
        </p:spPr>
      </p:sp>
      <p:sp>
        <p:nvSpPr>
          <p:cNvPr id="31" name="anim-2-fade-530-718"/>
          <p:cNvSpPr/>
          <p:nvPr/>
        </p:nvSpPr>
        <p:spPr>
          <a:xfrm>
            <a:off x="3246120" y="4014216"/>
            <a:ext cx="137160" cy="137160"/>
          </a:xfrm>
          <a:prstGeom prst="ellipse">
            <a:avLst/>
          </a:prstGeom>
          <a:solidFill>
            <a:srgbClr val="FFFFFF"/>
          </a:solidFill>
          <a:ln w="9525">
            <a:solidFill>
              <a:srgbClr val="94A3B8"/>
            </a:solidFill>
            <a:prstDash val="solid"/>
          </a:ln>
        </p:spPr>
      </p:sp>
      <p:sp>
        <p:nvSpPr>
          <p:cNvPr id="32" name="anim-2-fade-560-719"/>
          <p:cNvSpPr/>
          <p:nvPr/>
        </p:nvSpPr>
        <p:spPr>
          <a:xfrm>
            <a:off x="3246120" y="4187952"/>
            <a:ext cx="137160" cy="137160"/>
          </a:xfrm>
          <a:prstGeom prst="ellipse">
            <a:avLst/>
          </a:prstGeom>
          <a:solidFill>
            <a:srgbClr val="FFFFFF"/>
          </a:solidFill>
          <a:ln w="9525">
            <a:solidFill>
              <a:srgbClr val="94A3B8"/>
            </a:solidFill>
            <a:prstDash val="solid"/>
          </a:ln>
        </p:spPr>
      </p:sp>
      <p:sp>
        <p:nvSpPr>
          <p:cNvPr id="33" name="anim-2-fade-590-720"/>
          <p:cNvSpPr/>
          <p:nvPr/>
        </p:nvSpPr>
        <p:spPr>
          <a:xfrm>
            <a:off x="3246120" y="4361688"/>
            <a:ext cx="137160" cy="137160"/>
          </a:xfrm>
          <a:prstGeom prst="ellipse">
            <a:avLst/>
          </a:prstGeom>
          <a:solidFill>
            <a:srgbClr val="FFFFFF"/>
          </a:solidFill>
          <a:ln w="9525">
            <a:solidFill>
              <a:srgbClr val="94A3B8"/>
            </a:solidFill>
            <a:prstDash val="solid"/>
          </a:ln>
        </p:spPr>
      </p:sp>
      <p:sp>
        <p:nvSpPr>
          <p:cNvPr id="34" name="anim-3-zoom-450-721"/>
          <p:cNvSpPr/>
          <p:nvPr/>
        </p:nvSpPr>
        <p:spPr>
          <a:xfrm>
            <a:off x="3246120" y="4361688"/>
            <a:ext cx="137160" cy="137160"/>
          </a:xfrm>
          <a:prstGeom prst="ellipse">
            <a:avLst/>
          </a:prstGeom>
          <a:solidFill>
            <a:srgbClr val="0D9488"/>
          </a:solidFill>
          <a:ln w="12700">
            <a:solidFill>
              <a:srgbClr val="0D9488"/>
            </a:solidFill>
            <a:prstDash val="solid"/>
          </a:ln>
        </p:spPr>
      </p:sp>
      <p:sp>
        <p:nvSpPr>
          <p:cNvPr id="35" name="anim-2-fade-620-722"/>
          <p:cNvSpPr/>
          <p:nvPr/>
        </p:nvSpPr>
        <p:spPr>
          <a:xfrm>
            <a:off x="3246120" y="4535424"/>
            <a:ext cx="137160" cy="137160"/>
          </a:xfrm>
          <a:prstGeom prst="ellipse">
            <a:avLst/>
          </a:prstGeom>
          <a:solidFill>
            <a:srgbClr val="FFFFFF"/>
          </a:solidFill>
          <a:ln w="9525">
            <a:solidFill>
              <a:srgbClr val="94A3B8"/>
            </a:solidFill>
            <a:prstDash val="solid"/>
          </a:ln>
        </p:spPr>
      </p:sp>
      <p:sp>
        <p:nvSpPr>
          <p:cNvPr id="36" name="anim-2-fade-650-723"/>
          <p:cNvSpPr/>
          <p:nvPr/>
        </p:nvSpPr>
        <p:spPr>
          <a:xfrm>
            <a:off x="3246120" y="4709160"/>
            <a:ext cx="137160" cy="137160"/>
          </a:xfrm>
          <a:prstGeom prst="ellipse">
            <a:avLst/>
          </a:prstGeom>
          <a:solidFill>
            <a:srgbClr val="FFFFFF"/>
          </a:solidFill>
          <a:ln w="9525">
            <a:solidFill>
              <a:srgbClr val="94A3B8"/>
            </a:solidFill>
            <a:prstDash val="solid"/>
          </a:ln>
        </p:spPr>
      </p:sp>
      <p:sp>
        <p:nvSpPr>
          <p:cNvPr id="37" name="anim-4-wipe-0-724"/>
          <p:cNvSpPr/>
          <p:nvPr/>
        </p:nvSpPr>
        <p:spPr>
          <a:xfrm>
            <a:off x="3401568" y="2103120"/>
            <a:ext cx="1764792" cy="182880"/>
          </a:xfrm>
          <a:prstGeom prst="line">
            <a:avLst/>
          </a:prstGeom>
          <a:noFill/>
          <a:ln w="12700">
            <a:solidFill>
              <a:srgbClr val="5EEAD4"/>
            </a:solidFill>
            <a:prstDash val="solid"/>
          </a:ln>
        </p:spPr>
      </p:sp>
      <p:sp>
        <p:nvSpPr>
          <p:cNvPr id="38" name="anim-4-wipe-0-725"/>
          <p:cNvSpPr/>
          <p:nvPr/>
        </p:nvSpPr>
        <p:spPr>
          <a:xfrm flipV="1">
            <a:off x="3401568" y="4736592"/>
            <a:ext cx="1764792" cy="109728"/>
          </a:xfrm>
          <a:prstGeom prst="line">
            <a:avLst/>
          </a:prstGeom>
          <a:noFill/>
          <a:ln w="12700">
            <a:solidFill>
              <a:srgbClr val="5EEAD4"/>
            </a:solidFill>
            <a:prstDash val="solid"/>
          </a:ln>
        </p:spPr>
      </p:sp>
      <p:sp>
        <p:nvSpPr>
          <p:cNvPr id="39" name="anim-4-fade-300-726"/>
          <p:cNvSpPr/>
          <p:nvPr/>
        </p:nvSpPr>
        <p:spPr>
          <a:xfrm>
            <a:off x="5166360" y="2286000"/>
            <a:ext cx="292608" cy="274320"/>
          </a:xfrm>
          <a:prstGeom prst="rect">
            <a:avLst/>
          </a:prstGeom>
          <a:solidFill>
            <a:srgbClr val="E9B170"/>
          </a:solidFill>
          <a:ln w="6350">
            <a:solidFill>
              <a:srgbClr val="FFFFFF"/>
            </a:solidFill>
            <a:prstDash val="solid"/>
          </a:ln>
        </p:spPr>
      </p:sp>
      <p:sp>
        <p:nvSpPr>
          <p:cNvPr id="40" name="anim-4-fade-340-727"/>
          <p:cNvSpPr/>
          <p:nvPr/>
        </p:nvSpPr>
        <p:spPr>
          <a:xfrm>
            <a:off x="5166360" y="2596896"/>
            <a:ext cx="292608" cy="274320"/>
          </a:xfrm>
          <a:prstGeom prst="rect">
            <a:avLst/>
          </a:prstGeom>
          <a:solidFill>
            <a:srgbClr val="229D92"/>
          </a:solidFill>
          <a:ln w="6350">
            <a:solidFill>
              <a:srgbClr val="FFFFFF"/>
            </a:solidFill>
            <a:prstDash val="solid"/>
          </a:ln>
        </p:spPr>
      </p:sp>
      <p:sp>
        <p:nvSpPr>
          <p:cNvPr id="41" name="anim-4-fade-380-728"/>
          <p:cNvSpPr/>
          <p:nvPr/>
        </p:nvSpPr>
        <p:spPr>
          <a:xfrm>
            <a:off x="5166360" y="2907792"/>
            <a:ext cx="292608" cy="274320"/>
          </a:xfrm>
          <a:prstGeom prst="rect">
            <a:avLst/>
          </a:prstGeom>
          <a:solidFill>
            <a:srgbClr val="9CD3CE"/>
          </a:solidFill>
          <a:ln w="6350">
            <a:solidFill>
              <a:srgbClr val="FFFFFF"/>
            </a:solidFill>
            <a:prstDash val="solid"/>
          </a:ln>
        </p:spPr>
      </p:sp>
      <p:sp>
        <p:nvSpPr>
          <p:cNvPr id="42" name="anim-4-fade-420-729"/>
          <p:cNvSpPr/>
          <p:nvPr/>
        </p:nvSpPr>
        <p:spPr>
          <a:xfrm>
            <a:off x="5166360" y="3218688"/>
            <a:ext cx="292608" cy="274320"/>
          </a:xfrm>
          <a:prstGeom prst="rect">
            <a:avLst/>
          </a:prstGeom>
          <a:solidFill>
            <a:srgbClr val="F6E0C6"/>
          </a:solidFill>
          <a:ln w="6350">
            <a:solidFill>
              <a:srgbClr val="FFFFFF"/>
            </a:solidFill>
            <a:prstDash val="solid"/>
          </a:ln>
        </p:spPr>
      </p:sp>
      <p:sp>
        <p:nvSpPr>
          <p:cNvPr id="43" name="anim-4-fade-460-730"/>
          <p:cNvSpPr/>
          <p:nvPr/>
        </p:nvSpPr>
        <p:spPr>
          <a:xfrm>
            <a:off x="5166360" y="3529584"/>
            <a:ext cx="292608" cy="274320"/>
          </a:xfrm>
          <a:prstGeom prst="rect">
            <a:avLst/>
          </a:prstGeom>
          <a:solidFill>
            <a:srgbClr val="A9D9D4"/>
          </a:solidFill>
          <a:ln w="6350">
            <a:solidFill>
              <a:srgbClr val="FFFFFF"/>
            </a:solidFill>
            <a:prstDash val="solid"/>
          </a:ln>
        </p:spPr>
      </p:sp>
      <p:sp>
        <p:nvSpPr>
          <p:cNvPr id="44" name="anim-4-fade-500-731"/>
          <p:cNvSpPr/>
          <p:nvPr/>
        </p:nvSpPr>
        <p:spPr>
          <a:xfrm>
            <a:off x="5166360" y="3840480"/>
            <a:ext cx="292608" cy="274320"/>
          </a:xfrm>
          <a:prstGeom prst="rect">
            <a:avLst/>
          </a:prstGeom>
          <a:solidFill>
            <a:srgbClr val="B6DFDB"/>
          </a:solidFill>
          <a:ln w="6350">
            <a:solidFill>
              <a:srgbClr val="FFFFFF"/>
            </a:solidFill>
            <a:prstDash val="solid"/>
          </a:ln>
        </p:spPr>
      </p:sp>
      <p:sp>
        <p:nvSpPr>
          <p:cNvPr id="45" name="anim-4-fade-540-732"/>
          <p:cNvSpPr/>
          <p:nvPr/>
        </p:nvSpPr>
        <p:spPr>
          <a:xfrm>
            <a:off x="5166360" y="4151376"/>
            <a:ext cx="292608" cy="274320"/>
          </a:xfrm>
          <a:prstGeom prst="rect">
            <a:avLst/>
          </a:prstGeom>
          <a:solidFill>
            <a:srgbClr val="BAE1DD"/>
          </a:solidFill>
          <a:ln w="6350">
            <a:solidFill>
              <a:srgbClr val="FFFFFF"/>
            </a:solidFill>
            <a:prstDash val="solid"/>
          </a:ln>
        </p:spPr>
      </p:sp>
      <p:sp>
        <p:nvSpPr>
          <p:cNvPr id="46" name="anim-4-fade-580-733"/>
          <p:cNvSpPr/>
          <p:nvPr/>
        </p:nvSpPr>
        <p:spPr>
          <a:xfrm>
            <a:off x="5166360" y="4462272"/>
            <a:ext cx="292608" cy="274320"/>
          </a:xfrm>
          <a:prstGeom prst="rect">
            <a:avLst/>
          </a:prstGeom>
          <a:solidFill>
            <a:srgbClr val="F0C99C"/>
          </a:solidFill>
          <a:ln w="6350">
            <a:solidFill>
              <a:srgbClr val="FFFFFF"/>
            </a:solidFill>
            <a:prstDash val="solid"/>
          </a:ln>
        </p:spPr>
      </p:sp>
      <p:sp>
        <p:nvSpPr>
          <p:cNvPr id="47" name="anim-1-fade-200-734"/>
          <p:cNvSpPr txBox="1"/>
          <p:nvPr/>
        </p:nvSpPr>
        <p:spPr>
          <a:xfrm>
            <a:off x="868680" y="5029200"/>
            <a:ext cx="777240" cy="411480"/>
          </a:xfrm>
          <a:prstGeom prst="rect">
            <a:avLst/>
          </a:prstGeom>
          <a:noFill/>
          <a:ln/>
        </p:spPr>
        <p:txBody>
          <a:bodyPr wrap="square" lIns="0" tIns="0" rIns="0" bIns="0" rtlCol="0" anchor="t"/>
          <a:lstStyle/>
          <a:p>
            <a:pPr algn="ctr" indent="0" marL="0">
              <a:buNone/>
            </a:pPr>
            <a:r>
              <a:rPr lang="en-US" sz="950" b="1" dirty="0">
                <a:solidFill>
                  <a:srgbClr val="0D9488"/>
                </a:solidFill>
                <a:latin typeface="Inter" pitchFamily="34" charset="0"/>
                <a:ea typeface="Inter" pitchFamily="34" charset="-122"/>
                <a:cs typeface="Inter" pitchFamily="34" charset="-120"/>
              </a:rPr>
              <a:t>In</a:t>
            </a:r>
            <a:endParaRPr lang="en-US" sz="950" dirty="0"/>
          </a:p>
        </p:txBody>
      </p:sp>
      <p:sp>
        <p:nvSpPr>
          <p:cNvPr id="48" name="anim-2-fade-200-735"/>
          <p:cNvSpPr txBox="1"/>
          <p:nvPr/>
        </p:nvSpPr>
        <p:spPr>
          <a:xfrm>
            <a:off x="1554480" y="5029200"/>
            <a:ext cx="1188720" cy="411480"/>
          </a:xfrm>
          <a:prstGeom prst="rect">
            <a:avLst/>
          </a:prstGeom>
          <a:noFill/>
          <a:ln/>
        </p:spPr>
        <p:txBody>
          <a:bodyPr wrap="square" lIns="0" tIns="0" rIns="0" bIns="0" rtlCol="0" anchor="t"/>
          <a:lstStyle/>
          <a:p>
            <a:pPr algn="ctr" indent="0" marL="0">
              <a:buNone/>
            </a:pPr>
            <a:r>
              <a:rPr lang="en-US" sz="950" b="1" dirty="0">
                <a:solidFill>
                  <a:srgbClr val="0D9488"/>
                </a:solidFill>
                <a:latin typeface="Inter" pitchFamily="34" charset="0"/>
                <a:ea typeface="Inter" pitchFamily="34" charset="-122"/>
                <a:cs typeface="Inter" pitchFamily="34" charset="-120"/>
              </a:rPr>
              <a:t>① expand ×4</a:t>
            </a:r>
            <a:endParaRPr lang="en-US" sz="950" dirty="0"/>
          </a:p>
          <a:p>
            <a:pPr algn="ctr" indent="0" marL="0">
              <a:buNone/>
            </a:pPr>
            <a:r>
              <a:rPr lang="en-US" sz="950" b="1" dirty="0">
                <a:solidFill>
                  <a:srgbClr val="0D9488"/>
                </a:solidFill>
                <a:latin typeface="Inter" pitchFamily="34" charset="0"/>
                <a:ea typeface="Inter" pitchFamily="34" charset="-122"/>
                <a:cs typeface="Inter" pitchFamily="34" charset="-120"/>
              </a:rPr>
              <a:t>768 → 3,072</a:t>
            </a:r>
            <a:endParaRPr lang="en-US" sz="950" dirty="0"/>
          </a:p>
        </p:txBody>
      </p:sp>
      <p:sp>
        <p:nvSpPr>
          <p:cNvPr id="49" name="anim-3-fade-200-736"/>
          <p:cNvSpPr txBox="1"/>
          <p:nvPr/>
        </p:nvSpPr>
        <p:spPr>
          <a:xfrm>
            <a:off x="2770632" y="5029200"/>
            <a:ext cx="1097280" cy="411480"/>
          </a:xfrm>
          <a:prstGeom prst="rect">
            <a:avLst/>
          </a:prstGeom>
          <a:noFill/>
          <a:ln/>
        </p:spPr>
        <p:txBody>
          <a:bodyPr wrap="square" lIns="0" tIns="0" rIns="0" bIns="0" rtlCol="0" anchor="t"/>
          <a:lstStyle/>
          <a:p>
            <a:pPr algn="ctr" indent="0" marL="0">
              <a:buNone/>
            </a:pPr>
            <a:r>
              <a:rPr lang="en-US" sz="950" b="1" dirty="0">
                <a:solidFill>
                  <a:srgbClr val="0D9488"/>
                </a:solidFill>
                <a:latin typeface="Inter" pitchFamily="34" charset="0"/>
                <a:ea typeface="Inter" pitchFamily="34" charset="-122"/>
                <a:cs typeface="Inter" pitchFamily="34" charset="-120"/>
              </a:rPr>
              <a:t>② GELU</a:t>
            </a:r>
            <a:endParaRPr lang="en-US" sz="950" dirty="0"/>
          </a:p>
          <a:p>
            <a:pPr algn="ctr" indent="0" marL="0">
              <a:buNone/>
            </a:pPr>
            <a:r>
              <a:rPr lang="en-US" sz="950" b="1" dirty="0">
                <a:solidFill>
                  <a:srgbClr val="0D9488"/>
                </a:solidFill>
                <a:latin typeface="Inter" pitchFamily="34" charset="0"/>
                <a:ea typeface="Inter" pitchFamily="34" charset="-122"/>
                <a:cs typeface="Inter" pitchFamily="34" charset="-120"/>
              </a:rPr>
              <a:t>switch on/off</a:t>
            </a:r>
            <a:endParaRPr lang="en-US" sz="950" dirty="0"/>
          </a:p>
        </p:txBody>
      </p:sp>
      <p:sp>
        <p:nvSpPr>
          <p:cNvPr id="50" name="anim-4-fade-200-737"/>
          <p:cNvSpPr txBox="1"/>
          <p:nvPr/>
        </p:nvSpPr>
        <p:spPr>
          <a:xfrm>
            <a:off x="3931920" y="5029200"/>
            <a:ext cx="1188720" cy="411480"/>
          </a:xfrm>
          <a:prstGeom prst="rect">
            <a:avLst/>
          </a:prstGeom>
          <a:noFill/>
          <a:ln/>
        </p:spPr>
        <p:txBody>
          <a:bodyPr wrap="square" lIns="0" tIns="0" rIns="0" bIns="0" rtlCol="0" anchor="t"/>
          <a:lstStyle/>
          <a:p>
            <a:pPr algn="ctr" indent="0" marL="0">
              <a:buNone/>
            </a:pPr>
            <a:r>
              <a:rPr lang="en-US" sz="950" b="1" dirty="0">
                <a:solidFill>
                  <a:srgbClr val="0D9488"/>
                </a:solidFill>
                <a:latin typeface="Inter" pitchFamily="34" charset="0"/>
                <a:ea typeface="Inter" pitchFamily="34" charset="-122"/>
                <a:cs typeface="Inter" pitchFamily="34" charset="-120"/>
              </a:rPr>
              <a:t>③ compress</a:t>
            </a:r>
            <a:endParaRPr lang="en-US" sz="950" dirty="0"/>
          </a:p>
          <a:p>
            <a:pPr algn="ctr" indent="0" marL="0">
              <a:buNone/>
            </a:pPr>
            <a:r>
              <a:rPr lang="en-US" sz="950" b="1" dirty="0">
                <a:solidFill>
                  <a:srgbClr val="0D9488"/>
                </a:solidFill>
                <a:latin typeface="Inter" pitchFamily="34" charset="0"/>
                <a:ea typeface="Inter" pitchFamily="34" charset="-122"/>
                <a:cs typeface="Inter" pitchFamily="34" charset="-120"/>
              </a:rPr>
              <a:t>3,072 → 768</a:t>
            </a:r>
            <a:endParaRPr lang="en-US" sz="950" dirty="0"/>
          </a:p>
        </p:txBody>
      </p:sp>
      <p:sp>
        <p:nvSpPr>
          <p:cNvPr id="51" name="anim-4-fade-200-738"/>
          <p:cNvSpPr txBox="1"/>
          <p:nvPr/>
        </p:nvSpPr>
        <p:spPr>
          <a:xfrm>
            <a:off x="4919472" y="5029200"/>
            <a:ext cx="777240" cy="411480"/>
          </a:xfrm>
          <a:prstGeom prst="rect">
            <a:avLst/>
          </a:prstGeom>
          <a:noFill/>
          <a:ln/>
        </p:spPr>
        <p:txBody>
          <a:bodyPr wrap="square" lIns="0" tIns="0" rIns="0" bIns="0" rtlCol="0" anchor="t"/>
          <a:lstStyle/>
          <a:p>
            <a:pPr algn="ctr" indent="0" marL="0">
              <a:buNone/>
            </a:pPr>
            <a:r>
              <a:rPr lang="en-US" sz="950" b="1" dirty="0">
                <a:solidFill>
                  <a:srgbClr val="0D9488"/>
                </a:solidFill>
                <a:latin typeface="Inter" pitchFamily="34" charset="0"/>
                <a:ea typeface="Inter" pitchFamily="34" charset="-122"/>
                <a:cs typeface="Inter" pitchFamily="34" charset="-120"/>
              </a:rPr>
              <a:t>Out</a:t>
            </a:r>
            <a:endParaRPr lang="en-US" sz="950" dirty="0"/>
          </a:p>
        </p:txBody>
      </p:sp>
      <p:sp>
        <p:nvSpPr>
          <p:cNvPr id="52" name="anim-5-fade-0-739"/>
          <p:cNvSpPr/>
          <p:nvPr/>
        </p:nvSpPr>
        <p:spPr>
          <a:xfrm>
            <a:off x="548640" y="5669280"/>
            <a:ext cx="457200" cy="310896"/>
          </a:xfrm>
          <a:prstGeom prst="roundRect">
            <a:avLst>
              <a:gd name="adj" fmla="val 20588"/>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53" name="anim-5-fade-0-740"/>
          <p:cNvSpPr/>
          <p:nvPr/>
        </p:nvSpPr>
        <p:spPr>
          <a:xfrm>
            <a:off x="1024128" y="5824728"/>
            <a:ext cx="128016" cy="0"/>
          </a:xfrm>
          <a:prstGeom prst="line">
            <a:avLst/>
          </a:prstGeom>
          <a:noFill/>
          <a:ln w="12700">
            <a:solidFill>
              <a:srgbClr val="0D9488"/>
            </a:solidFill>
            <a:prstDash val="solid"/>
            <a:tailEnd type="triangle"/>
          </a:ln>
        </p:spPr>
      </p:sp>
      <p:sp>
        <p:nvSpPr>
          <p:cNvPr id="54" name="anim-5-fade-50-741"/>
          <p:cNvSpPr/>
          <p:nvPr/>
        </p:nvSpPr>
        <p:spPr>
          <a:xfrm>
            <a:off x="1170432" y="5669280"/>
            <a:ext cx="384048" cy="310896"/>
          </a:xfrm>
          <a:prstGeom prst="roundRect">
            <a:avLst>
              <a:gd name="adj" fmla="val 29412"/>
            </a:avLst>
          </a:prstGeom>
          <a:solidFill>
            <a:srgbClr val="CCFBF1"/>
          </a:solidFill>
          <a:ln/>
        </p:spPr>
        <p:txBody>
          <a:bodyPr wrap="square" lIns="0" tIns="0" rIns="0" bIns="0" rtlCol="0" anchor="ctr"/>
          <a:lstStyle/>
          <a:p>
            <a:pPr algn="ctr" indent="0" marL="0">
              <a:buNone/>
            </a:pPr>
            <a:r>
              <a:rPr lang="en-US" sz="900" b="1" dirty="0">
                <a:solidFill>
                  <a:srgbClr val="0D9488"/>
                </a:solidFill>
                <a:latin typeface="Inter" pitchFamily="34" charset="0"/>
                <a:ea typeface="Inter" pitchFamily="34" charset="-122"/>
                <a:cs typeface="Inter" pitchFamily="34" charset="-120"/>
              </a:rPr>
              <a:t>FFN</a:t>
            </a:r>
            <a:endParaRPr lang="en-US" sz="900" dirty="0"/>
          </a:p>
        </p:txBody>
      </p:sp>
      <p:sp>
        <p:nvSpPr>
          <p:cNvPr id="55" name="anim-5-fade-100-742"/>
          <p:cNvSpPr/>
          <p:nvPr/>
        </p:nvSpPr>
        <p:spPr>
          <a:xfrm>
            <a:off x="1737360" y="5669280"/>
            <a:ext cx="457200" cy="310896"/>
          </a:xfrm>
          <a:prstGeom prst="roundRect">
            <a:avLst>
              <a:gd name="adj" fmla="val 20588"/>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cat</a:t>
            </a:r>
            <a:endParaRPr lang="en-US" sz="1000" dirty="0"/>
          </a:p>
        </p:txBody>
      </p:sp>
      <p:sp>
        <p:nvSpPr>
          <p:cNvPr id="56" name="anim-5-fade-100-743"/>
          <p:cNvSpPr/>
          <p:nvPr/>
        </p:nvSpPr>
        <p:spPr>
          <a:xfrm>
            <a:off x="2212848" y="5824728"/>
            <a:ext cx="128016" cy="0"/>
          </a:xfrm>
          <a:prstGeom prst="line">
            <a:avLst/>
          </a:prstGeom>
          <a:noFill/>
          <a:ln w="12700">
            <a:solidFill>
              <a:srgbClr val="0D9488"/>
            </a:solidFill>
            <a:prstDash val="solid"/>
            <a:tailEnd type="triangle"/>
          </a:ln>
        </p:spPr>
      </p:sp>
      <p:sp>
        <p:nvSpPr>
          <p:cNvPr id="57" name="anim-5-fade-150-744"/>
          <p:cNvSpPr/>
          <p:nvPr/>
        </p:nvSpPr>
        <p:spPr>
          <a:xfrm>
            <a:off x="2359152" y="5669280"/>
            <a:ext cx="384048" cy="310896"/>
          </a:xfrm>
          <a:prstGeom prst="roundRect">
            <a:avLst>
              <a:gd name="adj" fmla="val 29412"/>
            </a:avLst>
          </a:prstGeom>
          <a:solidFill>
            <a:srgbClr val="CCFBF1"/>
          </a:solidFill>
          <a:ln/>
        </p:spPr>
        <p:txBody>
          <a:bodyPr wrap="square" lIns="0" tIns="0" rIns="0" bIns="0" rtlCol="0" anchor="ctr"/>
          <a:lstStyle/>
          <a:p>
            <a:pPr algn="ctr" indent="0" marL="0">
              <a:buNone/>
            </a:pPr>
            <a:r>
              <a:rPr lang="en-US" sz="900" b="1" dirty="0">
                <a:solidFill>
                  <a:srgbClr val="0D9488"/>
                </a:solidFill>
                <a:latin typeface="Inter" pitchFamily="34" charset="0"/>
                <a:ea typeface="Inter" pitchFamily="34" charset="-122"/>
                <a:cs typeface="Inter" pitchFamily="34" charset="-120"/>
              </a:rPr>
              <a:t>FFN</a:t>
            </a:r>
            <a:endParaRPr lang="en-US" sz="900" dirty="0"/>
          </a:p>
        </p:txBody>
      </p:sp>
      <p:sp>
        <p:nvSpPr>
          <p:cNvPr id="58" name="anim-5-fade-200-745"/>
          <p:cNvSpPr/>
          <p:nvPr/>
        </p:nvSpPr>
        <p:spPr>
          <a:xfrm>
            <a:off x="2926080" y="5669280"/>
            <a:ext cx="457200" cy="310896"/>
          </a:xfrm>
          <a:prstGeom prst="roundRect">
            <a:avLst>
              <a:gd name="adj" fmla="val 20588"/>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sat</a:t>
            </a:r>
            <a:endParaRPr lang="en-US" sz="1000" dirty="0"/>
          </a:p>
        </p:txBody>
      </p:sp>
      <p:sp>
        <p:nvSpPr>
          <p:cNvPr id="59" name="anim-5-fade-200-746"/>
          <p:cNvSpPr/>
          <p:nvPr/>
        </p:nvSpPr>
        <p:spPr>
          <a:xfrm>
            <a:off x="3401568" y="5824728"/>
            <a:ext cx="128016" cy="0"/>
          </a:xfrm>
          <a:prstGeom prst="line">
            <a:avLst/>
          </a:prstGeom>
          <a:noFill/>
          <a:ln w="12700">
            <a:solidFill>
              <a:srgbClr val="0D9488"/>
            </a:solidFill>
            <a:prstDash val="solid"/>
            <a:tailEnd type="triangle"/>
          </a:ln>
        </p:spPr>
      </p:sp>
      <p:sp>
        <p:nvSpPr>
          <p:cNvPr id="60" name="anim-5-fade-250-747"/>
          <p:cNvSpPr/>
          <p:nvPr/>
        </p:nvSpPr>
        <p:spPr>
          <a:xfrm>
            <a:off x="3547872" y="5669280"/>
            <a:ext cx="384048" cy="310896"/>
          </a:xfrm>
          <a:prstGeom prst="roundRect">
            <a:avLst>
              <a:gd name="adj" fmla="val 29412"/>
            </a:avLst>
          </a:prstGeom>
          <a:solidFill>
            <a:srgbClr val="CCFBF1"/>
          </a:solidFill>
          <a:ln/>
        </p:spPr>
        <p:txBody>
          <a:bodyPr wrap="square" lIns="0" tIns="0" rIns="0" bIns="0" rtlCol="0" anchor="ctr"/>
          <a:lstStyle/>
          <a:p>
            <a:pPr algn="ctr" indent="0" marL="0">
              <a:buNone/>
            </a:pPr>
            <a:r>
              <a:rPr lang="en-US" sz="900" b="1" dirty="0">
                <a:solidFill>
                  <a:srgbClr val="0D9488"/>
                </a:solidFill>
                <a:latin typeface="Inter" pitchFamily="34" charset="0"/>
                <a:ea typeface="Inter" pitchFamily="34" charset="-122"/>
                <a:cs typeface="Inter" pitchFamily="34" charset="-120"/>
              </a:rPr>
              <a:t>FFN</a:t>
            </a:r>
            <a:endParaRPr lang="en-US" sz="900" dirty="0"/>
          </a:p>
        </p:txBody>
      </p:sp>
      <p:sp>
        <p:nvSpPr>
          <p:cNvPr id="61" name="anim-5-fade-300-748"/>
          <p:cNvSpPr/>
          <p:nvPr/>
        </p:nvSpPr>
        <p:spPr>
          <a:xfrm>
            <a:off x="4114800" y="5669280"/>
            <a:ext cx="457200" cy="310896"/>
          </a:xfrm>
          <a:prstGeom prst="roundRect">
            <a:avLst>
              <a:gd name="adj" fmla="val 20588"/>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on</a:t>
            </a:r>
            <a:endParaRPr lang="en-US" sz="1000" dirty="0"/>
          </a:p>
        </p:txBody>
      </p:sp>
      <p:sp>
        <p:nvSpPr>
          <p:cNvPr id="62" name="anim-5-fade-300-749"/>
          <p:cNvSpPr/>
          <p:nvPr/>
        </p:nvSpPr>
        <p:spPr>
          <a:xfrm>
            <a:off x="4590288" y="5824728"/>
            <a:ext cx="128016" cy="0"/>
          </a:xfrm>
          <a:prstGeom prst="line">
            <a:avLst/>
          </a:prstGeom>
          <a:noFill/>
          <a:ln w="12700">
            <a:solidFill>
              <a:srgbClr val="0D9488"/>
            </a:solidFill>
            <a:prstDash val="solid"/>
            <a:tailEnd type="triangle"/>
          </a:ln>
        </p:spPr>
      </p:sp>
      <p:sp>
        <p:nvSpPr>
          <p:cNvPr id="63" name="anim-5-fade-350-750"/>
          <p:cNvSpPr/>
          <p:nvPr/>
        </p:nvSpPr>
        <p:spPr>
          <a:xfrm>
            <a:off x="4736592" y="5669280"/>
            <a:ext cx="384048" cy="310896"/>
          </a:xfrm>
          <a:prstGeom prst="roundRect">
            <a:avLst>
              <a:gd name="adj" fmla="val 29412"/>
            </a:avLst>
          </a:prstGeom>
          <a:solidFill>
            <a:srgbClr val="CCFBF1"/>
          </a:solidFill>
          <a:ln/>
        </p:spPr>
        <p:txBody>
          <a:bodyPr wrap="square" lIns="0" tIns="0" rIns="0" bIns="0" rtlCol="0" anchor="ctr"/>
          <a:lstStyle/>
          <a:p>
            <a:pPr algn="ctr" indent="0" marL="0">
              <a:buNone/>
            </a:pPr>
            <a:r>
              <a:rPr lang="en-US" sz="900" b="1" dirty="0">
                <a:solidFill>
                  <a:srgbClr val="0D9488"/>
                </a:solidFill>
                <a:latin typeface="Inter" pitchFamily="34" charset="0"/>
                <a:ea typeface="Inter" pitchFamily="34" charset="-122"/>
                <a:cs typeface="Inter" pitchFamily="34" charset="-120"/>
              </a:rPr>
              <a:t>FFN</a:t>
            </a:r>
            <a:endParaRPr lang="en-US" sz="900" dirty="0"/>
          </a:p>
        </p:txBody>
      </p:sp>
      <p:sp>
        <p:nvSpPr>
          <p:cNvPr id="64" name="anim-5-fade-400-751"/>
          <p:cNvSpPr/>
          <p:nvPr/>
        </p:nvSpPr>
        <p:spPr>
          <a:xfrm>
            <a:off x="5303520" y="5669280"/>
            <a:ext cx="457200" cy="310896"/>
          </a:xfrm>
          <a:prstGeom prst="roundRect">
            <a:avLst>
              <a:gd name="adj" fmla="val 20588"/>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65" name="anim-5-fade-400-752"/>
          <p:cNvSpPr/>
          <p:nvPr/>
        </p:nvSpPr>
        <p:spPr>
          <a:xfrm>
            <a:off x="5779008" y="5824728"/>
            <a:ext cx="128016" cy="0"/>
          </a:xfrm>
          <a:prstGeom prst="line">
            <a:avLst/>
          </a:prstGeom>
          <a:noFill/>
          <a:ln w="12700">
            <a:solidFill>
              <a:srgbClr val="0D9488"/>
            </a:solidFill>
            <a:prstDash val="solid"/>
            <a:tailEnd type="triangle"/>
          </a:ln>
        </p:spPr>
      </p:sp>
      <p:sp>
        <p:nvSpPr>
          <p:cNvPr id="66" name="anim-5-fade-450-753"/>
          <p:cNvSpPr/>
          <p:nvPr/>
        </p:nvSpPr>
        <p:spPr>
          <a:xfrm>
            <a:off x="5925312" y="5669280"/>
            <a:ext cx="384048" cy="310896"/>
          </a:xfrm>
          <a:prstGeom prst="roundRect">
            <a:avLst>
              <a:gd name="adj" fmla="val 29412"/>
            </a:avLst>
          </a:prstGeom>
          <a:solidFill>
            <a:srgbClr val="CCFBF1"/>
          </a:solidFill>
          <a:ln/>
        </p:spPr>
        <p:txBody>
          <a:bodyPr wrap="square" lIns="0" tIns="0" rIns="0" bIns="0" rtlCol="0" anchor="ctr"/>
          <a:lstStyle/>
          <a:p>
            <a:pPr algn="ctr" indent="0" marL="0">
              <a:buNone/>
            </a:pPr>
            <a:r>
              <a:rPr lang="en-US" sz="900" b="1" dirty="0">
                <a:solidFill>
                  <a:srgbClr val="0D9488"/>
                </a:solidFill>
                <a:latin typeface="Inter" pitchFamily="34" charset="0"/>
                <a:ea typeface="Inter" pitchFamily="34" charset="-122"/>
                <a:cs typeface="Inter" pitchFamily="34" charset="-120"/>
              </a:rPr>
              <a:t>FFN</a:t>
            </a:r>
            <a:endParaRPr lang="en-US" sz="900" dirty="0"/>
          </a:p>
        </p:txBody>
      </p:sp>
      <p:sp>
        <p:nvSpPr>
          <p:cNvPr id="67" name="anim-5-fade-500-754"/>
          <p:cNvSpPr txBox="1"/>
          <p:nvPr/>
        </p:nvSpPr>
        <p:spPr>
          <a:xfrm>
            <a:off x="548640" y="6053328"/>
            <a:ext cx="5943600" cy="201168"/>
          </a:xfrm>
          <a:prstGeom prst="rect">
            <a:avLst/>
          </a:prstGeom>
          <a:noFill/>
          <a:ln/>
        </p:spPr>
        <p:txBody>
          <a:bodyPr wrap="square" lIns="0" tIns="0" rIns="0" bIns="0" rtlCol="0" anchor="t"/>
          <a:lstStyle/>
          <a:p>
            <a:pPr indent="0" marL="0">
              <a:buNone/>
            </a:pPr>
            <a:r>
              <a:rPr lang="en-US" sz="900" i="1" dirty="0">
                <a:solidFill>
                  <a:srgbClr val="64748B"/>
                </a:solidFill>
                <a:latin typeface="Inter" pitchFamily="34" charset="0"/>
                <a:ea typeface="Inter" pitchFamily="34" charset="-122"/>
                <a:cs typeface="Inter" pitchFamily="34" charset="-120"/>
              </a:rPr>
              <a:t>same weights, every token, in parallel</a:t>
            </a:r>
            <a:endParaRPr lang="en-US" sz="900" dirty="0"/>
          </a:p>
        </p:txBody>
      </p:sp>
      <p:sp>
        <p:nvSpPr>
          <p:cNvPr id="68" name="Text 66"/>
          <p:cNvSpPr/>
          <p:nvPr/>
        </p:nvSpPr>
        <p:spPr>
          <a:xfrm>
            <a:off x="7040880" y="1691640"/>
            <a:ext cx="4572000" cy="1051560"/>
          </a:xfrm>
          <a:prstGeom prst="roundRect">
            <a:avLst>
              <a:gd name="adj" fmla="val 8696"/>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Attention = a group meeting</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Tokens exchange information. “the” hears that a cat is sitting on something.</a:t>
            </a:r>
            <a:endParaRPr lang="en-US" sz="1300" dirty="0"/>
          </a:p>
        </p:txBody>
      </p:sp>
      <p:sp>
        <p:nvSpPr>
          <p:cNvPr id="69" name="Text 67"/>
          <p:cNvSpPr/>
          <p:nvPr/>
        </p:nvSpPr>
        <p:spPr>
          <a:xfrm>
            <a:off x="7040880" y="2880360"/>
            <a:ext cx="4572000" cy="1051560"/>
          </a:xfrm>
          <a:prstGeom prst="roundRect">
            <a:avLst>
              <a:gd name="adj" fmla="val 8696"/>
            </a:avLst>
          </a:prstGeom>
          <a:solidFill>
            <a:srgbClr val="CCFBF1"/>
          </a:solidFill>
          <a:ln/>
        </p:spPr>
        <p:txBody>
          <a:bodyPr wrap="square" lIns="127000" tIns="152400" rIns="152400" bIns="127000" rtlCol="0" anchor="t"/>
          <a:lstStyle/>
          <a:p>
            <a:pPr indent="0" marL="0">
              <a:buNone/>
            </a:pPr>
            <a:r>
              <a:rPr lang="en-US" sz="1300" b="1" dirty="0">
                <a:solidFill>
                  <a:srgbClr val="0D9488"/>
                </a:solidFill>
                <a:latin typeface="Inter" pitchFamily="34" charset="0"/>
                <a:ea typeface="Inter" pitchFamily="34" charset="-122"/>
                <a:cs typeface="Inter" pitchFamily="34" charset="-120"/>
              </a:rPr>
              <a:t>Feed-forward = desk work</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Each token goes back to its own desk and processes what it heard — alone.</a:t>
            </a:r>
            <a:endParaRPr lang="en-US" sz="1300" dirty="0"/>
          </a:p>
        </p:txBody>
      </p:sp>
      <p:sp>
        <p:nvSpPr>
          <p:cNvPr id="70" name="anim-3-rise-300-755"/>
          <p:cNvSpPr/>
          <p:nvPr/>
        </p:nvSpPr>
        <p:spPr>
          <a:xfrm>
            <a:off x="7040880" y="4069080"/>
            <a:ext cx="4572000" cy="1371600"/>
          </a:xfrm>
          <a:prstGeom prst="roundRect">
            <a:avLst>
              <a:gd name="adj" fmla="val 6667"/>
            </a:avLst>
          </a:prstGeom>
          <a:solidFill>
            <a:srgbClr val="FFFFFF"/>
          </a:solidFill>
          <a:ln w="12700">
            <a:solidFill>
              <a:srgbClr val="5EEAD4"/>
            </a:solidFill>
          </a:ln>
        </p:spPr>
        <p:txBody>
          <a:bodyPr wrap="square" lIns="127000" tIns="152400" rIns="152400" bIns="127000" rtlCol="0" anchor="t"/>
          <a:lstStyle/>
          <a:p>
            <a:pPr indent="0" marL="0">
              <a:buNone/>
            </a:pPr>
            <a:r>
              <a:rPr lang="en-US" sz="1300" b="1" dirty="0">
                <a:solidFill>
                  <a:srgbClr val="0D9488"/>
                </a:solidFill>
                <a:latin typeface="Inter" pitchFamily="34" charset="0"/>
                <a:ea typeface="Inter" pitchFamily="34" charset="-122"/>
                <a:cs typeface="Inter" pitchFamily="34" charset="-120"/>
              </a:rPr>
              <a:t>What lit neurons might encode for “the”</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  a surface or location comes next</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  household-object words are likely</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  the noun phrase is about to end</a:t>
            </a:r>
            <a:endParaRPr lang="en-US" sz="1300" dirty="0"/>
          </a:p>
        </p:txBody>
      </p:sp>
      <p:sp>
        <p:nvSpPr>
          <p:cNvPr id="71" name="anim-5-fade-600-756"/>
          <p:cNvSpPr txBox="1"/>
          <p:nvPr/>
        </p:nvSpPr>
        <p:spPr>
          <a:xfrm>
            <a:off x="7040880" y="5596128"/>
            <a:ext cx="4572000" cy="548640"/>
          </a:xfrm>
          <a:prstGeom prst="rect">
            <a:avLst/>
          </a:prstGeom>
          <a:noFill/>
          <a:ln/>
        </p:spPr>
        <p:txBody>
          <a:bodyPr wrap="square" lIns="0" tIns="0" rIns="0" bIns="0" rtlCol="0" anchor="t"/>
          <a:lstStyle/>
          <a:p>
            <a:pPr indent="0" marL="0">
              <a:buNone/>
            </a:pPr>
            <a:r>
              <a:rPr lang="en-US" sz="1000" dirty="0">
                <a:solidFill>
                  <a:srgbClr val="64748B"/>
                </a:solidFill>
                <a:latin typeface="Inter" pitchFamily="34" charset="0"/>
                <a:ea typeface="Inter" pitchFamily="34" charset="-122"/>
                <a:cs typeface="Inter" pitchFamily="34" charset="-120"/>
              </a:rPr>
              <a:t>About two-thirds of the weights inside the blocks live in these layers; researchers believe much of its factual knowledge is stored here.</a:t>
            </a:r>
            <a:endParaRPr lang="en-US" sz="10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2"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5"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8"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1"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4"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7"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30" presetID="10" presetClass="entr" presetSubtype="0" fill="hold" grpId="0" nodeType="withEffect">
                                  <p:stCondLst>
                                    <p:cond delay="200"/>
                                  </p:stCondLst>
                                  <p:childTnLst>
                                    <p:set>
                                      <p:cBhvr>
                                        <p:cTn id="29" dur="1" fill="hold">
                                          <p:stCondLst>
                                            <p:cond delay="0"/>
                                          </p:stCondLst>
                                        </p:cTn>
                                        <p:tgtEl>
                                          <p:spTgt spid="47"/>
                                        </p:tgtEl>
                                        <p:attrNameLst>
                                          <p:attrName>style.visibility</p:attrName>
                                        </p:attrNameLst>
                                      </p:cBhvr>
                                      <p:to>
                                        <p:strVal val="visible"/>
                                      </p:to>
                                    </p:set>
                                    <p:animEffect transition="in" filter="fade">
                                      <p:cBhvr>
                                        <p:cTn id="31" dur="500"/>
                                        <p:tgtEl>
                                          <p:spTgt spid="47"/>
                                        </p:tgtEl>
                                      </p:cBhvr>
                                    </p:animEffect>
                                  </p:childTnLst>
                                </p:cTn>
                              </p:par>
                            </p:childTnLst>
                          </p:cTn>
                        </p:par>
                      </p:childTnLst>
                    </p:cTn>
                  </p:par>
                  <p:par>
                    <p:cTn id="32" fill="hold">
                      <p:stCondLst>
                        <p:cond delay="indefinite"/>
                      </p:stCondLst>
                      <p:childTnLst>
                        <p:par>
                          <p:cTn id="33" fill="hold">
                            <p:stCondLst>
                              <p:cond delay="0"/>
                            </p:stCondLst>
                            <p:childTnLst>
                              <p:par>
                                <p:cTn id="35" presetID="22" presetClass="entr" presetSubtype="8"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6" dur="450"/>
                                        <p:tgtEl>
                                          <p:spTgt spid="15"/>
                                        </p:tgtEl>
                                      </p:cBhvr>
                                    </p:animEffect>
                                  </p:childTnLst>
                                </p:cTn>
                              </p:par>
                              <p:par>
                                <p:cTn id="38"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9" dur="450"/>
                                        <p:tgtEl>
                                          <p:spTgt spid="16"/>
                                        </p:tgtEl>
                                      </p:cBhvr>
                                    </p:animEffect>
                                  </p:childTnLst>
                                </p:cTn>
                              </p:par>
                              <p:par>
                                <p:cTn id="41" presetID="10" presetClass="entr" presetSubtype="0" fill="hold" grpId="0" nodeType="withEffect">
                                  <p:stCondLst>
                                    <p:cond delay="200"/>
                                  </p:stCondLst>
                                  <p:childTnLst>
                                    <p:set>
                                      <p:cBhvr>
                                        <p:cTn id="40"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4" presetID="10" presetClass="entr" presetSubtype="0" fill="hold" grpId="0" nodeType="withEffect">
                                  <p:stCondLst>
                                    <p:cond delay="200"/>
                                  </p:stCondLst>
                                  <p:childTnLst>
                                    <p:set>
                                      <p:cBhvr>
                                        <p:cTn id="43"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par>
                                <p:cTn id="47" presetID="10" presetClass="entr" presetSubtype="0" fill="hold" grpId="0" nodeType="withEffect">
                                  <p:stCondLst>
                                    <p:cond delay="230"/>
                                  </p:stCondLst>
                                  <p:childTnLst>
                                    <p:set>
                                      <p:cBhvr>
                                        <p:cTn id="46"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50" presetID="10" presetClass="entr" presetSubtype="0" fill="hold" grpId="0" nodeType="withEffect">
                                  <p:stCondLst>
                                    <p:cond delay="260"/>
                                  </p:stCondLst>
                                  <p:childTnLst>
                                    <p:set>
                                      <p:cBhvr>
                                        <p:cTn id="49"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3" presetID="10" presetClass="entr" presetSubtype="0" fill="hold" grpId="0" nodeType="withEffect">
                                  <p:stCondLst>
                                    <p:cond delay="290"/>
                                  </p:stCondLst>
                                  <p:childTnLst>
                                    <p:set>
                                      <p:cBhvr>
                                        <p:cTn id="52"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6" presetID="10" presetClass="entr" presetSubtype="0" fill="hold" grpId="0" nodeType="withEffect">
                                  <p:stCondLst>
                                    <p:cond delay="320"/>
                                  </p:stCondLst>
                                  <p:childTnLst>
                                    <p:set>
                                      <p:cBhvr>
                                        <p:cTn id="55"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9" presetID="10" presetClass="entr" presetSubtype="0" fill="hold" grpId="0" nodeType="withEffect">
                                  <p:stCondLst>
                                    <p:cond delay="350"/>
                                  </p:stCondLst>
                                  <p:childTnLst>
                                    <p:set>
                                      <p:cBhvr>
                                        <p:cTn id="58"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2" presetID="10" presetClass="entr" presetSubtype="0" fill="hold" grpId="0" nodeType="withEffect">
                                  <p:stCondLst>
                                    <p:cond delay="380"/>
                                  </p:stCondLst>
                                  <p:childTnLst>
                                    <p:set>
                                      <p:cBhvr>
                                        <p:cTn id="61"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par>
                                <p:cTn id="65" presetID="10" presetClass="entr" presetSubtype="0" fill="hold" grpId="0" nodeType="withEffect">
                                  <p:stCondLst>
                                    <p:cond delay="410"/>
                                  </p:stCondLst>
                                  <p:childTnLst>
                                    <p:set>
                                      <p:cBhvr>
                                        <p:cTn id="64"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8" presetID="10" presetClass="entr" presetSubtype="0" fill="hold" grpId="0" nodeType="withEffect">
                                  <p:stCondLst>
                                    <p:cond delay="440"/>
                                  </p:stCondLst>
                                  <p:childTnLst>
                                    <p:set>
                                      <p:cBhvr>
                                        <p:cTn id="67"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par>
                                <p:cTn id="71" presetID="10" presetClass="entr" presetSubtype="0" fill="hold" grpId="0" nodeType="withEffect">
                                  <p:stCondLst>
                                    <p:cond delay="470"/>
                                  </p:stCondLst>
                                  <p:childTnLst>
                                    <p:set>
                                      <p:cBhvr>
                                        <p:cTn id="70"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par>
                                <p:cTn id="74" presetID="10" presetClass="entr" presetSubtype="0" fill="hold" grpId="0" nodeType="withEffect">
                                  <p:stCondLst>
                                    <p:cond delay="500"/>
                                  </p:stCondLst>
                                  <p:childTnLst>
                                    <p:set>
                                      <p:cBhvr>
                                        <p:cTn id="73"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par>
                                <p:cTn id="77" presetID="10" presetClass="entr" presetSubtype="0" fill="hold" grpId="0" nodeType="withEffect">
                                  <p:stCondLst>
                                    <p:cond delay="530"/>
                                  </p:stCondLst>
                                  <p:childTnLst>
                                    <p:set>
                                      <p:cBhvr>
                                        <p:cTn id="76"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80" presetID="10" presetClass="entr" presetSubtype="0" fill="hold" grpId="0" nodeType="withEffect">
                                  <p:stCondLst>
                                    <p:cond delay="560"/>
                                  </p:stCondLst>
                                  <p:childTnLst>
                                    <p:set>
                                      <p:cBhvr>
                                        <p:cTn id="79"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3" presetID="10" presetClass="entr" presetSubtype="0" fill="hold" grpId="0" nodeType="withEffect">
                                  <p:stCondLst>
                                    <p:cond delay="590"/>
                                  </p:stCondLst>
                                  <p:childTnLst>
                                    <p:set>
                                      <p:cBhvr>
                                        <p:cTn id="82"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par>
                                <p:cTn id="86" presetID="10" presetClass="entr" presetSubtype="0" fill="hold" grpId="0" nodeType="withEffect">
                                  <p:stCondLst>
                                    <p:cond delay="620"/>
                                  </p:stCondLst>
                                  <p:childTnLst>
                                    <p:set>
                                      <p:cBhvr>
                                        <p:cTn id="85" dur="1" fill="hold">
                                          <p:stCondLst>
                                            <p:cond delay="0"/>
                                          </p:stCondLst>
                                        </p:cTn>
                                        <p:tgtEl>
                                          <p:spTgt spid="35"/>
                                        </p:tgtEl>
                                        <p:attrNameLst>
                                          <p:attrName>style.visibility</p:attrName>
                                        </p:attrNameLst>
                                      </p:cBhvr>
                                      <p:to>
                                        <p:strVal val="visible"/>
                                      </p:to>
                                    </p:set>
                                    <p:animEffect transition="in" filter="fade">
                                      <p:cBhvr>
                                        <p:cTn id="87" dur="500"/>
                                        <p:tgtEl>
                                          <p:spTgt spid="35"/>
                                        </p:tgtEl>
                                      </p:cBhvr>
                                    </p:animEffect>
                                  </p:childTnLst>
                                </p:cTn>
                              </p:par>
                              <p:par>
                                <p:cTn id="89" presetID="10" presetClass="entr" presetSubtype="0" fill="hold" grpId="0" nodeType="withEffect">
                                  <p:stCondLst>
                                    <p:cond delay="650"/>
                                  </p:stCondLst>
                                  <p:childTnLst>
                                    <p:set>
                                      <p:cBhvr>
                                        <p:cTn id="88" dur="1" fill="hold">
                                          <p:stCondLst>
                                            <p:cond delay="0"/>
                                          </p:stCondLst>
                                        </p:cTn>
                                        <p:tgtEl>
                                          <p:spTgt spid="36"/>
                                        </p:tgtEl>
                                        <p:attrNameLst>
                                          <p:attrName>style.visibility</p:attrName>
                                        </p:attrNameLst>
                                      </p:cBhvr>
                                      <p:to>
                                        <p:strVal val="visible"/>
                                      </p:to>
                                    </p:set>
                                    <p:animEffect transition="in" filter="fade">
                                      <p:cBhvr>
                                        <p:cTn id="90" dur="500"/>
                                        <p:tgtEl>
                                          <p:spTgt spid="36"/>
                                        </p:tgtEl>
                                      </p:cBhvr>
                                    </p:animEffect>
                                  </p:childTnLst>
                                </p:cTn>
                              </p:par>
                            </p:childTnLst>
                          </p:cTn>
                        </p:par>
                      </p:childTnLst>
                    </p:cTn>
                  </p:par>
                  <p:par>
                    <p:cTn id="91" fill="hold">
                      <p:stCondLst>
                        <p:cond delay="indefinite"/>
                      </p:stCondLst>
                      <p:childTnLst>
                        <p:par>
                          <p:cTn id="92" fill="hold">
                            <p:stCondLst>
                              <p:cond delay="0"/>
                            </p:stCondLst>
                            <p:childTnLst>
                              <p:par>
                                <p:cTn id="94" presetID="53" presetClass="entr" presetSubtype="16"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p:cTn id="95" dur="500" fill="hold"/>
                                        <p:tgtEl>
                                          <p:spTgt spid="20"/>
                                        </p:tgtEl>
                                        <p:attrNameLst>
                                          <p:attrName>ppt_w</p:attrName>
                                        </p:attrNameLst>
                                      </p:cBhvr>
                                      <p:tavLst>
                                        <p:tav tm="0">
                                          <p:val>
                                            <p:fltVal val="0"/>
                                          </p:val>
                                        </p:tav>
                                        <p:tav tm="100000">
                                          <p:val>
                                            <p:strVal val="#ppt_w"/>
                                          </p:val>
                                        </p:tav>
                                      </p:tavLst>
                                    </p:anim>
                                    <p:anim calcmode="lin" valueType="num">
                                      <p:cBhvr>
                                        <p:cTn id="96" dur="500" fill="hold"/>
                                        <p:tgtEl>
                                          <p:spTgt spid="20"/>
                                        </p:tgtEl>
                                        <p:attrNameLst>
                                          <p:attrName>ppt_h</p:attrName>
                                        </p:attrNameLst>
                                      </p:cBhvr>
                                      <p:tavLst>
                                        <p:tav tm="0">
                                          <p:val>
                                            <p:fltVal val="0"/>
                                          </p:val>
                                        </p:tav>
                                        <p:tav tm="100000">
                                          <p:val>
                                            <p:strVal val="#ppt_h"/>
                                          </p:val>
                                        </p:tav>
                                      </p:tavLst>
                                    </p:anim>
                                    <p:animEffect transition="in" filter="fade">
                                      <p:cBhvr>
                                        <p:cTn id="97" dur="500"/>
                                        <p:tgtEl>
                                          <p:spTgt spid="20"/>
                                        </p:tgtEl>
                                      </p:cBhvr>
                                    </p:animEffect>
                                  </p:childTnLst>
                                </p:cTn>
                              </p:par>
                              <p:par>
                                <p:cTn id="99" presetID="53" presetClass="entr" presetSubtype="16" fill="hold" grpId="0" nodeType="withEffect">
                                  <p:stCondLst>
                                    <p:cond delay="150"/>
                                  </p:stCondLst>
                                  <p:childTnLst>
                                    <p:set>
                                      <p:cBhvr>
                                        <p:cTn id="98" dur="1" fill="hold">
                                          <p:stCondLst>
                                            <p:cond delay="0"/>
                                          </p:stCondLst>
                                        </p:cTn>
                                        <p:tgtEl>
                                          <p:spTgt spid="24"/>
                                        </p:tgtEl>
                                        <p:attrNameLst>
                                          <p:attrName>style.visibility</p:attrName>
                                        </p:attrNameLst>
                                      </p:cBhvr>
                                      <p:to>
                                        <p:strVal val="visible"/>
                                      </p:to>
                                    </p:set>
                                    <p:anim calcmode="lin" valueType="num">
                                      <p:cBhvr>
                                        <p:cTn id="100" dur="500" fill="hold"/>
                                        <p:tgtEl>
                                          <p:spTgt spid="24"/>
                                        </p:tgtEl>
                                        <p:attrNameLst>
                                          <p:attrName>ppt_w</p:attrName>
                                        </p:attrNameLst>
                                      </p:cBhvr>
                                      <p:tavLst>
                                        <p:tav tm="0">
                                          <p:val>
                                            <p:fltVal val="0"/>
                                          </p:val>
                                        </p:tav>
                                        <p:tav tm="100000">
                                          <p:val>
                                            <p:strVal val="#ppt_w"/>
                                          </p:val>
                                        </p:tav>
                                      </p:tavLst>
                                    </p:anim>
                                    <p:anim calcmode="lin" valueType="num">
                                      <p:cBhvr>
                                        <p:cTn id="101" dur="500" fill="hold"/>
                                        <p:tgtEl>
                                          <p:spTgt spid="24"/>
                                        </p:tgtEl>
                                        <p:attrNameLst>
                                          <p:attrName>ppt_h</p:attrName>
                                        </p:attrNameLst>
                                      </p:cBhvr>
                                      <p:tavLst>
                                        <p:tav tm="0">
                                          <p:val>
                                            <p:fltVal val="0"/>
                                          </p:val>
                                        </p:tav>
                                        <p:tav tm="100000">
                                          <p:val>
                                            <p:strVal val="#ppt_h"/>
                                          </p:val>
                                        </p:tav>
                                      </p:tavLst>
                                    </p:anim>
                                    <p:animEffect transition="in" filter="fade">
                                      <p:cBhvr>
                                        <p:cTn id="102" dur="500"/>
                                        <p:tgtEl>
                                          <p:spTgt spid="24"/>
                                        </p:tgtEl>
                                      </p:cBhvr>
                                    </p:animEffect>
                                  </p:childTnLst>
                                </p:cTn>
                              </p:par>
                              <p:par>
                                <p:cTn id="104" presetID="10" presetClass="entr" presetSubtype="0" fill="hold" grpId="0" nodeType="withEffect">
                                  <p:stCondLst>
                                    <p:cond delay="20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5" dur="500"/>
                                        <p:tgtEl>
                                          <p:spTgt spid="49"/>
                                        </p:tgtEl>
                                      </p:cBhvr>
                                    </p:animEffect>
                                  </p:childTnLst>
                                </p:cTn>
                              </p:par>
                              <p:par>
                                <p:cTn id="107" presetID="53" presetClass="entr" presetSubtype="16" fill="hold" grpId="0" nodeType="withEffect">
                                  <p:stCondLst>
                                    <p:cond delay="300"/>
                                  </p:stCondLst>
                                  <p:childTnLst>
                                    <p:set>
                                      <p:cBhvr>
                                        <p:cTn id="106" dur="1" fill="hold">
                                          <p:stCondLst>
                                            <p:cond delay="0"/>
                                          </p:stCondLst>
                                        </p:cTn>
                                        <p:tgtEl>
                                          <p:spTgt spid="29"/>
                                        </p:tgtEl>
                                        <p:attrNameLst>
                                          <p:attrName>style.visibility</p:attrName>
                                        </p:attrNameLst>
                                      </p:cBhvr>
                                      <p:to>
                                        <p:strVal val="visible"/>
                                      </p:to>
                                    </p:set>
                                    <p:anim calcmode="lin" valueType="num">
                                      <p:cBhvr>
                                        <p:cTn id="108" dur="500" fill="hold"/>
                                        <p:tgtEl>
                                          <p:spTgt spid="29"/>
                                        </p:tgtEl>
                                        <p:attrNameLst>
                                          <p:attrName>ppt_w</p:attrName>
                                        </p:attrNameLst>
                                      </p:cBhvr>
                                      <p:tavLst>
                                        <p:tav tm="0">
                                          <p:val>
                                            <p:fltVal val="0"/>
                                          </p:val>
                                        </p:tav>
                                        <p:tav tm="100000">
                                          <p:val>
                                            <p:strVal val="#ppt_w"/>
                                          </p:val>
                                        </p:tav>
                                      </p:tavLst>
                                    </p:anim>
                                    <p:anim calcmode="lin" valueType="num">
                                      <p:cBhvr>
                                        <p:cTn id="109" dur="500" fill="hold"/>
                                        <p:tgtEl>
                                          <p:spTgt spid="29"/>
                                        </p:tgtEl>
                                        <p:attrNameLst>
                                          <p:attrName>ppt_h</p:attrName>
                                        </p:attrNameLst>
                                      </p:cBhvr>
                                      <p:tavLst>
                                        <p:tav tm="0">
                                          <p:val>
                                            <p:fltVal val="0"/>
                                          </p:val>
                                        </p:tav>
                                        <p:tav tm="100000">
                                          <p:val>
                                            <p:strVal val="#ppt_h"/>
                                          </p:val>
                                        </p:tav>
                                      </p:tavLst>
                                    </p:anim>
                                    <p:animEffect transition="in" filter="fade">
                                      <p:cBhvr>
                                        <p:cTn id="110" dur="500"/>
                                        <p:tgtEl>
                                          <p:spTgt spid="29"/>
                                        </p:tgtEl>
                                      </p:cBhvr>
                                    </p:animEffect>
                                  </p:childTnLst>
                                </p:cTn>
                              </p:par>
                              <p:par>
                                <p:cTn id="112" presetID="42" presetClass="entr" presetSubtype="0" fill="hold" grpId="0" nodeType="withEffect">
                                  <p:stCondLst>
                                    <p:cond delay="300"/>
                                  </p:stCondLst>
                                  <p:childTnLst>
                                    <p:set>
                                      <p:cBhvr>
                                        <p:cTn id="111" dur="1" fill="hold">
                                          <p:stCondLst>
                                            <p:cond delay="0"/>
                                          </p:stCondLst>
                                        </p:cTn>
                                        <p:tgtEl>
                                          <p:spTgt spid="70"/>
                                        </p:tgtEl>
                                        <p:attrNameLst>
                                          <p:attrName>style.visibility</p:attrName>
                                        </p:attrNameLst>
                                      </p:cBhvr>
                                      <p:to>
                                        <p:strVal val="visible"/>
                                      </p:to>
                                    </p:set>
                                    <p:animEffect transition="in" filter="fade">
                                      <p:cBhvr>
                                        <p:cTn id="113" dur="500"/>
                                        <p:tgtEl>
                                          <p:spTgt spid="70"/>
                                        </p:tgtEl>
                                      </p:cBhvr>
                                    </p:animEffect>
                                    <p:anim calcmode="lin" valueType="num">
                                      <p:cBhvr>
                                        <p:cTn id="114" dur="500" fill="hold"/>
                                        <p:tgtEl>
                                          <p:spTgt spid="70"/>
                                        </p:tgtEl>
                                        <p:attrNameLst>
                                          <p:attrName>ppt_x</p:attrName>
                                        </p:attrNameLst>
                                      </p:cBhvr>
                                      <p:tavLst>
                                        <p:tav tm="0">
                                          <p:val>
                                            <p:strVal val="#ppt_x"/>
                                          </p:val>
                                        </p:tav>
                                        <p:tav tm="100000">
                                          <p:val>
                                            <p:strVal val="#ppt_x"/>
                                          </p:val>
                                        </p:tav>
                                      </p:tavLst>
                                    </p:anim>
                                    <p:anim calcmode="lin" valueType="num">
                                      <p:cBhvr>
                                        <p:cTn id="115" dur="500" fill="hold"/>
                                        <p:tgtEl>
                                          <p:spTgt spid="70"/>
                                        </p:tgtEl>
                                        <p:attrNameLst>
                                          <p:attrName>ppt_y</p:attrName>
                                        </p:attrNameLst>
                                      </p:cBhvr>
                                      <p:tavLst>
                                        <p:tav tm="0">
                                          <p:val>
                                            <p:strVal val="#ppt_y+0.06"/>
                                          </p:val>
                                        </p:tav>
                                        <p:tav tm="100000">
                                          <p:val>
                                            <p:strVal val="#ppt_y"/>
                                          </p:val>
                                        </p:tav>
                                      </p:tavLst>
                                    </p:anim>
                                  </p:childTnLst>
                                </p:cTn>
                              </p:par>
                              <p:par>
                                <p:cTn id="117" presetID="53" presetClass="entr" presetSubtype="16" fill="hold" grpId="0" nodeType="withEffect">
                                  <p:stCondLst>
                                    <p:cond delay="450"/>
                                  </p:stCondLst>
                                  <p:childTnLst>
                                    <p:set>
                                      <p:cBhvr>
                                        <p:cTn id="116" dur="1" fill="hold">
                                          <p:stCondLst>
                                            <p:cond delay="0"/>
                                          </p:stCondLst>
                                        </p:cTn>
                                        <p:tgtEl>
                                          <p:spTgt spid="34"/>
                                        </p:tgtEl>
                                        <p:attrNameLst>
                                          <p:attrName>style.visibility</p:attrName>
                                        </p:attrNameLst>
                                      </p:cBhvr>
                                      <p:to>
                                        <p:strVal val="visible"/>
                                      </p:to>
                                    </p:set>
                                    <p:anim calcmode="lin" valueType="num">
                                      <p:cBhvr>
                                        <p:cTn id="118" dur="500" fill="hold"/>
                                        <p:tgtEl>
                                          <p:spTgt spid="34"/>
                                        </p:tgtEl>
                                        <p:attrNameLst>
                                          <p:attrName>ppt_w</p:attrName>
                                        </p:attrNameLst>
                                      </p:cBhvr>
                                      <p:tavLst>
                                        <p:tav tm="0">
                                          <p:val>
                                            <p:fltVal val="0"/>
                                          </p:val>
                                        </p:tav>
                                        <p:tav tm="100000">
                                          <p:val>
                                            <p:strVal val="#ppt_w"/>
                                          </p:val>
                                        </p:tav>
                                      </p:tavLst>
                                    </p:anim>
                                    <p:anim calcmode="lin" valueType="num">
                                      <p:cBhvr>
                                        <p:cTn id="119" dur="500" fill="hold"/>
                                        <p:tgtEl>
                                          <p:spTgt spid="34"/>
                                        </p:tgtEl>
                                        <p:attrNameLst>
                                          <p:attrName>ppt_h</p:attrName>
                                        </p:attrNameLst>
                                      </p:cBhvr>
                                      <p:tavLst>
                                        <p:tav tm="0">
                                          <p:val>
                                            <p:fltVal val="0"/>
                                          </p:val>
                                        </p:tav>
                                        <p:tav tm="100000">
                                          <p:val>
                                            <p:strVal val="#ppt_h"/>
                                          </p:val>
                                        </p:tav>
                                      </p:tavLst>
                                    </p:anim>
                                    <p:animEffect transition="in" filter="fade">
                                      <p:cBhvr>
                                        <p:cTn id="120" dur="500"/>
                                        <p:tgtEl>
                                          <p:spTgt spid="34"/>
                                        </p:tgtEl>
                                      </p:cBhvr>
                                    </p:animEffect>
                                  </p:childTnLst>
                                </p:cTn>
                              </p:par>
                            </p:childTnLst>
                          </p:cTn>
                        </p:par>
                      </p:childTnLst>
                    </p:cTn>
                  </p:par>
                  <p:par>
                    <p:cTn id="121" fill="hold">
                      <p:stCondLst>
                        <p:cond delay="indefinite"/>
                      </p:stCondLst>
                      <p:childTnLst>
                        <p:par>
                          <p:cTn id="122" fill="hold">
                            <p:stCondLst>
                              <p:cond delay="0"/>
                            </p:stCondLst>
                            <p:childTnLst>
                              <p:par>
                                <p:cTn id="124" presetID="22" presetClass="entr" presetSubtype="8" fill="hold" grpId="0" nodeType="click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wipe(left)">
                                      <p:cBhvr>
                                        <p:cTn id="125" dur="450"/>
                                        <p:tgtEl>
                                          <p:spTgt spid="37"/>
                                        </p:tgtEl>
                                      </p:cBhvr>
                                    </p:animEffect>
                                  </p:childTnLst>
                                </p:cTn>
                              </p:par>
                              <p:par>
                                <p:cTn id="127" presetID="22" presetClass="entr" presetSubtype="8" fill="hold" grpId="0" nodeType="withEffect">
                                  <p:stCondLst>
                                    <p:cond delay="0"/>
                                  </p:stCondLst>
                                  <p:childTnLst>
                                    <p:set>
                                      <p:cBhvr>
                                        <p:cTn id="126" dur="1" fill="hold">
                                          <p:stCondLst>
                                            <p:cond delay="0"/>
                                          </p:stCondLst>
                                        </p:cTn>
                                        <p:tgtEl>
                                          <p:spTgt spid="38"/>
                                        </p:tgtEl>
                                        <p:attrNameLst>
                                          <p:attrName>style.visibility</p:attrName>
                                        </p:attrNameLst>
                                      </p:cBhvr>
                                      <p:to>
                                        <p:strVal val="visible"/>
                                      </p:to>
                                    </p:set>
                                    <p:animEffect transition="in" filter="wipe(left)">
                                      <p:cBhvr>
                                        <p:cTn id="128" dur="450"/>
                                        <p:tgtEl>
                                          <p:spTgt spid="38"/>
                                        </p:tgtEl>
                                      </p:cBhvr>
                                    </p:animEffect>
                                  </p:childTnLst>
                                </p:cTn>
                              </p:par>
                              <p:par>
                                <p:cTn id="130" presetID="10" presetClass="entr" presetSubtype="0" fill="hold" grpId="0" nodeType="withEffect">
                                  <p:stCondLst>
                                    <p:cond delay="200"/>
                                  </p:stCondLst>
                                  <p:childTnLst>
                                    <p:set>
                                      <p:cBhvr>
                                        <p:cTn id="129" dur="1" fill="hold">
                                          <p:stCondLst>
                                            <p:cond delay="0"/>
                                          </p:stCondLst>
                                        </p:cTn>
                                        <p:tgtEl>
                                          <p:spTgt spid="50"/>
                                        </p:tgtEl>
                                        <p:attrNameLst>
                                          <p:attrName>style.visibility</p:attrName>
                                        </p:attrNameLst>
                                      </p:cBhvr>
                                      <p:to>
                                        <p:strVal val="visible"/>
                                      </p:to>
                                    </p:set>
                                    <p:animEffect transition="in" filter="fade">
                                      <p:cBhvr>
                                        <p:cTn id="131" dur="500"/>
                                        <p:tgtEl>
                                          <p:spTgt spid="50"/>
                                        </p:tgtEl>
                                      </p:cBhvr>
                                    </p:animEffect>
                                  </p:childTnLst>
                                </p:cTn>
                              </p:par>
                              <p:par>
                                <p:cTn id="133" presetID="10" presetClass="entr" presetSubtype="0" fill="hold" grpId="0" nodeType="withEffect">
                                  <p:stCondLst>
                                    <p:cond delay="200"/>
                                  </p:stCondLst>
                                  <p:childTnLst>
                                    <p:set>
                                      <p:cBhvr>
                                        <p:cTn id="132" dur="1" fill="hold">
                                          <p:stCondLst>
                                            <p:cond delay="0"/>
                                          </p:stCondLst>
                                        </p:cTn>
                                        <p:tgtEl>
                                          <p:spTgt spid="51"/>
                                        </p:tgtEl>
                                        <p:attrNameLst>
                                          <p:attrName>style.visibility</p:attrName>
                                        </p:attrNameLst>
                                      </p:cBhvr>
                                      <p:to>
                                        <p:strVal val="visible"/>
                                      </p:to>
                                    </p:set>
                                    <p:animEffect transition="in" filter="fade">
                                      <p:cBhvr>
                                        <p:cTn id="134" dur="500"/>
                                        <p:tgtEl>
                                          <p:spTgt spid="51"/>
                                        </p:tgtEl>
                                      </p:cBhvr>
                                    </p:animEffect>
                                  </p:childTnLst>
                                </p:cTn>
                              </p:par>
                              <p:par>
                                <p:cTn id="136" presetID="10" presetClass="entr" presetSubtype="0" fill="hold" grpId="0" nodeType="withEffect">
                                  <p:stCondLst>
                                    <p:cond delay="300"/>
                                  </p:stCondLst>
                                  <p:childTnLst>
                                    <p:set>
                                      <p:cBhvr>
                                        <p:cTn id="135" dur="1" fill="hold">
                                          <p:stCondLst>
                                            <p:cond delay="0"/>
                                          </p:stCondLst>
                                        </p:cTn>
                                        <p:tgtEl>
                                          <p:spTgt spid="39"/>
                                        </p:tgtEl>
                                        <p:attrNameLst>
                                          <p:attrName>style.visibility</p:attrName>
                                        </p:attrNameLst>
                                      </p:cBhvr>
                                      <p:to>
                                        <p:strVal val="visible"/>
                                      </p:to>
                                    </p:set>
                                    <p:animEffect transition="in" filter="fade">
                                      <p:cBhvr>
                                        <p:cTn id="137" dur="500"/>
                                        <p:tgtEl>
                                          <p:spTgt spid="39"/>
                                        </p:tgtEl>
                                      </p:cBhvr>
                                    </p:animEffect>
                                  </p:childTnLst>
                                </p:cTn>
                              </p:par>
                              <p:par>
                                <p:cTn id="139" presetID="10" presetClass="entr" presetSubtype="0" fill="hold" grpId="0" nodeType="withEffect">
                                  <p:stCondLst>
                                    <p:cond delay="340"/>
                                  </p:stCondLst>
                                  <p:childTnLst>
                                    <p:set>
                                      <p:cBhvr>
                                        <p:cTn id="138" dur="1" fill="hold">
                                          <p:stCondLst>
                                            <p:cond delay="0"/>
                                          </p:stCondLst>
                                        </p:cTn>
                                        <p:tgtEl>
                                          <p:spTgt spid="40"/>
                                        </p:tgtEl>
                                        <p:attrNameLst>
                                          <p:attrName>style.visibility</p:attrName>
                                        </p:attrNameLst>
                                      </p:cBhvr>
                                      <p:to>
                                        <p:strVal val="visible"/>
                                      </p:to>
                                    </p:set>
                                    <p:animEffect transition="in" filter="fade">
                                      <p:cBhvr>
                                        <p:cTn id="140" dur="500"/>
                                        <p:tgtEl>
                                          <p:spTgt spid="40"/>
                                        </p:tgtEl>
                                      </p:cBhvr>
                                    </p:animEffect>
                                  </p:childTnLst>
                                </p:cTn>
                              </p:par>
                              <p:par>
                                <p:cTn id="142" presetID="10" presetClass="entr" presetSubtype="0" fill="hold" grpId="0" nodeType="withEffect">
                                  <p:stCondLst>
                                    <p:cond delay="380"/>
                                  </p:stCondLst>
                                  <p:childTnLst>
                                    <p:set>
                                      <p:cBhvr>
                                        <p:cTn id="141"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par>
                                <p:cTn id="145" presetID="10" presetClass="entr" presetSubtype="0" fill="hold" grpId="0" nodeType="withEffect">
                                  <p:stCondLst>
                                    <p:cond delay="420"/>
                                  </p:stCondLst>
                                  <p:childTnLst>
                                    <p:set>
                                      <p:cBhvr>
                                        <p:cTn id="144" dur="1" fill="hold">
                                          <p:stCondLst>
                                            <p:cond delay="0"/>
                                          </p:stCondLst>
                                        </p:cTn>
                                        <p:tgtEl>
                                          <p:spTgt spid="42"/>
                                        </p:tgtEl>
                                        <p:attrNameLst>
                                          <p:attrName>style.visibility</p:attrName>
                                        </p:attrNameLst>
                                      </p:cBhvr>
                                      <p:to>
                                        <p:strVal val="visible"/>
                                      </p:to>
                                    </p:set>
                                    <p:animEffect transition="in" filter="fade">
                                      <p:cBhvr>
                                        <p:cTn id="146" dur="500"/>
                                        <p:tgtEl>
                                          <p:spTgt spid="42"/>
                                        </p:tgtEl>
                                      </p:cBhvr>
                                    </p:animEffect>
                                  </p:childTnLst>
                                </p:cTn>
                              </p:par>
                              <p:par>
                                <p:cTn id="148" presetID="10" presetClass="entr" presetSubtype="0" fill="hold" grpId="0" nodeType="withEffect">
                                  <p:stCondLst>
                                    <p:cond delay="460"/>
                                  </p:stCondLst>
                                  <p:childTnLst>
                                    <p:set>
                                      <p:cBhvr>
                                        <p:cTn id="147" dur="1" fill="hold">
                                          <p:stCondLst>
                                            <p:cond delay="0"/>
                                          </p:stCondLst>
                                        </p:cTn>
                                        <p:tgtEl>
                                          <p:spTgt spid="43"/>
                                        </p:tgtEl>
                                        <p:attrNameLst>
                                          <p:attrName>style.visibility</p:attrName>
                                        </p:attrNameLst>
                                      </p:cBhvr>
                                      <p:to>
                                        <p:strVal val="visible"/>
                                      </p:to>
                                    </p:set>
                                    <p:animEffect transition="in" filter="fade">
                                      <p:cBhvr>
                                        <p:cTn id="149" dur="500"/>
                                        <p:tgtEl>
                                          <p:spTgt spid="43"/>
                                        </p:tgtEl>
                                      </p:cBhvr>
                                    </p:animEffect>
                                  </p:childTnLst>
                                </p:cTn>
                              </p:par>
                              <p:par>
                                <p:cTn id="151" presetID="10" presetClass="entr" presetSubtype="0" fill="hold" grpId="0" nodeType="withEffect">
                                  <p:stCondLst>
                                    <p:cond delay="500"/>
                                  </p:stCondLst>
                                  <p:childTnLst>
                                    <p:set>
                                      <p:cBhvr>
                                        <p:cTn id="150"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par>
                                <p:cTn id="154" presetID="10" presetClass="entr" presetSubtype="0" fill="hold" grpId="0" nodeType="withEffect">
                                  <p:stCondLst>
                                    <p:cond delay="540"/>
                                  </p:stCondLst>
                                  <p:childTnLst>
                                    <p:set>
                                      <p:cBhvr>
                                        <p:cTn id="153" dur="1" fill="hold">
                                          <p:stCondLst>
                                            <p:cond delay="0"/>
                                          </p:stCondLst>
                                        </p:cTn>
                                        <p:tgtEl>
                                          <p:spTgt spid="45"/>
                                        </p:tgtEl>
                                        <p:attrNameLst>
                                          <p:attrName>style.visibility</p:attrName>
                                        </p:attrNameLst>
                                      </p:cBhvr>
                                      <p:to>
                                        <p:strVal val="visible"/>
                                      </p:to>
                                    </p:set>
                                    <p:animEffect transition="in" filter="fade">
                                      <p:cBhvr>
                                        <p:cTn id="155" dur="500"/>
                                        <p:tgtEl>
                                          <p:spTgt spid="45"/>
                                        </p:tgtEl>
                                      </p:cBhvr>
                                    </p:animEffect>
                                  </p:childTnLst>
                                </p:cTn>
                              </p:par>
                              <p:par>
                                <p:cTn id="157" presetID="10" presetClass="entr" presetSubtype="0" fill="hold" grpId="0" nodeType="withEffect">
                                  <p:stCondLst>
                                    <p:cond delay="580"/>
                                  </p:stCondLst>
                                  <p:childTnLst>
                                    <p:set>
                                      <p:cBhvr>
                                        <p:cTn id="156" dur="1" fill="hold">
                                          <p:stCondLst>
                                            <p:cond delay="0"/>
                                          </p:stCondLst>
                                        </p:cTn>
                                        <p:tgtEl>
                                          <p:spTgt spid="46"/>
                                        </p:tgtEl>
                                        <p:attrNameLst>
                                          <p:attrName>style.visibility</p:attrName>
                                        </p:attrNameLst>
                                      </p:cBhvr>
                                      <p:to>
                                        <p:strVal val="visible"/>
                                      </p:to>
                                    </p:set>
                                    <p:animEffect transition="in" filter="fade">
                                      <p:cBhvr>
                                        <p:cTn id="158" dur="500"/>
                                        <p:tgtEl>
                                          <p:spTgt spid="46"/>
                                        </p:tgtEl>
                                      </p:cBhvr>
                                    </p:animEffect>
                                  </p:childTnLst>
                                </p:cTn>
                              </p:par>
                            </p:childTnLst>
                          </p:cTn>
                        </p:par>
                      </p:childTnLst>
                    </p:cTn>
                  </p:par>
                  <p:par>
                    <p:cTn id="159" fill="hold">
                      <p:stCondLst>
                        <p:cond delay="indefinite"/>
                      </p:stCondLst>
                      <p:childTnLst>
                        <p:par>
                          <p:cTn id="160" fill="hold">
                            <p:stCondLst>
                              <p:cond delay="0"/>
                            </p:stCondLst>
                            <p:childTnLst>
                              <p:par>
                                <p:cTn id="162" presetID="10" presetClass="entr" presetSubtype="0" fill="hold" grpId="0" nodeType="clickEffect">
                                  <p:stCondLst>
                                    <p:cond delay="0"/>
                                  </p:stCondLst>
                                  <p:childTnLst>
                                    <p:set>
                                      <p:cBhvr>
                                        <p:cTn id="161" dur="1" fill="hold">
                                          <p:stCondLst>
                                            <p:cond delay="0"/>
                                          </p:stCondLst>
                                        </p:cTn>
                                        <p:tgtEl>
                                          <p:spTgt spid="52"/>
                                        </p:tgtEl>
                                        <p:attrNameLst>
                                          <p:attrName>style.visibility</p:attrName>
                                        </p:attrNameLst>
                                      </p:cBhvr>
                                      <p:to>
                                        <p:strVal val="visible"/>
                                      </p:to>
                                    </p:set>
                                    <p:animEffect transition="in" filter="fade">
                                      <p:cBhvr>
                                        <p:cTn id="163" dur="500"/>
                                        <p:tgtEl>
                                          <p:spTgt spid="52"/>
                                        </p:tgtEl>
                                      </p:cBhvr>
                                    </p:animEffect>
                                  </p:childTnLst>
                                </p:cTn>
                              </p:par>
                              <p:par>
                                <p:cTn id="165" presetID="10" presetClass="entr" presetSubtype="0" fill="hold" grpId="0" nodeType="withEffect">
                                  <p:stCondLst>
                                    <p:cond delay="0"/>
                                  </p:stCondLst>
                                  <p:childTnLst>
                                    <p:set>
                                      <p:cBhvr>
                                        <p:cTn id="164" dur="1" fill="hold">
                                          <p:stCondLst>
                                            <p:cond delay="0"/>
                                          </p:stCondLst>
                                        </p:cTn>
                                        <p:tgtEl>
                                          <p:spTgt spid="53"/>
                                        </p:tgtEl>
                                        <p:attrNameLst>
                                          <p:attrName>style.visibility</p:attrName>
                                        </p:attrNameLst>
                                      </p:cBhvr>
                                      <p:to>
                                        <p:strVal val="visible"/>
                                      </p:to>
                                    </p:set>
                                    <p:animEffect transition="in" filter="fade">
                                      <p:cBhvr>
                                        <p:cTn id="166" dur="500"/>
                                        <p:tgtEl>
                                          <p:spTgt spid="53"/>
                                        </p:tgtEl>
                                      </p:cBhvr>
                                    </p:animEffect>
                                  </p:childTnLst>
                                </p:cTn>
                              </p:par>
                              <p:par>
                                <p:cTn id="168" presetID="10" presetClass="entr" presetSubtype="0" fill="hold" grpId="0" nodeType="withEffect">
                                  <p:stCondLst>
                                    <p:cond delay="50"/>
                                  </p:stCondLst>
                                  <p:childTnLst>
                                    <p:set>
                                      <p:cBhvr>
                                        <p:cTn id="167" dur="1" fill="hold">
                                          <p:stCondLst>
                                            <p:cond delay="0"/>
                                          </p:stCondLst>
                                        </p:cTn>
                                        <p:tgtEl>
                                          <p:spTgt spid="54"/>
                                        </p:tgtEl>
                                        <p:attrNameLst>
                                          <p:attrName>style.visibility</p:attrName>
                                        </p:attrNameLst>
                                      </p:cBhvr>
                                      <p:to>
                                        <p:strVal val="visible"/>
                                      </p:to>
                                    </p:set>
                                    <p:animEffect transition="in" filter="fade">
                                      <p:cBhvr>
                                        <p:cTn id="169" dur="500"/>
                                        <p:tgtEl>
                                          <p:spTgt spid="54"/>
                                        </p:tgtEl>
                                      </p:cBhvr>
                                    </p:animEffect>
                                  </p:childTnLst>
                                </p:cTn>
                              </p:par>
                              <p:par>
                                <p:cTn id="171" presetID="10" presetClass="entr" presetSubtype="0" fill="hold" grpId="0" nodeType="withEffect">
                                  <p:stCondLst>
                                    <p:cond delay="10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2" dur="500"/>
                                        <p:tgtEl>
                                          <p:spTgt spid="55"/>
                                        </p:tgtEl>
                                      </p:cBhvr>
                                    </p:animEffect>
                                  </p:childTnLst>
                                </p:cTn>
                              </p:par>
                              <p:par>
                                <p:cTn id="174" presetID="10" presetClass="entr" presetSubtype="0" fill="hold" grpId="0" nodeType="withEffect">
                                  <p:stCondLst>
                                    <p:cond delay="100"/>
                                  </p:stCondLst>
                                  <p:childTnLst>
                                    <p:set>
                                      <p:cBhvr>
                                        <p:cTn id="173" dur="1" fill="hold">
                                          <p:stCondLst>
                                            <p:cond delay="0"/>
                                          </p:stCondLst>
                                        </p:cTn>
                                        <p:tgtEl>
                                          <p:spTgt spid="56"/>
                                        </p:tgtEl>
                                        <p:attrNameLst>
                                          <p:attrName>style.visibility</p:attrName>
                                        </p:attrNameLst>
                                      </p:cBhvr>
                                      <p:to>
                                        <p:strVal val="visible"/>
                                      </p:to>
                                    </p:set>
                                    <p:animEffect transition="in" filter="fade">
                                      <p:cBhvr>
                                        <p:cTn id="175" dur="500"/>
                                        <p:tgtEl>
                                          <p:spTgt spid="56"/>
                                        </p:tgtEl>
                                      </p:cBhvr>
                                    </p:animEffect>
                                  </p:childTnLst>
                                </p:cTn>
                              </p:par>
                              <p:par>
                                <p:cTn id="177" presetID="10" presetClass="entr" presetSubtype="0" fill="hold" grpId="0" nodeType="withEffect">
                                  <p:stCondLst>
                                    <p:cond delay="150"/>
                                  </p:stCondLst>
                                  <p:childTnLst>
                                    <p:set>
                                      <p:cBhvr>
                                        <p:cTn id="176" dur="1" fill="hold">
                                          <p:stCondLst>
                                            <p:cond delay="0"/>
                                          </p:stCondLst>
                                        </p:cTn>
                                        <p:tgtEl>
                                          <p:spTgt spid="57"/>
                                        </p:tgtEl>
                                        <p:attrNameLst>
                                          <p:attrName>style.visibility</p:attrName>
                                        </p:attrNameLst>
                                      </p:cBhvr>
                                      <p:to>
                                        <p:strVal val="visible"/>
                                      </p:to>
                                    </p:set>
                                    <p:animEffect transition="in" filter="fade">
                                      <p:cBhvr>
                                        <p:cTn id="178" dur="500"/>
                                        <p:tgtEl>
                                          <p:spTgt spid="57"/>
                                        </p:tgtEl>
                                      </p:cBhvr>
                                    </p:animEffect>
                                  </p:childTnLst>
                                </p:cTn>
                              </p:par>
                              <p:par>
                                <p:cTn id="180" presetID="10" presetClass="entr" presetSubtype="0" fill="hold" grpId="0" nodeType="withEffect">
                                  <p:stCondLst>
                                    <p:cond delay="20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1" dur="500"/>
                                        <p:tgtEl>
                                          <p:spTgt spid="58"/>
                                        </p:tgtEl>
                                      </p:cBhvr>
                                    </p:animEffect>
                                  </p:childTnLst>
                                </p:cTn>
                              </p:par>
                              <p:par>
                                <p:cTn id="183" presetID="10" presetClass="entr" presetSubtype="0" fill="hold" grpId="0" nodeType="withEffect">
                                  <p:stCondLst>
                                    <p:cond delay="200"/>
                                  </p:stCondLst>
                                  <p:childTnLst>
                                    <p:set>
                                      <p:cBhvr>
                                        <p:cTn id="182" dur="1" fill="hold">
                                          <p:stCondLst>
                                            <p:cond delay="0"/>
                                          </p:stCondLst>
                                        </p:cTn>
                                        <p:tgtEl>
                                          <p:spTgt spid="59"/>
                                        </p:tgtEl>
                                        <p:attrNameLst>
                                          <p:attrName>style.visibility</p:attrName>
                                        </p:attrNameLst>
                                      </p:cBhvr>
                                      <p:to>
                                        <p:strVal val="visible"/>
                                      </p:to>
                                    </p:set>
                                    <p:animEffect transition="in" filter="fade">
                                      <p:cBhvr>
                                        <p:cTn id="184" dur="500"/>
                                        <p:tgtEl>
                                          <p:spTgt spid="59"/>
                                        </p:tgtEl>
                                      </p:cBhvr>
                                    </p:animEffect>
                                  </p:childTnLst>
                                </p:cTn>
                              </p:par>
                              <p:par>
                                <p:cTn id="186" presetID="10" presetClass="entr" presetSubtype="0" fill="hold" grpId="0" nodeType="withEffect">
                                  <p:stCondLst>
                                    <p:cond delay="250"/>
                                  </p:stCondLst>
                                  <p:childTnLst>
                                    <p:set>
                                      <p:cBhvr>
                                        <p:cTn id="185" dur="1" fill="hold">
                                          <p:stCondLst>
                                            <p:cond delay="0"/>
                                          </p:stCondLst>
                                        </p:cTn>
                                        <p:tgtEl>
                                          <p:spTgt spid="60"/>
                                        </p:tgtEl>
                                        <p:attrNameLst>
                                          <p:attrName>style.visibility</p:attrName>
                                        </p:attrNameLst>
                                      </p:cBhvr>
                                      <p:to>
                                        <p:strVal val="visible"/>
                                      </p:to>
                                    </p:set>
                                    <p:animEffect transition="in" filter="fade">
                                      <p:cBhvr>
                                        <p:cTn id="187" dur="500"/>
                                        <p:tgtEl>
                                          <p:spTgt spid="60"/>
                                        </p:tgtEl>
                                      </p:cBhvr>
                                    </p:animEffect>
                                  </p:childTnLst>
                                </p:cTn>
                              </p:par>
                              <p:par>
                                <p:cTn id="189" presetID="10" presetClass="entr" presetSubtype="0" fill="hold" grpId="0" nodeType="withEffect">
                                  <p:stCondLst>
                                    <p:cond delay="300"/>
                                  </p:stCondLst>
                                  <p:childTnLst>
                                    <p:set>
                                      <p:cBhvr>
                                        <p:cTn id="188" dur="1" fill="hold">
                                          <p:stCondLst>
                                            <p:cond delay="0"/>
                                          </p:stCondLst>
                                        </p:cTn>
                                        <p:tgtEl>
                                          <p:spTgt spid="61"/>
                                        </p:tgtEl>
                                        <p:attrNameLst>
                                          <p:attrName>style.visibility</p:attrName>
                                        </p:attrNameLst>
                                      </p:cBhvr>
                                      <p:to>
                                        <p:strVal val="visible"/>
                                      </p:to>
                                    </p:set>
                                    <p:animEffect transition="in" filter="fade">
                                      <p:cBhvr>
                                        <p:cTn id="190" dur="500"/>
                                        <p:tgtEl>
                                          <p:spTgt spid="61"/>
                                        </p:tgtEl>
                                      </p:cBhvr>
                                    </p:animEffect>
                                  </p:childTnLst>
                                </p:cTn>
                              </p:par>
                              <p:par>
                                <p:cTn id="192" presetID="10" presetClass="entr" presetSubtype="0" fill="hold" grpId="0" nodeType="withEffect">
                                  <p:stCondLst>
                                    <p:cond delay="300"/>
                                  </p:stCondLst>
                                  <p:childTnLst>
                                    <p:set>
                                      <p:cBhvr>
                                        <p:cTn id="191" dur="1" fill="hold">
                                          <p:stCondLst>
                                            <p:cond delay="0"/>
                                          </p:stCondLst>
                                        </p:cTn>
                                        <p:tgtEl>
                                          <p:spTgt spid="62"/>
                                        </p:tgtEl>
                                        <p:attrNameLst>
                                          <p:attrName>style.visibility</p:attrName>
                                        </p:attrNameLst>
                                      </p:cBhvr>
                                      <p:to>
                                        <p:strVal val="visible"/>
                                      </p:to>
                                    </p:set>
                                    <p:animEffect transition="in" filter="fade">
                                      <p:cBhvr>
                                        <p:cTn id="193" dur="500"/>
                                        <p:tgtEl>
                                          <p:spTgt spid="62"/>
                                        </p:tgtEl>
                                      </p:cBhvr>
                                    </p:animEffect>
                                  </p:childTnLst>
                                </p:cTn>
                              </p:par>
                              <p:par>
                                <p:cTn id="195" presetID="10" presetClass="entr" presetSubtype="0" fill="hold" grpId="0" nodeType="withEffect">
                                  <p:stCondLst>
                                    <p:cond delay="350"/>
                                  </p:stCondLst>
                                  <p:childTnLst>
                                    <p:set>
                                      <p:cBhvr>
                                        <p:cTn id="194" dur="1" fill="hold">
                                          <p:stCondLst>
                                            <p:cond delay="0"/>
                                          </p:stCondLst>
                                        </p:cTn>
                                        <p:tgtEl>
                                          <p:spTgt spid="63"/>
                                        </p:tgtEl>
                                        <p:attrNameLst>
                                          <p:attrName>style.visibility</p:attrName>
                                        </p:attrNameLst>
                                      </p:cBhvr>
                                      <p:to>
                                        <p:strVal val="visible"/>
                                      </p:to>
                                    </p:set>
                                    <p:animEffect transition="in" filter="fade">
                                      <p:cBhvr>
                                        <p:cTn id="196" dur="500"/>
                                        <p:tgtEl>
                                          <p:spTgt spid="63"/>
                                        </p:tgtEl>
                                      </p:cBhvr>
                                    </p:animEffect>
                                  </p:childTnLst>
                                </p:cTn>
                              </p:par>
                              <p:par>
                                <p:cTn id="198" presetID="10" presetClass="entr" presetSubtype="0" fill="hold" grpId="0" nodeType="withEffect">
                                  <p:stCondLst>
                                    <p:cond delay="400"/>
                                  </p:stCondLst>
                                  <p:childTnLst>
                                    <p:set>
                                      <p:cBhvr>
                                        <p:cTn id="197" dur="1" fill="hold">
                                          <p:stCondLst>
                                            <p:cond delay="0"/>
                                          </p:stCondLst>
                                        </p:cTn>
                                        <p:tgtEl>
                                          <p:spTgt spid="64"/>
                                        </p:tgtEl>
                                        <p:attrNameLst>
                                          <p:attrName>style.visibility</p:attrName>
                                        </p:attrNameLst>
                                      </p:cBhvr>
                                      <p:to>
                                        <p:strVal val="visible"/>
                                      </p:to>
                                    </p:set>
                                    <p:animEffect transition="in" filter="fade">
                                      <p:cBhvr>
                                        <p:cTn id="199" dur="500"/>
                                        <p:tgtEl>
                                          <p:spTgt spid="64"/>
                                        </p:tgtEl>
                                      </p:cBhvr>
                                    </p:animEffect>
                                  </p:childTnLst>
                                </p:cTn>
                              </p:par>
                              <p:par>
                                <p:cTn id="201" presetID="10" presetClass="entr" presetSubtype="0" fill="hold" grpId="0" nodeType="withEffect">
                                  <p:stCondLst>
                                    <p:cond delay="400"/>
                                  </p:stCondLst>
                                  <p:childTnLst>
                                    <p:set>
                                      <p:cBhvr>
                                        <p:cTn id="200" dur="1" fill="hold">
                                          <p:stCondLst>
                                            <p:cond delay="0"/>
                                          </p:stCondLst>
                                        </p:cTn>
                                        <p:tgtEl>
                                          <p:spTgt spid="65"/>
                                        </p:tgtEl>
                                        <p:attrNameLst>
                                          <p:attrName>style.visibility</p:attrName>
                                        </p:attrNameLst>
                                      </p:cBhvr>
                                      <p:to>
                                        <p:strVal val="visible"/>
                                      </p:to>
                                    </p:set>
                                    <p:animEffect transition="in" filter="fade">
                                      <p:cBhvr>
                                        <p:cTn id="202" dur="500"/>
                                        <p:tgtEl>
                                          <p:spTgt spid="65"/>
                                        </p:tgtEl>
                                      </p:cBhvr>
                                    </p:animEffect>
                                  </p:childTnLst>
                                </p:cTn>
                              </p:par>
                              <p:par>
                                <p:cTn id="204" presetID="10" presetClass="entr" presetSubtype="0" fill="hold" grpId="0" nodeType="withEffect">
                                  <p:stCondLst>
                                    <p:cond delay="450"/>
                                  </p:stCondLst>
                                  <p:childTnLst>
                                    <p:set>
                                      <p:cBhvr>
                                        <p:cTn id="203" dur="1" fill="hold">
                                          <p:stCondLst>
                                            <p:cond delay="0"/>
                                          </p:stCondLst>
                                        </p:cTn>
                                        <p:tgtEl>
                                          <p:spTgt spid="66"/>
                                        </p:tgtEl>
                                        <p:attrNameLst>
                                          <p:attrName>style.visibility</p:attrName>
                                        </p:attrNameLst>
                                      </p:cBhvr>
                                      <p:to>
                                        <p:strVal val="visible"/>
                                      </p:to>
                                    </p:set>
                                    <p:animEffect transition="in" filter="fade">
                                      <p:cBhvr>
                                        <p:cTn id="205" dur="500"/>
                                        <p:tgtEl>
                                          <p:spTgt spid="66"/>
                                        </p:tgtEl>
                                      </p:cBhvr>
                                    </p:animEffect>
                                  </p:childTnLst>
                                </p:cTn>
                              </p:par>
                              <p:par>
                                <p:cTn id="207" presetID="10" presetClass="entr" presetSubtype="0" fill="hold" grpId="0" nodeType="withEffect">
                                  <p:stCondLst>
                                    <p:cond delay="500"/>
                                  </p:stCondLst>
                                  <p:childTnLst>
                                    <p:set>
                                      <p:cBhvr>
                                        <p:cTn id="206" dur="1" fill="hold">
                                          <p:stCondLst>
                                            <p:cond delay="0"/>
                                          </p:stCondLst>
                                        </p:cTn>
                                        <p:tgtEl>
                                          <p:spTgt spid="67"/>
                                        </p:tgtEl>
                                        <p:attrNameLst>
                                          <p:attrName>style.visibility</p:attrName>
                                        </p:attrNameLst>
                                      </p:cBhvr>
                                      <p:to>
                                        <p:strVal val="visible"/>
                                      </p:to>
                                    </p:set>
                                    <p:animEffect transition="in" filter="fade">
                                      <p:cBhvr>
                                        <p:cTn id="208" dur="500"/>
                                        <p:tgtEl>
                                          <p:spTgt spid="67"/>
                                        </p:tgtEl>
                                      </p:cBhvr>
                                    </p:animEffect>
                                  </p:childTnLst>
                                </p:cTn>
                              </p:par>
                              <p:par>
                                <p:cTn id="210" presetID="10" presetClass="entr" presetSubtype="0" fill="hold" grpId="0" nodeType="withEffect">
                                  <p:stCondLst>
                                    <p:cond delay="60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70" grpId="0" animBg="1"/>
      <p:bldP spid="7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0D9488"/>
                </a:solidFill>
                <a:latin typeface="Inter" pitchFamily="34" charset="0"/>
                <a:ea typeface="Inter" pitchFamily="34" charset="-122"/>
                <a:cs typeface="Inter" pitchFamily="34" charset="-120"/>
              </a:rPr>
              <a:t>14 · THE MLP UP CLOSE</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The MLP up close: what it does in every block</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Every block has its own MLP: thousands of “if I see this pattern → add that meaning” rules, applied to each token.</a:t>
            </a:r>
            <a:endParaRPr lang="en-US" sz="1300" dirty="0"/>
          </a:p>
        </p:txBody>
      </p:sp>
      <p:sp>
        <p:nvSpPr>
          <p:cNvPr id="5" name="anim-1-fade-0-757"/>
          <p:cNvSpPr/>
          <p:nvPr/>
        </p:nvSpPr>
        <p:spPr>
          <a:xfrm>
            <a:off x="548640" y="1645920"/>
            <a:ext cx="548640" cy="310896"/>
          </a:xfrm>
          <a:prstGeom prst="roundRect">
            <a:avLst>
              <a:gd name="adj" fmla="val 20588"/>
            </a:avLst>
          </a:prstGeom>
          <a:solidFill>
            <a:srgbClr val="FEF3C7"/>
          </a:solidFill>
          <a:ln w="12700">
            <a:solidFill>
              <a:srgbClr val="D97706"/>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6" name="anim-1-fade-0-758"/>
          <p:cNvSpPr txBox="1"/>
          <p:nvPr/>
        </p:nvSpPr>
        <p:spPr>
          <a:xfrm>
            <a:off x="1188720" y="1682496"/>
            <a:ext cx="5303520" cy="256032"/>
          </a:xfrm>
          <a:prstGeom prst="rect">
            <a:avLst/>
          </a:prstGeom>
          <a:noFill/>
          <a:ln/>
        </p:spPr>
        <p:txBody>
          <a:bodyPr wrap="square" lIns="0" tIns="0" rIns="0" bIns="0" rtlCol="0" anchor="t"/>
          <a:lstStyle/>
          <a:p>
            <a:pPr indent="0" marL="0">
              <a:buNone/>
            </a:pPr>
            <a:r>
              <a:rPr lang="en-US" sz="1100" b="1" dirty="0">
                <a:solidFill>
                  <a:srgbClr val="0D9488"/>
                </a:solidFill>
                <a:latin typeface="Inter" pitchFamily="34" charset="0"/>
                <a:ea typeface="Inter" pitchFamily="34" charset="-122"/>
                <a:cs typeface="Inter" pitchFamily="34" charset="-120"/>
              </a:rPr>
              <a:t>Worked example: the vector for the last “the” in “The cat sat on the”</a:t>
            </a:r>
            <a:endParaRPr lang="en-US" sz="1100" dirty="0"/>
          </a:p>
        </p:txBody>
      </p:sp>
      <p:sp>
        <p:nvSpPr>
          <p:cNvPr id="7" name="anim-1-fade-150-759"/>
          <p:cNvSpPr txBox="1"/>
          <p:nvPr/>
        </p:nvSpPr>
        <p:spPr>
          <a:xfrm>
            <a:off x="548640" y="2084832"/>
            <a:ext cx="2240280" cy="201168"/>
          </a:xfrm>
          <a:prstGeom prst="rect">
            <a:avLst/>
          </a:prstGeom>
          <a:noFill/>
          <a:ln/>
        </p:spPr>
        <p:txBody>
          <a:bodyPr wrap="square" lIns="0" tIns="0" rIns="0" bIns="0" rtlCol="0" anchor="t"/>
          <a:lstStyle/>
          <a:p>
            <a:pPr indent="0" marL="0">
              <a:buNone/>
            </a:pPr>
            <a:r>
              <a:rPr lang="en-US" sz="850" b="1" spc="100" kern="0" dirty="0">
                <a:solidFill>
                  <a:srgbClr val="64748B"/>
                </a:solidFill>
                <a:latin typeface="Inter" pitchFamily="34" charset="0"/>
                <a:ea typeface="Inter" pitchFamily="34" charset="-122"/>
                <a:cs typeface="Inter" pitchFamily="34" charset="-120"/>
              </a:rPr>
              <a:t>DETECTOR · row of W₁ · looks for…</a:t>
            </a:r>
            <a:endParaRPr lang="en-US" sz="850" dirty="0"/>
          </a:p>
        </p:txBody>
      </p:sp>
      <p:sp>
        <p:nvSpPr>
          <p:cNvPr id="8" name="anim-1-fade-150-760"/>
          <p:cNvSpPr txBox="1"/>
          <p:nvPr/>
        </p:nvSpPr>
        <p:spPr>
          <a:xfrm>
            <a:off x="3017520" y="2084832"/>
            <a:ext cx="1234440" cy="201168"/>
          </a:xfrm>
          <a:prstGeom prst="rect">
            <a:avLst/>
          </a:prstGeom>
          <a:noFill/>
          <a:ln/>
        </p:spPr>
        <p:txBody>
          <a:bodyPr wrap="square" lIns="0" tIns="0" rIns="0" bIns="0" rtlCol="0" anchor="t"/>
          <a:lstStyle/>
          <a:p>
            <a:pPr indent="0" marL="0">
              <a:buNone/>
            </a:pPr>
            <a:r>
              <a:rPr lang="en-US" sz="850" b="1" spc="100" kern="0" dirty="0">
                <a:solidFill>
                  <a:srgbClr val="64748B"/>
                </a:solidFill>
                <a:latin typeface="Inter" pitchFamily="34" charset="0"/>
                <a:ea typeface="Inter" pitchFamily="34" charset="-122"/>
                <a:cs typeface="Inter" pitchFamily="34" charset="-120"/>
              </a:rPr>
              <a:t>SCORE → GELU</a:t>
            </a:r>
            <a:endParaRPr lang="en-US" sz="850" dirty="0"/>
          </a:p>
        </p:txBody>
      </p:sp>
      <p:sp>
        <p:nvSpPr>
          <p:cNvPr id="9" name="anim-1-fade-150-761"/>
          <p:cNvSpPr txBox="1"/>
          <p:nvPr/>
        </p:nvSpPr>
        <p:spPr>
          <a:xfrm>
            <a:off x="4480560" y="2084832"/>
            <a:ext cx="2103120" cy="201168"/>
          </a:xfrm>
          <a:prstGeom prst="rect">
            <a:avLst/>
          </a:prstGeom>
          <a:noFill/>
          <a:ln/>
        </p:spPr>
        <p:txBody>
          <a:bodyPr wrap="square" lIns="0" tIns="0" rIns="0" bIns="0" rtlCol="0" anchor="t"/>
          <a:lstStyle/>
          <a:p>
            <a:pPr indent="0" marL="0">
              <a:buNone/>
            </a:pPr>
            <a:r>
              <a:rPr lang="en-US" sz="850" b="1" spc="100" kern="0" dirty="0">
                <a:solidFill>
                  <a:srgbClr val="64748B"/>
                </a:solidFill>
                <a:latin typeface="Inter" pitchFamily="34" charset="0"/>
                <a:ea typeface="Inter" pitchFamily="34" charset="-122"/>
                <a:cs typeface="Inter" pitchFamily="34" charset="-120"/>
              </a:rPr>
              <a:t>WRITER · column of W₂ · adds</a:t>
            </a:r>
            <a:endParaRPr lang="en-US" sz="850" dirty="0"/>
          </a:p>
        </p:txBody>
      </p:sp>
      <p:sp>
        <p:nvSpPr>
          <p:cNvPr id="10" name="anim-2-rise-0-762"/>
          <p:cNvSpPr/>
          <p:nvPr/>
        </p:nvSpPr>
        <p:spPr>
          <a:xfrm>
            <a:off x="548640" y="2359152"/>
            <a:ext cx="2240280" cy="658368"/>
          </a:xfrm>
          <a:prstGeom prst="roundRect">
            <a:avLst>
              <a:gd name="adj" fmla="val 13889"/>
            </a:avLst>
          </a:prstGeom>
          <a:solidFill>
            <a:srgbClr val="CCFBF1"/>
          </a:solidFill>
          <a:ln/>
        </p:spPr>
        <p:txBody>
          <a:bodyPr wrap="square" lIns="127000" tIns="0" rIns="101600" bIns="0" rtlCol="0" anchor="ctr"/>
          <a:lstStyle/>
          <a:p>
            <a:pPr algn="l" indent="0" marL="0">
              <a:buNone/>
            </a:pPr>
            <a:r>
              <a:rPr lang="en-US" sz="1050" dirty="0">
                <a:solidFill>
                  <a:srgbClr val="0F172A"/>
                </a:solidFill>
                <a:latin typeface="Inter" pitchFamily="34" charset="0"/>
                <a:ea typeface="Inter" pitchFamily="34" charset="-122"/>
                <a:cs typeface="Inter" pitchFamily="34" charset="-120"/>
              </a:rPr>
              <a:t>a sitting verb right before it (“sat on”)</a:t>
            </a:r>
            <a:endParaRPr lang="en-US" sz="1050" dirty="0"/>
          </a:p>
        </p:txBody>
      </p:sp>
      <p:sp>
        <p:nvSpPr>
          <p:cNvPr id="11" name="anim-2-wipe-200-763"/>
          <p:cNvSpPr/>
          <p:nvPr/>
        </p:nvSpPr>
        <p:spPr>
          <a:xfrm>
            <a:off x="2816352" y="2688336"/>
            <a:ext cx="173736" cy="0"/>
          </a:xfrm>
          <a:prstGeom prst="line">
            <a:avLst/>
          </a:prstGeom>
          <a:noFill/>
          <a:ln w="19050">
            <a:solidFill>
              <a:srgbClr val="0D9488"/>
            </a:solidFill>
            <a:prstDash val="solid"/>
            <a:tailEnd type="triangle"/>
          </a:ln>
        </p:spPr>
      </p:sp>
      <p:sp>
        <p:nvSpPr>
          <p:cNvPr id="12" name="anim-2-zoom-350-764"/>
          <p:cNvSpPr/>
          <p:nvPr/>
        </p:nvSpPr>
        <p:spPr>
          <a:xfrm>
            <a:off x="3017520" y="2359152"/>
            <a:ext cx="1234440" cy="658368"/>
          </a:xfrm>
          <a:prstGeom prst="roundRect">
            <a:avLst>
              <a:gd name="adj" fmla="val 13889"/>
            </a:avLst>
          </a:prstGeom>
          <a:solidFill>
            <a:srgbClr val="0D9488"/>
          </a:solidFill>
          <a:ln/>
        </p:spPr>
        <p:txBody>
          <a:bodyPr wrap="square" lIns="0" tIns="0" rIns="0" bIns="0" rtlCol="0" anchor="ctr"/>
          <a:lstStyle/>
          <a:p>
            <a:pPr algn="ctr" indent="0" marL="0">
              <a:buNone/>
            </a:pPr>
            <a:r>
              <a:rPr lang="en-US" sz="1000" dirty="0">
                <a:solidFill>
                  <a:srgbClr val="FFFFFF"/>
                </a:solidFill>
                <a:latin typeface="Inter" pitchFamily="34" charset="0"/>
                <a:ea typeface="Inter" pitchFamily="34" charset="-122"/>
                <a:cs typeface="Inter" pitchFamily="34" charset="-120"/>
              </a:rPr>
              <a:t>2.6 → 2.6</a:t>
            </a:r>
            <a:endParaRPr lang="en-US" sz="1200" dirty="0"/>
          </a:p>
          <a:p>
            <a:pPr algn="ctr" indent="0" marL="0">
              <a:buNone/>
            </a:pPr>
            <a:r>
              <a:rPr lang="en-US" sz="1100" b="1" dirty="0">
                <a:solidFill>
                  <a:srgbClr val="FFFFFF"/>
                </a:solidFill>
                <a:latin typeface="Inter" pitchFamily="34" charset="0"/>
                <a:ea typeface="Inter" pitchFamily="34" charset="-122"/>
                <a:cs typeface="Inter" pitchFamily="34" charset="-120"/>
              </a:rPr>
              <a:t>FIRES</a:t>
            </a:r>
            <a:endParaRPr lang="en-US" sz="1200" dirty="0"/>
          </a:p>
        </p:txBody>
      </p:sp>
      <p:sp>
        <p:nvSpPr>
          <p:cNvPr id="13" name="anim-2-wipe-600-765"/>
          <p:cNvSpPr/>
          <p:nvPr/>
        </p:nvSpPr>
        <p:spPr>
          <a:xfrm>
            <a:off x="4279392" y="2688336"/>
            <a:ext cx="173736" cy="0"/>
          </a:xfrm>
          <a:prstGeom prst="line">
            <a:avLst/>
          </a:prstGeom>
          <a:noFill/>
          <a:ln w="19050">
            <a:solidFill>
              <a:srgbClr val="0D9488"/>
            </a:solidFill>
            <a:prstDash val="solid"/>
            <a:tailEnd type="triangle"/>
          </a:ln>
        </p:spPr>
      </p:sp>
      <p:sp>
        <p:nvSpPr>
          <p:cNvPr id="14" name="anim-2-rise-750-766"/>
          <p:cNvSpPr/>
          <p:nvPr/>
        </p:nvSpPr>
        <p:spPr>
          <a:xfrm>
            <a:off x="4480560" y="2359152"/>
            <a:ext cx="2011680" cy="658368"/>
          </a:xfrm>
          <a:prstGeom prst="roundRect">
            <a:avLst>
              <a:gd name="adj" fmla="val 13889"/>
            </a:avLst>
          </a:prstGeom>
          <a:solidFill>
            <a:srgbClr val="FFFFFF"/>
          </a:solidFill>
          <a:ln w="12700">
            <a:solidFill>
              <a:srgbClr val="0D9488"/>
            </a:solidFill>
          </a:ln>
        </p:spPr>
        <p:txBody>
          <a:bodyPr wrap="square" lIns="127000" tIns="0" rIns="101600" bIns="0" rtlCol="0" anchor="ctr"/>
          <a:lstStyle/>
          <a:p>
            <a:pPr algn="l" indent="0" marL="0">
              <a:buNone/>
            </a:pPr>
            <a:r>
              <a:rPr lang="en-US" sz="1050" b="1" dirty="0">
                <a:solidFill>
                  <a:srgbClr val="0D9488"/>
                </a:solidFill>
                <a:latin typeface="Inter" pitchFamily="34" charset="0"/>
                <a:ea typeface="Inter" pitchFamily="34" charset="-122"/>
                <a:cs typeface="Inter" pitchFamily="34" charset="-120"/>
              </a:rPr>
              <a:t>“a surface or piece of furniture comes next”</a:t>
            </a:r>
            <a:endParaRPr lang="en-US" sz="1050" dirty="0"/>
          </a:p>
        </p:txBody>
      </p:sp>
      <p:sp>
        <p:nvSpPr>
          <p:cNvPr id="15" name="anim-3-rise-0-767"/>
          <p:cNvSpPr/>
          <p:nvPr/>
        </p:nvSpPr>
        <p:spPr>
          <a:xfrm>
            <a:off x="548640" y="3145536"/>
            <a:ext cx="2240280" cy="658368"/>
          </a:xfrm>
          <a:prstGeom prst="roundRect">
            <a:avLst>
              <a:gd name="adj" fmla="val 13889"/>
            </a:avLst>
          </a:prstGeom>
          <a:solidFill>
            <a:srgbClr val="CCFBF1"/>
          </a:solidFill>
          <a:ln/>
        </p:spPr>
        <p:txBody>
          <a:bodyPr wrap="square" lIns="127000" tIns="0" rIns="101600" bIns="0" rtlCol="0" anchor="ctr"/>
          <a:lstStyle/>
          <a:p>
            <a:pPr algn="l" indent="0" marL="0">
              <a:buNone/>
            </a:pPr>
            <a:r>
              <a:rPr lang="en-US" sz="1050" dirty="0">
                <a:solidFill>
                  <a:srgbClr val="0F172A"/>
                </a:solidFill>
                <a:latin typeface="Inter" pitchFamily="34" charset="0"/>
                <a:ea typeface="Inter" pitchFamily="34" charset="-122"/>
                <a:cs typeface="Inter" pitchFamily="34" charset="-120"/>
              </a:rPr>
              <a:t>an animal or pet is the subject (“cat”)</a:t>
            </a:r>
            <a:endParaRPr lang="en-US" sz="1050" dirty="0"/>
          </a:p>
        </p:txBody>
      </p:sp>
      <p:sp>
        <p:nvSpPr>
          <p:cNvPr id="16" name="anim-3-wipe-200-768"/>
          <p:cNvSpPr/>
          <p:nvPr/>
        </p:nvSpPr>
        <p:spPr>
          <a:xfrm>
            <a:off x="2816352" y="3474720"/>
            <a:ext cx="173736" cy="0"/>
          </a:xfrm>
          <a:prstGeom prst="line">
            <a:avLst/>
          </a:prstGeom>
          <a:noFill/>
          <a:ln w="19050">
            <a:solidFill>
              <a:srgbClr val="0D9488"/>
            </a:solidFill>
            <a:prstDash val="solid"/>
            <a:tailEnd type="triangle"/>
          </a:ln>
        </p:spPr>
      </p:sp>
      <p:sp>
        <p:nvSpPr>
          <p:cNvPr id="17" name="anim-3-zoom-350-769"/>
          <p:cNvSpPr/>
          <p:nvPr/>
        </p:nvSpPr>
        <p:spPr>
          <a:xfrm>
            <a:off x="3017520" y="3145536"/>
            <a:ext cx="1234440" cy="658368"/>
          </a:xfrm>
          <a:prstGeom prst="roundRect">
            <a:avLst>
              <a:gd name="adj" fmla="val 13889"/>
            </a:avLst>
          </a:prstGeom>
          <a:solidFill>
            <a:srgbClr val="0D9488"/>
          </a:solidFill>
          <a:ln/>
        </p:spPr>
        <p:txBody>
          <a:bodyPr wrap="square" lIns="0" tIns="0" rIns="0" bIns="0" rtlCol="0" anchor="ctr"/>
          <a:lstStyle/>
          <a:p>
            <a:pPr algn="ctr" indent="0" marL="0">
              <a:buNone/>
            </a:pPr>
            <a:r>
              <a:rPr lang="en-US" sz="1000" dirty="0">
                <a:solidFill>
                  <a:srgbClr val="FFFFFF"/>
                </a:solidFill>
                <a:latin typeface="Inter" pitchFamily="34" charset="0"/>
                <a:ea typeface="Inter" pitchFamily="34" charset="-122"/>
                <a:cs typeface="Inter" pitchFamily="34" charset="-120"/>
              </a:rPr>
              <a:t>1.4 → 1.3</a:t>
            </a:r>
            <a:endParaRPr lang="en-US" sz="1200" dirty="0"/>
          </a:p>
          <a:p>
            <a:pPr algn="ctr" indent="0" marL="0">
              <a:buNone/>
            </a:pPr>
            <a:r>
              <a:rPr lang="en-US" sz="1100" b="1" dirty="0">
                <a:solidFill>
                  <a:srgbClr val="FFFFFF"/>
                </a:solidFill>
                <a:latin typeface="Inter" pitchFamily="34" charset="0"/>
                <a:ea typeface="Inter" pitchFamily="34" charset="-122"/>
                <a:cs typeface="Inter" pitchFamily="34" charset="-120"/>
              </a:rPr>
              <a:t>FIRES</a:t>
            </a:r>
            <a:endParaRPr lang="en-US" sz="1200" dirty="0"/>
          </a:p>
        </p:txBody>
      </p:sp>
      <p:sp>
        <p:nvSpPr>
          <p:cNvPr id="18" name="anim-3-wipe-600-770"/>
          <p:cNvSpPr/>
          <p:nvPr/>
        </p:nvSpPr>
        <p:spPr>
          <a:xfrm>
            <a:off x="4279392" y="3474720"/>
            <a:ext cx="173736" cy="0"/>
          </a:xfrm>
          <a:prstGeom prst="line">
            <a:avLst/>
          </a:prstGeom>
          <a:noFill/>
          <a:ln w="19050">
            <a:solidFill>
              <a:srgbClr val="0D9488"/>
            </a:solidFill>
            <a:prstDash val="solid"/>
            <a:tailEnd type="triangle"/>
          </a:ln>
        </p:spPr>
      </p:sp>
      <p:sp>
        <p:nvSpPr>
          <p:cNvPr id="19" name="anim-3-rise-750-771"/>
          <p:cNvSpPr/>
          <p:nvPr/>
        </p:nvSpPr>
        <p:spPr>
          <a:xfrm>
            <a:off x="4480560" y="3145536"/>
            <a:ext cx="2011680" cy="658368"/>
          </a:xfrm>
          <a:prstGeom prst="roundRect">
            <a:avLst>
              <a:gd name="adj" fmla="val 13889"/>
            </a:avLst>
          </a:prstGeom>
          <a:solidFill>
            <a:srgbClr val="FFFFFF"/>
          </a:solidFill>
          <a:ln w="12700">
            <a:solidFill>
              <a:srgbClr val="0D9488"/>
            </a:solidFill>
          </a:ln>
        </p:spPr>
        <p:txBody>
          <a:bodyPr wrap="square" lIns="127000" tIns="0" rIns="101600" bIns="0" rtlCol="0" anchor="ctr"/>
          <a:lstStyle/>
          <a:p>
            <a:pPr algn="l" indent="0" marL="0">
              <a:buNone/>
            </a:pPr>
            <a:r>
              <a:rPr lang="en-US" sz="1050" b="1" dirty="0">
                <a:solidFill>
                  <a:srgbClr val="0D9488"/>
                </a:solidFill>
                <a:latin typeface="Inter" pitchFamily="34" charset="0"/>
                <a:ea typeface="Inter" pitchFamily="34" charset="-122"/>
                <a:cs typeface="Inter" pitchFamily="34" charset="-120"/>
              </a:rPr>
              <a:t>“cosy pet spots: mat, rug, sofa, bed”</a:t>
            </a:r>
            <a:endParaRPr lang="en-US" sz="1050" dirty="0"/>
          </a:p>
        </p:txBody>
      </p:sp>
      <p:sp>
        <p:nvSpPr>
          <p:cNvPr id="20" name="anim-4-rise-0-772"/>
          <p:cNvSpPr/>
          <p:nvPr/>
        </p:nvSpPr>
        <p:spPr>
          <a:xfrm>
            <a:off x="548640" y="3931920"/>
            <a:ext cx="2240280" cy="658368"/>
          </a:xfrm>
          <a:prstGeom prst="roundRect">
            <a:avLst>
              <a:gd name="adj" fmla="val 13889"/>
            </a:avLst>
          </a:prstGeom>
          <a:solidFill>
            <a:srgbClr val="F1F5F9"/>
          </a:solidFill>
          <a:ln/>
        </p:spPr>
        <p:txBody>
          <a:bodyPr wrap="square" lIns="127000" tIns="0" rIns="10160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the text is about money or banking</a:t>
            </a:r>
            <a:endParaRPr lang="en-US" sz="1050" dirty="0"/>
          </a:p>
        </p:txBody>
      </p:sp>
      <p:sp>
        <p:nvSpPr>
          <p:cNvPr id="21" name="anim-4-wipe-200-773"/>
          <p:cNvSpPr/>
          <p:nvPr/>
        </p:nvSpPr>
        <p:spPr>
          <a:xfrm>
            <a:off x="2816352" y="4261104"/>
            <a:ext cx="173736" cy="0"/>
          </a:xfrm>
          <a:prstGeom prst="line">
            <a:avLst/>
          </a:prstGeom>
          <a:noFill/>
          <a:ln w="19050">
            <a:solidFill>
              <a:srgbClr val="94A3B8"/>
            </a:solidFill>
            <a:prstDash val="solid"/>
            <a:tailEnd type="triangle"/>
          </a:ln>
        </p:spPr>
      </p:sp>
      <p:sp>
        <p:nvSpPr>
          <p:cNvPr id="22" name="anim-4-zoom-350-774"/>
          <p:cNvSpPr/>
          <p:nvPr/>
        </p:nvSpPr>
        <p:spPr>
          <a:xfrm>
            <a:off x="3017520" y="3931920"/>
            <a:ext cx="1234440" cy="658368"/>
          </a:xfrm>
          <a:prstGeom prst="roundRect">
            <a:avLst>
              <a:gd name="adj" fmla="val 13889"/>
            </a:avLst>
          </a:prstGeom>
          <a:solidFill>
            <a:srgbClr val="E2E8F0"/>
          </a:solidFill>
          <a:ln/>
        </p:spPr>
        <p:txBody>
          <a:bodyPr wrap="square" lIns="0" tIns="0" rIns="0" bIns="0" rtlCol="0" anchor="ctr"/>
          <a:lstStyle/>
          <a:p>
            <a:pPr algn="ctr" indent="0" marL="0">
              <a:buNone/>
            </a:pPr>
            <a:r>
              <a:rPr lang="en-US" sz="1000" dirty="0">
                <a:solidFill>
                  <a:srgbClr val="64748B"/>
                </a:solidFill>
                <a:latin typeface="Inter" pitchFamily="34" charset="0"/>
                <a:ea typeface="Inter" pitchFamily="34" charset="-122"/>
                <a:cs typeface="Inter" pitchFamily="34" charset="-120"/>
              </a:rPr>
              <a:t>−1.8 → 0.0</a:t>
            </a:r>
            <a:endParaRPr lang="en-US" sz="1200" dirty="0"/>
          </a:p>
          <a:p>
            <a:pPr algn="ctr" indent="0" marL="0">
              <a:buNone/>
            </a:pPr>
            <a:r>
              <a:rPr lang="en-US" sz="1100" b="1" dirty="0">
                <a:solidFill>
                  <a:srgbClr val="64748B"/>
                </a:solidFill>
                <a:latin typeface="Inter" pitchFamily="34" charset="0"/>
                <a:ea typeface="Inter" pitchFamily="34" charset="-122"/>
                <a:cs typeface="Inter" pitchFamily="34" charset="-120"/>
              </a:rPr>
              <a:t>SILENT</a:t>
            </a:r>
            <a:endParaRPr lang="en-US" sz="1200" dirty="0"/>
          </a:p>
        </p:txBody>
      </p:sp>
      <p:sp>
        <p:nvSpPr>
          <p:cNvPr id="23" name="anim-4-wipe-600-775"/>
          <p:cNvSpPr/>
          <p:nvPr/>
        </p:nvSpPr>
        <p:spPr>
          <a:xfrm>
            <a:off x="4279392" y="4261104"/>
            <a:ext cx="173736" cy="0"/>
          </a:xfrm>
          <a:prstGeom prst="line">
            <a:avLst/>
          </a:prstGeom>
          <a:noFill/>
          <a:ln w="19050">
            <a:solidFill>
              <a:srgbClr val="94A3B8"/>
            </a:solidFill>
            <a:prstDash val="dash"/>
            <a:tailEnd type="triangle"/>
          </a:ln>
        </p:spPr>
      </p:sp>
      <p:sp>
        <p:nvSpPr>
          <p:cNvPr id="24" name="anim-4-rise-750-776"/>
          <p:cNvSpPr/>
          <p:nvPr/>
        </p:nvSpPr>
        <p:spPr>
          <a:xfrm>
            <a:off x="4480560" y="3931920"/>
            <a:ext cx="2011680" cy="658368"/>
          </a:xfrm>
          <a:prstGeom prst="roundRect">
            <a:avLst>
              <a:gd name="adj" fmla="val 13889"/>
            </a:avLst>
          </a:prstGeom>
          <a:solidFill>
            <a:srgbClr val="F1F5F9"/>
          </a:solidFill>
          <a:ln w="12700">
            <a:solidFill>
              <a:srgbClr val="CBD5E1"/>
            </a:solidFill>
          </a:ln>
        </p:spPr>
        <p:txBody>
          <a:bodyPr wrap="square" lIns="127000" tIns="0" rIns="101600" bIns="0" rtlCol="0" anchor="ctr"/>
          <a:lstStyle/>
          <a:p>
            <a:pPr algn="l" indent="0" marL="0">
              <a:buNone/>
            </a:pPr>
            <a:r>
              <a:rPr lang="en-US" sz="1050" dirty="0">
                <a:solidFill>
                  <a:srgbClr val="94A3B8"/>
                </a:solidFill>
                <a:latin typeface="Inter" pitchFamily="34" charset="0"/>
                <a:ea typeface="Inter" pitchFamily="34" charset="-122"/>
                <a:cs typeface="Inter" pitchFamily="34" charset="-120"/>
              </a:rPr>
              <a:t>“bank, price, dollars” — not added</a:t>
            </a:r>
            <a:endParaRPr lang="en-US" sz="1050" dirty="0"/>
          </a:p>
        </p:txBody>
      </p:sp>
      <p:sp>
        <p:nvSpPr>
          <p:cNvPr id="25" name="anim-5-fade-0-777"/>
          <p:cNvSpPr txBox="1"/>
          <p:nvPr/>
        </p:nvSpPr>
        <p:spPr>
          <a:xfrm>
            <a:off x="548640" y="4800600"/>
            <a:ext cx="5943600" cy="256032"/>
          </a:xfrm>
          <a:prstGeom prst="rect">
            <a:avLst/>
          </a:prstGeom>
          <a:noFill/>
          <a:ln/>
        </p:spPr>
        <p:txBody>
          <a:bodyPr wrap="square" lIns="0" tIns="0" rIns="0" bIns="0" rtlCol="0" anchor="ctr"/>
          <a:lstStyle/>
          <a:p>
            <a:pPr indent="0" marL="0">
              <a:buNone/>
            </a:pPr>
            <a:r>
              <a:rPr lang="en-US" sz="1150" b="1" dirty="0">
                <a:solidFill>
                  <a:srgbClr val="0F172A"/>
                </a:solidFill>
                <a:latin typeface="Inter" pitchFamily="34" charset="0"/>
                <a:ea typeface="Inter" pitchFamily="34" charset="-122"/>
                <a:cs typeface="Inter" pitchFamily="34" charset="-120"/>
              </a:rPr>
              <a:t>Result:  x + MLP(x)</a:t>
            </a:r>
            <a:pPr indent="0" marL="0">
              <a:buNone/>
            </a:pPr>
            <a:r>
              <a:rPr lang="en-US" sz="1000" dirty="0">
                <a:solidFill>
                  <a:srgbClr val="64748B"/>
                </a:solidFill>
                <a:latin typeface="Inter" pitchFamily="34" charset="0"/>
                <a:ea typeface="Inter" pitchFamily="34" charset="-122"/>
                <a:cs typeface="Inter" pitchFamily="34" charset="-120"/>
              </a:rPr>
              <a:t>   the update is added back through the residual path</a:t>
            </a:r>
            <a:endParaRPr lang="en-US" sz="1150" dirty="0"/>
          </a:p>
        </p:txBody>
      </p:sp>
      <p:sp>
        <p:nvSpPr>
          <p:cNvPr id="26" name="anim-5-fade-100-778"/>
          <p:cNvSpPr txBox="1"/>
          <p:nvPr/>
        </p:nvSpPr>
        <p:spPr>
          <a:xfrm>
            <a:off x="548640" y="5212080"/>
            <a:ext cx="192024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the vector now leans toward:</a:t>
            </a:r>
            <a:endParaRPr lang="en-US" sz="1000" dirty="0"/>
          </a:p>
        </p:txBody>
      </p:sp>
      <p:sp>
        <p:nvSpPr>
          <p:cNvPr id="27" name="anim-5-zoom-250-779"/>
          <p:cNvSpPr/>
          <p:nvPr/>
        </p:nvSpPr>
        <p:spPr>
          <a:xfrm>
            <a:off x="2468880" y="5212080"/>
            <a:ext cx="678485" cy="310896"/>
          </a:xfrm>
          <a:prstGeom prst="roundRect">
            <a:avLst>
              <a:gd name="adj" fmla="val 20588"/>
            </a:avLst>
          </a:prstGeom>
          <a:solidFill>
            <a:srgbClr val="CCFBF1"/>
          </a:solidFill>
          <a:ln w="12700">
            <a:solidFill>
              <a:srgbClr val="0D9488"/>
            </a:solidFill>
          </a:ln>
        </p:spPr>
        <p:txBody>
          <a:bodyPr wrap="square" lIns="0" tIns="0" rIns="0" bIns="0" rtlCol="0" anchor="ctr"/>
          <a:lstStyle/>
          <a:p>
            <a:pPr algn="ctr" indent="0" marL="0">
              <a:buNone/>
            </a:pPr>
            <a:r>
              <a:rPr lang="en-US" sz="1050" b="1" dirty="0">
                <a:solidFill>
                  <a:srgbClr val="0D9488"/>
                </a:solidFill>
                <a:latin typeface="Inter" pitchFamily="34" charset="0"/>
                <a:ea typeface="Inter" pitchFamily="34" charset="-122"/>
                <a:cs typeface="Inter" pitchFamily="34" charset="-120"/>
              </a:rPr>
              <a:t>mat ↑</a:t>
            </a:r>
            <a:endParaRPr lang="en-US" sz="1050" dirty="0"/>
          </a:p>
        </p:txBody>
      </p:sp>
      <p:sp>
        <p:nvSpPr>
          <p:cNvPr id="28" name="anim-5-zoom-370-780"/>
          <p:cNvSpPr/>
          <p:nvPr/>
        </p:nvSpPr>
        <p:spPr>
          <a:xfrm>
            <a:off x="3238805" y="5212080"/>
            <a:ext cx="678485" cy="310896"/>
          </a:xfrm>
          <a:prstGeom prst="roundRect">
            <a:avLst>
              <a:gd name="adj" fmla="val 20588"/>
            </a:avLst>
          </a:prstGeom>
          <a:solidFill>
            <a:srgbClr val="CCFBF1"/>
          </a:solidFill>
          <a:ln w="12700">
            <a:solidFill>
              <a:srgbClr val="0D9488"/>
            </a:solidFill>
          </a:ln>
        </p:spPr>
        <p:txBody>
          <a:bodyPr wrap="square" lIns="0" tIns="0" rIns="0" bIns="0" rtlCol="0" anchor="ctr"/>
          <a:lstStyle/>
          <a:p>
            <a:pPr algn="ctr" indent="0" marL="0">
              <a:buNone/>
            </a:pPr>
            <a:r>
              <a:rPr lang="en-US" sz="1050" b="1" dirty="0">
                <a:solidFill>
                  <a:srgbClr val="0D9488"/>
                </a:solidFill>
                <a:latin typeface="Inter" pitchFamily="34" charset="0"/>
                <a:ea typeface="Inter" pitchFamily="34" charset="-122"/>
                <a:cs typeface="Inter" pitchFamily="34" charset="-120"/>
              </a:rPr>
              <a:t>rug ↑</a:t>
            </a:r>
            <a:endParaRPr lang="en-US" sz="1050" dirty="0"/>
          </a:p>
        </p:txBody>
      </p:sp>
      <p:sp>
        <p:nvSpPr>
          <p:cNvPr id="29" name="anim-5-zoom-490-781"/>
          <p:cNvSpPr/>
          <p:nvPr/>
        </p:nvSpPr>
        <p:spPr>
          <a:xfrm>
            <a:off x="4008730" y="5212080"/>
            <a:ext cx="762975" cy="310896"/>
          </a:xfrm>
          <a:prstGeom prst="roundRect">
            <a:avLst>
              <a:gd name="adj" fmla="val 20588"/>
            </a:avLst>
          </a:prstGeom>
          <a:solidFill>
            <a:srgbClr val="CCFBF1"/>
          </a:solidFill>
          <a:ln w="12700">
            <a:solidFill>
              <a:srgbClr val="0D9488"/>
            </a:solidFill>
          </a:ln>
        </p:spPr>
        <p:txBody>
          <a:bodyPr wrap="square" lIns="0" tIns="0" rIns="0" bIns="0" rtlCol="0" anchor="ctr"/>
          <a:lstStyle/>
          <a:p>
            <a:pPr algn="ctr" indent="0" marL="0">
              <a:buNone/>
            </a:pPr>
            <a:r>
              <a:rPr lang="en-US" sz="1050" b="1" dirty="0">
                <a:solidFill>
                  <a:srgbClr val="0D9488"/>
                </a:solidFill>
                <a:latin typeface="Inter" pitchFamily="34" charset="0"/>
                <a:ea typeface="Inter" pitchFamily="34" charset="-122"/>
                <a:cs typeface="Inter" pitchFamily="34" charset="-120"/>
              </a:rPr>
              <a:t>sofa ↑</a:t>
            </a:r>
            <a:endParaRPr lang="en-US" sz="1050" dirty="0"/>
          </a:p>
        </p:txBody>
      </p:sp>
      <p:sp>
        <p:nvSpPr>
          <p:cNvPr id="30" name="anim-5-zoom-610-782"/>
          <p:cNvSpPr/>
          <p:nvPr/>
        </p:nvSpPr>
        <p:spPr>
          <a:xfrm>
            <a:off x="4863145" y="5212080"/>
            <a:ext cx="847466" cy="310896"/>
          </a:xfrm>
          <a:prstGeom prst="roundRect">
            <a:avLst>
              <a:gd name="adj" fmla="val 20588"/>
            </a:avLst>
          </a:prstGeom>
          <a:solidFill>
            <a:srgbClr val="CCFBF1"/>
          </a:solidFill>
          <a:ln w="12700">
            <a:solidFill>
              <a:srgbClr val="0D9488"/>
            </a:solidFill>
          </a:ln>
        </p:spPr>
        <p:txBody>
          <a:bodyPr wrap="square" lIns="0" tIns="0" rIns="0" bIns="0" rtlCol="0" anchor="ctr"/>
          <a:lstStyle/>
          <a:p>
            <a:pPr algn="ctr" indent="0" marL="0">
              <a:buNone/>
            </a:pPr>
            <a:r>
              <a:rPr lang="en-US" sz="1050" b="1" dirty="0">
                <a:solidFill>
                  <a:srgbClr val="0D9488"/>
                </a:solidFill>
                <a:latin typeface="Inter" pitchFamily="34" charset="0"/>
                <a:ea typeface="Inter" pitchFamily="34" charset="-122"/>
                <a:cs typeface="Inter" pitchFamily="34" charset="-120"/>
              </a:rPr>
              <a:t>floor ↑</a:t>
            </a:r>
            <a:endParaRPr lang="en-US" sz="1050" dirty="0"/>
          </a:p>
        </p:txBody>
      </p:sp>
      <p:sp>
        <p:nvSpPr>
          <p:cNvPr id="31" name="anim-5-zoom-730-783"/>
          <p:cNvSpPr/>
          <p:nvPr/>
        </p:nvSpPr>
        <p:spPr>
          <a:xfrm>
            <a:off x="5802051" y="5212080"/>
            <a:ext cx="762975" cy="310896"/>
          </a:xfrm>
          <a:prstGeom prst="roundRect">
            <a:avLst>
              <a:gd name="adj" fmla="val 20588"/>
            </a:avLst>
          </a:prstGeom>
          <a:solidFill>
            <a:srgbClr val="F1F5F9"/>
          </a:solidFill>
          <a:ln w="12700">
            <a:solidFill>
              <a:srgbClr val="CBD5E1"/>
            </a:solidFill>
          </a:ln>
        </p:spPr>
        <p:txBody>
          <a:bodyPr wrap="square" lIns="0" tIns="0" rIns="0" bIns="0" rtlCol="0" anchor="ctr"/>
          <a:lstStyle/>
          <a:p>
            <a:pPr algn="ctr" indent="0" marL="0">
              <a:buNone/>
            </a:pPr>
            <a:r>
              <a:rPr lang="en-US" sz="1050" b="1" dirty="0">
                <a:solidFill>
                  <a:srgbClr val="94A3B8"/>
                </a:solidFill>
                <a:latin typeface="Inter" pitchFamily="34" charset="0"/>
                <a:ea typeface="Inter" pitchFamily="34" charset="-122"/>
                <a:cs typeface="Inter" pitchFamily="34" charset="-120"/>
              </a:rPr>
              <a:t>bank ↓</a:t>
            </a:r>
            <a:endParaRPr lang="en-US" sz="1050" dirty="0"/>
          </a:p>
        </p:txBody>
      </p:sp>
      <p:sp>
        <p:nvSpPr>
          <p:cNvPr id="32" name="anim-5-fade-900-784"/>
          <p:cNvSpPr txBox="1"/>
          <p:nvPr/>
        </p:nvSpPr>
        <p:spPr>
          <a:xfrm>
            <a:off x="548640" y="5669280"/>
            <a:ext cx="5943600" cy="219456"/>
          </a:xfrm>
          <a:prstGeom prst="rect">
            <a:avLst/>
          </a:prstGeom>
          <a:noFill/>
          <a:ln/>
        </p:spPr>
        <p:txBody>
          <a:bodyPr wrap="square" lIns="0" tIns="0" rIns="0" bIns="0" rtlCol="0" anchor="t"/>
          <a:lstStyle/>
          <a:p>
            <a:pPr indent="0" marL="0">
              <a:buNone/>
            </a:pPr>
            <a:r>
              <a:rPr lang="en-US" sz="950" i="1" dirty="0">
                <a:solidFill>
                  <a:srgbClr val="94A3B8"/>
                </a:solidFill>
                <a:latin typeface="Inter" pitchFamily="34" charset="0"/>
                <a:ea typeface="Inter" pitchFamily="34" charset="-122"/>
                <a:cs typeface="Inter" pitchFamily="34" charset="-120"/>
              </a:rPr>
              <a:t>Illustrative: real neurons are messier, and many fire a little at once.</a:t>
            </a:r>
            <a:endParaRPr lang="en-US" sz="950" dirty="0"/>
          </a:p>
        </p:txBody>
      </p:sp>
      <p:sp>
        <p:nvSpPr>
          <p:cNvPr id="33" name="anim-6-fade-0-785"/>
          <p:cNvSpPr txBox="1"/>
          <p:nvPr/>
        </p:nvSpPr>
        <p:spPr>
          <a:xfrm>
            <a:off x="6858000" y="1682496"/>
            <a:ext cx="4754880" cy="256032"/>
          </a:xfrm>
          <a:prstGeom prst="rect">
            <a:avLst/>
          </a:prstGeom>
          <a:noFill/>
          <a:ln/>
        </p:spPr>
        <p:txBody>
          <a:bodyPr wrap="square" lIns="0" tIns="0" rIns="0" bIns="0" rtlCol="0" anchor="t"/>
          <a:lstStyle/>
          <a:p>
            <a:pPr indent="0" marL="0">
              <a:buNone/>
            </a:pPr>
            <a:r>
              <a:rPr lang="en-US" sz="1100" b="1" dirty="0">
                <a:solidFill>
                  <a:srgbClr val="0F172A"/>
                </a:solidFill>
                <a:latin typeface="Inter" pitchFamily="34" charset="0"/>
                <a:ea typeface="Inter" pitchFamily="34" charset="-122"/>
                <a:cs typeface="Inter" pitchFamily="34" charset="-120"/>
              </a:rPr>
              <a:t>Same design, a different job at each depth</a:t>
            </a:r>
            <a:endParaRPr lang="en-US" sz="1100" dirty="0"/>
          </a:p>
        </p:txBody>
      </p:sp>
      <p:sp>
        <p:nvSpPr>
          <p:cNvPr id="34" name="anim-6-rise-0-786"/>
          <p:cNvSpPr/>
          <p:nvPr/>
        </p:nvSpPr>
        <p:spPr>
          <a:xfrm>
            <a:off x="6858000" y="2057400"/>
            <a:ext cx="4754880" cy="841248"/>
          </a:xfrm>
          <a:prstGeom prst="roundRect">
            <a:avLst>
              <a:gd name="adj" fmla="val 10870"/>
            </a:avLst>
          </a:prstGeom>
          <a:solidFill>
            <a:srgbClr val="FEF3C7"/>
          </a:solidFill>
          <a:ln/>
        </p:spPr>
        <p:txBody>
          <a:bodyPr wrap="square" lIns="101600" tIns="152400" rIns="152400" bIns="101600" rtlCol="0" anchor="t"/>
          <a:lstStyle/>
          <a:p>
            <a:pPr indent="0" marL="0">
              <a:buNone/>
            </a:pPr>
            <a:r>
              <a:rPr lang="en-US" sz="1200" b="1" dirty="0">
                <a:solidFill>
                  <a:srgbClr val="D97706"/>
                </a:solidFill>
                <a:latin typeface="Inter" pitchFamily="34" charset="0"/>
                <a:ea typeface="Inter" pitchFamily="34" charset="-122"/>
                <a:cs typeface="Inter" pitchFamily="34" charset="-120"/>
              </a:rPr>
              <a:t>Early blocks · tidy up the token</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 the” + position 4 → “a determiner; a noun phrase starts here”.</a:t>
            </a:r>
            <a:endParaRPr lang="en-US" sz="1200" dirty="0"/>
          </a:p>
        </p:txBody>
      </p:sp>
      <p:sp>
        <p:nvSpPr>
          <p:cNvPr id="35" name="anim-6-rise-250-787"/>
          <p:cNvSpPr/>
          <p:nvPr/>
        </p:nvSpPr>
        <p:spPr>
          <a:xfrm>
            <a:off x="6858000" y="3017520"/>
            <a:ext cx="4754880" cy="841248"/>
          </a:xfrm>
          <a:prstGeom prst="roundRect">
            <a:avLst>
              <a:gd name="adj" fmla="val 10870"/>
            </a:avLst>
          </a:prstGeom>
          <a:solidFill>
            <a:srgbClr val="EDE9FE"/>
          </a:solidFill>
          <a:ln/>
        </p:spPr>
        <p:txBody>
          <a:bodyPr wrap="square" lIns="101600" tIns="152400" rIns="152400" bIns="101600" rtlCol="0" anchor="t"/>
          <a:lstStyle/>
          <a:p>
            <a:pPr indent="0" marL="0">
              <a:buNone/>
            </a:pPr>
            <a:r>
              <a:rPr lang="en-US" sz="1200" b="1" dirty="0">
                <a:solidFill>
                  <a:srgbClr val="7C3AED"/>
                </a:solidFill>
                <a:latin typeface="Inter" pitchFamily="34" charset="0"/>
                <a:ea typeface="Inter" pitchFamily="34" charset="-122"/>
                <a:cs typeface="Inter" pitchFamily="34" charset="-120"/>
              </a:rPr>
              <a:t>Middle blocks · combine context</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“sat” + “on” + “the” → “we are describing a location”.</a:t>
            </a:r>
            <a:endParaRPr lang="en-US" sz="1200" dirty="0"/>
          </a:p>
        </p:txBody>
      </p:sp>
      <p:sp>
        <p:nvSpPr>
          <p:cNvPr id="36" name="anim-6-rise-500-788"/>
          <p:cNvSpPr/>
          <p:nvPr/>
        </p:nvSpPr>
        <p:spPr>
          <a:xfrm>
            <a:off x="6858000" y="3977640"/>
            <a:ext cx="4754880" cy="841248"/>
          </a:xfrm>
          <a:prstGeom prst="roundRect">
            <a:avLst>
              <a:gd name="adj" fmla="val 10870"/>
            </a:avLst>
          </a:prstGeom>
          <a:solidFill>
            <a:srgbClr val="FFE4E6"/>
          </a:solidFill>
          <a:ln/>
        </p:spPr>
        <p:txBody>
          <a:bodyPr wrap="square" lIns="101600" tIns="152400" rIns="152400" bIns="101600" rtlCol="0" anchor="t"/>
          <a:lstStyle/>
          <a:p>
            <a:pPr indent="0" marL="0">
              <a:buNone/>
            </a:pPr>
            <a:r>
              <a:rPr lang="en-US" sz="1200" b="1" dirty="0">
                <a:solidFill>
                  <a:srgbClr val="E11D48"/>
                </a:solidFill>
                <a:latin typeface="Inter" pitchFamily="34" charset="0"/>
                <a:ea typeface="Inter" pitchFamily="34" charset="-122"/>
                <a:cs typeface="Inter" pitchFamily="34" charset="-120"/>
              </a:rPr>
              <a:t>Late blocks · recall and prepare the answer</a:t>
            </a:r>
            <a:endParaRPr lang="en-US" sz="120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“cat” + “sits on” → boost mat, sofa, floor; push down unrelated words.</a:t>
            </a:r>
            <a:endParaRPr lang="en-US" sz="1200" dirty="0"/>
          </a:p>
        </p:txBody>
      </p:sp>
      <p:sp>
        <p:nvSpPr>
          <p:cNvPr id="37" name="anim-7-rise-0-789"/>
          <p:cNvSpPr/>
          <p:nvPr/>
        </p:nvSpPr>
        <p:spPr>
          <a:xfrm>
            <a:off x="6858000" y="4983480"/>
            <a:ext cx="4754880" cy="1143000"/>
          </a:xfrm>
          <a:prstGeom prst="roundRect">
            <a:avLst>
              <a:gd name="adj" fmla="val 8000"/>
            </a:avLst>
          </a:prstGeom>
          <a:solidFill>
            <a:srgbClr val="F1F5F9"/>
          </a:solidFill>
          <a:ln/>
        </p:spPr>
        <p:txBody>
          <a:bodyPr wrap="square" lIns="101600" tIns="152400" rIns="152400" bIns="101600" rtlCol="0" anchor="ctr"/>
          <a:lstStyle/>
          <a:p>
            <a:pPr indent="0" marL="0">
              <a:buNone/>
            </a:pPr>
            <a:r>
              <a:rPr lang="en-US" sz="1250" b="1" dirty="0">
                <a:solidFill>
                  <a:srgbClr val="0D9488"/>
                </a:solidFill>
                <a:latin typeface="Inter" pitchFamily="34" charset="0"/>
                <a:ea typeface="Inter" pitchFamily="34" charset="-122"/>
                <a:cs typeface="Inter" pitchFamily="34" charset="-120"/>
              </a:rPr>
              <a:t>MLP(x) = W₂ · GELU(W₁ · x + b₁) + b₂</a:t>
            </a:r>
            <a:endParaRPr lang="en-US" sz="1250" dirty="0"/>
          </a:p>
          <a:p>
            <a:pPr indent="0" marL="0">
              <a:spcBef>
                <a:spcPts val="400"/>
              </a:spcBef>
              <a:buNone/>
            </a:pPr>
            <a:r>
              <a:rPr lang="en-US" sz="1050" dirty="0">
                <a:solidFill>
                  <a:srgbClr val="334155"/>
                </a:solidFill>
                <a:latin typeface="Inter" pitchFamily="34" charset="0"/>
                <a:ea typeface="Inter" pitchFamily="34" charset="-122"/>
                <a:cs typeface="Inter" pitchFamily="34" charset="-120"/>
              </a:rPr>
              <a:t>W₁ holds the detectors, W₂ holds what each one writes. GPT-2 small has 3,072 of them in every block, and each of its 12 blocks learns its own set.</a:t>
            </a:r>
            <a:endParaRPr lang="en-US" sz="12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2" presetID="10" presetClass="entr" presetSubtype="0" fill="hold" grpId="0" nodeType="withEffect">
                                  <p:stCondLst>
                                    <p:cond delay="150"/>
                                  </p:stCondLst>
                                  <p:childTnLst>
                                    <p:set>
                                      <p:cBhvr>
                                        <p:cTn id="11"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5" presetID="10" presetClass="entr" presetSubtype="0" fill="hold" grpId="0" nodeType="withEffect">
                                  <p:stCondLst>
                                    <p:cond delay="150"/>
                                  </p:stCondLst>
                                  <p:childTnLst>
                                    <p:set>
                                      <p:cBhvr>
                                        <p:cTn id="14"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8" presetID="10" presetClass="entr" presetSubtype="0" fill="hold" grpId="0" nodeType="withEffect">
                                  <p:stCondLst>
                                    <p:cond delay="150"/>
                                  </p:stCondLst>
                                  <p:childTnLst>
                                    <p:set>
                                      <p:cBhvr>
                                        <p:cTn id="17"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3" presetID="42"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anim calcmode="lin" valueType="num">
                                      <p:cBhvr>
                                        <p:cTn id="25" dur="500" fill="hold"/>
                                        <p:tgtEl>
                                          <p:spTgt spid="10"/>
                                        </p:tgtEl>
                                        <p:attrNameLst>
                                          <p:attrName>ppt_x</p:attrName>
                                        </p:attrNameLst>
                                      </p:cBhvr>
                                      <p:tavLst>
                                        <p:tav tm="0">
                                          <p:val>
                                            <p:strVal val="#ppt_x"/>
                                          </p:val>
                                        </p:tav>
                                        <p:tav tm="100000">
                                          <p:val>
                                            <p:strVal val="#ppt_x"/>
                                          </p:val>
                                        </p:tav>
                                      </p:tavLst>
                                    </p:anim>
                                    <p:anim calcmode="lin" valueType="num">
                                      <p:cBhvr>
                                        <p:cTn id="26" dur="500" fill="hold"/>
                                        <p:tgtEl>
                                          <p:spTgt spid="10"/>
                                        </p:tgtEl>
                                        <p:attrNameLst>
                                          <p:attrName>ppt_y</p:attrName>
                                        </p:attrNameLst>
                                      </p:cBhvr>
                                      <p:tavLst>
                                        <p:tav tm="0">
                                          <p:val>
                                            <p:strVal val="#ppt_y+0.06"/>
                                          </p:val>
                                        </p:tav>
                                        <p:tav tm="100000">
                                          <p:val>
                                            <p:strVal val="#ppt_y"/>
                                          </p:val>
                                        </p:tav>
                                      </p:tavLst>
                                    </p:anim>
                                  </p:childTnLst>
                                </p:cTn>
                              </p:par>
                              <p:par>
                                <p:cTn id="28" presetID="22" presetClass="entr" presetSubtype="8" fill="hold" grpId="0" nodeType="withEffect">
                                  <p:stCondLst>
                                    <p:cond delay="2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9" dur="450"/>
                                        <p:tgtEl>
                                          <p:spTgt spid="11"/>
                                        </p:tgtEl>
                                      </p:cBhvr>
                                    </p:animEffect>
                                  </p:childTnLst>
                                </p:cTn>
                              </p:par>
                              <p:par>
                                <p:cTn id="31" presetID="53" presetClass="entr" presetSubtype="16" fill="hold" grpId="0" nodeType="withEffect">
                                  <p:stCondLst>
                                    <p:cond delay="350"/>
                                  </p:stCondLst>
                                  <p:childTnLst>
                                    <p:set>
                                      <p:cBhvr>
                                        <p:cTn id="30"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6" presetID="22" presetClass="entr" presetSubtype="8" fill="hold" grpId="0" nodeType="withEffect">
                                  <p:stCondLst>
                                    <p:cond delay="60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7" dur="450"/>
                                        <p:tgtEl>
                                          <p:spTgt spid="13"/>
                                        </p:tgtEl>
                                      </p:cBhvr>
                                    </p:animEffect>
                                  </p:childTnLst>
                                </p:cTn>
                              </p:par>
                              <p:par>
                                <p:cTn id="39" presetID="42" presetClass="entr" presetSubtype="0" fill="hold" grpId="0" nodeType="withEffect">
                                  <p:stCondLst>
                                    <p:cond delay="75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anim calcmode="lin" valueType="num">
                                      <p:cBhvr>
                                        <p:cTn id="41" dur="500" fill="hold"/>
                                        <p:tgtEl>
                                          <p:spTgt spid="14"/>
                                        </p:tgtEl>
                                        <p:attrNameLst>
                                          <p:attrName>ppt_x</p:attrName>
                                        </p:attrNameLst>
                                      </p:cBhvr>
                                      <p:tavLst>
                                        <p:tav tm="0">
                                          <p:val>
                                            <p:strVal val="#ppt_x"/>
                                          </p:val>
                                        </p:tav>
                                        <p:tav tm="100000">
                                          <p:val>
                                            <p:strVal val="#ppt_x"/>
                                          </p:val>
                                        </p:tav>
                                      </p:tavLst>
                                    </p:anim>
                                    <p:anim calcmode="lin" valueType="num">
                                      <p:cBhvr>
                                        <p:cTn id="42" dur="500" fill="hold"/>
                                        <p:tgtEl>
                                          <p:spTgt spid="14"/>
                                        </p:tgtEl>
                                        <p:attrNameLst>
                                          <p:attrName>ppt_y</p:attrName>
                                        </p:attrNameLst>
                                      </p:cBhvr>
                                      <p:tavLst>
                                        <p:tav tm="0">
                                          <p:val>
                                            <p:strVal val="#ppt_y+0.06"/>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6" presetID="42"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anim calcmode="lin" valueType="num">
                                      <p:cBhvr>
                                        <p:cTn id="48" dur="500" fill="hold"/>
                                        <p:tgtEl>
                                          <p:spTgt spid="15"/>
                                        </p:tgtEl>
                                        <p:attrNameLst>
                                          <p:attrName>ppt_x</p:attrName>
                                        </p:attrNameLst>
                                      </p:cBhvr>
                                      <p:tavLst>
                                        <p:tav tm="0">
                                          <p:val>
                                            <p:strVal val="#ppt_x"/>
                                          </p:val>
                                        </p:tav>
                                        <p:tav tm="100000">
                                          <p:val>
                                            <p:strVal val="#ppt_x"/>
                                          </p:val>
                                        </p:tav>
                                      </p:tavLst>
                                    </p:anim>
                                    <p:anim calcmode="lin" valueType="num">
                                      <p:cBhvr>
                                        <p:cTn id="49" dur="500" fill="hold"/>
                                        <p:tgtEl>
                                          <p:spTgt spid="15"/>
                                        </p:tgtEl>
                                        <p:attrNameLst>
                                          <p:attrName>ppt_y</p:attrName>
                                        </p:attrNameLst>
                                      </p:cBhvr>
                                      <p:tavLst>
                                        <p:tav tm="0">
                                          <p:val>
                                            <p:strVal val="#ppt_y+0.06"/>
                                          </p:val>
                                        </p:tav>
                                        <p:tav tm="100000">
                                          <p:val>
                                            <p:strVal val="#ppt_y"/>
                                          </p:val>
                                        </p:tav>
                                      </p:tavLst>
                                    </p:anim>
                                  </p:childTnLst>
                                </p:cTn>
                              </p:par>
                              <p:par>
                                <p:cTn id="51" presetID="22" presetClass="entr" presetSubtype="8" fill="hold" grpId="0" nodeType="withEffect">
                                  <p:stCondLst>
                                    <p:cond delay="2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2" dur="450"/>
                                        <p:tgtEl>
                                          <p:spTgt spid="16"/>
                                        </p:tgtEl>
                                      </p:cBhvr>
                                    </p:animEffect>
                                  </p:childTnLst>
                                </p:cTn>
                              </p:par>
                              <p:par>
                                <p:cTn id="54" presetID="53" presetClass="entr" presetSubtype="16" fill="hold" grpId="0" nodeType="withEffect">
                                  <p:stCondLst>
                                    <p:cond delay="350"/>
                                  </p:stCondLst>
                                  <p:childTnLst>
                                    <p:set>
                                      <p:cBhvr>
                                        <p:cTn id="53"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par>
                                <p:cTn id="59" presetID="22" presetClass="entr" presetSubtype="8" fill="hold" grpId="0" nodeType="withEffect">
                                  <p:stCondLst>
                                    <p:cond delay="60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60" dur="450"/>
                                        <p:tgtEl>
                                          <p:spTgt spid="18"/>
                                        </p:tgtEl>
                                      </p:cBhvr>
                                    </p:animEffect>
                                  </p:childTnLst>
                                </p:cTn>
                              </p:par>
                              <p:par>
                                <p:cTn id="62" presetID="42" presetClass="entr" presetSubtype="0" fill="hold" grpId="0" nodeType="withEffect">
                                  <p:stCondLst>
                                    <p:cond delay="7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0.06"/>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9" presetID="42"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anim calcmode="lin" valueType="num">
                                      <p:cBhvr>
                                        <p:cTn id="71" dur="500" fill="hold"/>
                                        <p:tgtEl>
                                          <p:spTgt spid="20"/>
                                        </p:tgtEl>
                                        <p:attrNameLst>
                                          <p:attrName>ppt_x</p:attrName>
                                        </p:attrNameLst>
                                      </p:cBhvr>
                                      <p:tavLst>
                                        <p:tav tm="0">
                                          <p:val>
                                            <p:strVal val="#ppt_x"/>
                                          </p:val>
                                        </p:tav>
                                        <p:tav tm="100000">
                                          <p:val>
                                            <p:strVal val="#ppt_x"/>
                                          </p:val>
                                        </p:tav>
                                      </p:tavLst>
                                    </p:anim>
                                    <p:anim calcmode="lin" valueType="num">
                                      <p:cBhvr>
                                        <p:cTn id="72" dur="500" fill="hold"/>
                                        <p:tgtEl>
                                          <p:spTgt spid="20"/>
                                        </p:tgtEl>
                                        <p:attrNameLst>
                                          <p:attrName>ppt_y</p:attrName>
                                        </p:attrNameLst>
                                      </p:cBhvr>
                                      <p:tavLst>
                                        <p:tav tm="0">
                                          <p:val>
                                            <p:strVal val="#ppt_y+0.06"/>
                                          </p:val>
                                        </p:tav>
                                        <p:tav tm="100000">
                                          <p:val>
                                            <p:strVal val="#ppt_y"/>
                                          </p:val>
                                        </p:tav>
                                      </p:tavLst>
                                    </p:anim>
                                  </p:childTnLst>
                                </p:cTn>
                              </p:par>
                              <p:par>
                                <p:cTn id="74" presetID="22" presetClass="entr" presetSubtype="8" fill="hold" grpId="0" nodeType="withEffect">
                                  <p:stCondLst>
                                    <p:cond delay="20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5" dur="450"/>
                                        <p:tgtEl>
                                          <p:spTgt spid="21"/>
                                        </p:tgtEl>
                                      </p:cBhvr>
                                    </p:animEffect>
                                  </p:childTnLst>
                                </p:cTn>
                              </p:par>
                              <p:par>
                                <p:cTn id="77" presetID="53" presetClass="entr" presetSubtype="16" fill="hold" grpId="0" nodeType="withEffect">
                                  <p:stCondLst>
                                    <p:cond delay="350"/>
                                  </p:stCondLst>
                                  <p:childTnLst>
                                    <p:set>
                                      <p:cBhvr>
                                        <p:cTn id="76" dur="1" fill="hold">
                                          <p:stCondLst>
                                            <p:cond delay="0"/>
                                          </p:stCondLst>
                                        </p:cTn>
                                        <p:tgtEl>
                                          <p:spTgt spid="22"/>
                                        </p:tgtEl>
                                        <p:attrNameLst>
                                          <p:attrName>style.visibility</p:attrName>
                                        </p:attrNameLst>
                                      </p:cBhvr>
                                      <p:to>
                                        <p:strVal val="visible"/>
                                      </p:to>
                                    </p:set>
                                    <p:anim calcmode="lin" valueType="num">
                                      <p:cBhvr>
                                        <p:cTn id="78" dur="500" fill="hold"/>
                                        <p:tgtEl>
                                          <p:spTgt spid="22"/>
                                        </p:tgtEl>
                                        <p:attrNameLst>
                                          <p:attrName>ppt_w</p:attrName>
                                        </p:attrNameLst>
                                      </p:cBhvr>
                                      <p:tavLst>
                                        <p:tav tm="0">
                                          <p:val>
                                            <p:fltVal val="0"/>
                                          </p:val>
                                        </p:tav>
                                        <p:tav tm="100000">
                                          <p:val>
                                            <p:strVal val="#ppt_w"/>
                                          </p:val>
                                        </p:tav>
                                      </p:tavLst>
                                    </p:anim>
                                    <p:anim calcmode="lin" valueType="num">
                                      <p:cBhvr>
                                        <p:cTn id="79" dur="500" fill="hold"/>
                                        <p:tgtEl>
                                          <p:spTgt spid="22"/>
                                        </p:tgtEl>
                                        <p:attrNameLst>
                                          <p:attrName>ppt_h</p:attrName>
                                        </p:attrNameLst>
                                      </p:cBhvr>
                                      <p:tavLst>
                                        <p:tav tm="0">
                                          <p:val>
                                            <p:fltVal val="0"/>
                                          </p:val>
                                        </p:tav>
                                        <p:tav tm="100000">
                                          <p:val>
                                            <p:strVal val="#ppt_h"/>
                                          </p:val>
                                        </p:tav>
                                      </p:tavLst>
                                    </p:anim>
                                    <p:animEffect transition="in" filter="fade">
                                      <p:cBhvr>
                                        <p:cTn id="80" dur="500"/>
                                        <p:tgtEl>
                                          <p:spTgt spid="22"/>
                                        </p:tgtEl>
                                      </p:cBhvr>
                                    </p:animEffect>
                                  </p:childTnLst>
                                </p:cTn>
                              </p:par>
                              <p:par>
                                <p:cTn id="82" presetID="22" presetClass="entr" presetSubtype="8" fill="hold" grpId="0" nodeType="withEffect">
                                  <p:stCondLst>
                                    <p:cond delay="600"/>
                                  </p:stCondLst>
                                  <p:childTnLst>
                                    <p:set>
                                      <p:cBhvr>
                                        <p:cTn id="81" dur="1" fill="hold">
                                          <p:stCondLst>
                                            <p:cond delay="0"/>
                                          </p:stCondLst>
                                        </p:cTn>
                                        <p:tgtEl>
                                          <p:spTgt spid="23"/>
                                        </p:tgtEl>
                                        <p:attrNameLst>
                                          <p:attrName>style.visibility</p:attrName>
                                        </p:attrNameLst>
                                      </p:cBhvr>
                                      <p:to>
                                        <p:strVal val="visible"/>
                                      </p:to>
                                    </p:set>
                                    <p:animEffect transition="in" filter="wipe(left)">
                                      <p:cBhvr>
                                        <p:cTn id="83" dur="450"/>
                                        <p:tgtEl>
                                          <p:spTgt spid="23"/>
                                        </p:tgtEl>
                                      </p:cBhvr>
                                    </p:animEffect>
                                  </p:childTnLst>
                                </p:cTn>
                              </p:par>
                              <p:par>
                                <p:cTn id="85" presetID="42" presetClass="entr" presetSubtype="0" fill="hold" grpId="0" nodeType="withEffect">
                                  <p:stCondLst>
                                    <p:cond delay="750"/>
                                  </p:stCondLst>
                                  <p:childTnLst>
                                    <p:set>
                                      <p:cBhvr>
                                        <p:cTn id="84"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anim calcmode="lin" valueType="num">
                                      <p:cBhvr>
                                        <p:cTn id="87" dur="500" fill="hold"/>
                                        <p:tgtEl>
                                          <p:spTgt spid="24"/>
                                        </p:tgtEl>
                                        <p:attrNameLst>
                                          <p:attrName>ppt_x</p:attrName>
                                        </p:attrNameLst>
                                      </p:cBhvr>
                                      <p:tavLst>
                                        <p:tav tm="0">
                                          <p:val>
                                            <p:strVal val="#ppt_x"/>
                                          </p:val>
                                        </p:tav>
                                        <p:tav tm="100000">
                                          <p:val>
                                            <p:strVal val="#ppt_x"/>
                                          </p:val>
                                        </p:tav>
                                      </p:tavLst>
                                    </p:anim>
                                    <p:anim calcmode="lin" valueType="num">
                                      <p:cBhvr>
                                        <p:cTn id="88" dur="500" fill="hold"/>
                                        <p:tgtEl>
                                          <p:spTgt spid="24"/>
                                        </p:tgtEl>
                                        <p:attrNameLst>
                                          <p:attrName>ppt_y</p:attrName>
                                        </p:attrNameLst>
                                      </p:cBhvr>
                                      <p:tavLst>
                                        <p:tav tm="0">
                                          <p:val>
                                            <p:strVal val="#ppt_y+0.06"/>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2" presetID="10"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fade">
                                      <p:cBhvr>
                                        <p:cTn id="93" dur="500"/>
                                        <p:tgtEl>
                                          <p:spTgt spid="25"/>
                                        </p:tgtEl>
                                      </p:cBhvr>
                                    </p:animEffect>
                                  </p:childTnLst>
                                </p:cTn>
                              </p:par>
                              <p:par>
                                <p:cTn id="95" presetID="10" presetClass="entr" presetSubtype="0" fill="hold" grpId="0" nodeType="withEffect">
                                  <p:stCondLst>
                                    <p:cond delay="100"/>
                                  </p:stCondLst>
                                  <p:childTnLst>
                                    <p:set>
                                      <p:cBhvr>
                                        <p:cTn id="94"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childTnLst>
                                </p:cTn>
                              </p:par>
                              <p:par>
                                <p:cTn id="98" presetID="53" presetClass="entr" presetSubtype="16" fill="hold" grpId="0" nodeType="withEffect">
                                  <p:stCondLst>
                                    <p:cond delay="250"/>
                                  </p:stCondLst>
                                  <p:childTnLst>
                                    <p:set>
                                      <p:cBhvr>
                                        <p:cTn id="97" dur="1" fill="hold">
                                          <p:stCondLst>
                                            <p:cond delay="0"/>
                                          </p:stCondLst>
                                        </p:cTn>
                                        <p:tgtEl>
                                          <p:spTgt spid="27"/>
                                        </p:tgtEl>
                                        <p:attrNameLst>
                                          <p:attrName>style.visibility</p:attrName>
                                        </p:attrNameLst>
                                      </p:cBhvr>
                                      <p:to>
                                        <p:strVal val="visible"/>
                                      </p:to>
                                    </p:set>
                                    <p:anim calcmode="lin" valueType="num">
                                      <p:cBhvr>
                                        <p:cTn id="99" dur="500" fill="hold"/>
                                        <p:tgtEl>
                                          <p:spTgt spid="27"/>
                                        </p:tgtEl>
                                        <p:attrNameLst>
                                          <p:attrName>ppt_w</p:attrName>
                                        </p:attrNameLst>
                                      </p:cBhvr>
                                      <p:tavLst>
                                        <p:tav tm="0">
                                          <p:val>
                                            <p:fltVal val="0"/>
                                          </p:val>
                                        </p:tav>
                                        <p:tav tm="100000">
                                          <p:val>
                                            <p:strVal val="#ppt_w"/>
                                          </p:val>
                                        </p:tav>
                                      </p:tavLst>
                                    </p:anim>
                                    <p:anim calcmode="lin" valueType="num">
                                      <p:cBhvr>
                                        <p:cTn id="100" dur="500" fill="hold"/>
                                        <p:tgtEl>
                                          <p:spTgt spid="27"/>
                                        </p:tgtEl>
                                        <p:attrNameLst>
                                          <p:attrName>ppt_h</p:attrName>
                                        </p:attrNameLst>
                                      </p:cBhvr>
                                      <p:tavLst>
                                        <p:tav tm="0">
                                          <p:val>
                                            <p:fltVal val="0"/>
                                          </p:val>
                                        </p:tav>
                                        <p:tav tm="100000">
                                          <p:val>
                                            <p:strVal val="#ppt_h"/>
                                          </p:val>
                                        </p:tav>
                                      </p:tavLst>
                                    </p:anim>
                                    <p:animEffect transition="in" filter="fade">
                                      <p:cBhvr>
                                        <p:cTn id="101" dur="500"/>
                                        <p:tgtEl>
                                          <p:spTgt spid="27"/>
                                        </p:tgtEl>
                                      </p:cBhvr>
                                    </p:animEffect>
                                  </p:childTnLst>
                                </p:cTn>
                              </p:par>
                              <p:par>
                                <p:cTn id="103" presetID="53" presetClass="entr" presetSubtype="16" fill="hold" grpId="0" nodeType="withEffect">
                                  <p:stCondLst>
                                    <p:cond delay="370"/>
                                  </p:stCondLst>
                                  <p:childTnLst>
                                    <p:set>
                                      <p:cBhvr>
                                        <p:cTn id="102" dur="1" fill="hold">
                                          <p:stCondLst>
                                            <p:cond delay="0"/>
                                          </p:stCondLst>
                                        </p:cTn>
                                        <p:tgtEl>
                                          <p:spTgt spid="28"/>
                                        </p:tgtEl>
                                        <p:attrNameLst>
                                          <p:attrName>style.visibility</p:attrName>
                                        </p:attrNameLst>
                                      </p:cBhvr>
                                      <p:to>
                                        <p:strVal val="visible"/>
                                      </p:to>
                                    </p:set>
                                    <p:anim calcmode="lin" valueType="num">
                                      <p:cBhvr>
                                        <p:cTn id="104" dur="500" fill="hold"/>
                                        <p:tgtEl>
                                          <p:spTgt spid="28"/>
                                        </p:tgtEl>
                                        <p:attrNameLst>
                                          <p:attrName>ppt_w</p:attrName>
                                        </p:attrNameLst>
                                      </p:cBhvr>
                                      <p:tavLst>
                                        <p:tav tm="0">
                                          <p:val>
                                            <p:fltVal val="0"/>
                                          </p:val>
                                        </p:tav>
                                        <p:tav tm="100000">
                                          <p:val>
                                            <p:strVal val="#ppt_w"/>
                                          </p:val>
                                        </p:tav>
                                      </p:tavLst>
                                    </p:anim>
                                    <p:anim calcmode="lin" valueType="num">
                                      <p:cBhvr>
                                        <p:cTn id="105" dur="500" fill="hold"/>
                                        <p:tgtEl>
                                          <p:spTgt spid="28"/>
                                        </p:tgtEl>
                                        <p:attrNameLst>
                                          <p:attrName>ppt_h</p:attrName>
                                        </p:attrNameLst>
                                      </p:cBhvr>
                                      <p:tavLst>
                                        <p:tav tm="0">
                                          <p:val>
                                            <p:fltVal val="0"/>
                                          </p:val>
                                        </p:tav>
                                        <p:tav tm="100000">
                                          <p:val>
                                            <p:strVal val="#ppt_h"/>
                                          </p:val>
                                        </p:tav>
                                      </p:tavLst>
                                    </p:anim>
                                    <p:animEffect transition="in" filter="fade">
                                      <p:cBhvr>
                                        <p:cTn id="106" dur="500"/>
                                        <p:tgtEl>
                                          <p:spTgt spid="28"/>
                                        </p:tgtEl>
                                      </p:cBhvr>
                                    </p:animEffect>
                                  </p:childTnLst>
                                </p:cTn>
                              </p:par>
                              <p:par>
                                <p:cTn id="108" presetID="53" presetClass="entr" presetSubtype="16" fill="hold" grpId="0" nodeType="withEffect">
                                  <p:stCondLst>
                                    <p:cond delay="490"/>
                                  </p:stCondLst>
                                  <p:childTnLst>
                                    <p:set>
                                      <p:cBhvr>
                                        <p:cTn id="107" dur="1" fill="hold">
                                          <p:stCondLst>
                                            <p:cond delay="0"/>
                                          </p:stCondLst>
                                        </p:cTn>
                                        <p:tgtEl>
                                          <p:spTgt spid="29"/>
                                        </p:tgtEl>
                                        <p:attrNameLst>
                                          <p:attrName>style.visibility</p:attrName>
                                        </p:attrNameLst>
                                      </p:cBhvr>
                                      <p:to>
                                        <p:strVal val="visible"/>
                                      </p:to>
                                    </p:set>
                                    <p:anim calcmode="lin" valueType="num">
                                      <p:cBhvr>
                                        <p:cTn id="109" dur="500" fill="hold"/>
                                        <p:tgtEl>
                                          <p:spTgt spid="29"/>
                                        </p:tgtEl>
                                        <p:attrNameLst>
                                          <p:attrName>ppt_w</p:attrName>
                                        </p:attrNameLst>
                                      </p:cBhvr>
                                      <p:tavLst>
                                        <p:tav tm="0">
                                          <p:val>
                                            <p:fltVal val="0"/>
                                          </p:val>
                                        </p:tav>
                                        <p:tav tm="100000">
                                          <p:val>
                                            <p:strVal val="#ppt_w"/>
                                          </p:val>
                                        </p:tav>
                                      </p:tavLst>
                                    </p:anim>
                                    <p:anim calcmode="lin" valueType="num">
                                      <p:cBhvr>
                                        <p:cTn id="110" dur="500" fill="hold"/>
                                        <p:tgtEl>
                                          <p:spTgt spid="29"/>
                                        </p:tgtEl>
                                        <p:attrNameLst>
                                          <p:attrName>ppt_h</p:attrName>
                                        </p:attrNameLst>
                                      </p:cBhvr>
                                      <p:tavLst>
                                        <p:tav tm="0">
                                          <p:val>
                                            <p:fltVal val="0"/>
                                          </p:val>
                                        </p:tav>
                                        <p:tav tm="100000">
                                          <p:val>
                                            <p:strVal val="#ppt_h"/>
                                          </p:val>
                                        </p:tav>
                                      </p:tavLst>
                                    </p:anim>
                                    <p:animEffect transition="in" filter="fade">
                                      <p:cBhvr>
                                        <p:cTn id="111" dur="500"/>
                                        <p:tgtEl>
                                          <p:spTgt spid="29"/>
                                        </p:tgtEl>
                                      </p:cBhvr>
                                    </p:animEffect>
                                  </p:childTnLst>
                                </p:cTn>
                              </p:par>
                              <p:par>
                                <p:cTn id="113" presetID="53" presetClass="entr" presetSubtype="16" fill="hold" grpId="0" nodeType="withEffect">
                                  <p:stCondLst>
                                    <p:cond delay="610"/>
                                  </p:stCondLst>
                                  <p:childTnLst>
                                    <p:set>
                                      <p:cBhvr>
                                        <p:cTn id="112" dur="1" fill="hold">
                                          <p:stCondLst>
                                            <p:cond delay="0"/>
                                          </p:stCondLst>
                                        </p:cTn>
                                        <p:tgtEl>
                                          <p:spTgt spid="30"/>
                                        </p:tgtEl>
                                        <p:attrNameLst>
                                          <p:attrName>style.visibility</p:attrName>
                                        </p:attrNameLst>
                                      </p:cBhvr>
                                      <p:to>
                                        <p:strVal val="visible"/>
                                      </p:to>
                                    </p:set>
                                    <p:anim calcmode="lin" valueType="num">
                                      <p:cBhvr>
                                        <p:cTn id="114" dur="500" fill="hold"/>
                                        <p:tgtEl>
                                          <p:spTgt spid="30"/>
                                        </p:tgtEl>
                                        <p:attrNameLst>
                                          <p:attrName>ppt_w</p:attrName>
                                        </p:attrNameLst>
                                      </p:cBhvr>
                                      <p:tavLst>
                                        <p:tav tm="0">
                                          <p:val>
                                            <p:fltVal val="0"/>
                                          </p:val>
                                        </p:tav>
                                        <p:tav tm="100000">
                                          <p:val>
                                            <p:strVal val="#ppt_w"/>
                                          </p:val>
                                        </p:tav>
                                      </p:tavLst>
                                    </p:anim>
                                    <p:anim calcmode="lin" valueType="num">
                                      <p:cBhvr>
                                        <p:cTn id="115" dur="500" fill="hold"/>
                                        <p:tgtEl>
                                          <p:spTgt spid="30"/>
                                        </p:tgtEl>
                                        <p:attrNameLst>
                                          <p:attrName>ppt_h</p:attrName>
                                        </p:attrNameLst>
                                      </p:cBhvr>
                                      <p:tavLst>
                                        <p:tav tm="0">
                                          <p:val>
                                            <p:fltVal val="0"/>
                                          </p:val>
                                        </p:tav>
                                        <p:tav tm="100000">
                                          <p:val>
                                            <p:strVal val="#ppt_h"/>
                                          </p:val>
                                        </p:tav>
                                      </p:tavLst>
                                    </p:anim>
                                    <p:animEffect transition="in" filter="fade">
                                      <p:cBhvr>
                                        <p:cTn id="116" dur="500"/>
                                        <p:tgtEl>
                                          <p:spTgt spid="30"/>
                                        </p:tgtEl>
                                      </p:cBhvr>
                                    </p:animEffect>
                                  </p:childTnLst>
                                </p:cTn>
                              </p:par>
                              <p:par>
                                <p:cTn id="118" presetID="53" presetClass="entr" presetSubtype="16" fill="hold" grpId="0" nodeType="withEffect">
                                  <p:stCondLst>
                                    <p:cond delay="730"/>
                                  </p:stCondLst>
                                  <p:childTnLst>
                                    <p:set>
                                      <p:cBhvr>
                                        <p:cTn id="117" dur="1" fill="hold">
                                          <p:stCondLst>
                                            <p:cond delay="0"/>
                                          </p:stCondLst>
                                        </p:cTn>
                                        <p:tgtEl>
                                          <p:spTgt spid="31"/>
                                        </p:tgtEl>
                                        <p:attrNameLst>
                                          <p:attrName>style.visibility</p:attrName>
                                        </p:attrNameLst>
                                      </p:cBhvr>
                                      <p:to>
                                        <p:strVal val="visible"/>
                                      </p:to>
                                    </p:set>
                                    <p:anim calcmode="lin" valueType="num">
                                      <p:cBhvr>
                                        <p:cTn id="119" dur="500" fill="hold"/>
                                        <p:tgtEl>
                                          <p:spTgt spid="31"/>
                                        </p:tgtEl>
                                        <p:attrNameLst>
                                          <p:attrName>ppt_w</p:attrName>
                                        </p:attrNameLst>
                                      </p:cBhvr>
                                      <p:tavLst>
                                        <p:tav tm="0">
                                          <p:val>
                                            <p:fltVal val="0"/>
                                          </p:val>
                                        </p:tav>
                                        <p:tav tm="100000">
                                          <p:val>
                                            <p:strVal val="#ppt_w"/>
                                          </p:val>
                                        </p:tav>
                                      </p:tavLst>
                                    </p:anim>
                                    <p:anim calcmode="lin" valueType="num">
                                      <p:cBhvr>
                                        <p:cTn id="120" dur="500" fill="hold"/>
                                        <p:tgtEl>
                                          <p:spTgt spid="31"/>
                                        </p:tgtEl>
                                        <p:attrNameLst>
                                          <p:attrName>ppt_h</p:attrName>
                                        </p:attrNameLst>
                                      </p:cBhvr>
                                      <p:tavLst>
                                        <p:tav tm="0">
                                          <p:val>
                                            <p:fltVal val="0"/>
                                          </p:val>
                                        </p:tav>
                                        <p:tav tm="100000">
                                          <p:val>
                                            <p:strVal val="#ppt_h"/>
                                          </p:val>
                                        </p:tav>
                                      </p:tavLst>
                                    </p:anim>
                                    <p:animEffect transition="in" filter="fade">
                                      <p:cBhvr>
                                        <p:cTn id="121" dur="500"/>
                                        <p:tgtEl>
                                          <p:spTgt spid="31"/>
                                        </p:tgtEl>
                                      </p:cBhvr>
                                    </p:animEffect>
                                  </p:childTnLst>
                                </p:cTn>
                              </p:par>
                              <p:par>
                                <p:cTn id="123" presetID="10" presetClass="entr" presetSubtype="0" fill="hold" grpId="0" nodeType="withEffect">
                                  <p:stCondLst>
                                    <p:cond delay="900"/>
                                  </p:stCondLst>
                                  <p:childTnLst>
                                    <p:set>
                                      <p:cBhvr>
                                        <p:cTn id="122" dur="1" fill="hold">
                                          <p:stCondLst>
                                            <p:cond delay="0"/>
                                          </p:stCondLst>
                                        </p:cTn>
                                        <p:tgtEl>
                                          <p:spTgt spid="32"/>
                                        </p:tgtEl>
                                        <p:attrNameLst>
                                          <p:attrName>style.visibility</p:attrName>
                                        </p:attrNameLst>
                                      </p:cBhvr>
                                      <p:to>
                                        <p:strVal val="visible"/>
                                      </p:to>
                                    </p:set>
                                    <p:animEffect transition="in" filter="fade">
                                      <p:cBhvr>
                                        <p:cTn id="124" dur="500"/>
                                        <p:tgtEl>
                                          <p:spTgt spid="32"/>
                                        </p:tgtEl>
                                      </p:cBhvr>
                                    </p:animEffect>
                                  </p:childTnLst>
                                </p:cTn>
                              </p:par>
                            </p:childTnLst>
                          </p:cTn>
                        </p:par>
                      </p:childTnLst>
                    </p:cTn>
                  </p:par>
                  <p:par>
                    <p:cTn id="125" fill="hold">
                      <p:stCondLst>
                        <p:cond delay="indefinite"/>
                      </p:stCondLst>
                      <p:childTnLst>
                        <p:par>
                          <p:cTn id="126" fill="hold">
                            <p:stCondLst>
                              <p:cond delay="0"/>
                            </p:stCondLst>
                            <p:childTnLst>
                              <p:par>
                                <p:cTn id="128" presetID="10" presetClass="entr" presetSubtype="0" fill="hold" grpId="0" nodeType="clickEffect">
                                  <p:stCondLst>
                                    <p:cond delay="0"/>
                                  </p:stCondLst>
                                  <p:childTnLst>
                                    <p:set>
                                      <p:cBhvr>
                                        <p:cTn id="127" dur="1" fill="hold">
                                          <p:stCondLst>
                                            <p:cond delay="0"/>
                                          </p:stCondLst>
                                        </p:cTn>
                                        <p:tgtEl>
                                          <p:spTgt spid="33"/>
                                        </p:tgtEl>
                                        <p:attrNameLst>
                                          <p:attrName>style.visibility</p:attrName>
                                        </p:attrNameLst>
                                      </p:cBhvr>
                                      <p:to>
                                        <p:strVal val="visible"/>
                                      </p:to>
                                    </p:set>
                                    <p:animEffect transition="in" filter="fade">
                                      <p:cBhvr>
                                        <p:cTn id="129" dur="500"/>
                                        <p:tgtEl>
                                          <p:spTgt spid="33"/>
                                        </p:tgtEl>
                                      </p:cBhvr>
                                    </p:animEffect>
                                  </p:childTnLst>
                                </p:cTn>
                              </p:par>
                              <p:par>
                                <p:cTn id="131" presetID="42" presetClass="entr" presetSubtype="0"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fade">
                                      <p:cBhvr>
                                        <p:cTn id="132" dur="500"/>
                                        <p:tgtEl>
                                          <p:spTgt spid="34"/>
                                        </p:tgtEl>
                                      </p:cBhvr>
                                    </p:animEffect>
                                    <p:anim calcmode="lin" valueType="num">
                                      <p:cBhvr>
                                        <p:cTn id="133" dur="500" fill="hold"/>
                                        <p:tgtEl>
                                          <p:spTgt spid="34"/>
                                        </p:tgtEl>
                                        <p:attrNameLst>
                                          <p:attrName>ppt_x</p:attrName>
                                        </p:attrNameLst>
                                      </p:cBhvr>
                                      <p:tavLst>
                                        <p:tav tm="0">
                                          <p:val>
                                            <p:strVal val="#ppt_x"/>
                                          </p:val>
                                        </p:tav>
                                        <p:tav tm="100000">
                                          <p:val>
                                            <p:strVal val="#ppt_x"/>
                                          </p:val>
                                        </p:tav>
                                      </p:tavLst>
                                    </p:anim>
                                    <p:anim calcmode="lin" valueType="num">
                                      <p:cBhvr>
                                        <p:cTn id="134" dur="500" fill="hold"/>
                                        <p:tgtEl>
                                          <p:spTgt spid="34"/>
                                        </p:tgtEl>
                                        <p:attrNameLst>
                                          <p:attrName>ppt_y</p:attrName>
                                        </p:attrNameLst>
                                      </p:cBhvr>
                                      <p:tavLst>
                                        <p:tav tm="0">
                                          <p:val>
                                            <p:strVal val="#ppt_y+0.06"/>
                                          </p:val>
                                        </p:tav>
                                        <p:tav tm="100000">
                                          <p:val>
                                            <p:strVal val="#ppt_y"/>
                                          </p:val>
                                        </p:tav>
                                      </p:tavLst>
                                    </p:anim>
                                  </p:childTnLst>
                                </p:cTn>
                              </p:par>
                              <p:par>
                                <p:cTn id="136" presetID="42" presetClass="entr" presetSubtype="0" fill="hold" grpId="0" nodeType="withEffect">
                                  <p:stCondLst>
                                    <p:cond delay="250"/>
                                  </p:stCondLst>
                                  <p:childTnLst>
                                    <p:set>
                                      <p:cBhvr>
                                        <p:cTn id="135" dur="1" fill="hold">
                                          <p:stCondLst>
                                            <p:cond delay="0"/>
                                          </p:stCondLst>
                                        </p:cTn>
                                        <p:tgtEl>
                                          <p:spTgt spid="35"/>
                                        </p:tgtEl>
                                        <p:attrNameLst>
                                          <p:attrName>style.visibility</p:attrName>
                                        </p:attrNameLst>
                                      </p:cBhvr>
                                      <p:to>
                                        <p:strVal val="visible"/>
                                      </p:to>
                                    </p:set>
                                    <p:animEffect transition="in" filter="fade">
                                      <p:cBhvr>
                                        <p:cTn id="137" dur="500"/>
                                        <p:tgtEl>
                                          <p:spTgt spid="35"/>
                                        </p:tgtEl>
                                      </p:cBhvr>
                                    </p:animEffect>
                                    <p:anim calcmode="lin" valueType="num">
                                      <p:cBhvr>
                                        <p:cTn id="138" dur="500" fill="hold"/>
                                        <p:tgtEl>
                                          <p:spTgt spid="35"/>
                                        </p:tgtEl>
                                        <p:attrNameLst>
                                          <p:attrName>ppt_x</p:attrName>
                                        </p:attrNameLst>
                                      </p:cBhvr>
                                      <p:tavLst>
                                        <p:tav tm="0">
                                          <p:val>
                                            <p:strVal val="#ppt_x"/>
                                          </p:val>
                                        </p:tav>
                                        <p:tav tm="100000">
                                          <p:val>
                                            <p:strVal val="#ppt_x"/>
                                          </p:val>
                                        </p:tav>
                                      </p:tavLst>
                                    </p:anim>
                                    <p:anim calcmode="lin" valueType="num">
                                      <p:cBhvr>
                                        <p:cTn id="139" dur="500" fill="hold"/>
                                        <p:tgtEl>
                                          <p:spTgt spid="35"/>
                                        </p:tgtEl>
                                        <p:attrNameLst>
                                          <p:attrName>ppt_y</p:attrName>
                                        </p:attrNameLst>
                                      </p:cBhvr>
                                      <p:tavLst>
                                        <p:tav tm="0">
                                          <p:val>
                                            <p:strVal val="#ppt_y+0.06"/>
                                          </p:val>
                                        </p:tav>
                                        <p:tav tm="100000">
                                          <p:val>
                                            <p:strVal val="#ppt_y"/>
                                          </p:val>
                                        </p:tav>
                                      </p:tavLst>
                                    </p:anim>
                                  </p:childTnLst>
                                </p:cTn>
                              </p:par>
                              <p:par>
                                <p:cTn id="141" presetID="42" presetClass="entr" presetSubtype="0" fill="hold" grpId="0" nodeType="withEffect">
                                  <p:stCondLst>
                                    <p:cond delay="500"/>
                                  </p:stCondLst>
                                  <p:childTnLst>
                                    <p:set>
                                      <p:cBhvr>
                                        <p:cTn id="140" dur="1" fill="hold">
                                          <p:stCondLst>
                                            <p:cond delay="0"/>
                                          </p:stCondLst>
                                        </p:cTn>
                                        <p:tgtEl>
                                          <p:spTgt spid="36"/>
                                        </p:tgtEl>
                                        <p:attrNameLst>
                                          <p:attrName>style.visibility</p:attrName>
                                        </p:attrNameLst>
                                      </p:cBhvr>
                                      <p:to>
                                        <p:strVal val="visible"/>
                                      </p:to>
                                    </p:set>
                                    <p:animEffect transition="in" filter="fade">
                                      <p:cBhvr>
                                        <p:cTn id="142" dur="500"/>
                                        <p:tgtEl>
                                          <p:spTgt spid="36"/>
                                        </p:tgtEl>
                                      </p:cBhvr>
                                    </p:animEffect>
                                    <p:anim calcmode="lin" valueType="num">
                                      <p:cBhvr>
                                        <p:cTn id="143" dur="500" fill="hold"/>
                                        <p:tgtEl>
                                          <p:spTgt spid="36"/>
                                        </p:tgtEl>
                                        <p:attrNameLst>
                                          <p:attrName>ppt_x</p:attrName>
                                        </p:attrNameLst>
                                      </p:cBhvr>
                                      <p:tavLst>
                                        <p:tav tm="0">
                                          <p:val>
                                            <p:strVal val="#ppt_x"/>
                                          </p:val>
                                        </p:tav>
                                        <p:tav tm="100000">
                                          <p:val>
                                            <p:strVal val="#ppt_x"/>
                                          </p:val>
                                        </p:tav>
                                      </p:tavLst>
                                    </p:anim>
                                    <p:anim calcmode="lin" valueType="num">
                                      <p:cBhvr>
                                        <p:cTn id="144" dur="500" fill="hold"/>
                                        <p:tgtEl>
                                          <p:spTgt spid="36"/>
                                        </p:tgtEl>
                                        <p:attrNameLst>
                                          <p:attrName>ppt_y</p:attrName>
                                        </p:attrNameLst>
                                      </p:cBhvr>
                                      <p:tavLst>
                                        <p:tav tm="0">
                                          <p:val>
                                            <p:strVal val="#ppt_y+0.06"/>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8" presetID="42" presetClass="entr" presetSubtype="0" fill="hold" grpId="0" nodeType="clickEffect">
                                  <p:stCondLst>
                                    <p:cond delay="0"/>
                                  </p:stCondLst>
                                  <p:childTnLst>
                                    <p:set>
                                      <p:cBhvr>
                                        <p:cTn id="147" dur="1" fill="hold">
                                          <p:stCondLst>
                                            <p:cond delay="0"/>
                                          </p:stCondLst>
                                        </p:cTn>
                                        <p:tgtEl>
                                          <p:spTgt spid="37"/>
                                        </p:tgtEl>
                                        <p:attrNameLst>
                                          <p:attrName>style.visibility</p:attrName>
                                        </p:attrNameLst>
                                      </p:cBhvr>
                                      <p:to>
                                        <p:strVal val="visible"/>
                                      </p:to>
                                    </p:set>
                                    <p:animEffect transition="in" filter="fade">
                                      <p:cBhvr>
                                        <p:cTn id="149" dur="500"/>
                                        <p:tgtEl>
                                          <p:spTgt spid="37"/>
                                        </p:tgtEl>
                                      </p:cBhvr>
                                    </p:animEffect>
                                    <p:anim calcmode="lin" valueType="num">
                                      <p:cBhvr>
                                        <p:cTn id="150" dur="500" fill="hold"/>
                                        <p:tgtEl>
                                          <p:spTgt spid="37"/>
                                        </p:tgtEl>
                                        <p:attrNameLst>
                                          <p:attrName>ppt_x</p:attrName>
                                        </p:attrNameLst>
                                      </p:cBhvr>
                                      <p:tavLst>
                                        <p:tav tm="0">
                                          <p:val>
                                            <p:strVal val="#ppt_x"/>
                                          </p:val>
                                        </p:tav>
                                        <p:tav tm="100000">
                                          <p:val>
                                            <p:strVal val="#ppt_x"/>
                                          </p:val>
                                        </p:tav>
                                      </p:tavLst>
                                    </p:anim>
                                    <p:anim calcmode="lin" valueType="num">
                                      <p:cBhvr>
                                        <p:cTn id="151" dur="500" fill="hold"/>
                                        <p:tgtEl>
                                          <p:spTgt spid="3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15 · STACKING BLOCKS</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Stacking blocks: from spelling to meaning</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The same block design repeats many times — 12 in GPT-2 small, 96 in GPT-3. Each layer refines the vectors further.</a:t>
            </a:r>
            <a:endParaRPr lang="en-US" sz="1300" dirty="0"/>
          </a:p>
        </p:txBody>
      </p:sp>
      <p:sp>
        <p:nvSpPr>
          <p:cNvPr id="5" name="anim-2-rise-0-790"/>
          <p:cNvSpPr/>
          <p:nvPr/>
        </p:nvSpPr>
        <p:spPr>
          <a:xfrm>
            <a:off x="3977640" y="5074920"/>
            <a:ext cx="3291840" cy="548640"/>
          </a:xfrm>
          <a:prstGeom prst="roundRect">
            <a:avLst>
              <a:gd name="adj" fmla="val 13333"/>
            </a:avLst>
          </a:prstGeom>
          <a:solidFill>
            <a:srgbClr val="F8FAFC"/>
          </a:solidFill>
          <a:ln w="12700">
            <a:solidFill>
              <a:srgbClr val="CBD5E1"/>
            </a:solidFill>
            <a:prstDash val="solid"/>
          </a:ln>
        </p:spPr>
      </p:sp>
      <p:sp>
        <p:nvSpPr>
          <p:cNvPr id="6" name="anim-2-rise-0-791"/>
          <p:cNvSpPr txBox="1"/>
          <p:nvPr/>
        </p:nvSpPr>
        <p:spPr>
          <a:xfrm>
            <a:off x="4114800" y="5239512"/>
            <a:ext cx="822960" cy="219456"/>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Block 1</a:t>
            </a:r>
            <a:endParaRPr lang="en-US" sz="1000" dirty="0"/>
          </a:p>
        </p:txBody>
      </p:sp>
      <p:sp>
        <p:nvSpPr>
          <p:cNvPr id="7" name="anim-2-rise-0-792"/>
          <p:cNvSpPr/>
          <p:nvPr/>
        </p:nvSpPr>
        <p:spPr>
          <a:xfrm>
            <a:off x="5029200" y="5175504"/>
            <a:ext cx="1051560" cy="347472"/>
          </a:xfrm>
          <a:prstGeom prst="roundRect">
            <a:avLst>
              <a:gd name="adj" fmla="val 26316"/>
            </a:avLst>
          </a:prstGeom>
          <a:solidFill>
            <a:srgbClr val="EDE9FE"/>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Attention</a:t>
            </a:r>
            <a:endParaRPr lang="en-US" sz="1000" dirty="0"/>
          </a:p>
        </p:txBody>
      </p:sp>
      <p:sp>
        <p:nvSpPr>
          <p:cNvPr id="8" name="anim-2-rise-0-793"/>
          <p:cNvSpPr/>
          <p:nvPr/>
        </p:nvSpPr>
        <p:spPr>
          <a:xfrm>
            <a:off x="6172200" y="5175504"/>
            <a:ext cx="914400" cy="347472"/>
          </a:xfrm>
          <a:prstGeom prst="roundRect">
            <a:avLst>
              <a:gd name="adj" fmla="val 26316"/>
            </a:avLst>
          </a:prstGeom>
          <a:solidFill>
            <a:srgbClr val="CCFBF1"/>
          </a:solidFill>
          <a:ln/>
        </p:spPr>
        <p:txBody>
          <a:bodyPr wrap="square" lIns="0" tIns="0" rIns="0" bIns="0" rtlCol="0" anchor="ctr"/>
          <a:lstStyle/>
          <a:p>
            <a:pPr algn="ctr" indent="0" marL="0">
              <a:buNone/>
            </a:pPr>
            <a:r>
              <a:rPr lang="en-US" sz="1000" b="1" dirty="0">
                <a:solidFill>
                  <a:srgbClr val="0D9488"/>
                </a:solidFill>
                <a:latin typeface="Inter" pitchFamily="34" charset="0"/>
                <a:ea typeface="Inter" pitchFamily="34" charset="-122"/>
                <a:cs typeface="Inter" pitchFamily="34" charset="-120"/>
              </a:rPr>
              <a:t>FFN</a:t>
            </a:r>
            <a:endParaRPr lang="en-US" sz="1000" dirty="0"/>
          </a:p>
        </p:txBody>
      </p:sp>
      <p:sp>
        <p:nvSpPr>
          <p:cNvPr id="9" name="anim-2-rise-180-794"/>
          <p:cNvSpPr/>
          <p:nvPr/>
        </p:nvSpPr>
        <p:spPr>
          <a:xfrm>
            <a:off x="3977640" y="4416552"/>
            <a:ext cx="3291840" cy="548640"/>
          </a:xfrm>
          <a:prstGeom prst="roundRect">
            <a:avLst>
              <a:gd name="adj" fmla="val 13333"/>
            </a:avLst>
          </a:prstGeom>
          <a:solidFill>
            <a:srgbClr val="F8FAFC"/>
          </a:solidFill>
          <a:ln w="12700">
            <a:solidFill>
              <a:srgbClr val="CBD5E1"/>
            </a:solidFill>
            <a:prstDash val="solid"/>
          </a:ln>
        </p:spPr>
      </p:sp>
      <p:sp>
        <p:nvSpPr>
          <p:cNvPr id="10" name="anim-2-rise-180-795"/>
          <p:cNvSpPr txBox="1"/>
          <p:nvPr/>
        </p:nvSpPr>
        <p:spPr>
          <a:xfrm>
            <a:off x="4114800" y="4581144"/>
            <a:ext cx="822960" cy="219456"/>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Block 2</a:t>
            </a:r>
            <a:endParaRPr lang="en-US" sz="1000" dirty="0"/>
          </a:p>
        </p:txBody>
      </p:sp>
      <p:sp>
        <p:nvSpPr>
          <p:cNvPr id="11" name="anim-2-rise-180-796"/>
          <p:cNvSpPr/>
          <p:nvPr/>
        </p:nvSpPr>
        <p:spPr>
          <a:xfrm>
            <a:off x="5029200" y="4517136"/>
            <a:ext cx="1051560" cy="347472"/>
          </a:xfrm>
          <a:prstGeom prst="roundRect">
            <a:avLst>
              <a:gd name="adj" fmla="val 26316"/>
            </a:avLst>
          </a:prstGeom>
          <a:solidFill>
            <a:srgbClr val="EDE9FE"/>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Attention</a:t>
            </a:r>
            <a:endParaRPr lang="en-US" sz="1000" dirty="0"/>
          </a:p>
        </p:txBody>
      </p:sp>
      <p:sp>
        <p:nvSpPr>
          <p:cNvPr id="12" name="anim-2-rise-180-797"/>
          <p:cNvSpPr/>
          <p:nvPr/>
        </p:nvSpPr>
        <p:spPr>
          <a:xfrm>
            <a:off x="6172200" y="4517136"/>
            <a:ext cx="914400" cy="347472"/>
          </a:xfrm>
          <a:prstGeom prst="roundRect">
            <a:avLst>
              <a:gd name="adj" fmla="val 26316"/>
            </a:avLst>
          </a:prstGeom>
          <a:solidFill>
            <a:srgbClr val="CCFBF1"/>
          </a:solidFill>
          <a:ln/>
        </p:spPr>
        <p:txBody>
          <a:bodyPr wrap="square" lIns="0" tIns="0" rIns="0" bIns="0" rtlCol="0" anchor="ctr"/>
          <a:lstStyle/>
          <a:p>
            <a:pPr algn="ctr" indent="0" marL="0">
              <a:buNone/>
            </a:pPr>
            <a:r>
              <a:rPr lang="en-US" sz="1000" b="1" dirty="0">
                <a:solidFill>
                  <a:srgbClr val="0D9488"/>
                </a:solidFill>
                <a:latin typeface="Inter" pitchFamily="34" charset="0"/>
                <a:ea typeface="Inter" pitchFamily="34" charset="-122"/>
                <a:cs typeface="Inter" pitchFamily="34" charset="-120"/>
              </a:rPr>
              <a:t>FFN</a:t>
            </a:r>
            <a:endParaRPr lang="en-US" sz="1000" dirty="0"/>
          </a:p>
        </p:txBody>
      </p:sp>
      <p:sp>
        <p:nvSpPr>
          <p:cNvPr id="13" name="anim-2-rise-360-798"/>
          <p:cNvSpPr/>
          <p:nvPr/>
        </p:nvSpPr>
        <p:spPr>
          <a:xfrm>
            <a:off x="3977640" y="3758184"/>
            <a:ext cx="3291840" cy="548640"/>
          </a:xfrm>
          <a:prstGeom prst="roundRect">
            <a:avLst>
              <a:gd name="adj" fmla="val 13333"/>
            </a:avLst>
          </a:prstGeom>
          <a:solidFill>
            <a:srgbClr val="F8FAFC"/>
          </a:solidFill>
          <a:ln w="12700">
            <a:solidFill>
              <a:srgbClr val="CBD5E1"/>
            </a:solidFill>
            <a:prstDash val="solid"/>
          </a:ln>
        </p:spPr>
      </p:sp>
      <p:sp>
        <p:nvSpPr>
          <p:cNvPr id="14" name="anim-2-rise-360-799"/>
          <p:cNvSpPr txBox="1"/>
          <p:nvPr/>
        </p:nvSpPr>
        <p:spPr>
          <a:xfrm>
            <a:off x="4114800" y="3922776"/>
            <a:ext cx="822960" cy="219456"/>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Block 3</a:t>
            </a:r>
            <a:endParaRPr lang="en-US" sz="1000" dirty="0"/>
          </a:p>
        </p:txBody>
      </p:sp>
      <p:sp>
        <p:nvSpPr>
          <p:cNvPr id="15" name="anim-2-rise-360-800"/>
          <p:cNvSpPr/>
          <p:nvPr/>
        </p:nvSpPr>
        <p:spPr>
          <a:xfrm>
            <a:off x="5029200" y="3858768"/>
            <a:ext cx="1051560" cy="347472"/>
          </a:xfrm>
          <a:prstGeom prst="roundRect">
            <a:avLst>
              <a:gd name="adj" fmla="val 26316"/>
            </a:avLst>
          </a:prstGeom>
          <a:solidFill>
            <a:srgbClr val="EDE9FE"/>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Attention</a:t>
            </a:r>
            <a:endParaRPr lang="en-US" sz="1000" dirty="0"/>
          </a:p>
        </p:txBody>
      </p:sp>
      <p:sp>
        <p:nvSpPr>
          <p:cNvPr id="16" name="anim-2-rise-360-801"/>
          <p:cNvSpPr/>
          <p:nvPr/>
        </p:nvSpPr>
        <p:spPr>
          <a:xfrm>
            <a:off x="6172200" y="3858768"/>
            <a:ext cx="914400" cy="347472"/>
          </a:xfrm>
          <a:prstGeom prst="roundRect">
            <a:avLst>
              <a:gd name="adj" fmla="val 26316"/>
            </a:avLst>
          </a:prstGeom>
          <a:solidFill>
            <a:srgbClr val="CCFBF1"/>
          </a:solidFill>
          <a:ln/>
        </p:spPr>
        <p:txBody>
          <a:bodyPr wrap="square" lIns="0" tIns="0" rIns="0" bIns="0" rtlCol="0" anchor="ctr"/>
          <a:lstStyle/>
          <a:p>
            <a:pPr algn="ctr" indent="0" marL="0">
              <a:buNone/>
            </a:pPr>
            <a:r>
              <a:rPr lang="en-US" sz="1000" b="1" dirty="0">
                <a:solidFill>
                  <a:srgbClr val="0D9488"/>
                </a:solidFill>
                <a:latin typeface="Inter" pitchFamily="34" charset="0"/>
                <a:ea typeface="Inter" pitchFamily="34" charset="-122"/>
                <a:cs typeface="Inter" pitchFamily="34" charset="-120"/>
              </a:rPr>
              <a:t>FFN</a:t>
            </a:r>
            <a:endParaRPr lang="en-US" sz="1000" dirty="0"/>
          </a:p>
        </p:txBody>
      </p:sp>
      <p:sp>
        <p:nvSpPr>
          <p:cNvPr id="17" name="anim-2-rise-540-802"/>
          <p:cNvSpPr/>
          <p:nvPr/>
        </p:nvSpPr>
        <p:spPr>
          <a:xfrm>
            <a:off x="3977640" y="3099816"/>
            <a:ext cx="3291840" cy="548640"/>
          </a:xfrm>
          <a:prstGeom prst="roundRect">
            <a:avLst>
              <a:gd name="adj" fmla="val 13333"/>
            </a:avLst>
          </a:prstGeom>
          <a:solidFill>
            <a:srgbClr val="F8FAFC"/>
          </a:solidFill>
          <a:ln w="12700">
            <a:solidFill>
              <a:srgbClr val="CBD5E1"/>
            </a:solidFill>
            <a:prstDash val="solid"/>
          </a:ln>
        </p:spPr>
      </p:sp>
      <p:sp>
        <p:nvSpPr>
          <p:cNvPr id="18" name="anim-2-rise-540-803"/>
          <p:cNvSpPr txBox="1"/>
          <p:nvPr/>
        </p:nvSpPr>
        <p:spPr>
          <a:xfrm>
            <a:off x="3977640" y="3255264"/>
            <a:ext cx="3291840" cy="237744"/>
          </a:xfrm>
          <a:prstGeom prst="rect">
            <a:avLst/>
          </a:prstGeom>
          <a:noFill/>
          <a:ln/>
        </p:spPr>
        <p:txBody>
          <a:bodyPr wrap="square" lIns="0" tIns="0" rIns="0" bIns="0" rtlCol="0" anchor="t"/>
          <a:lstStyle/>
          <a:p>
            <a:pPr algn="ctr" indent="0" marL="0">
              <a:buNone/>
            </a:pPr>
            <a:r>
              <a:rPr lang="en-US" sz="1000" dirty="0">
                <a:solidFill>
                  <a:srgbClr val="64748B"/>
                </a:solidFill>
                <a:latin typeface="Inter" pitchFamily="34" charset="0"/>
                <a:ea typeface="Inter" pitchFamily="34" charset="-122"/>
                <a:cs typeface="Inter" pitchFamily="34" charset="-120"/>
              </a:rPr>
              <a:t>⋮  many more identical blocks</a:t>
            </a:r>
            <a:endParaRPr lang="en-US" sz="1000" dirty="0"/>
          </a:p>
        </p:txBody>
      </p:sp>
      <p:sp>
        <p:nvSpPr>
          <p:cNvPr id="19" name="anim-2-rise-720-804"/>
          <p:cNvSpPr/>
          <p:nvPr/>
        </p:nvSpPr>
        <p:spPr>
          <a:xfrm>
            <a:off x="3977640" y="2441448"/>
            <a:ext cx="3291840" cy="548640"/>
          </a:xfrm>
          <a:prstGeom prst="roundRect">
            <a:avLst>
              <a:gd name="adj" fmla="val 13333"/>
            </a:avLst>
          </a:prstGeom>
          <a:solidFill>
            <a:srgbClr val="F8FAFC"/>
          </a:solidFill>
          <a:ln w="12700">
            <a:solidFill>
              <a:srgbClr val="CBD5E1"/>
            </a:solidFill>
            <a:prstDash val="solid"/>
          </a:ln>
        </p:spPr>
      </p:sp>
      <p:sp>
        <p:nvSpPr>
          <p:cNvPr id="20" name="anim-2-rise-720-805"/>
          <p:cNvSpPr txBox="1"/>
          <p:nvPr/>
        </p:nvSpPr>
        <p:spPr>
          <a:xfrm>
            <a:off x="4114800" y="2606040"/>
            <a:ext cx="822960" cy="219456"/>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Block N</a:t>
            </a:r>
            <a:endParaRPr lang="en-US" sz="1000" dirty="0"/>
          </a:p>
        </p:txBody>
      </p:sp>
      <p:sp>
        <p:nvSpPr>
          <p:cNvPr id="21" name="anim-2-rise-720-806"/>
          <p:cNvSpPr/>
          <p:nvPr/>
        </p:nvSpPr>
        <p:spPr>
          <a:xfrm>
            <a:off x="5029200" y="2542032"/>
            <a:ext cx="1051560" cy="347472"/>
          </a:xfrm>
          <a:prstGeom prst="roundRect">
            <a:avLst>
              <a:gd name="adj" fmla="val 26316"/>
            </a:avLst>
          </a:prstGeom>
          <a:solidFill>
            <a:srgbClr val="EDE9FE"/>
          </a:solidFill>
          <a:ln/>
        </p:spPr>
        <p:txBody>
          <a:bodyPr wrap="square" lIns="0" tIns="0" rIns="0" bIns="0" rtlCol="0" anchor="ctr"/>
          <a:lstStyle/>
          <a:p>
            <a:pPr algn="ctr" indent="0" marL="0">
              <a:buNone/>
            </a:pPr>
            <a:r>
              <a:rPr lang="en-US" sz="1000" b="1" dirty="0">
                <a:solidFill>
                  <a:srgbClr val="7C3AED"/>
                </a:solidFill>
                <a:latin typeface="Inter" pitchFamily="34" charset="0"/>
                <a:ea typeface="Inter" pitchFamily="34" charset="-122"/>
                <a:cs typeface="Inter" pitchFamily="34" charset="-120"/>
              </a:rPr>
              <a:t>Attention</a:t>
            </a:r>
            <a:endParaRPr lang="en-US" sz="1000" dirty="0"/>
          </a:p>
        </p:txBody>
      </p:sp>
      <p:sp>
        <p:nvSpPr>
          <p:cNvPr id="22" name="anim-2-rise-720-807"/>
          <p:cNvSpPr/>
          <p:nvPr/>
        </p:nvSpPr>
        <p:spPr>
          <a:xfrm>
            <a:off x="6172200" y="2542032"/>
            <a:ext cx="914400" cy="347472"/>
          </a:xfrm>
          <a:prstGeom prst="roundRect">
            <a:avLst>
              <a:gd name="adj" fmla="val 26316"/>
            </a:avLst>
          </a:prstGeom>
          <a:solidFill>
            <a:srgbClr val="CCFBF1"/>
          </a:solidFill>
          <a:ln/>
        </p:spPr>
        <p:txBody>
          <a:bodyPr wrap="square" lIns="0" tIns="0" rIns="0" bIns="0" rtlCol="0" anchor="ctr"/>
          <a:lstStyle/>
          <a:p>
            <a:pPr algn="ctr" indent="0" marL="0">
              <a:buNone/>
            </a:pPr>
            <a:r>
              <a:rPr lang="en-US" sz="1000" b="1" dirty="0">
                <a:solidFill>
                  <a:srgbClr val="0D9488"/>
                </a:solidFill>
                <a:latin typeface="Inter" pitchFamily="34" charset="0"/>
                <a:ea typeface="Inter" pitchFamily="34" charset="-122"/>
                <a:cs typeface="Inter" pitchFamily="34" charset="-120"/>
              </a:rPr>
              <a:t>FFN</a:t>
            </a:r>
            <a:endParaRPr lang="en-US" sz="1000" dirty="0"/>
          </a:p>
        </p:txBody>
      </p:sp>
      <p:sp>
        <p:nvSpPr>
          <p:cNvPr id="23" name="anim-1-rise-0-808"/>
          <p:cNvSpPr/>
          <p:nvPr/>
        </p:nvSpPr>
        <p:spPr>
          <a:xfrm>
            <a:off x="4142232" y="5779008"/>
            <a:ext cx="548640" cy="329184"/>
          </a:xfrm>
          <a:prstGeom prst="roundRect">
            <a:avLst>
              <a:gd name="adj" fmla="val 19444"/>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The</a:t>
            </a:r>
            <a:endParaRPr lang="en-US" sz="1050" dirty="0"/>
          </a:p>
        </p:txBody>
      </p:sp>
      <p:sp>
        <p:nvSpPr>
          <p:cNvPr id="24" name="anim-1-rise-80-809"/>
          <p:cNvSpPr/>
          <p:nvPr/>
        </p:nvSpPr>
        <p:spPr>
          <a:xfrm>
            <a:off x="4764024" y="5779008"/>
            <a:ext cx="548640" cy="329184"/>
          </a:xfrm>
          <a:prstGeom prst="roundRect">
            <a:avLst>
              <a:gd name="adj" fmla="val 19444"/>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cat</a:t>
            </a:r>
            <a:endParaRPr lang="en-US" sz="1050" dirty="0"/>
          </a:p>
        </p:txBody>
      </p:sp>
      <p:sp>
        <p:nvSpPr>
          <p:cNvPr id="25" name="anim-1-rise-160-810"/>
          <p:cNvSpPr/>
          <p:nvPr/>
        </p:nvSpPr>
        <p:spPr>
          <a:xfrm>
            <a:off x="5385816" y="5779008"/>
            <a:ext cx="548640" cy="329184"/>
          </a:xfrm>
          <a:prstGeom prst="roundRect">
            <a:avLst>
              <a:gd name="adj" fmla="val 19444"/>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sat</a:t>
            </a:r>
            <a:endParaRPr lang="en-US" sz="1050" dirty="0"/>
          </a:p>
        </p:txBody>
      </p:sp>
      <p:sp>
        <p:nvSpPr>
          <p:cNvPr id="26" name="anim-1-rise-240-811"/>
          <p:cNvSpPr/>
          <p:nvPr/>
        </p:nvSpPr>
        <p:spPr>
          <a:xfrm>
            <a:off x="6007608" y="5779008"/>
            <a:ext cx="548640" cy="329184"/>
          </a:xfrm>
          <a:prstGeom prst="roundRect">
            <a:avLst>
              <a:gd name="adj" fmla="val 19444"/>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on</a:t>
            </a:r>
            <a:endParaRPr lang="en-US" sz="1050" dirty="0"/>
          </a:p>
        </p:txBody>
      </p:sp>
      <p:sp>
        <p:nvSpPr>
          <p:cNvPr id="27" name="anim-1-rise-320-812"/>
          <p:cNvSpPr/>
          <p:nvPr/>
        </p:nvSpPr>
        <p:spPr>
          <a:xfrm>
            <a:off x="6629400" y="5779008"/>
            <a:ext cx="548640" cy="329184"/>
          </a:xfrm>
          <a:prstGeom prst="roundRect">
            <a:avLst>
              <a:gd name="adj" fmla="val 19444"/>
            </a:avLst>
          </a:prstGeom>
          <a:solidFill>
            <a:srgbClr val="FEF3C7"/>
          </a:solidFill>
          <a:ln w="12700">
            <a:solidFill>
              <a:srgbClr val="D97706"/>
            </a:solidFill>
          </a:ln>
        </p:spPr>
        <p:txBody>
          <a:bodyPr wrap="square" lIns="0" tIns="0" rIns="0" bIns="0" rtlCol="0" anchor="ctr"/>
          <a:lstStyle/>
          <a:p>
            <a:pPr algn="ctr" indent="0" marL="0">
              <a:buNone/>
            </a:pPr>
            <a:r>
              <a:rPr lang="en-US" sz="1050" b="1" dirty="0">
                <a:solidFill>
                  <a:srgbClr val="0F172A"/>
                </a:solidFill>
                <a:latin typeface="Inter" pitchFamily="34" charset="0"/>
                <a:ea typeface="Inter" pitchFamily="34" charset="-122"/>
                <a:cs typeface="Inter" pitchFamily="34" charset="-120"/>
              </a:rPr>
              <a:t>the</a:t>
            </a:r>
            <a:endParaRPr lang="en-US" sz="1050" dirty="0"/>
          </a:p>
        </p:txBody>
      </p:sp>
      <p:sp>
        <p:nvSpPr>
          <p:cNvPr id="28" name="anim-1-fade-0-813"/>
          <p:cNvSpPr/>
          <p:nvPr/>
        </p:nvSpPr>
        <p:spPr>
          <a:xfrm flipV="1">
            <a:off x="5623560" y="5650992"/>
            <a:ext cx="0" cy="109728"/>
          </a:xfrm>
          <a:prstGeom prst="line">
            <a:avLst/>
          </a:prstGeom>
          <a:noFill/>
          <a:ln w="19050">
            <a:solidFill>
              <a:srgbClr val="94A3B8"/>
            </a:solidFill>
            <a:prstDash val="solid"/>
            <a:tailEnd type="triangle"/>
          </a:ln>
        </p:spPr>
      </p:sp>
      <p:sp>
        <p:nvSpPr>
          <p:cNvPr id="29" name="anim-5-wipe-0-814"/>
          <p:cNvSpPr/>
          <p:nvPr/>
        </p:nvSpPr>
        <p:spPr>
          <a:xfrm flipV="1">
            <a:off x="5623560" y="1783080"/>
            <a:ext cx="0" cy="640080"/>
          </a:xfrm>
          <a:prstGeom prst="line">
            <a:avLst/>
          </a:prstGeom>
          <a:noFill/>
          <a:ln w="25400">
            <a:solidFill>
              <a:srgbClr val="E11D48"/>
            </a:solidFill>
            <a:prstDash val="solid"/>
            <a:tailEnd type="triangle"/>
          </a:ln>
        </p:spPr>
      </p:sp>
      <p:sp>
        <p:nvSpPr>
          <p:cNvPr id="30" name="anim-5-fade-0-815"/>
          <p:cNvSpPr txBox="1"/>
          <p:nvPr/>
        </p:nvSpPr>
        <p:spPr>
          <a:xfrm>
            <a:off x="5733288" y="1828800"/>
            <a:ext cx="1828800" cy="219456"/>
          </a:xfrm>
          <a:prstGeom prst="rect">
            <a:avLst/>
          </a:prstGeom>
          <a:noFill/>
          <a:ln/>
        </p:spPr>
        <p:txBody>
          <a:bodyPr wrap="square" lIns="0" tIns="0" rIns="0" bIns="0" rtlCol="0" anchor="t"/>
          <a:lstStyle/>
          <a:p>
            <a:pPr indent="0" marL="0">
              <a:buNone/>
            </a:pPr>
            <a:r>
              <a:rPr lang="en-US" sz="1000" i="1" dirty="0">
                <a:solidFill>
                  <a:srgbClr val="E11D48"/>
                </a:solidFill>
                <a:latin typeface="Inter" pitchFamily="34" charset="0"/>
                <a:ea typeface="Inter" pitchFamily="34" charset="-122"/>
                <a:cs typeface="Inter" pitchFamily="34" charset="-120"/>
              </a:rPr>
              <a:t>to the output layer</a:t>
            </a:r>
            <a:endParaRPr lang="en-US" sz="1000" dirty="0"/>
          </a:p>
        </p:txBody>
      </p:sp>
      <p:sp>
        <p:nvSpPr>
          <p:cNvPr id="31" name="anim-3-fade-0-816"/>
          <p:cNvSpPr/>
          <p:nvPr/>
        </p:nvSpPr>
        <p:spPr>
          <a:xfrm>
            <a:off x="7543800" y="4480560"/>
            <a:ext cx="0" cy="1097280"/>
          </a:xfrm>
          <a:prstGeom prst="line">
            <a:avLst/>
          </a:prstGeom>
          <a:noFill/>
          <a:ln w="25400">
            <a:solidFill>
              <a:srgbClr val="D97706"/>
            </a:solidFill>
            <a:prstDash val="solid"/>
          </a:ln>
        </p:spPr>
      </p:sp>
      <p:sp>
        <p:nvSpPr>
          <p:cNvPr id="32" name="anim-3-rise-0-817"/>
          <p:cNvSpPr txBox="1"/>
          <p:nvPr/>
        </p:nvSpPr>
        <p:spPr>
          <a:xfrm>
            <a:off x="7726680" y="4434840"/>
            <a:ext cx="3886200" cy="1188720"/>
          </a:xfrm>
          <a:prstGeom prst="rect">
            <a:avLst/>
          </a:prstGeom>
          <a:noFill/>
          <a:ln/>
        </p:spPr>
        <p:txBody>
          <a:bodyPr wrap="square" lIns="0" tIns="0" rIns="0" bIns="0" rtlCol="0" anchor="ctr"/>
          <a:lstStyle/>
          <a:p>
            <a:pPr indent="0" marL="0">
              <a:buNone/>
            </a:pPr>
            <a:r>
              <a:rPr lang="en-US" sz="1050" b="1" dirty="0">
                <a:solidFill>
                  <a:srgbClr val="D97706"/>
                </a:solidFill>
                <a:latin typeface="Inter" pitchFamily="34" charset="0"/>
                <a:ea typeface="Inter" pitchFamily="34" charset="-122"/>
                <a:cs typeface="Inter" pitchFamily="34" charset="-120"/>
              </a:rPr>
              <a:t>Lower layers · surface patterns  </a:t>
            </a:r>
            <a:pPr indent="0" marL="0">
              <a:buNone/>
            </a:pPr>
            <a:r>
              <a:rPr lang="en-US" sz="1050" dirty="0">
                <a:solidFill>
                  <a:srgbClr val="334155"/>
                </a:solidFill>
                <a:latin typeface="Inter" pitchFamily="34" charset="0"/>
                <a:ea typeface="Inter" pitchFamily="34" charset="-122"/>
                <a:cs typeface="Inter" pitchFamily="34" charset="-120"/>
              </a:rPr>
              <a:t>Word pieces and nearby words. “the” is a determiner, so a noun usually follows.</a:t>
            </a:r>
            <a:endParaRPr lang="en-US" sz="1050" dirty="0"/>
          </a:p>
        </p:txBody>
      </p:sp>
      <p:sp>
        <p:nvSpPr>
          <p:cNvPr id="33" name="anim-4-fade-0-818"/>
          <p:cNvSpPr/>
          <p:nvPr/>
        </p:nvSpPr>
        <p:spPr>
          <a:xfrm>
            <a:off x="7543800" y="3730752"/>
            <a:ext cx="0" cy="585216"/>
          </a:xfrm>
          <a:prstGeom prst="line">
            <a:avLst/>
          </a:prstGeom>
          <a:noFill/>
          <a:ln w="25400">
            <a:solidFill>
              <a:srgbClr val="7C3AED"/>
            </a:solidFill>
            <a:prstDash val="solid"/>
          </a:ln>
        </p:spPr>
      </p:sp>
      <p:sp>
        <p:nvSpPr>
          <p:cNvPr id="34" name="anim-4-rise-0-819"/>
          <p:cNvSpPr txBox="1"/>
          <p:nvPr/>
        </p:nvSpPr>
        <p:spPr>
          <a:xfrm>
            <a:off x="7726680" y="3685032"/>
            <a:ext cx="3886200" cy="676656"/>
          </a:xfrm>
          <a:prstGeom prst="rect">
            <a:avLst/>
          </a:prstGeom>
          <a:noFill/>
          <a:ln/>
        </p:spPr>
        <p:txBody>
          <a:bodyPr wrap="square" lIns="0" tIns="0" rIns="0" bIns="0" rtlCol="0" anchor="ctr"/>
          <a:lstStyle/>
          <a:p>
            <a:pPr indent="0" marL="0">
              <a:buNone/>
            </a:pPr>
            <a:r>
              <a:rPr lang="en-US" sz="1050" b="1" dirty="0">
                <a:solidFill>
                  <a:srgbClr val="7C3AED"/>
                </a:solidFill>
                <a:latin typeface="Inter" pitchFamily="34" charset="0"/>
                <a:ea typeface="Inter" pitchFamily="34" charset="-122"/>
                <a:cs typeface="Inter" pitchFamily="34" charset="-120"/>
              </a:rPr>
              <a:t>Middle · structure  </a:t>
            </a:r>
            <a:pPr indent="0" marL="0">
              <a:buNone/>
            </a:pPr>
            <a:r>
              <a:rPr lang="en-US" sz="1050" dirty="0">
                <a:solidFill>
                  <a:srgbClr val="334155"/>
                </a:solidFill>
                <a:latin typeface="Inter" pitchFamily="34" charset="0"/>
                <a:ea typeface="Inter" pitchFamily="34" charset="-122"/>
                <a:cs typeface="Inter" pitchFamily="34" charset="-120"/>
              </a:rPr>
              <a:t>Who did what: “cat” is the one sitting; “on the” opens a place.</a:t>
            </a:r>
            <a:endParaRPr lang="en-US" sz="1050" dirty="0"/>
          </a:p>
        </p:txBody>
      </p:sp>
      <p:sp>
        <p:nvSpPr>
          <p:cNvPr id="35" name="anim-5-fade-0-820"/>
          <p:cNvSpPr/>
          <p:nvPr/>
        </p:nvSpPr>
        <p:spPr>
          <a:xfrm>
            <a:off x="7543800" y="2423160"/>
            <a:ext cx="0" cy="1143000"/>
          </a:xfrm>
          <a:prstGeom prst="line">
            <a:avLst/>
          </a:prstGeom>
          <a:noFill/>
          <a:ln w="25400">
            <a:solidFill>
              <a:srgbClr val="E11D48"/>
            </a:solidFill>
            <a:prstDash val="solid"/>
          </a:ln>
        </p:spPr>
      </p:sp>
      <p:sp>
        <p:nvSpPr>
          <p:cNvPr id="36" name="anim-5-rise-0-821"/>
          <p:cNvSpPr txBox="1"/>
          <p:nvPr/>
        </p:nvSpPr>
        <p:spPr>
          <a:xfrm>
            <a:off x="7726680" y="2377440"/>
            <a:ext cx="3886200" cy="1234440"/>
          </a:xfrm>
          <a:prstGeom prst="rect">
            <a:avLst/>
          </a:prstGeom>
          <a:noFill/>
          <a:ln/>
        </p:spPr>
        <p:txBody>
          <a:bodyPr wrap="square" lIns="0" tIns="0" rIns="0" bIns="0" rtlCol="0" anchor="ctr"/>
          <a:lstStyle/>
          <a:p>
            <a:pPr indent="0" marL="0">
              <a:buNone/>
            </a:pPr>
            <a:r>
              <a:rPr lang="en-US" sz="1050" b="1" dirty="0">
                <a:solidFill>
                  <a:srgbClr val="E11D48"/>
                </a:solidFill>
                <a:latin typeface="Inter" pitchFamily="34" charset="0"/>
                <a:ea typeface="Inter" pitchFamily="34" charset="-122"/>
                <a:cs typeface="Inter" pitchFamily="34" charset="-120"/>
              </a:rPr>
              <a:t>Higher layers · meaning  </a:t>
            </a:r>
            <a:pPr indent="0" marL="0">
              <a:buNone/>
            </a:pPr>
            <a:r>
              <a:rPr lang="en-US" sz="1050" dirty="0">
                <a:solidFill>
                  <a:srgbClr val="334155"/>
                </a:solidFill>
                <a:latin typeface="Inter" pitchFamily="34" charset="0"/>
                <a:ea typeface="Inter" pitchFamily="34" charset="-122"/>
                <a:cs typeface="Inter" pitchFamily="34" charset="-120"/>
              </a:rPr>
              <a:t>“A cat sat on the ___” → something a cat sits on: mat, sofa, floor…</a:t>
            </a:r>
            <a:endParaRPr lang="en-US" sz="1050" dirty="0"/>
          </a:p>
        </p:txBody>
      </p:sp>
      <p:sp>
        <p:nvSpPr>
          <p:cNvPr id="37" name="Text 35"/>
          <p:cNvSpPr txBox="1"/>
          <p:nvPr/>
        </p:nvSpPr>
        <p:spPr>
          <a:xfrm>
            <a:off x="548640" y="1737360"/>
            <a:ext cx="3200400" cy="237744"/>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The vector for the last “the”, layer by layer</a:t>
            </a:r>
            <a:endParaRPr lang="en-US" sz="1000" dirty="0"/>
          </a:p>
        </p:txBody>
      </p:sp>
      <p:sp>
        <p:nvSpPr>
          <p:cNvPr id="38" name="anim-3-fade-0-822"/>
          <p:cNvSpPr/>
          <p:nvPr/>
        </p:nvSpPr>
        <p:spPr>
          <a:xfrm>
            <a:off x="548640" y="4800600"/>
            <a:ext cx="219456" cy="256032"/>
          </a:xfrm>
          <a:prstGeom prst="rect">
            <a:avLst/>
          </a:prstGeom>
          <a:solidFill>
            <a:srgbClr val="F8E5CF"/>
          </a:solidFill>
          <a:ln w="6350">
            <a:solidFill>
              <a:srgbClr val="FFFFFF"/>
            </a:solidFill>
            <a:prstDash val="solid"/>
          </a:ln>
        </p:spPr>
      </p:sp>
      <p:sp>
        <p:nvSpPr>
          <p:cNvPr id="39" name="anim-3-fade-0-823"/>
          <p:cNvSpPr/>
          <p:nvPr/>
        </p:nvSpPr>
        <p:spPr>
          <a:xfrm>
            <a:off x="795528" y="4800600"/>
            <a:ext cx="219456" cy="256032"/>
          </a:xfrm>
          <a:prstGeom prst="rect">
            <a:avLst/>
          </a:prstGeom>
          <a:solidFill>
            <a:srgbClr val="F6E0C6"/>
          </a:solidFill>
          <a:ln w="6350">
            <a:solidFill>
              <a:srgbClr val="FFFFFF"/>
            </a:solidFill>
            <a:prstDash val="solid"/>
          </a:ln>
        </p:spPr>
      </p:sp>
      <p:sp>
        <p:nvSpPr>
          <p:cNvPr id="40" name="anim-3-fade-0-824"/>
          <p:cNvSpPr/>
          <p:nvPr/>
        </p:nvSpPr>
        <p:spPr>
          <a:xfrm>
            <a:off x="1042416" y="4800600"/>
            <a:ext cx="219456" cy="256032"/>
          </a:xfrm>
          <a:prstGeom prst="rect">
            <a:avLst/>
          </a:prstGeom>
          <a:solidFill>
            <a:srgbClr val="F3D5B2"/>
          </a:solidFill>
          <a:ln w="6350">
            <a:solidFill>
              <a:srgbClr val="FFFFFF"/>
            </a:solidFill>
            <a:prstDash val="solid"/>
          </a:ln>
        </p:spPr>
      </p:sp>
      <p:sp>
        <p:nvSpPr>
          <p:cNvPr id="41" name="anim-3-fade-0-825"/>
          <p:cNvSpPr/>
          <p:nvPr/>
        </p:nvSpPr>
        <p:spPr>
          <a:xfrm>
            <a:off x="1289304" y="4800600"/>
            <a:ext cx="219456" cy="256032"/>
          </a:xfrm>
          <a:prstGeom prst="rect">
            <a:avLst/>
          </a:prstGeom>
          <a:solidFill>
            <a:srgbClr val="F2D1AB"/>
          </a:solidFill>
          <a:ln w="6350">
            <a:solidFill>
              <a:srgbClr val="FFFFFF"/>
            </a:solidFill>
            <a:prstDash val="solid"/>
          </a:ln>
        </p:spPr>
      </p:sp>
      <p:sp>
        <p:nvSpPr>
          <p:cNvPr id="42" name="anim-3-fade-0-826"/>
          <p:cNvSpPr/>
          <p:nvPr/>
        </p:nvSpPr>
        <p:spPr>
          <a:xfrm>
            <a:off x="1536192" y="4800600"/>
            <a:ext cx="219456" cy="256032"/>
          </a:xfrm>
          <a:prstGeom prst="rect">
            <a:avLst/>
          </a:prstGeom>
          <a:solidFill>
            <a:srgbClr val="F5DCBF"/>
          </a:solidFill>
          <a:ln w="6350">
            <a:solidFill>
              <a:srgbClr val="FFFFFF"/>
            </a:solidFill>
            <a:prstDash val="solid"/>
          </a:ln>
        </p:spPr>
      </p:sp>
      <p:sp>
        <p:nvSpPr>
          <p:cNvPr id="43" name="anim-3-fade-0-827"/>
          <p:cNvSpPr/>
          <p:nvPr/>
        </p:nvSpPr>
        <p:spPr>
          <a:xfrm>
            <a:off x="1783080" y="4800600"/>
            <a:ext cx="219456" cy="256032"/>
          </a:xfrm>
          <a:prstGeom prst="rect">
            <a:avLst/>
          </a:prstGeom>
          <a:solidFill>
            <a:srgbClr val="EFC595"/>
          </a:solidFill>
          <a:ln w="6350">
            <a:solidFill>
              <a:srgbClr val="FFFFFF"/>
            </a:solidFill>
            <a:prstDash val="solid"/>
          </a:ln>
        </p:spPr>
      </p:sp>
      <p:sp>
        <p:nvSpPr>
          <p:cNvPr id="44" name="anim-3-fade-0-828"/>
          <p:cNvSpPr/>
          <p:nvPr/>
        </p:nvSpPr>
        <p:spPr>
          <a:xfrm>
            <a:off x="2029968" y="4800600"/>
            <a:ext cx="219456" cy="256032"/>
          </a:xfrm>
          <a:prstGeom prst="rect">
            <a:avLst/>
          </a:prstGeom>
          <a:solidFill>
            <a:srgbClr val="EFC798"/>
          </a:solidFill>
          <a:ln w="6350">
            <a:solidFill>
              <a:srgbClr val="FFFFFF"/>
            </a:solidFill>
            <a:prstDash val="solid"/>
          </a:ln>
        </p:spPr>
      </p:sp>
      <p:sp>
        <p:nvSpPr>
          <p:cNvPr id="45" name="anim-3-fade-0-829"/>
          <p:cNvSpPr/>
          <p:nvPr/>
        </p:nvSpPr>
        <p:spPr>
          <a:xfrm>
            <a:off x="2276856" y="4800600"/>
            <a:ext cx="219456" cy="256032"/>
          </a:xfrm>
          <a:prstGeom prst="rect">
            <a:avLst/>
          </a:prstGeom>
          <a:solidFill>
            <a:srgbClr val="F1CDA3"/>
          </a:solidFill>
          <a:ln w="6350">
            <a:solidFill>
              <a:srgbClr val="FFFFFF"/>
            </a:solidFill>
            <a:prstDash val="solid"/>
          </a:ln>
        </p:spPr>
      </p:sp>
      <p:sp>
        <p:nvSpPr>
          <p:cNvPr id="46" name="anim-3-fade-100-830"/>
          <p:cNvSpPr txBox="1"/>
          <p:nvPr/>
        </p:nvSpPr>
        <p:spPr>
          <a:xfrm>
            <a:off x="548640" y="5111496"/>
            <a:ext cx="3108960" cy="219456"/>
          </a:xfrm>
          <a:prstGeom prst="rect">
            <a:avLst/>
          </a:prstGeom>
          <a:noFill/>
          <a:ln/>
        </p:spPr>
        <p:txBody>
          <a:bodyPr wrap="square" lIns="0" tIns="0" rIns="0" bIns="0" rtlCol="0" anchor="t"/>
          <a:lstStyle/>
          <a:p>
            <a:pPr indent="0" marL="0">
              <a:buNone/>
            </a:pPr>
            <a:r>
              <a:rPr lang="en-US" sz="950" i="1" dirty="0">
                <a:solidFill>
                  <a:srgbClr val="D97706"/>
                </a:solidFill>
                <a:latin typeface="Inter" pitchFamily="34" charset="0"/>
                <a:ea typeface="Inter" pitchFamily="34" charset="-122"/>
                <a:cs typeface="Inter" pitchFamily="34" charset="-120"/>
              </a:rPr>
              <a:t>a determiner; a noun is coming</a:t>
            </a:r>
            <a:endParaRPr lang="en-US" sz="950" dirty="0"/>
          </a:p>
        </p:txBody>
      </p:sp>
      <p:sp>
        <p:nvSpPr>
          <p:cNvPr id="47" name="anim-4-fade-0-831"/>
          <p:cNvSpPr/>
          <p:nvPr/>
        </p:nvSpPr>
        <p:spPr>
          <a:xfrm>
            <a:off x="548640" y="3840480"/>
            <a:ext cx="219456" cy="256032"/>
          </a:xfrm>
          <a:prstGeom prst="rect">
            <a:avLst/>
          </a:prstGeom>
          <a:solidFill>
            <a:srgbClr val="AA7EF3"/>
          </a:solidFill>
          <a:ln w="6350">
            <a:solidFill>
              <a:srgbClr val="FFFFFF"/>
            </a:solidFill>
            <a:prstDash val="solid"/>
          </a:ln>
        </p:spPr>
      </p:sp>
      <p:sp>
        <p:nvSpPr>
          <p:cNvPr id="48" name="anim-4-fade-0-832"/>
          <p:cNvSpPr/>
          <p:nvPr/>
        </p:nvSpPr>
        <p:spPr>
          <a:xfrm>
            <a:off x="795528" y="3840480"/>
            <a:ext cx="219456" cy="256032"/>
          </a:xfrm>
          <a:prstGeom prst="rect">
            <a:avLst/>
          </a:prstGeom>
          <a:solidFill>
            <a:srgbClr val="AD84F4"/>
          </a:solidFill>
          <a:ln w="6350">
            <a:solidFill>
              <a:srgbClr val="FFFFFF"/>
            </a:solidFill>
            <a:prstDash val="solid"/>
          </a:ln>
        </p:spPr>
      </p:sp>
      <p:sp>
        <p:nvSpPr>
          <p:cNvPr id="49" name="anim-4-fade-0-833"/>
          <p:cNvSpPr/>
          <p:nvPr/>
        </p:nvSpPr>
        <p:spPr>
          <a:xfrm>
            <a:off x="1042416" y="3840480"/>
            <a:ext cx="219456" cy="256032"/>
          </a:xfrm>
          <a:prstGeom prst="rect">
            <a:avLst/>
          </a:prstGeom>
          <a:solidFill>
            <a:srgbClr val="AD84F4"/>
          </a:solidFill>
          <a:ln w="6350">
            <a:solidFill>
              <a:srgbClr val="FFFFFF"/>
            </a:solidFill>
            <a:prstDash val="solid"/>
          </a:ln>
        </p:spPr>
      </p:sp>
      <p:sp>
        <p:nvSpPr>
          <p:cNvPr id="50" name="anim-4-fade-0-834"/>
          <p:cNvSpPr/>
          <p:nvPr/>
        </p:nvSpPr>
        <p:spPr>
          <a:xfrm>
            <a:off x="1289304" y="3840480"/>
            <a:ext cx="219456" cy="256032"/>
          </a:xfrm>
          <a:prstGeom prst="rect">
            <a:avLst/>
          </a:prstGeom>
          <a:solidFill>
            <a:srgbClr val="A87BF3"/>
          </a:solidFill>
          <a:ln w="6350">
            <a:solidFill>
              <a:srgbClr val="FFFFFF"/>
            </a:solidFill>
            <a:prstDash val="solid"/>
          </a:ln>
        </p:spPr>
      </p:sp>
      <p:sp>
        <p:nvSpPr>
          <p:cNvPr id="51" name="anim-4-fade-0-835"/>
          <p:cNvSpPr/>
          <p:nvPr/>
        </p:nvSpPr>
        <p:spPr>
          <a:xfrm>
            <a:off x="1536192" y="3840480"/>
            <a:ext cx="219456" cy="256032"/>
          </a:xfrm>
          <a:prstGeom prst="rect">
            <a:avLst/>
          </a:prstGeom>
          <a:solidFill>
            <a:srgbClr val="A578F3"/>
          </a:solidFill>
          <a:ln w="6350">
            <a:solidFill>
              <a:srgbClr val="FFFFFF"/>
            </a:solidFill>
            <a:prstDash val="solid"/>
          </a:ln>
        </p:spPr>
      </p:sp>
      <p:sp>
        <p:nvSpPr>
          <p:cNvPr id="52" name="anim-4-fade-0-836"/>
          <p:cNvSpPr/>
          <p:nvPr/>
        </p:nvSpPr>
        <p:spPr>
          <a:xfrm>
            <a:off x="1783080" y="3840480"/>
            <a:ext cx="219456" cy="256032"/>
          </a:xfrm>
          <a:prstGeom prst="rect">
            <a:avLst/>
          </a:prstGeom>
          <a:solidFill>
            <a:srgbClr val="A678F3"/>
          </a:solidFill>
          <a:ln w="6350">
            <a:solidFill>
              <a:srgbClr val="FFFFFF"/>
            </a:solidFill>
            <a:prstDash val="solid"/>
          </a:ln>
        </p:spPr>
      </p:sp>
      <p:sp>
        <p:nvSpPr>
          <p:cNvPr id="53" name="anim-4-fade-0-837"/>
          <p:cNvSpPr/>
          <p:nvPr/>
        </p:nvSpPr>
        <p:spPr>
          <a:xfrm>
            <a:off x="2029968" y="3840480"/>
            <a:ext cx="219456" cy="256032"/>
          </a:xfrm>
          <a:prstGeom prst="rect">
            <a:avLst/>
          </a:prstGeom>
          <a:solidFill>
            <a:srgbClr val="BB99F6"/>
          </a:solidFill>
          <a:ln w="6350">
            <a:solidFill>
              <a:srgbClr val="FFFFFF"/>
            </a:solidFill>
            <a:prstDash val="solid"/>
          </a:ln>
        </p:spPr>
      </p:sp>
      <p:sp>
        <p:nvSpPr>
          <p:cNvPr id="54" name="anim-4-fade-0-838"/>
          <p:cNvSpPr/>
          <p:nvPr/>
        </p:nvSpPr>
        <p:spPr>
          <a:xfrm>
            <a:off x="2276856" y="3840480"/>
            <a:ext cx="219456" cy="256032"/>
          </a:xfrm>
          <a:prstGeom prst="rect">
            <a:avLst/>
          </a:prstGeom>
          <a:solidFill>
            <a:srgbClr val="B895F5"/>
          </a:solidFill>
          <a:ln w="6350">
            <a:solidFill>
              <a:srgbClr val="FFFFFF"/>
            </a:solidFill>
            <a:prstDash val="solid"/>
          </a:ln>
        </p:spPr>
      </p:sp>
      <p:sp>
        <p:nvSpPr>
          <p:cNvPr id="55" name="anim-4-fade-100-839"/>
          <p:cNvSpPr txBox="1"/>
          <p:nvPr/>
        </p:nvSpPr>
        <p:spPr>
          <a:xfrm>
            <a:off x="548640" y="4151376"/>
            <a:ext cx="3108960" cy="219456"/>
          </a:xfrm>
          <a:prstGeom prst="rect">
            <a:avLst/>
          </a:prstGeom>
          <a:noFill/>
          <a:ln/>
        </p:spPr>
        <p:txBody>
          <a:bodyPr wrap="square" lIns="0" tIns="0" rIns="0" bIns="0" rtlCol="0" anchor="t"/>
          <a:lstStyle/>
          <a:p>
            <a:pPr indent="0" marL="0">
              <a:buNone/>
            </a:pPr>
            <a:r>
              <a:rPr lang="en-US" sz="950" i="1" dirty="0">
                <a:solidFill>
                  <a:srgbClr val="7C3AED"/>
                </a:solidFill>
                <a:latin typeface="Inter" pitchFamily="34" charset="0"/>
                <a:ea typeface="Inter" pitchFamily="34" charset="-122"/>
                <a:cs typeface="Inter" pitchFamily="34" charset="-120"/>
              </a:rPr>
              <a:t>…the place where the cat sat</a:t>
            </a:r>
            <a:endParaRPr lang="en-US" sz="950" dirty="0"/>
          </a:p>
        </p:txBody>
      </p:sp>
      <p:sp>
        <p:nvSpPr>
          <p:cNvPr id="56" name="anim-5-fade-0-840"/>
          <p:cNvSpPr/>
          <p:nvPr/>
        </p:nvSpPr>
        <p:spPr>
          <a:xfrm>
            <a:off x="548640" y="2743200"/>
            <a:ext cx="219456" cy="256032"/>
          </a:xfrm>
          <a:prstGeom prst="rect">
            <a:avLst/>
          </a:prstGeom>
          <a:solidFill>
            <a:srgbClr val="E53B61"/>
          </a:solidFill>
          <a:ln w="6350">
            <a:solidFill>
              <a:srgbClr val="FFFFFF"/>
            </a:solidFill>
            <a:prstDash val="solid"/>
          </a:ln>
        </p:spPr>
      </p:sp>
      <p:sp>
        <p:nvSpPr>
          <p:cNvPr id="57" name="anim-5-fade-0-841"/>
          <p:cNvSpPr/>
          <p:nvPr/>
        </p:nvSpPr>
        <p:spPr>
          <a:xfrm>
            <a:off x="795528" y="2743200"/>
            <a:ext cx="219456" cy="256032"/>
          </a:xfrm>
          <a:prstGeom prst="rect">
            <a:avLst/>
          </a:prstGeom>
          <a:solidFill>
            <a:srgbClr val="E95979"/>
          </a:solidFill>
          <a:ln w="6350">
            <a:solidFill>
              <a:srgbClr val="FFFFFF"/>
            </a:solidFill>
            <a:prstDash val="solid"/>
          </a:ln>
        </p:spPr>
      </p:sp>
      <p:sp>
        <p:nvSpPr>
          <p:cNvPr id="58" name="anim-5-fade-0-842"/>
          <p:cNvSpPr/>
          <p:nvPr/>
        </p:nvSpPr>
        <p:spPr>
          <a:xfrm>
            <a:off x="1042416" y="2743200"/>
            <a:ext cx="219456" cy="256032"/>
          </a:xfrm>
          <a:prstGeom prst="rect">
            <a:avLst/>
          </a:prstGeom>
          <a:solidFill>
            <a:srgbClr val="F091A6"/>
          </a:solidFill>
          <a:ln w="6350">
            <a:solidFill>
              <a:srgbClr val="FFFFFF"/>
            </a:solidFill>
            <a:prstDash val="solid"/>
          </a:ln>
        </p:spPr>
      </p:sp>
      <p:sp>
        <p:nvSpPr>
          <p:cNvPr id="59" name="anim-5-fade-0-843"/>
          <p:cNvSpPr/>
          <p:nvPr/>
        </p:nvSpPr>
        <p:spPr>
          <a:xfrm>
            <a:off x="1289304" y="2743200"/>
            <a:ext cx="219456" cy="256032"/>
          </a:xfrm>
          <a:prstGeom prst="rect">
            <a:avLst/>
          </a:prstGeom>
          <a:solidFill>
            <a:srgbClr val="F7C6D1"/>
          </a:solidFill>
          <a:ln w="6350">
            <a:solidFill>
              <a:srgbClr val="FFFFFF"/>
            </a:solidFill>
            <a:prstDash val="solid"/>
          </a:ln>
        </p:spPr>
      </p:sp>
      <p:sp>
        <p:nvSpPr>
          <p:cNvPr id="60" name="anim-5-fade-0-844"/>
          <p:cNvSpPr/>
          <p:nvPr/>
        </p:nvSpPr>
        <p:spPr>
          <a:xfrm>
            <a:off x="1536192" y="2743200"/>
            <a:ext cx="219456" cy="256032"/>
          </a:xfrm>
          <a:prstGeom prst="rect">
            <a:avLst/>
          </a:prstGeom>
          <a:solidFill>
            <a:srgbClr val="E43359"/>
          </a:solidFill>
          <a:ln w="6350">
            <a:solidFill>
              <a:srgbClr val="FFFFFF"/>
            </a:solidFill>
            <a:prstDash val="solid"/>
          </a:ln>
        </p:spPr>
      </p:sp>
      <p:sp>
        <p:nvSpPr>
          <p:cNvPr id="61" name="anim-5-fade-0-845"/>
          <p:cNvSpPr/>
          <p:nvPr/>
        </p:nvSpPr>
        <p:spPr>
          <a:xfrm>
            <a:off x="1783080" y="2743200"/>
            <a:ext cx="219456" cy="256032"/>
          </a:xfrm>
          <a:prstGeom prst="rect">
            <a:avLst/>
          </a:prstGeom>
          <a:solidFill>
            <a:srgbClr val="E64568"/>
          </a:solidFill>
          <a:ln w="6350">
            <a:solidFill>
              <a:srgbClr val="FFFFFF"/>
            </a:solidFill>
            <a:prstDash val="solid"/>
          </a:ln>
        </p:spPr>
      </p:sp>
      <p:sp>
        <p:nvSpPr>
          <p:cNvPr id="62" name="anim-5-fade-0-846"/>
          <p:cNvSpPr/>
          <p:nvPr/>
        </p:nvSpPr>
        <p:spPr>
          <a:xfrm>
            <a:off x="2029968" y="2743200"/>
            <a:ext cx="219456" cy="256032"/>
          </a:xfrm>
          <a:prstGeom prst="rect">
            <a:avLst/>
          </a:prstGeom>
          <a:solidFill>
            <a:srgbClr val="EA6280"/>
          </a:solidFill>
          <a:ln w="6350">
            <a:solidFill>
              <a:srgbClr val="FFFFFF"/>
            </a:solidFill>
            <a:prstDash val="solid"/>
          </a:ln>
        </p:spPr>
      </p:sp>
      <p:sp>
        <p:nvSpPr>
          <p:cNvPr id="63" name="anim-5-fade-0-847"/>
          <p:cNvSpPr/>
          <p:nvPr/>
        </p:nvSpPr>
        <p:spPr>
          <a:xfrm>
            <a:off x="2276856" y="2743200"/>
            <a:ext cx="219456" cy="256032"/>
          </a:xfrm>
          <a:prstGeom prst="rect">
            <a:avLst/>
          </a:prstGeom>
          <a:solidFill>
            <a:srgbClr val="E4335A"/>
          </a:solidFill>
          <a:ln w="6350">
            <a:solidFill>
              <a:srgbClr val="FFFFFF"/>
            </a:solidFill>
            <a:prstDash val="solid"/>
          </a:ln>
        </p:spPr>
      </p:sp>
      <p:sp>
        <p:nvSpPr>
          <p:cNvPr id="64" name="anim-5-fade-100-848"/>
          <p:cNvSpPr txBox="1"/>
          <p:nvPr/>
        </p:nvSpPr>
        <p:spPr>
          <a:xfrm>
            <a:off x="548640" y="3054096"/>
            <a:ext cx="3108960" cy="219456"/>
          </a:xfrm>
          <a:prstGeom prst="rect">
            <a:avLst/>
          </a:prstGeom>
          <a:noFill/>
          <a:ln/>
        </p:spPr>
        <p:txBody>
          <a:bodyPr wrap="square" lIns="0" tIns="0" rIns="0" bIns="0" rtlCol="0" anchor="t"/>
          <a:lstStyle/>
          <a:p>
            <a:pPr indent="0" marL="0">
              <a:buNone/>
            </a:pPr>
            <a:r>
              <a:rPr lang="en-US" sz="950" i="1" dirty="0">
                <a:solidFill>
                  <a:srgbClr val="E11D48"/>
                </a:solidFill>
                <a:latin typeface="Inter" pitchFamily="34" charset="0"/>
                <a:ea typeface="Inter" pitchFamily="34" charset="-122"/>
                <a:cs typeface="Inter" pitchFamily="34" charset="-120"/>
              </a:rPr>
              <a:t>…a surface a cat sits on: mat?</a:t>
            </a:r>
            <a:endParaRPr lang="en-US" sz="9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anim calcmode="lin" valueType="num">
                                      <p:cBhvr>
                                        <p:cTn id="8" dur="500" fill="hold"/>
                                        <p:tgtEl>
                                          <p:spTgt spid="23"/>
                                        </p:tgtEl>
                                        <p:attrNameLst>
                                          <p:attrName>ppt_x</p:attrName>
                                        </p:attrNameLst>
                                      </p:cBhvr>
                                      <p:tavLst>
                                        <p:tav tm="0">
                                          <p:val>
                                            <p:strVal val="#ppt_x"/>
                                          </p:val>
                                        </p:tav>
                                        <p:tav tm="100000">
                                          <p:val>
                                            <p:strVal val="#ppt_x"/>
                                          </p:val>
                                        </p:tav>
                                      </p:tavLst>
                                    </p:anim>
                                    <p:anim calcmode="lin" valueType="num">
                                      <p:cBhvr>
                                        <p:cTn id="9" dur="500" fill="hold"/>
                                        <p:tgtEl>
                                          <p:spTgt spid="23"/>
                                        </p:tgtEl>
                                        <p:attrNameLst>
                                          <p:attrName>ppt_y</p:attrName>
                                        </p:attrNameLst>
                                      </p:cBhvr>
                                      <p:tavLst>
                                        <p:tav tm="0">
                                          <p:val>
                                            <p:strVal val="#ppt_y+0.06"/>
                                          </p:val>
                                        </p:tav>
                                        <p:tav tm="100000">
                                          <p:val>
                                            <p:strVal val="#ppt_y"/>
                                          </p:val>
                                        </p:tav>
                                      </p:tavLst>
                                    </p:anim>
                                  </p:childTnLst>
                                </p:cTn>
                              </p:par>
                              <p:par>
                                <p:cTn id="11" presetID="10"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4" presetID="42" presetClass="entr" presetSubtype="0" fill="hold" grpId="0" nodeType="withEffect">
                                  <p:stCondLst>
                                    <p:cond delay="80"/>
                                  </p:stCondLst>
                                  <p:childTnLst>
                                    <p:set>
                                      <p:cBhvr>
                                        <p:cTn id="13"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anim calcmode="lin" valueType="num">
                                      <p:cBhvr>
                                        <p:cTn id="16" dur="500" fill="hold"/>
                                        <p:tgtEl>
                                          <p:spTgt spid="24"/>
                                        </p:tgtEl>
                                        <p:attrNameLst>
                                          <p:attrName>ppt_x</p:attrName>
                                        </p:attrNameLst>
                                      </p:cBhvr>
                                      <p:tavLst>
                                        <p:tav tm="0">
                                          <p:val>
                                            <p:strVal val="#ppt_x"/>
                                          </p:val>
                                        </p:tav>
                                        <p:tav tm="100000">
                                          <p:val>
                                            <p:strVal val="#ppt_x"/>
                                          </p:val>
                                        </p:tav>
                                      </p:tavLst>
                                    </p:anim>
                                    <p:anim calcmode="lin" valueType="num">
                                      <p:cBhvr>
                                        <p:cTn id="17" dur="500" fill="hold"/>
                                        <p:tgtEl>
                                          <p:spTgt spid="24"/>
                                        </p:tgtEl>
                                        <p:attrNameLst>
                                          <p:attrName>ppt_y</p:attrName>
                                        </p:attrNameLst>
                                      </p:cBhvr>
                                      <p:tavLst>
                                        <p:tav tm="0">
                                          <p:val>
                                            <p:strVal val="#ppt_y+0.06"/>
                                          </p:val>
                                        </p:tav>
                                        <p:tav tm="100000">
                                          <p:val>
                                            <p:strVal val="#ppt_y"/>
                                          </p:val>
                                        </p:tav>
                                      </p:tavLst>
                                    </p:anim>
                                  </p:childTnLst>
                                </p:cTn>
                              </p:par>
                              <p:par>
                                <p:cTn id="19" presetID="42" presetClass="entr" presetSubtype="0" fill="hold" grpId="0" nodeType="withEffect">
                                  <p:stCondLst>
                                    <p:cond delay="160"/>
                                  </p:stCondLst>
                                  <p:childTnLst>
                                    <p:set>
                                      <p:cBhvr>
                                        <p:cTn id="18"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anim calcmode="lin" valueType="num">
                                      <p:cBhvr>
                                        <p:cTn id="21" dur="500" fill="hold"/>
                                        <p:tgtEl>
                                          <p:spTgt spid="25"/>
                                        </p:tgtEl>
                                        <p:attrNameLst>
                                          <p:attrName>ppt_x</p:attrName>
                                        </p:attrNameLst>
                                      </p:cBhvr>
                                      <p:tavLst>
                                        <p:tav tm="0">
                                          <p:val>
                                            <p:strVal val="#ppt_x"/>
                                          </p:val>
                                        </p:tav>
                                        <p:tav tm="100000">
                                          <p:val>
                                            <p:strVal val="#ppt_x"/>
                                          </p:val>
                                        </p:tav>
                                      </p:tavLst>
                                    </p:anim>
                                    <p:anim calcmode="lin" valueType="num">
                                      <p:cBhvr>
                                        <p:cTn id="22" dur="500" fill="hold"/>
                                        <p:tgtEl>
                                          <p:spTgt spid="25"/>
                                        </p:tgtEl>
                                        <p:attrNameLst>
                                          <p:attrName>ppt_y</p:attrName>
                                        </p:attrNameLst>
                                      </p:cBhvr>
                                      <p:tavLst>
                                        <p:tav tm="0">
                                          <p:val>
                                            <p:strVal val="#ppt_y+0.06"/>
                                          </p:val>
                                        </p:tav>
                                        <p:tav tm="100000">
                                          <p:val>
                                            <p:strVal val="#ppt_y"/>
                                          </p:val>
                                        </p:tav>
                                      </p:tavLst>
                                    </p:anim>
                                  </p:childTnLst>
                                </p:cTn>
                              </p:par>
                              <p:par>
                                <p:cTn id="24" presetID="42" presetClass="entr" presetSubtype="0" fill="hold" grpId="0" nodeType="withEffect">
                                  <p:stCondLst>
                                    <p:cond delay="240"/>
                                  </p:stCondLst>
                                  <p:childTnLst>
                                    <p:set>
                                      <p:cBhvr>
                                        <p:cTn id="23"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anim calcmode="lin" valueType="num">
                                      <p:cBhvr>
                                        <p:cTn id="26" dur="500" fill="hold"/>
                                        <p:tgtEl>
                                          <p:spTgt spid="26"/>
                                        </p:tgtEl>
                                        <p:attrNameLst>
                                          <p:attrName>ppt_x</p:attrName>
                                        </p:attrNameLst>
                                      </p:cBhvr>
                                      <p:tavLst>
                                        <p:tav tm="0">
                                          <p:val>
                                            <p:strVal val="#ppt_x"/>
                                          </p:val>
                                        </p:tav>
                                        <p:tav tm="100000">
                                          <p:val>
                                            <p:strVal val="#ppt_x"/>
                                          </p:val>
                                        </p:tav>
                                      </p:tavLst>
                                    </p:anim>
                                    <p:anim calcmode="lin" valueType="num">
                                      <p:cBhvr>
                                        <p:cTn id="27" dur="500" fill="hold"/>
                                        <p:tgtEl>
                                          <p:spTgt spid="26"/>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320"/>
                                  </p:stCondLst>
                                  <p:childTnLst>
                                    <p:set>
                                      <p:cBhvr>
                                        <p:cTn id="28"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anim calcmode="lin" valueType="num">
                                      <p:cBhvr>
                                        <p:cTn id="31" dur="500" fill="hold"/>
                                        <p:tgtEl>
                                          <p:spTgt spid="27"/>
                                        </p:tgtEl>
                                        <p:attrNameLst>
                                          <p:attrName>ppt_x</p:attrName>
                                        </p:attrNameLst>
                                      </p:cBhvr>
                                      <p:tavLst>
                                        <p:tav tm="0">
                                          <p:val>
                                            <p:strVal val="#ppt_x"/>
                                          </p:val>
                                        </p:tav>
                                        <p:tav tm="100000">
                                          <p:val>
                                            <p:strVal val="#ppt_x"/>
                                          </p:val>
                                        </p:tav>
                                      </p:tavLst>
                                    </p:anim>
                                    <p:anim calcmode="lin" valueType="num">
                                      <p:cBhvr>
                                        <p:cTn id="32" dur="500" fill="hold"/>
                                        <p:tgtEl>
                                          <p:spTgt spid="27"/>
                                        </p:tgtEl>
                                        <p:attrNameLst>
                                          <p:attrName>ppt_y</p:attrName>
                                        </p:attrNameLst>
                                      </p:cBhvr>
                                      <p:tavLst>
                                        <p:tav tm="0">
                                          <p:val>
                                            <p:strVal val="#ppt_y+0.06"/>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6" presetID="4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anim calcmode="lin" valueType="num">
                                      <p:cBhvr>
                                        <p:cTn id="38" dur="500" fill="hold"/>
                                        <p:tgtEl>
                                          <p:spTgt spid="5"/>
                                        </p:tgtEl>
                                        <p:attrNameLst>
                                          <p:attrName>ppt_x</p:attrName>
                                        </p:attrNameLst>
                                      </p:cBhvr>
                                      <p:tavLst>
                                        <p:tav tm="0">
                                          <p:val>
                                            <p:strVal val="#ppt_x"/>
                                          </p:val>
                                        </p:tav>
                                        <p:tav tm="100000">
                                          <p:val>
                                            <p:strVal val="#ppt_x"/>
                                          </p:val>
                                        </p:tav>
                                      </p:tavLst>
                                    </p:anim>
                                    <p:anim calcmode="lin" valueType="num">
                                      <p:cBhvr>
                                        <p:cTn id="39" dur="500" fill="hold"/>
                                        <p:tgtEl>
                                          <p:spTgt spid="5"/>
                                        </p:tgtEl>
                                        <p:attrNameLst>
                                          <p:attrName>ppt_y</p:attrName>
                                        </p:attrNameLst>
                                      </p:cBhvr>
                                      <p:tavLst>
                                        <p:tav tm="0">
                                          <p:val>
                                            <p:strVal val="#ppt_y+0.06"/>
                                          </p:val>
                                        </p:tav>
                                        <p:tav tm="100000">
                                          <p:val>
                                            <p:strVal val="#ppt_y"/>
                                          </p:val>
                                        </p:tav>
                                      </p:tavLst>
                                    </p:anim>
                                  </p:childTnLst>
                                </p:cTn>
                              </p:par>
                              <p:par>
                                <p:cTn id="41" presetID="42"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anim calcmode="lin" valueType="num">
                                      <p:cBhvr>
                                        <p:cTn id="43" dur="500" fill="hold"/>
                                        <p:tgtEl>
                                          <p:spTgt spid="6"/>
                                        </p:tgtEl>
                                        <p:attrNameLst>
                                          <p:attrName>ppt_x</p:attrName>
                                        </p:attrNameLst>
                                      </p:cBhvr>
                                      <p:tavLst>
                                        <p:tav tm="0">
                                          <p:val>
                                            <p:strVal val="#ppt_x"/>
                                          </p:val>
                                        </p:tav>
                                        <p:tav tm="100000">
                                          <p:val>
                                            <p:strVal val="#ppt_x"/>
                                          </p:val>
                                        </p:tav>
                                      </p:tavLst>
                                    </p:anim>
                                    <p:anim calcmode="lin" valueType="num">
                                      <p:cBhvr>
                                        <p:cTn id="44" dur="500" fill="hold"/>
                                        <p:tgtEl>
                                          <p:spTgt spid="6"/>
                                        </p:tgtEl>
                                        <p:attrNameLst>
                                          <p:attrName>ppt_y</p:attrName>
                                        </p:attrNameLst>
                                      </p:cBhvr>
                                      <p:tavLst>
                                        <p:tav tm="0">
                                          <p:val>
                                            <p:strVal val="#ppt_y+0.06"/>
                                          </p:val>
                                        </p:tav>
                                        <p:tav tm="100000">
                                          <p:val>
                                            <p:strVal val="#ppt_y"/>
                                          </p:val>
                                        </p:tav>
                                      </p:tavLst>
                                    </p:anim>
                                  </p:childTnLst>
                                </p:cTn>
                              </p:par>
                              <p:par>
                                <p:cTn id="46" presetID="42" presetClass="entr" presetSubtype="0"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anim calcmode="lin" valueType="num">
                                      <p:cBhvr>
                                        <p:cTn id="48" dur="500" fill="hold"/>
                                        <p:tgtEl>
                                          <p:spTgt spid="7"/>
                                        </p:tgtEl>
                                        <p:attrNameLst>
                                          <p:attrName>ppt_x</p:attrName>
                                        </p:attrNameLst>
                                      </p:cBhvr>
                                      <p:tavLst>
                                        <p:tav tm="0">
                                          <p:val>
                                            <p:strVal val="#ppt_x"/>
                                          </p:val>
                                        </p:tav>
                                        <p:tav tm="100000">
                                          <p:val>
                                            <p:strVal val="#ppt_x"/>
                                          </p:val>
                                        </p:tav>
                                      </p:tavLst>
                                    </p:anim>
                                    <p:anim calcmode="lin" valueType="num">
                                      <p:cBhvr>
                                        <p:cTn id="49" dur="500" fill="hold"/>
                                        <p:tgtEl>
                                          <p:spTgt spid="7"/>
                                        </p:tgtEl>
                                        <p:attrNameLst>
                                          <p:attrName>ppt_y</p:attrName>
                                        </p:attrNameLst>
                                      </p:cBhvr>
                                      <p:tavLst>
                                        <p:tav tm="0">
                                          <p:val>
                                            <p:strVal val="#ppt_y+0.06"/>
                                          </p:val>
                                        </p:tav>
                                        <p:tav tm="100000">
                                          <p:val>
                                            <p:strVal val="#ppt_y"/>
                                          </p:val>
                                        </p:tav>
                                      </p:tavLst>
                                    </p:anim>
                                  </p:childTnLst>
                                </p:cTn>
                              </p:par>
                              <p:par>
                                <p:cTn id="51" presetID="42"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anim calcmode="lin" valueType="num">
                                      <p:cBhvr>
                                        <p:cTn id="53" dur="500" fill="hold"/>
                                        <p:tgtEl>
                                          <p:spTgt spid="8"/>
                                        </p:tgtEl>
                                        <p:attrNameLst>
                                          <p:attrName>ppt_x</p:attrName>
                                        </p:attrNameLst>
                                      </p:cBhvr>
                                      <p:tavLst>
                                        <p:tav tm="0">
                                          <p:val>
                                            <p:strVal val="#ppt_x"/>
                                          </p:val>
                                        </p:tav>
                                        <p:tav tm="100000">
                                          <p:val>
                                            <p:strVal val="#ppt_x"/>
                                          </p:val>
                                        </p:tav>
                                      </p:tavLst>
                                    </p:anim>
                                    <p:anim calcmode="lin" valueType="num">
                                      <p:cBhvr>
                                        <p:cTn id="54" dur="500" fill="hold"/>
                                        <p:tgtEl>
                                          <p:spTgt spid="8"/>
                                        </p:tgtEl>
                                        <p:attrNameLst>
                                          <p:attrName>ppt_y</p:attrName>
                                        </p:attrNameLst>
                                      </p:cBhvr>
                                      <p:tavLst>
                                        <p:tav tm="0">
                                          <p:val>
                                            <p:strVal val="#ppt_y+0.06"/>
                                          </p:val>
                                        </p:tav>
                                        <p:tav tm="100000">
                                          <p:val>
                                            <p:strVal val="#ppt_y"/>
                                          </p:val>
                                        </p:tav>
                                      </p:tavLst>
                                    </p:anim>
                                  </p:childTnLst>
                                </p:cTn>
                              </p:par>
                              <p:par>
                                <p:cTn id="56" presetID="42" presetClass="entr" presetSubtype="0" fill="hold" grpId="0" nodeType="withEffect">
                                  <p:stCondLst>
                                    <p:cond delay="180"/>
                                  </p:stCondLst>
                                  <p:childTnLst>
                                    <p:set>
                                      <p:cBhvr>
                                        <p:cTn id="55"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anim calcmode="lin" valueType="num">
                                      <p:cBhvr>
                                        <p:cTn id="58" dur="500" fill="hold"/>
                                        <p:tgtEl>
                                          <p:spTgt spid="9"/>
                                        </p:tgtEl>
                                        <p:attrNameLst>
                                          <p:attrName>ppt_x</p:attrName>
                                        </p:attrNameLst>
                                      </p:cBhvr>
                                      <p:tavLst>
                                        <p:tav tm="0">
                                          <p:val>
                                            <p:strVal val="#ppt_x"/>
                                          </p:val>
                                        </p:tav>
                                        <p:tav tm="100000">
                                          <p:val>
                                            <p:strVal val="#ppt_x"/>
                                          </p:val>
                                        </p:tav>
                                      </p:tavLst>
                                    </p:anim>
                                    <p:anim calcmode="lin" valueType="num">
                                      <p:cBhvr>
                                        <p:cTn id="59" dur="500" fill="hold"/>
                                        <p:tgtEl>
                                          <p:spTgt spid="9"/>
                                        </p:tgtEl>
                                        <p:attrNameLst>
                                          <p:attrName>ppt_y</p:attrName>
                                        </p:attrNameLst>
                                      </p:cBhvr>
                                      <p:tavLst>
                                        <p:tav tm="0">
                                          <p:val>
                                            <p:strVal val="#ppt_y+0.06"/>
                                          </p:val>
                                        </p:tav>
                                        <p:tav tm="100000">
                                          <p:val>
                                            <p:strVal val="#ppt_y"/>
                                          </p:val>
                                        </p:tav>
                                      </p:tavLst>
                                    </p:anim>
                                  </p:childTnLst>
                                </p:cTn>
                              </p:par>
                              <p:par>
                                <p:cTn id="61" presetID="42" presetClass="entr" presetSubtype="0" fill="hold" grpId="0" nodeType="withEffect">
                                  <p:stCondLst>
                                    <p:cond delay="180"/>
                                  </p:stCondLst>
                                  <p:childTnLst>
                                    <p:set>
                                      <p:cBhvr>
                                        <p:cTn id="60" dur="1" fill="hold">
                                          <p:stCondLst>
                                            <p:cond delay="0"/>
                                          </p:stCondLst>
                                        </p:cTn>
                                        <p:tgtEl>
                                          <p:spTgt spid="10"/>
                                        </p:tgtEl>
                                        <p:attrNameLst>
                                          <p:attrName>style.visibility</p:attrName>
                                        </p:attrNameLst>
                                      </p:cBhvr>
                                      <p:to>
                                        <p:strVal val="visible"/>
                                      </p:to>
                                    </p:set>
                                    <p:animEffect transition="in" filter="fade">
                                      <p:cBhvr>
                                        <p:cTn id="62" dur="500"/>
                                        <p:tgtEl>
                                          <p:spTgt spid="10"/>
                                        </p:tgtEl>
                                      </p:cBhvr>
                                    </p:animEffect>
                                    <p:anim calcmode="lin" valueType="num">
                                      <p:cBhvr>
                                        <p:cTn id="63" dur="500" fill="hold"/>
                                        <p:tgtEl>
                                          <p:spTgt spid="10"/>
                                        </p:tgtEl>
                                        <p:attrNameLst>
                                          <p:attrName>ppt_x</p:attrName>
                                        </p:attrNameLst>
                                      </p:cBhvr>
                                      <p:tavLst>
                                        <p:tav tm="0">
                                          <p:val>
                                            <p:strVal val="#ppt_x"/>
                                          </p:val>
                                        </p:tav>
                                        <p:tav tm="100000">
                                          <p:val>
                                            <p:strVal val="#ppt_x"/>
                                          </p:val>
                                        </p:tav>
                                      </p:tavLst>
                                    </p:anim>
                                    <p:anim calcmode="lin" valueType="num">
                                      <p:cBhvr>
                                        <p:cTn id="64" dur="500" fill="hold"/>
                                        <p:tgtEl>
                                          <p:spTgt spid="10"/>
                                        </p:tgtEl>
                                        <p:attrNameLst>
                                          <p:attrName>ppt_y</p:attrName>
                                        </p:attrNameLst>
                                      </p:cBhvr>
                                      <p:tavLst>
                                        <p:tav tm="0">
                                          <p:val>
                                            <p:strVal val="#ppt_y+0.06"/>
                                          </p:val>
                                        </p:tav>
                                        <p:tav tm="100000">
                                          <p:val>
                                            <p:strVal val="#ppt_y"/>
                                          </p:val>
                                        </p:tav>
                                      </p:tavLst>
                                    </p:anim>
                                  </p:childTnLst>
                                </p:cTn>
                              </p:par>
                              <p:par>
                                <p:cTn id="66" presetID="42" presetClass="entr" presetSubtype="0" fill="hold" grpId="0" nodeType="withEffect">
                                  <p:stCondLst>
                                    <p:cond delay="180"/>
                                  </p:stCondLst>
                                  <p:childTnLst>
                                    <p:set>
                                      <p:cBhvr>
                                        <p:cTn id="65"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anim calcmode="lin" valueType="num">
                                      <p:cBhvr>
                                        <p:cTn id="68" dur="500" fill="hold"/>
                                        <p:tgtEl>
                                          <p:spTgt spid="11"/>
                                        </p:tgtEl>
                                        <p:attrNameLst>
                                          <p:attrName>ppt_x</p:attrName>
                                        </p:attrNameLst>
                                      </p:cBhvr>
                                      <p:tavLst>
                                        <p:tav tm="0">
                                          <p:val>
                                            <p:strVal val="#ppt_x"/>
                                          </p:val>
                                        </p:tav>
                                        <p:tav tm="100000">
                                          <p:val>
                                            <p:strVal val="#ppt_x"/>
                                          </p:val>
                                        </p:tav>
                                      </p:tavLst>
                                    </p:anim>
                                    <p:anim calcmode="lin" valueType="num">
                                      <p:cBhvr>
                                        <p:cTn id="69" dur="500" fill="hold"/>
                                        <p:tgtEl>
                                          <p:spTgt spid="11"/>
                                        </p:tgtEl>
                                        <p:attrNameLst>
                                          <p:attrName>ppt_y</p:attrName>
                                        </p:attrNameLst>
                                      </p:cBhvr>
                                      <p:tavLst>
                                        <p:tav tm="0">
                                          <p:val>
                                            <p:strVal val="#ppt_y+0.06"/>
                                          </p:val>
                                        </p:tav>
                                        <p:tav tm="100000">
                                          <p:val>
                                            <p:strVal val="#ppt_y"/>
                                          </p:val>
                                        </p:tav>
                                      </p:tavLst>
                                    </p:anim>
                                  </p:childTnLst>
                                </p:cTn>
                              </p:par>
                              <p:par>
                                <p:cTn id="71" presetID="42" presetClass="entr" presetSubtype="0" fill="hold" grpId="0" nodeType="withEffect">
                                  <p:stCondLst>
                                    <p:cond delay="180"/>
                                  </p:stCondLst>
                                  <p:childTnLst>
                                    <p:set>
                                      <p:cBhvr>
                                        <p:cTn id="70" dur="1" fill="hold">
                                          <p:stCondLst>
                                            <p:cond delay="0"/>
                                          </p:stCondLst>
                                        </p:cTn>
                                        <p:tgtEl>
                                          <p:spTgt spid="12"/>
                                        </p:tgtEl>
                                        <p:attrNameLst>
                                          <p:attrName>style.visibility</p:attrName>
                                        </p:attrNameLst>
                                      </p:cBhvr>
                                      <p:to>
                                        <p:strVal val="visible"/>
                                      </p:to>
                                    </p:set>
                                    <p:animEffect transition="in" filter="fade">
                                      <p:cBhvr>
                                        <p:cTn id="72" dur="500"/>
                                        <p:tgtEl>
                                          <p:spTgt spid="12"/>
                                        </p:tgtEl>
                                      </p:cBhvr>
                                    </p:animEffect>
                                    <p:anim calcmode="lin" valueType="num">
                                      <p:cBhvr>
                                        <p:cTn id="73" dur="500" fill="hold"/>
                                        <p:tgtEl>
                                          <p:spTgt spid="12"/>
                                        </p:tgtEl>
                                        <p:attrNameLst>
                                          <p:attrName>ppt_x</p:attrName>
                                        </p:attrNameLst>
                                      </p:cBhvr>
                                      <p:tavLst>
                                        <p:tav tm="0">
                                          <p:val>
                                            <p:strVal val="#ppt_x"/>
                                          </p:val>
                                        </p:tav>
                                        <p:tav tm="100000">
                                          <p:val>
                                            <p:strVal val="#ppt_x"/>
                                          </p:val>
                                        </p:tav>
                                      </p:tavLst>
                                    </p:anim>
                                    <p:anim calcmode="lin" valueType="num">
                                      <p:cBhvr>
                                        <p:cTn id="74" dur="500" fill="hold"/>
                                        <p:tgtEl>
                                          <p:spTgt spid="12"/>
                                        </p:tgtEl>
                                        <p:attrNameLst>
                                          <p:attrName>ppt_y</p:attrName>
                                        </p:attrNameLst>
                                      </p:cBhvr>
                                      <p:tavLst>
                                        <p:tav tm="0">
                                          <p:val>
                                            <p:strVal val="#ppt_y+0.06"/>
                                          </p:val>
                                        </p:tav>
                                        <p:tav tm="100000">
                                          <p:val>
                                            <p:strVal val="#ppt_y"/>
                                          </p:val>
                                        </p:tav>
                                      </p:tavLst>
                                    </p:anim>
                                  </p:childTnLst>
                                </p:cTn>
                              </p:par>
                              <p:par>
                                <p:cTn id="76" presetID="42" presetClass="entr" presetSubtype="0" fill="hold" grpId="0" nodeType="withEffect">
                                  <p:stCondLst>
                                    <p:cond delay="360"/>
                                  </p:stCondLst>
                                  <p:childTnLst>
                                    <p:set>
                                      <p:cBhvr>
                                        <p:cTn id="75" dur="1" fill="hold">
                                          <p:stCondLst>
                                            <p:cond delay="0"/>
                                          </p:stCondLst>
                                        </p:cTn>
                                        <p:tgtEl>
                                          <p:spTgt spid="13"/>
                                        </p:tgtEl>
                                        <p:attrNameLst>
                                          <p:attrName>style.visibility</p:attrName>
                                        </p:attrNameLst>
                                      </p:cBhvr>
                                      <p:to>
                                        <p:strVal val="visible"/>
                                      </p:to>
                                    </p:set>
                                    <p:animEffect transition="in" filter="fade">
                                      <p:cBhvr>
                                        <p:cTn id="77" dur="500"/>
                                        <p:tgtEl>
                                          <p:spTgt spid="13"/>
                                        </p:tgtEl>
                                      </p:cBhvr>
                                    </p:animEffect>
                                    <p:anim calcmode="lin" valueType="num">
                                      <p:cBhvr>
                                        <p:cTn id="78" dur="500" fill="hold"/>
                                        <p:tgtEl>
                                          <p:spTgt spid="13"/>
                                        </p:tgtEl>
                                        <p:attrNameLst>
                                          <p:attrName>ppt_x</p:attrName>
                                        </p:attrNameLst>
                                      </p:cBhvr>
                                      <p:tavLst>
                                        <p:tav tm="0">
                                          <p:val>
                                            <p:strVal val="#ppt_x"/>
                                          </p:val>
                                        </p:tav>
                                        <p:tav tm="100000">
                                          <p:val>
                                            <p:strVal val="#ppt_x"/>
                                          </p:val>
                                        </p:tav>
                                      </p:tavLst>
                                    </p:anim>
                                    <p:anim calcmode="lin" valueType="num">
                                      <p:cBhvr>
                                        <p:cTn id="79" dur="500" fill="hold"/>
                                        <p:tgtEl>
                                          <p:spTgt spid="13"/>
                                        </p:tgtEl>
                                        <p:attrNameLst>
                                          <p:attrName>ppt_y</p:attrName>
                                        </p:attrNameLst>
                                      </p:cBhvr>
                                      <p:tavLst>
                                        <p:tav tm="0">
                                          <p:val>
                                            <p:strVal val="#ppt_y+0.06"/>
                                          </p:val>
                                        </p:tav>
                                        <p:tav tm="100000">
                                          <p:val>
                                            <p:strVal val="#ppt_y"/>
                                          </p:val>
                                        </p:tav>
                                      </p:tavLst>
                                    </p:anim>
                                  </p:childTnLst>
                                </p:cTn>
                              </p:par>
                              <p:par>
                                <p:cTn id="81" presetID="42" presetClass="entr" presetSubtype="0" fill="hold" grpId="0" nodeType="withEffect">
                                  <p:stCondLst>
                                    <p:cond delay="360"/>
                                  </p:stCondLst>
                                  <p:childTnLst>
                                    <p:set>
                                      <p:cBhvr>
                                        <p:cTn id="80" dur="1" fill="hold">
                                          <p:stCondLst>
                                            <p:cond delay="0"/>
                                          </p:stCondLst>
                                        </p:cTn>
                                        <p:tgtEl>
                                          <p:spTgt spid="14"/>
                                        </p:tgtEl>
                                        <p:attrNameLst>
                                          <p:attrName>style.visibility</p:attrName>
                                        </p:attrNameLst>
                                      </p:cBhvr>
                                      <p:to>
                                        <p:strVal val="visible"/>
                                      </p:to>
                                    </p:set>
                                    <p:animEffect transition="in" filter="fade">
                                      <p:cBhvr>
                                        <p:cTn id="82" dur="500"/>
                                        <p:tgtEl>
                                          <p:spTgt spid="14"/>
                                        </p:tgtEl>
                                      </p:cBhvr>
                                    </p:animEffect>
                                    <p:anim calcmode="lin" valueType="num">
                                      <p:cBhvr>
                                        <p:cTn id="83" dur="500" fill="hold"/>
                                        <p:tgtEl>
                                          <p:spTgt spid="14"/>
                                        </p:tgtEl>
                                        <p:attrNameLst>
                                          <p:attrName>ppt_x</p:attrName>
                                        </p:attrNameLst>
                                      </p:cBhvr>
                                      <p:tavLst>
                                        <p:tav tm="0">
                                          <p:val>
                                            <p:strVal val="#ppt_x"/>
                                          </p:val>
                                        </p:tav>
                                        <p:tav tm="100000">
                                          <p:val>
                                            <p:strVal val="#ppt_x"/>
                                          </p:val>
                                        </p:tav>
                                      </p:tavLst>
                                    </p:anim>
                                    <p:anim calcmode="lin" valueType="num">
                                      <p:cBhvr>
                                        <p:cTn id="84" dur="500" fill="hold"/>
                                        <p:tgtEl>
                                          <p:spTgt spid="14"/>
                                        </p:tgtEl>
                                        <p:attrNameLst>
                                          <p:attrName>ppt_y</p:attrName>
                                        </p:attrNameLst>
                                      </p:cBhvr>
                                      <p:tavLst>
                                        <p:tav tm="0">
                                          <p:val>
                                            <p:strVal val="#ppt_y+0.06"/>
                                          </p:val>
                                        </p:tav>
                                        <p:tav tm="100000">
                                          <p:val>
                                            <p:strVal val="#ppt_y"/>
                                          </p:val>
                                        </p:tav>
                                      </p:tavLst>
                                    </p:anim>
                                  </p:childTnLst>
                                </p:cTn>
                              </p:par>
                              <p:par>
                                <p:cTn id="86" presetID="42" presetClass="entr" presetSubtype="0" fill="hold" grpId="0" nodeType="withEffect">
                                  <p:stCondLst>
                                    <p:cond delay="360"/>
                                  </p:stCondLst>
                                  <p:childTnLst>
                                    <p:set>
                                      <p:cBhvr>
                                        <p:cTn id="85" dur="1" fill="hold">
                                          <p:stCondLst>
                                            <p:cond delay="0"/>
                                          </p:stCondLst>
                                        </p:cTn>
                                        <p:tgtEl>
                                          <p:spTgt spid="15"/>
                                        </p:tgtEl>
                                        <p:attrNameLst>
                                          <p:attrName>style.visibility</p:attrName>
                                        </p:attrNameLst>
                                      </p:cBhvr>
                                      <p:to>
                                        <p:strVal val="visible"/>
                                      </p:to>
                                    </p:set>
                                    <p:animEffect transition="in" filter="fade">
                                      <p:cBhvr>
                                        <p:cTn id="87" dur="500"/>
                                        <p:tgtEl>
                                          <p:spTgt spid="15"/>
                                        </p:tgtEl>
                                      </p:cBhvr>
                                    </p:animEffect>
                                    <p:anim calcmode="lin" valueType="num">
                                      <p:cBhvr>
                                        <p:cTn id="88" dur="500" fill="hold"/>
                                        <p:tgtEl>
                                          <p:spTgt spid="15"/>
                                        </p:tgtEl>
                                        <p:attrNameLst>
                                          <p:attrName>ppt_x</p:attrName>
                                        </p:attrNameLst>
                                      </p:cBhvr>
                                      <p:tavLst>
                                        <p:tav tm="0">
                                          <p:val>
                                            <p:strVal val="#ppt_x"/>
                                          </p:val>
                                        </p:tav>
                                        <p:tav tm="100000">
                                          <p:val>
                                            <p:strVal val="#ppt_x"/>
                                          </p:val>
                                        </p:tav>
                                      </p:tavLst>
                                    </p:anim>
                                    <p:anim calcmode="lin" valueType="num">
                                      <p:cBhvr>
                                        <p:cTn id="89" dur="500" fill="hold"/>
                                        <p:tgtEl>
                                          <p:spTgt spid="15"/>
                                        </p:tgtEl>
                                        <p:attrNameLst>
                                          <p:attrName>ppt_y</p:attrName>
                                        </p:attrNameLst>
                                      </p:cBhvr>
                                      <p:tavLst>
                                        <p:tav tm="0">
                                          <p:val>
                                            <p:strVal val="#ppt_y+0.06"/>
                                          </p:val>
                                        </p:tav>
                                        <p:tav tm="100000">
                                          <p:val>
                                            <p:strVal val="#ppt_y"/>
                                          </p:val>
                                        </p:tav>
                                      </p:tavLst>
                                    </p:anim>
                                  </p:childTnLst>
                                </p:cTn>
                              </p:par>
                              <p:par>
                                <p:cTn id="91" presetID="42" presetClass="entr" presetSubtype="0" fill="hold" grpId="0" nodeType="withEffect">
                                  <p:stCondLst>
                                    <p:cond delay="360"/>
                                  </p:stCondLst>
                                  <p:childTnLst>
                                    <p:set>
                                      <p:cBhvr>
                                        <p:cTn id="90" dur="1" fill="hold">
                                          <p:stCondLst>
                                            <p:cond delay="0"/>
                                          </p:stCondLst>
                                        </p:cTn>
                                        <p:tgtEl>
                                          <p:spTgt spid="16"/>
                                        </p:tgtEl>
                                        <p:attrNameLst>
                                          <p:attrName>style.visibility</p:attrName>
                                        </p:attrNameLst>
                                      </p:cBhvr>
                                      <p:to>
                                        <p:strVal val="visible"/>
                                      </p:to>
                                    </p:set>
                                    <p:animEffect transition="in" filter="fade">
                                      <p:cBhvr>
                                        <p:cTn id="92" dur="500"/>
                                        <p:tgtEl>
                                          <p:spTgt spid="16"/>
                                        </p:tgtEl>
                                      </p:cBhvr>
                                    </p:animEffect>
                                    <p:anim calcmode="lin" valueType="num">
                                      <p:cBhvr>
                                        <p:cTn id="93" dur="500" fill="hold"/>
                                        <p:tgtEl>
                                          <p:spTgt spid="16"/>
                                        </p:tgtEl>
                                        <p:attrNameLst>
                                          <p:attrName>ppt_x</p:attrName>
                                        </p:attrNameLst>
                                      </p:cBhvr>
                                      <p:tavLst>
                                        <p:tav tm="0">
                                          <p:val>
                                            <p:strVal val="#ppt_x"/>
                                          </p:val>
                                        </p:tav>
                                        <p:tav tm="100000">
                                          <p:val>
                                            <p:strVal val="#ppt_x"/>
                                          </p:val>
                                        </p:tav>
                                      </p:tavLst>
                                    </p:anim>
                                    <p:anim calcmode="lin" valueType="num">
                                      <p:cBhvr>
                                        <p:cTn id="94" dur="500" fill="hold"/>
                                        <p:tgtEl>
                                          <p:spTgt spid="16"/>
                                        </p:tgtEl>
                                        <p:attrNameLst>
                                          <p:attrName>ppt_y</p:attrName>
                                        </p:attrNameLst>
                                      </p:cBhvr>
                                      <p:tavLst>
                                        <p:tav tm="0">
                                          <p:val>
                                            <p:strVal val="#ppt_y+0.06"/>
                                          </p:val>
                                        </p:tav>
                                        <p:tav tm="100000">
                                          <p:val>
                                            <p:strVal val="#ppt_y"/>
                                          </p:val>
                                        </p:tav>
                                      </p:tavLst>
                                    </p:anim>
                                  </p:childTnLst>
                                </p:cTn>
                              </p:par>
                              <p:par>
                                <p:cTn id="96" presetID="42" presetClass="entr" presetSubtype="0" fill="hold" grpId="0" nodeType="withEffect">
                                  <p:stCondLst>
                                    <p:cond delay="540"/>
                                  </p:stCondLst>
                                  <p:childTnLst>
                                    <p:set>
                                      <p:cBhvr>
                                        <p:cTn id="95" dur="1" fill="hold">
                                          <p:stCondLst>
                                            <p:cond delay="0"/>
                                          </p:stCondLst>
                                        </p:cTn>
                                        <p:tgtEl>
                                          <p:spTgt spid="17"/>
                                        </p:tgtEl>
                                        <p:attrNameLst>
                                          <p:attrName>style.visibility</p:attrName>
                                        </p:attrNameLst>
                                      </p:cBhvr>
                                      <p:to>
                                        <p:strVal val="visible"/>
                                      </p:to>
                                    </p:set>
                                    <p:animEffect transition="in" filter="fade">
                                      <p:cBhvr>
                                        <p:cTn id="97" dur="500"/>
                                        <p:tgtEl>
                                          <p:spTgt spid="17"/>
                                        </p:tgtEl>
                                      </p:cBhvr>
                                    </p:animEffect>
                                    <p:anim calcmode="lin" valueType="num">
                                      <p:cBhvr>
                                        <p:cTn id="98" dur="500" fill="hold"/>
                                        <p:tgtEl>
                                          <p:spTgt spid="17"/>
                                        </p:tgtEl>
                                        <p:attrNameLst>
                                          <p:attrName>ppt_x</p:attrName>
                                        </p:attrNameLst>
                                      </p:cBhvr>
                                      <p:tavLst>
                                        <p:tav tm="0">
                                          <p:val>
                                            <p:strVal val="#ppt_x"/>
                                          </p:val>
                                        </p:tav>
                                        <p:tav tm="100000">
                                          <p:val>
                                            <p:strVal val="#ppt_x"/>
                                          </p:val>
                                        </p:tav>
                                      </p:tavLst>
                                    </p:anim>
                                    <p:anim calcmode="lin" valueType="num">
                                      <p:cBhvr>
                                        <p:cTn id="99" dur="500" fill="hold"/>
                                        <p:tgtEl>
                                          <p:spTgt spid="17"/>
                                        </p:tgtEl>
                                        <p:attrNameLst>
                                          <p:attrName>ppt_y</p:attrName>
                                        </p:attrNameLst>
                                      </p:cBhvr>
                                      <p:tavLst>
                                        <p:tav tm="0">
                                          <p:val>
                                            <p:strVal val="#ppt_y+0.06"/>
                                          </p:val>
                                        </p:tav>
                                        <p:tav tm="100000">
                                          <p:val>
                                            <p:strVal val="#ppt_y"/>
                                          </p:val>
                                        </p:tav>
                                      </p:tavLst>
                                    </p:anim>
                                  </p:childTnLst>
                                </p:cTn>
                              </p:par>
                              <p:par>
                                <p:cTn id="101" presetID="42" presetClass="entr" presetSubtype="0" fill="hold" grpId="0" nodeType="withEffect">
                                  <p:stCondLst>
                                    <p:cond delay="54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2" dur="500"/>
                                        <p:tgtEl>
                                          <p:spTgt spid="18"/>
                                        </p:tgtEl>
                                      </p:cBhvr>
                                    </p:animEffect>
                                    <p:anim calcmode="lin" valueType="num">
                                      <p:cBhvr>
                                        <p:cTn id="103" dur="500" fill="hold"/>
                                        <p:tgtEl>
                                          <p:spTgt spid="18"/>
                                        </p:tgtEl>
                                        <p:attrNameLst>
                                          <p:attrName>ppt_x</p:attrName>
                                        </p:attrNameLst>
                                      </p:cBhvr>
                                      <p:tavLst>
                                        <p:tav tm="0">
                                          <p:val>
                                            <p:strVal val="#ppt_x"/>
                                          </p:val>
                                        </p:tav>
                                        <p:tav tm="100000">
                                          <p:val>
                                            <p:strVal val="#ppt_x"/>
                                          </p:val>
                                        </p:tav>
                                      </p:tavLst>
                                    </p:anim>
                                    <p:anim calcmode="lin" valueType="num">
                                      <p:cBhvr>
                                        <p:cTn id="104" dur="500" fill="hold"/>
                                        <p:tgtEl>
                                          <p:spTgt spid="18"/>
                                        </p:tgtEl>
                                        <p:attrNameLst>
                                          <p:attrName>ppt_y</p:attrName>
                                        </p:attrNameLst>
                                      </p:cBhvr>
                                      <p:tavLst>
                                        <p:tav tm="0">
                                          <p:val>
                                            <p:strVal val="#ppt_y+0.06"/>
                                          </p:val>
                                        </p:tav>
                                        <p:tav tm="100000">
                                          <p:val>
                                            <p:strVal val="#ppt_y"/>
                                          </p:val>
                                        </p:tav>
                                      </p:tavLst>
                                    </p:anim>
                                  </p:childTnLst>
                                </p:cTn>
                              </p:par>
                              <p:par>
                                <p:cTn id="106" presetID="42" presetClass="entr" presetSubtype="0" fill="hold" grpId="0" nodeType="withEffect">
                                  <p:stCondLst>
                                    <p:cond delay="72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7" dur="500"/>
                                        <p:tgtEl>
                                          <p:spTgt spid="19"/>
                                        </p:tgtEl>
                                      </p:cBhvr>
                                    </p:animEffect>
                                    <p:anim calcmode="lin" valueType="num">
                                      <p:cBhvr>
                                        <p:cTn id="108" dur="500" fill="hold"/>
                                        <p:tgtEl>
                                          <p:spTgt spid="19"/>
                                        </p:tgtEl>
                                        <p:attrNameLst>
                                          <p:attrName>ppt_x</p:attrName>
                                        </p:attrNameLst>
                                      </p:cBhvr>
                                      <p:tavLst>
                                        <p:tav tm="0">
                                          <p:val>
                                            <p:strVal val="#ppt_x"/>
                                          </p:val>
                                        </p:tav>
                                        <p:tav tm="100000">
                                          <p:val>
                                            <p:strVal val="#ppt_x"/>
                                          </p:val>
                                        </p:tav>
                                      </p:tavLst>
                                    </p:anim>
                                    <p:anim calcmode="lin" valueType="num">
                                      <p:cBhvr>
                                        <p:cTn id="109" dur="500" fill="hold"/>
                                        <p:tgtEl>
                                          <p:spTgt spid="19"/>
                                        </p:tgtEl>
                                        <p:attrNameLst>
                                          <p:attrName>ppt_y</p:attrName>
                                        </p:attrNameLst>
                                      </p:cBhvr>
                                      <p:tavLst>
                                        <p:tav tm="0">
                                          <p:val>
                                            <p:strVal val="#ppt_y+0.06"/>
                                          </p:val>
                                        </p:tav>
                                        <p:tav tm="100000">
                                          <p:val>
                                            <p:strVal val="#ppt_y"/>
                                          </p:val>
                                        </p:tav>
                                      </p:tavLst>
                                    </p:anim>
                                  </p:childTnLst>
                                </p:cTn>
                              </p:par>
                              <p:par>
                                <p:cTn id="111" presetID="42" presetClass="entr" presetSubtype="0" fill="hold" grpId="0" nodeType="withEffect">
                                  <p:stCondLst>
                                    <p:cond delay="720"/>
                                  </p:stCondLst>
                                  <p:childTnLst>
                                    <p:set>
                                      <p:cBhvr>
                                        <p:cTn id="110" dur="1" fill="hold">
                                          <p:stCondLst>
                                            <p:cond delay="0"/>
                                          </p:stCondLst>
                                        </p:cTn>
                                        <p:tgtEl>
                                          <p:spTgt spid="20"/>
                                        </p:tgtEl>
                                        <p:attrNameLst>
                                          <p:attrName>style.visibility</p:attrName>
                                        </p:attrNameLst>
                                      </p:cBhvr>
                                      <p:to>
                                        <p:strVal val="visible"/>
                                      </p:to>
                                    </p:set>
                                    <p:animEffect transition="in" filter="fade">
                                      <p:cBhvr>
                                        <p:cTn id="112" dur="500"/>
                                        <p:tgtEl>
                                          <p:spTgt spid="20"/>
                                        </p:tgtEl>
                                      </p:cBhvr>
                                    </p:animEffect>
                                    <p:anim calcmode="lin" valueType="num">
                                      <p:cBhvr>
                                        <p:cTn id="113" dur="500" fill="hold"/>
                                        <p:tgtEl>
                                          <p:spTgt spid="20"/>
                                        </p:tgtEl>
                                        <p:attrNameLst>
                                          <p:attrName>ppt_x</p:attrName>
                                        </p:attrNameLst>
                                      </p:cBhvr>
                                      <p:tavLst>
                                        <p:tav tm="0">
                                          <p:val>
                                            <p:strVal val="#ppt_x"/>
                                          </p:val>
                                        </p:tav>
                                        <p:tav tm="100000">
                                          <p:val>
                                            <p:strVal val="#ppt_x"/>
                                          </p:val>
                                        </p:tav>
                                      </p:tavLst>
                                    </p:anim>
                                    <p:anim calcmode="lin" valueType="num">
                                      <p:cBhvr>
                                        <p:cTn id="114" dur="500" fill="hold"/>
                                        <p:tgtEl>
                                          <p:spTgt spid="20"/>
                                        </p:tgtEl>
                                        <p:attrNameLst>
                                          <p:attrName>ppt_y</p:attrName>
                                        </p:attrNameLst>
                                      </p:cBhvr>
                                      <p:tavLst>
                                        <p:tav tm="0">
                                          <p:val>
                                            <p:strVal val="#ppt_y+0.06"/>
                                          </p:val>
                                        </p:tav>
                                        <p:tav tm="100000">
                                          <p:val>
                                            <p:strVal val="#ppt_y"/>
                                          </p:val>
                                        </p:tav>
                                      </p:tavLst>
                                    </p:anim>
                                  </p:childTnLst>
                                </p:cTn>
                              </p:par>
                              <p:par>
                                <p:cTn id="116" presetID="42" presetClass="entr" presetSubtype="0" fill="hold" grpId="0" nodeType="withEffect">
                                  <p:stCondLst>
                                    <p:cond delay="720"/>
                                  </p:stCondLst>
                                  <p:childTnLst>
                                    <p:set>
                                      <p:cBhvr>
                                        <p:cTn id="115" dur="1" fill="hold">
                                          <p:stCondLst>
                                            <p:cond delay="0"/>
                                          </p:stCondLst>
                                        </p:cTn>
                                        <p:tgtEl>
                                          <p:spTgt spid="21"/>
                                        </p:tgtEl>
                                        <p:attrNameLst>
                                          <p:attrName>style.visibility</p:attrName>
                                        </p:attrNameLst>
                                      </p:cBhvr>
                                      <p:to>
                                        <p:strVal val="visible"/>
                                      </p:to>
                                    </p:set>
                                    <p:animEffect transition="in" filter="fade">
                                      <p:cBhvr>
                                        <p:cTn id="117" dur="500"/>
                                        <p:tgtEl>
                                          <p:spTgt spid="21"/>
                                        </p:tgtEl>
                                      </p:cBhvr>
                                    </p:animEffect>
                                    <p:anim calcmode="lin" valueType="num">
                                      <p:cBhvr>
                                        <p:cTn id="118" dur="500" fill="hold"/>
                                        <p:tgtEl>
                                          <p:spTgt spid="21"/>
                                        </p:tgtEl>
                                        <p:attrNameLst>
                                          <p:attrName>ppt_x</p:attrName>
                                        </p:attrNameLst>
                                      </p:cBhvr>
                                      <p:tavLst>
                                        <p:tav tm="0">
                                          <p:val>
                                            <p:strVal val="#ppt_x"/>
                                          </p:val>
                                        </p:tav>
                                        <p:tav tm="100000">
                                          <p:val>
                                            <p:strVal val="#ppt_x"/>
                                          </p:val>
                                        </p:tav>
                                      </p:tavLst>
                                    </p:anim>
                                    <p:anim calcmode="lin" valueType="num">
                                      <p:cBhvr>
                                        <p:cTn id="119" dur="500" fill="hold"/>
                                        <p:tgtEl>
                                          <p:spTgt spid="21"/>
                                        </p:tgtEl>
                                        <p:attrNameLst>
                                          <p:attrName>ppt_y</p:attrName>
                                        </p:attrNameLst>
                                      </p:cBhvr>
                                      <p:tavLst>
                                        <p:tav tm="0">
                                          <p:val>
                                            <p:strVal val="#ppt_y+0.06"/>
                                          </p:val>
                                        </p:tav>
                                        <p:tav tm="100000">
                                          <p:val>
                                            <p:strVal val="#ppt_y"/>
                                          </p:val>
                                        </p:tav>
                                      </p:tavLst>
                                    </p:anim>
                                  </p:childTnLst>
                                </p:cTn>
                              </p:par>
                              <p:par>
                                <p:cTn id="121" presetID="42" presetClass="entr" presetSubtype="0" fill="hold" grpId="0" nodeType="withEffect">
                                  <p:stCondLst>
                                    <p:cond delay="720"/>
                                  </p:stCondLst>
                                  <p:childTnLst>
                                    <p:set>
                                      <p:cBhvr>
                                        <p:cTn id="120" dur="1" fill="hold">
                                          <p:stCondLst>
                                            <p:cond delay="0"/>
                                          </p:stCondLst>
                                        </p:cTn>
                                        <p:tgtEl>
                                          <p:spTgt spid="22"/>
                                        </p:tgtEl>
                                        <p:attrNameLst>
                                          <p:attrName>style.visibility</p:attrName>
                                        </p:attrNameLst>
                                      </p:cBhvr>
                                      <p:to>
                                        <p:strVal val="visible"/>
                                      </p:to>
                                    </p:set>
                                    <p:animEffect transition="in" filter="fade">
                                      <p:cBhvr>
                                        <p:cTn id="122" dur="500"/>
                                        <p:tgtEl>
                                          <p:spTgt spid="22"/>
                                        </p:tgtEl>
                                      </p:cBhvr>
                                    </p:animEffect>
                                    <p:anim calcmode="lin" valueType="num">
                                      <p:cBhvr>
                                        <p:cTn id="123" dur="500" fill="hold"/>
                                        <p:tgtEl>
                                          <p:spTgt spid="22"/>
                                        </p:tgtEl>
                                        <p:attrNameLst>
                                          <p:attrName>ppt_x</p:attrName>
                                        </p:attrNameLst>
                                      </p:cBhvr>
                                      <p:tavLst>
                                        <p:tav tm="0">
                                          <p:val>
                                            <p:strVal val="#ppt_x"/>
                                          </p:val>
                                        </p:tav>
                                        <p:tav tm="100000">
                                          <p:val>
                                            <p:strVal val="#ppt_x"/>
                                          </p:val>
                                        </p:tav>
                                      </p:tavLst>
                                    </p:anim>
                                    <p:anim calcmode="lin" valueType="num">
                                      <p:cBhvr>
                                        <p:cTn id="124" dur="500" fill="hold"/>
                                        <p:tgtEl>
                                          <p:spTgt spid="22"/>
                                        </p:tgtEl>
                                        <p:attrNameLst>
                                          <p:attrName>ppt_y</p:attrName>
                                        </p:attrNameLst>
                                      </p:cBhvr>
                                      <p:tavLst>
                                        <p:tav tm="0">
                                          <p:val>
                                            <p:strVal val="#ppt_y+0.06"/>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8" presetID="10" presetClass="entr" presetSubtype="0" fill="hold" grpId="0" nodeType="click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childTnLst>
                                </p:cTn>
                              </p:par>
                              <p:par>
                                <p:cTn id="131" presetID="42" presetClass="entr" presetSubtype="0" fill="hold" grpId="0" nodeType="withEffect">
                                  <p:stCondLst>
                                    <p:cond delay="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2" dur="500"/>
                                        <p:tgtEl>
                                          <p:spTgt spid="32"/>
                                        </p:tgtEl>
                                      </p:cBhvr>
                                    </p:animEffect>
                                    <p:anim calcmode="lin" valueType="num">
                                      <p:cBhvr>
                                        <p:cTn id="133" dur="500" fill="hold"/>
                                        <p:tgtEl>
                                          <p:spTgt spid="32"/>
                                        </p:tgtEl>
                                        <p:attrNameLst>
                                          <p:attrName>ppt_x</p:attrName>
                                        </p:attrNameLst>
                                      </p:cBhvr>
                                      <p:tavLst>
                                        <p:tav tm="0">
                                          <p:val>
                                            <p:strVal val="#ppt_x"/>
                                          </p:val>
                                        </p:tav>
                                        <p:tav tm="100000">
                                          <p:val>
                                            <p:strVal val="#ppt_x"/>
                                          </p:val>
                                        </p:tav>
                                      </p:tavLst>
                                    </p:anim>
                                    <p:anim calcmode="lin" valueType="num">
                                      <p:cBhvr>
                                        <p:cTn id="134" dur="500" fill="hold"/>
                                        <p:tgtEl>
                                          <p:spTgt spid="32"/>
                                        </p:tgtEl>
                                        <p:attrNameLst>
                                          <p:attrName>ppt_y</p:attrName>
                                        </p:attrNameLst>
                                      </p:cBhvr>
                                      <p:tavLst>
                                        <p:tav tm="0">
                                          <p:val>
                                            <p:strVal val="#ppt_y+0.06"/>
                                          </p:val>
                                        </p:tav>
                                        <p:tav tm="100000">
                                          <p:val>
                                            <p:strVal val="#ppt_y"/>
                                          </p:val>
                                        </p:tav>
                                      </p:tavLst>
                                    </p:anim>
                                  </p:childTnLst>
                                </p:cTn>
                              </p:par>
                              <p:par>
                                <p:cTn id="136" presetID="10" presetClass="entr" presetSubtype="0" fill="hold" grpId="0" nodeType="withEffect">
                                  <p:stCondLst>
                                    <p:cond delay="0"/>
                                  </p:stCondLst>
                                  <p:childTnLst>
                                    <p:set>
                                      <p:cBhvr>
                                        <p:cTn id="135" dur="1" fill="hold">
                                          <p:stCondLst>
                                            <p:cond delay="0"/>
                                          </p:stCondLst>
                                        </p:cTn>
                                        <p:tgtEl>
                                          <p:spTgt spid="38"/>
                                        </p:tgtEl>
                                        <p:attrNameLst>
                                          <p:attrName>style.visibility</p:attrName>
                                        </p:attrNameLst>
                                      </p:cBhvr>
                                      <p:to>
                                        <p:strVal val="visible"/>
                                      </p:to>
                                    </p:set>
                                    <p:animEffect transition="in" filter="fade">
                                      <p:cBhvr>
                                        <p:cTn id="137" dur="500"/>
                                        <p:tgtEl>
                                          <p:spTgt spid="38"/>
                                        </p:tgtEl>
                                      </p:cBhvr>
                                    </p:animEffect>
                                  </p:childTnLst>
                                </p:cTn>
                              </p:par>
                              <p:par>
                                <p:cTn id="139" presetID="10" presetClass="entr" presetSubtype="0"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fade">
                                      <p:cBhvr>
                                        <p:cTn id="140" dur="500"/>
                                        <p:tgtEl>
                                          <p:spTgt spid="39"/>
                                        </p:tgtEl>
                                      </p:cBhvr>
                                    </p:animEffect>
                                  </p:childTnLst>
                                </p:cTn>
                              </p:par>
                              <p:par>
                                <p:cTn id="142" presetID="10" presetClass="entr" presetSubtype="0" fill="hold" grpId="0" nodeType="with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fade">
                                      <p:cBhvr>
                                        <p:cTn id="143" dur="500"/>
                                        <p:tgtEl>
                                          <p:spTgt spid="40"/>
                                        </p:tgtEl>
                                      </p:cBhvr>
                                    </p:animEffect>
                                  </p:childTnLst>
                                </p:cTn>
                              </p:par>
                              <p:par>
                                <p:cTn id="145" presetID="10" presetClass="entr" presetSubtype="0" fill="hold" grpId="0" nodeType="withEffect">
                                  <p:stCondLst>
                                    <p:cond delay="0"/>
                                  </p:stCondLst>
                                  <p:childTnLst>
                                    <p:set>
                                      <p:cBhvr>
                                        <p:cTn id="144" dur="1" fill="hold">
                                          <p:stCondLst>
                                            <p:cond delay="0"/>
                                          </p:stCondLst>
                                        </p:cTn>
                                        <p:tgtEl>
                                          <p:spTgt spid="41"/>
                                        </p:tgtEl>
                                        <p:attrNameLst>
                                          <p:attrName>style.visibility</p:attrName>
                                        </p:attrNameLst>
                                      </p:cBhvr>
                                      <p:to>
                                        <p:strVal val="visible"/>
                                      </p:to>
                                    </p:set>
                                    <p:animEffect transition="in" filter="fade">
                                      <p:cBhvr>
                                        <p:cTn id="146" dur="500"/>
                                        <p:tgtEl>
                                          <p:spTgt spid="41"/>
                                        </p:tgtEl>
                                      </p:cBhvr>
                                    </p:animEffect>
                                  </p:childTnLst>
                                </p:cTn>
                              </p:par>
                              <p:par>
                                <p:cTn id="148" presetID="10" presetClass="entr" presetSubtype="0" fill="hold" grpId="0" nodeType="withEffect">
                                  <p:stCondLst>
                                    <p:cond delay="0"/>
                                  </p:stCondLst>
                                  <p:childTnLst>
                                    <p:set>
                                      <p:cBhvr>
                                        <p:cTn id="147" dur="1" fill="hold">
                                          <p:stCondLst>
                                            <p:cond delay="0"/>
                                          </p:stCondLst>
                                        </p:cTn>
                                        <p:tgtEl>
                                          <p:spTgt spid="42"/>
                                        </p:tgtEl>
                                        <p:attrNameLst>
                                          <p:attrName>style.visibility</p:attrName>
                                        </p:attrNameLst>
                                      </p:cBhvr>
                                      <p:to>
                                        <p:strVal val="visible"/>
                                      </p:to>
                                    </p:set>
                                    <p:animEffect transition="in" filter="fade">
                                      <p:cBhvr>
                                        <p:cTn id="149" dur="500"/>
                                        <p:tgtEl>
                                          <p:spTgt spid="42"/>
                                        </p:tgtEl>
                                      </p:cBhvr>
                                    </p:animEffect>
                                  </p:childTnLst>
                                </p:cTn>
                              </p:par>
                              <p:par>
                                <p:cTn id="151" presetID="10" presetClass="entr" presetSubtype="0" fill="hold" grpId="0" nodeType="withEffect">
                                  <p:stCondLst>
                                    <p:cond delay="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2" dur="500"/>
                                        <p:tgtEl>
                                          <p:spTgt spid="43"/>
                                        </p:tgtEl>
                                      </p:cBhvr>
                                    </p:animEffect>
                                  </p:childTnLst>
                                </p:cTn>
                              </p:par>
                              <p:par>
                                <p:cTn id="154" presetID="10" presetClass="entr" presetSubtype="0" fill="hold" grpId="0" nodeType="withEffect">
                                  <p:stCondLst>
                                    <p:cond delay="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5" dur="500"/>
                                        <p:tgtEl>
                                          <p:spTgt spid="44"/>
                                        </p:tgtEl>
                                      </p:cBhvr>
                                    </p:animEffect>
                                  </p:childTnLst>
                                </p:cTn>
                              </p:par>
                              <p:par>
                                <p:cTn id="157" presetID="10" presetClass="entr" presetSubtype="0" fill="hold" grpId="0" nodeType="withEffect">
                                  <p:stCondLst>
                                    <p:cond delay="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8" dur="500"/>
                                        <p:tgtEl>
                                          <p:spTgt spid="45"/>
                                        </p:tgtEl>
                                      </p:cBhvr>
                                    </p:animEffect>
                                  </p:childTnLst>
                                </p:cTn>
                              </p:par>
                              <p:par>
                                <p:cTn id="160" presetID="10" presetClass="entr" presetSubtype="0" fill="hold" grpId="0" nodeType="withEffect">
                                  <p:stCondLst>
                                    <p:cond delay="100"/>
                                  </p:stCondLst>
                                  <p:childTnLst>
                                    <p:set>
                                      <p:cBhvr>
                                        <p:cTn id="159" dur="1" fill="hold">
                                          <p:stCondLst>
                                            <p:cond delay="0"/>
                                          </p:stCondLst>
                                        </p:cTn>
                                        <p:tgtEl>
                                          <p:spTgt spid="46"/>
                                        </p:tgtEl>
                                        <p:attrNameLst>
                                          <p:attrName>style.visibility</p:attrName>
                                        </p:attrNameLst>
                                      </p:cBhvr>
                                      <p:to>
                                        <p:strVal val="visible"/>
                                      </p:to>
                                    </p:set>
                                    <p:animEffect transition="in" filter="fade">
                                      <p:cBhvr>
                                        <p:cTn id="161" dur="500"/>
                                        <p:tgtEl>
                                          <p:spTgt spid="46"/>
                                        </p:tgtEl>
                                      </p:cBhvr>
                                    </p:animEffect>
                                  </p:childTnLst>
                                </p:cTn>
                              </p:par>
                            </p:childTnLst>
                          </p:cTn>
                        </p:par>
                      </p:childTnLst>
                    </p:cTn>
                  </p:par>
                  <p:par>
                    <p:cTn id="162" fill="hold">
                      <p:stCondLst>
                        <p:cond delay="indefinite"/>
                      </p:stCondLst>
                      <p:childTnLst>
                        <p:par>
                          <p:cTn id="163" fill="hold">
                            <p:stCondLst>
                              <p:cond delay="0"/>
                            </p:stCondLst>
                            <p:childTnLst>
                              <p:par>
                                <p:cTn id="165" presetID="10" presetClass="entr" presetSubtype="0" fill="hold" grpId="0" nodeType="clickEffect">
                                  <p:stCondLst>
                                    <p:cond delay="0"/>
                                  </p:stCondLst>
                                  <p:childTnLst>
                                    <p:set>
                                      <p:cBhvr>
                                        <p:cTn id="164" dur="1" fill="hold">
                                          <p:stCondLst>
                                            <p:cond delay="0"/>
                                          </p:stCondLst>
                                        </p:cTn>
                                        <p:tgtEl>
                                          <p:spTgt spid="33"/>
                                        </p:tgtEl>
                                        <p:attrNameLst>
                                          <p:attrName>style.visibility</p:attrName>
                                        </p:attrNameLst>
                                      </p:cBhvr>
                                      <p:to>
                                        <p:strVal val="visible"/>
                                      </p:to>
                                    </p:set>
                                    <p:animEffect transition="in" filter="fade">
                                      <p:cBhvr>
                                        <p:cTn id="166" dur="500"/>
                                        <p:tgtEl>
                                          <p:spTgt spid="33"/>
                                        </p:tgtEl>
                                      </p:cBhvr>
                                    </p:animEffect>
                                  </p:childTnLst>
                                </p:cTn>
                              </p:par>
                              <p:par>
                                <p:cTn id="168" presetID="42" presetClass="entr" presetSubtype="0" fill="hold" grpId="0" nodeType="withEffect">
                                  <p:stCondLst>
                                    <p:cond delay="0"/>
                                  </p:stCondLst>
                                  <p:childTnLst>
                                    <p:set>
                                      <p:cBhvr>
                                        <p:cTn id="167" dur="1" fill="hold">
                                          <p:stCondLst>
                                            <p:cond delay="0"/>
                                          </p:stCondLst>
                                        </p:cTn>
                                        <p:tgtEl>
                                          <p:spTgt spid="34"/>
                                        </p:tgtEl>
                                        <p:attrNameLst>
                                          <p:attrName>style.visibility</p:attrName>
                                        </p:attrNameLst>
                                      </p:cBhvr>
                                      <p:to>
                                        <p:strVal val="visible"/>
                                      </p:to>
                                    </p:set>
                                    <p:animEffect transition="in" filter="fade">
                                      <p:cBhvr>
                                        <p:cTn id="169" dur="500"/>
                                        <p:tgtEl>
                                          <p:spTgt spid="34"/>
                                        </p:tgtEl>
                                      </p:cBhvr>
                                    </p:animEffect>
                                    <p:anim calcmode="lin" valueType="num">
                                      <p:cBhvr>
                                        <p:cTn id="170" dur="500" fill="hold"/>
                                        <p:tgtEl>
                                          <p:spTgt spid="34"/>
                                        </p:tgtEl>
                                        <p:attrNameLst>
                                          <p:attrName>ppt_x</p:attrName>
                                        </p:attrNameLst>
                                      </p:cBhvr>
                                      <p:tavLst>
                                        <p:tav tm="0">
                                          <p:val>
                                            <p:strVal val="#ppt_x"/>
                                          </p:val>
                                        </p:tav>
                                        <p:tav tm="100000">
                                          <p:val>
                                            <p:strVal val="#ppt_x"/>
                                          </p:val>
                                        </p:tav>
                                      </p:tavLst>
                                    </p:anim>
                                    <p:anim calcmode="lin" valueType="num">
                                      <p:cBhvr>
                                        <p:cTn id="171" dur="500" fill="hold"/>
                                        <p:tgtEl>
                                          <p:spTgt spid="34"/>
                                        </p:tgtEl>
                                        <p:attrNameLst>
                                          <p:attrName>ppt_y</p:attrName>
                                        </p:attrNameLst>
                                      </p:cBhvr>
                                      <p:tavLst>
                                        <p:tav tm="0">
                                          <p:val>
                                            <p:strVal val="#ppt_y+0.06"/>
                                          </p:val>
                                        </p:tav>
                                        <p:tav tm="100000">
                                          <p:val>
                                            <p:strVal val="#ppt_y"/>
                                          </p:val>
                                        </p:tav>
                                      </p:tavLst>
                                    </p:anim>
                                  </p:childTnLst>
                                </p:cTn>
                              </p:par>
                              <p:par>
                                <p:cTn id="173" presetID="10" presetClass="entr" presetSubtype="0" fill="hold" grpId="0" nodeType="with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fade">
                                      <p:cBhvr>
                                        <p:cTn id="174" dur="500"/>
                                        <p:tgtEl>
                                          <p:spTgt spid="47"/>
                                        </p:tgtEl>
                                      </p:cBhvr>
                                    </p:animEffect>
                                  </p:childTnLst>
                                </p:cTn>
                              </p:par>
                              <p:par>
                                <p:cTn id="176" presetID="10" presetClass="entr" presetSubtype="0" fill="hold" grpId="0" nodeType="withEffect">
                                  <p:stCondLst>
                                    <p:cond delay="0"/>
                                  </p:stCondLst>
                                  <p:childTnLst>
                                    <p:set>
                                      <p:cBhvr>
                                        <p:cTn id="175" dur="1" fill="hold">
                                          <p:stCondLst>
                                            <p:cond delay="0"/>
                                          </p:stCondLst>
                                        </p:cTn>
                                        <p:tgtEl>
                                          <p:spTgt spid="48"/>
                                        </p:tgtEl>
                                        <p:attrNameLst>
                                          <p:attrName>style.visibility</p:attrName>
                                        </p:attrNameLst>
                                      </p:cBhvr>
                                      <p:to>
                                        <p:strVal val="visible"/>
                                      </p:to>
                                    </p:set>
                                    <p:animEffect transition="in" filter="fade">
                                      <p:cBhvr>
                                        <p:cTn id="177" dur="500"/>
                                        <p:tgtEl>
                                          <p:spTgt spid="48"/>
                                        </p:tgtEl>
                                      </p:cBhvr>
                                    </p:animEffect>
                                  </p:childTnLst>
                                </p:cTn>
                              </p:par>
                              <p:par>
                                <p:cTn id="179" presetID="10" presetClass="entr" presetSubtype="0" fill="hold" grpId="0" nodeType="withEffect">
                                  <p:stCondLst>
                                    <p:cond delay="0"/>
                                  </p:stCondLst>
                                  <p:childTnLst>
                                    <p:set>
                                      <p:cBhvr>
                                        <p:cTn id="178" dur="1" fill="hold">
                                          <p:stCondLst>
                                            <p:cond delay="0"/>
                                          </p:stCondLst>
                                        </p:cTn>
                                        <p:tgtEl>
                                          <p:spTgt spid="49"/>
                                        </p:tgtEl>
                                        <p:attrNameLst>
                                          <p:attrName>style.visibility</p:attrName>
                                        </p:attrNameLst>
                                      </p:cBhvr>
                                      <p:to>
                                        <p:strVal val="visible"/>
                                      </p:to>
                                    </p:set>
                                    <p:animEffect transition="in" filter="fade">
                                      <p:cBhvr>
                                        <p:cTn id="180" dur="500"/>
                                        <p:tgtEl>
                                          <p:spTgt spid="49"/>
                                        </p:tgtEl>
                                      </p:cBhvr>
                                    </p:animEffect>
                                  </p:childTnLst>
                                </p:cTn>
                              </p:par>
                              <p:par>
                                <p:cTn id="182" presetID="10" presetClass="entr" presetSubtype="0" fill="hold" grpId="0" nodeType="with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fade">
                                      <p:cBhvr>
                                        <p:cTn id="183" dur="500"/>
                                        <p:tgtEl>
                                          <p:spTgt spid="50"/>
                                        </p:tgtEl>
                                      </p:cBhvr>
                                    </p:animEffect>
                                  </p:childTnLst>
                                </p:cTn>
                              </p:par>
                              <p:par>
                                <p:cTn id="185" presetID="10" presetClass="entr" presetSubtype="0" fill="hold" grpId="0" nodeType="withEffect">
                                  <p:stCondLst>
                                    <p:cond delay="0"/>
                                  </p:stCondLst>
                                  <p:childTnLst>
                                    <p:set>
                                      <p:cBhvr>
                                        <p:cTn id="184" dur="1" fill="hold">
                                          <p:stCondLst>
                                            <p:cond delay="0"/>
                                          </p:stCondLst>
                                        </p:cTn>
                                        <p:tgtEl>
                                          <p:spTgt spid="51"/>
                                        </p:tgtEl>
                                        <p:attrNameLst>
                                          <p:attrName>style.visibility</p:attrName>
                                        </p:attrNameLst>
                                      </p:cBhvr>
                                      <p:to>
                                        <p:strVal val="visible"/>
                                      </p:to>
                                    </p:set>
                                    <p:animEffect transition="in" filter="fade">
                                      <p:cBhvr>
                                        <p:cTn id="186" dur="500"/>
                                        <p:tgtEl>
                                          <p:spTgt spid="51"/>
                                        </p:tgtEl>
                                      </p:cBhvr>
                                    </p:animEffect>
                                  </p:childTnLst>
                                </p:cTn>
                              </p:par>
                              <p:par>
                                <p:cTn id="188" presetID="10" presetClass="entr" presetSubtype="0" fill="hold" grpId="0" nodeType="withEffect">
                                  <p:stCondLst>
                                    <p:cond delay="0"/>
                                  </p:stCondLst>
                                  <p:childTnLst>
                                    <p:set>
                                      <p:cBhvr>
                                        <p:cTn id="187" dur="1" fill="hold">
                                          <p:stCondLst>
                                            <p:cond delay="0"/>
                                          </p:stCondLst>
                                        </p:cTn>
                                        <p:tgtEl>
                                          <p:spTgt spid="52"/>
                                        </p:tgtEl>
                                        <p:attrNameLst>
                                          <p:attrName>style.visibility</p:attrName>
                                        </p:attrNameLst>
                                      </p:cBhvr>
                                      <p:to>
                                        <p:strVal val="visible"/>
                                      </p:to>
                                    </p:set>
                                    <p:animEffect transition="in" filter="fade">
                                      <p:cBhvr>
                                        <p:cTn id="189" dur="500"/>
                                        <p:tgtEl>
                                          <p:spTgt spid="52"/>
                                        </p:tgtEl>
                                      </p:cBhvr>
                                    </p:animEffect>
                                  </p:childTnLst>
                                </p:cTn>
                              </p:par>
                              <p:par>
                                <p:cTn id="191" presetID="10" presetClass="entr" presetSubtype="0" fill="hold" grpId="0" nodeType="withEffect">
                                  <p:stCondLst>
                                    <p:cond delay="0"/>
                                  </p:stCondLst>
                                  <p:childTnLst>
                                    <p:set>
                                      <p:cBhvr>
                                        <p:cTn id="190" dur="1" fill="hold">
                                          <p:stCondLst>
                                            <p:cond delay="0"/>
                                          </p:stCondLst>
                                        </p:cTn>
                                        <p:tgtEl>
                                          <p:spTgt spid="53"/>
                                        </p:tgtEl>
                                        <p:attrNameLst>
                                          <p:attrName>style.visibility</p:attrName>
                                        </p:attrNameLst>
                                      </p:cBhvr>
                                      <p:to>
                                        <p:strVal val="visible"/>
                                      </p:to>
                                    </p:set>
                                    <p:animEffect transition="in" filter="fade">
                                      <p:cBhvr>
                                        <p:cTn id="192" dur="500"/>
                                        <p:tgtEl>
                                          <p:spTgt spid="53"/>
                                        </p:tgtEl>
                                      </p:cBhvr>
                                    </p:animEffect>
                                  </p:childTnLst>
                                </p:cTn>
                              </p:par>
                              <p:par>
                                <p:cTn id="194" presetID="10" presetClass="entr" presetSubtype="0" fill="hold" grpId="0" nodeType="withEffect">
                                  <p:stCondLst>
                                    <p:cond delay="0"/>
                                  </p:stCondLst>
                                  <p:childTnLst>
                                    <p:set>
                                      <p:cBhvr>
                                        <p:cTn id="193" dur="1" fill="hold">
                                          <p:stCondLst>
                                            <p:cond delay="0"/>
                                          </p:stCondLst>
                                        </p:cTn>
                                        <p:tgtEl>
                                          <p:spTgt spid="54"/>
                                        </p:tgtEl>
                                        <p:attrNameLst>
                                          <p:attrName>style.visibility</p:attrName>
                                        </p:attrNameLst>
                                      </p:cBhvr>
                                      <p:to>
                                        <p:strVal val="visible"/>
                                      </p:to>
                                    </p:set>
                                    <p:animEffect transition="in" filter="fade">
                                      <p:cBhvr>
                                        <p:cTn id="195" dur="500"/>
                                        <p:tgtEl>
                                          <p:spTgt spid="54"/>
                                        </p:tgtEl>
                                      </p:cBhvr>
                                    </p:animEffect>
                                  </p:childTnLst>
                                </p:cTn>
                              </p:par>
                              <p:par>
                                <p:cTn id="197" presetID="10" presetClass="entr" presetSubtype="0" fill="hold" grpId="0" nodeType="withEffect">
                                  <p:stCondLst>
                                    <p:cond delay="100"/>
                                  </p:stCondLst>
                                  <p:childTnLst>
                                    <p:set>
                                      <p:cBhvr>
                                        <p:cTn id="196" dur="1" fill="hold">
                                          <p:stCondLst>
                                            <p:cond delay="0"/>
                                          </p:stCondLst>
                                        </p:cTn>
                                        <p:tgtEl>
                                          <p:spTgt spid="55"/>
                                        </p:tgtEl>
                                        <p:attrNameLst>
                                          <p:attrName>style.visibility</p:attrName>
                                        </p:attrNameLst>
                                      </p:cBhvr>
                                      <p:to>
                                        <p:strVal val="visible"/>
                                      </p:to>
                                    </p:set>
                                    <p:animEffect transition="in" filter="fade">
                                      <p:cBhvr>
                                        <p:cTn id="198" dur="500"/>
                                        <p:tgtEl>
                                          <p:spTgt spid="55"/>
                                        </p:tgtEl>
                                      </p:cBhvr>
                                    </p:animEffect>
                                  </p:childTnLst>
                                </p:cTn>
                              </p:par>
                            </p:childTnLst>
                          </p:cTn>
                        </p:par>
                      </p:childTnLst>
                    </p:cTn>
                  </p:par>
                  <p:par>
                    <p:cTn id="199" fill="hold">
                      <p:stCondLst>
                        <p:cond delay="indefinite"/>
                      </p:stCondLst>
                      <p:childTnLst>
                        <p:par>
                          <p:cTn id="200" fill="hold">
                            <p:stCondLst>
                              <p:cond delay="0"/>
                            </p:stCondLst>
                            <p:childTnLst>
                              <p:par>
                                <p:cTn id="202" presetID="22" presetClass="entr" presetSubtype="8" fill="hold" grpId="0" nodeType="clickEffect">
                                  <p:stCondLst>
                                    <p:cond delay="0"/>
                                  </p:stCondLst>
                                  <p:childTnLst>
                                    <p:set>
                                      <p:cBhvr>
                                        <p:cTn id="201" dur="1" fill="hold">
                                          <p:stCondLst>
                                            <p:cond delay="0"/>
                                          </p:stCondLst>
                                        </p:cTn>
                                        <p:tgtEl>
                                          <p:spTgt spid="29"/>
                                        </p:tgtEl>
                                        <p:attrNameLst>
                                          <p:attrName>style.visibility</p:attrName>
                                        </p:attrNameLst>
                                      </p:cBhvr>
                                      <p:to>
                                        <p:strVal val="visible"/>
                                      </p:to>
                                    </p:set>
                                    <p:animEffect transition="in" filter="wipe(left)">
                                      <p:cBhvr>
                                        <p:cTn id="203" dur="450"/>
                                        <p:tgtEl>
                                          <p:spTgt spid="29"/>
                                        </p:tgtEl>
                                      </p:cBhvr>
                                    </p:animEffect>
                                  </p:childTnLst>
                                </p:cTn>
                              </p:par>
                              <p:par>
                                <p:cTn id="205" presetID="10" presetClass="entr" presetSubtype="0" fill="hold" grpId="0" nodeType="withEffect">
                                  <p:stCondLst>
                                    <p:cond delay="0"/>
                                  </p:stCondLst>
                                  <p:childTnLst>
                                    <p:set>
                                      <p:cBhvr>
                                        <p:cTn id="204" dur="1" fill="hold">
                                          <p:stCondLst>
                                            <p:cond delay="0"/>
                                          </p:stCondLst>
                                        </p:cTn>
                                        <p:tgtEl>
                                          <p:spTgt spid="30"/>
                                        </p:tgtEl>
                                        <p:attrNameLst>
                                          <p:attrName>style.visibility</p:attrName>
                                        </p:attrNameLst>
                                      </p:cBhvr>
                                      <p:to>
                                        <p:strVal val="visible"/>
                                      </p:to>
                                    </p:set>
                                    <p:animEffect transition="in" filter="fade">
                                      <p:cBhvr>
                                        <p:cTn id="206" dur="500"/>
                                        <p:tgtEl>
                                          <p:spTgt spid="30"/>
                                        </p:tgtEl>
                                      </p:cBhvr>
                                    </p:animEffect>
                                  </p:childTnLst>
                                </p:cTn>
                              </p:par>
                              <p:par>
                                <p:cTn id="208" presetID="10" presetClass="entr" presetSubtype="0" fill="hold" grpId="0" nodeType="withEffect">
                                  <p:stCondLst>
                                    <p:cond delay="0"/>
                                  </p:stCondLst>
                                  <p:childTnLst>
                                    <p:set>
                                      <p:cBhvr>
                                        <p:cTn id="207" dur="1" fill="hold">
                                          <p:stCondLst>
                                            <p:cond delay="0"/>
                                          </p:stCondLst>
                                        </p:cTn>
                                        <p:tgtEl>
                                          <p:spTgt spid="35"/>
                                        </p:tgtEl>
                                        <p:attrNameLst>
                                          <p:attrName>style.visibility</p:attrName>
                                        </p:attrNameLst>
                                      </p:cBhvr>
                                      <p:to>
                                        <p:strVal val="visible"/>
                                      </p:to>
                                    </p:set>
                                    <p:animEffect transition="in" filter="fade">
                                      <p:cBhvr>
                                        <p:cTn id="209" dur="500"/>
                                        <p:tgtEl>
                                          <p:spTgt spid="35"/>
                                        </p:tgtEl>
                                      </p:cBhvr>
                                    </p:animEffect>
                                  </p:childTnLst>
                                </p:cTn>
                              </p:par>
                              <p:par>
                                <p:cTn id="211" presetID="42" presetClass="entr" presetSubtype="0" fill="hold" grpId="0" nodeType="withEffect">
                                  <p:stCondLst>
                                    <p:cond delay="0"/>
                                  </p:stCondLst>
                                  <p:childTnLst>
                                    <p:set>
                                      <p:cBhvr>
                                        <p:cTn id="210" dur="1" fill="hold">
                                          <p:stCondLst>
                                            <p:cond delay="0"/>
                                          </p:stCondLst>
                                        </p:cTn>
                                        <p:tgtEl>
                                          <p:spTgt spid="36"/>
                                        </p:tgtEl>
                                        <p:attrNameLst>
                                          <p:attrName>style.visibility</p:attrName>
                                        </p:attrNameLst>
                                      </p:cBhvr>
                                      <p:to>
                                        <p:strVal val="visible"/>
                                      </p:to>
                                    </p:set>
                                    <p:animEffect transition="in" filter="fade">
                                      <p:cBhvr>
                                        <p:cTn id="212" dur="500"/>
                                        <p:tgtEl>
                                          <p:spTgt spid="36"/>
                                        </p:tgtEl>
                                      </p:cBhvr>
                                    </p:animEffect>
                                    <p:anim calcmode="lin" valueType="num">
                                      <p:cBhvr>
                                        <p:cTn id="213" dur="500" fill="hold"/>
                                        <p:tgtEl>
                                          <p:spTgt spid="36"/>
                                        </p:tgtEl>
                                        <p:attrNameLst>
                                          <p:attrName>ppt_x</p:attrName>
                                        </p:attrNameLst>
                                      </p:cBhvr>
                                      <p:tavLst>
                                        <p:tav tm="0">
                                          <p:val>
                                            <p:strVal val="#ppt_x"/>
                                          </p:val>
                                        </p:tav>
                                        <p:tav tm="100000">
                                          <p:val>
                                            <p:strVal val="#ppt_x"/>
                                          </p:val>
                                        </p:tav>
                                      </p:tavLst>
                                    </p:anim>
                                    <p:anim calcmode="lin" valueType="num">
                                      <p:cBhvr>
                                        <p:cTn id="214" dur="500" fill="hold"/>
                                        <p:tgtEl>
                                          <p:spTgt spid="36"/>
                                        </p:tgtEl>
                                        <p:attrNameLst>
                                          <p:attrName>ppt_y</p:attrName>
                                        </p:attrNameLst>
                                      </p:cBhvr>
                                      <p:tavLst>
                                        <p:tav tm="0">
                                          <p:val>
                                            <p:strVal val="#ppt_y+0.06"/>
                                          </p:val>
                                        </p:tav>
                                        <p:tav tm="100000">
                                          <p:val>
                                            <p:strVal val="#ppt_y"/>
                                          </p:val>
                                        </p:tav>
                                      </p:tavLst>
                                    </p:anim>
                                  </p:childTnLst>
                                </p:cTn>
                              </p:par>
                              <p:par>
                                <p:cTn id="216" presetID="10" presetClass="entr" presetSubtype="0" fill="hold" grpId="0" nodeType="withEffect">
                                  <p:stCondLst>
                                    <p:cond delay="0"/>
                                  </p:stCondLst>
                                  <p:childTnLst>
                                    <p:set>
                                      <p:cBhvr>
                                        <p:cTn id="215" dur="1" fill="hold">
                                          <p:stCondLst>
                                            <p:cond delay="0"/>
                                          </p:stCondLst>
                                        </p:cTn>
                                        <p:tgtEl>
                                          <p:spTgt spid="56"/>
                                        </p:tgtEl>
                                        <p:attrNameLst>
                                          <p:attrName>style.visibility</p:attrName>
                                        </p:attrNameLst>
                                      </p:cBhvr>
                                      <p:to>
                                        <p:strVal val="visible"/>
                                      </p:to>
                                    </p:set>
                                    <p:animEffect transition="in" filter="fade">
                                      <p:cBhvr>
                                        <p:cTn id="217" dur="500"/>
                                        <p:tgtEl>
                                          <p:spTgt spid="56"/>
                                        </p:tgtEl>
                                      </p:cBhvr>
                                    </p:animEffect>
                                  </p:childTnLst>
                                </p:cTn>
                              </p:par>
                              <p:par>
                                <p:cTn id="219" presetID="10" presetClass="entr" presetSubtype="0" fill="hold" grpId="0" nodeType="withEffect">
                                  <p:stCondLst>
                                    <p:cond delay="0"/>
                                  </p:stCondLst>
                                  <p:childTnLst>
                                    <p:set>
                                      <p:cBhvr>
                                        <p:cTn id="218" dur="1" fill="hold">
                                          <p:stCondLst>
                                            <p:cond delay="0"/>
                                          </p:stCondLst>
                                        </p:cTn>
                                        <p:tgtEl>
                                          <p:spTgt spid="57"/>
                                        </p:tgtEl>
                                        <p:attrNameLst>
                                          <p:attrName>style.visibility</p:attrName>
                                        </p:attrNameLst>
                                      </p:cBhvr>
                                      <p:to>
                                        <p:strVal val="visible"/>
                                      </p:to>
                                    </p:set>
                                    <p:animEffect transition="in" filter="fade">
                                      <p:cBhvr>
                                        <p:cTn id="220" dur="500"/>
                                        <p:tgtEl>
                                          <p:spTgt spid="57"/>
                                        </p:tgtEl>
                                      </p:cBhvr>
                                    </p:animEffect>
                                  </p:childTnLst>
                                </p:cTn>
                              </p:par>
                              <p:par>
                                <p:cTn id="222" presetID="10" presetClass="entr" presetSubtype="0" fill="hold" grpId="0" nodeType="withEffect">
                                  <p:stCondLst>
                                    <p:cond delay="0"/>
                                  </p:stCondLst>
                                  <p:childTnLst>
                                    <p:set>
                                      <p:cBhvr>
                                        <p:cTn id="221" dur="1" fill="hold">
                                          <p:stCondLst>
                                            <p:cond delay="0"/>
                                          </p:stCondLst>
                                        </p:cTn>
                                        <p:tgtEl>
                                          <p:spTgt spid="58"/>
                                        </p:tgtEl>
                                        <p:attrNameLst>
                                          <p:attrName>style.visibility</p:attrName>
                                        </p:attrNameLst>
                                      </p:cBhvr>
                                      <p:to>
                                        <p:strVal val="visible"/>
                                      </p:to>
                                    </p:set>
                                    <p:animEffect transition="in" filter="fade">
                                      <p:cBhvr>
                                        <p:cTn id="223" dur="500"/>
                                        <p:tgtEl>
                                          <p:spTgt spid="58"/>
                                        </p:tgtEl>
                                      </p:cBhvr>
                                    </p:animEffect>
                                  </p:childTnLst>
                                </p:cTn>
                              </p:par>
                              <p:par>
                                <p:cTn id="225" presetID="10" presetClass="entr" presetSubtype="0" fill="hold" grpId="0" nodeType="withEffect">
                                  <p:stCondLst>
                                    <p:cond delay="0"/>
                                  </p:stCondLst>
                                  <p:childTnLst>
                                    <p:set>
                                      <p:cBhvr>
                                        <p:cTn id="224" dur="1" fill="hold">
                                          <p:stCondLst>
                                            <p:cond delay="0"/>
                                          </p:stCondLst>
                                        </p:cTn>
                                        <p:tgtEl>
                                          <p:spTgt spid="59"/>
                                        </p:tgtEl>
                                        <p:attrNameLst>
                                          <p:attrName>style.visibility</p:attrName>
                                        </p:attrNameLst>
                                      </p:cBhvr>
                                      <p:to>
                                        <p:strVal val="visible"/>
                                      </p:to>
                                    </p:set>
                                    <p:animEffect transition="in" filter="fade">
                                      <p:cBhvr>
                                        <p:cTn id="226" dur="500"/>
                                        <p:tgtEl>
                                          <p:spTgt spid="59"/>
                                        </p:tgtEl>
                                      </p:cBhvr>
                                    </p:animEffect>
                                  </p:childTnLst>
                                </p:cTn>
                              </p:par>
                              <p:par>
                                <p:cTn id="228" presetID="10" presetClass="entr" presetSubtype="0" fill="hold" grpId="0" nodeType="withEffect">
                                  <p:stCondLst>
                                    <p:cond delay="0"/>
                                  </p:stCondLst>
                                  <p:childTnLst>
                                    <p:set>
                                      <p:cBhvr>
                                        <p:cTn id="227" dur="1" fill="hold">
                                          <p:stCondLst>
                                            <p:cond delay="0"/>
                                          </p:stCondLst>
                                        </p:cTn>
                                        <p:tgtEl>
                                          <p:spTgt spid="60"/>
                                        </p:tgtEl>
                                        <p:attrNameLst>
                                          <p:attrName>style.visibility</p:attrName>
                                        </p:attrNameLst>
                                      </p:cBhvr>
                                      <p:to>
                                        <p:strVal val="visible"/>
                                      </p:to>
                                    </p:set>
                                    <p:animEffect transition="in" filter="fade">
                                      <p:cBhvr>
                                        <p:cTn id="229" dur="500"/>
                                        <p:tgtEl>
                                          <p:spTgt spid="60"/>
                                        </p:tgtEl>
                                      </p:cBhvr>
                                    </p:animEffect>
                                  </p:childTnLst>
                                </p:cTn>
                              </p:par>
                              <p:par>
                                <p:cTn id="231" presetID="10" presetClass="entr" presetSubtype="0" fill="hold" grpId="0" nodeType="withEffect">
                                  <p:stCondLst>
                                    <p:cond delay="0"/>
                                  </p:stCondLst>
                                  <p:childTnLst>
                                    <p:set>
                                      <p:cBhvr>
                                        <p:cTn id="230" dur="1" fill="hold">
                                          <p:stCondLst>
                                            <p:cond delay="0"/>
                                          </p:stCondLst>
                                        </p:cTn>
                                        <p:tgtEl>
                                          <p:spTgt spid="61"/>
                                        </p:tgtEl>
                                        <p:attrNameLst>
                                          <p:attrName>style.visibility</p:attrName>
                                        </p:attrNameLst>
                                      </p:cBhvr>
                                      <p:to>
                                        <p:strVal val="visible"/>
                                      </p:to>
                                    </p:set>
                                    <p:animEffect transition="in" filter="fade">
                                      <p:cBhvr>
                                        <p:cTn id="232" dur="500"/>
                                        <p:tgtEl>
                                          <p:spTgt spid="61"/>
                                        </p:tgtEl>
                                      </p:cBhvr>
                                    </p:animEffect>
                                  </p:childTnLst>
                                </p:cTn>
                              </p:par>
                              <p:par>
                                <p:cTn id="234" presetID="10" presetClass="entr" presetSubtype="0" fill="hold" grpId="0" nodeType="withEffect">
                                  <p:stCondLst>
                                    <p:cond delay="0"/>
                                  </p:stCondLst>
                                  <p:childTnLst>
                                    <p:set>
                                      <p:cBhvr>
                                        <p:cTn id="233" dur="1" fill="hold">
                                          <p:stCondLst>
                                            <p:cond delay="0"/>
                                          </p:stCondLst>
                                        </p:cTn>
                                        <p:tgtEl>
                                          <p:spTgt spid="62"/>
                                        </p:tgtEl>
                                        <p:attrNameLst>
                                          <p:attrName>style.visibility</p:attrName>
                                        </p:attrNameLst>
                                      </p:cBhvr>
                                      <p:to>
                                        <p:strVal val="visible"/>
                                      </p:to>
                                    </p:set>
                                    <p:animEffect transition="in" filter="fade">
                                      <p:cBhvr>
                                        <p:cTn id="235" dur="500"/>
                                        <p:tgtEl>
                                          <p:spTgt spid="62"/>
                                        </p:tgtEl>
                                      </p:cBhvr>
                                    </p:animEffect>
                                  </p:childTnLst>
                                </p:cTn>
                              </p:par>
                              <p:par>
                                <p:cTn id="237" presetID="10" presetClass="entr" presetSubtype="0" fill="hold" grpId="0" nodeType="withEffect">
                                  <p:stCondLst>
                                    <p:cond delay="0"/>
                                  </p:stCondLst>
                                  <p:childTnLst>
                                    <p:set>
                                      <p:cBhvr>
                                        <p:cTn id="236" dur="1" fill="hold">
                                          <p:stCondLst>
                                            <p:cond delay="0"/>
                                          </p:stCondLst>
                                        </p:cTn>
                                        <p:tgtEl>
                                          <p:spTgt spid="63"/>
                                        </p:tgtEl>
                                        <p:attrNameLst>
                                          <p:attrName>style.visibility</p:attrName>
                                        </p:attrNameLst>
                                      </p:cBhvr>
                                      <p:to>
                                        <p:strVal val="visible"/>
                                      </p:to>
                                    </p:set>
                                    <p:animEffect transition="in" filter="fade">
                                      <p:cBhvr>
                                        <p:cTn id="238" dur="500"/>
                                        <p:tgtEl>
                                          <p:spTgt spid="63"/>
                                        </p:tgtEl>
                                      </p:cBhvr>
                                    </p:animEffect>
                                  </p:childTnLst>
                                </p:cTn>
                              </p:par>
                              <p:par>
                                <p:cTn id="240" presetID="10" presetClass="entr" presetSubtype="0" fill="hold" grpId="0" nodeType="withEffect">
                                  <p:stCondLst>
                                    <p:cond delay="100"/>
                                  </p:stCondLst>
                                  <p:childTnLst>
                                    <p:set>
                                      <p:cBhvr>
                                        <p:cTn id="239" dur="1" fill="hold">
                                          <p:stCondLst>
                                            <p:cond delay="0"/>
                                          </p:stCondLst>
                                        </p:cTn>
                                        <p:tgtEl>
                                          <p:spTgt spid="64"/>
                                        </p:tgtEl>
                                        <p:attrNameLst>
                                          <p:attrName>style.visibility</p:attrName>
                                        </p:attrNameLst>
                                      </p:cBhvr>
                                      <p:to>
                                        <p:strVal val="visible"/>
                                      </p:to>
                                    </p:set>
                                    <p:animEffect transition="in" filter="fade">
                                      <p:cBhvr>
                                        <p:cTn id="24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E11D48"/>
                </a:solidFill>
                <a:latin typeface="Inter" pitchFamily="34" charset="0"/>
                <a:ea typeface="Inter" pitchFamily="34" charset="-122"/>
                <a:cs typeface="Inter" pitchFamily="34" charset="-120"/>
              </a:rPr>
              <a:t>16 · FROM HIDDEN STATE TO PROBABILITIES</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From hidden state to probabilities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Only the last token’s final vector is used to predict what comes next.</a:t>
            </a:r>
            <a:endParaRPr lang="en-US" sz="1300" dirty="0"/>
          </a:p>
        </p:txBody>
      </p:sp>
      <p:sp>
        <p:nvSpPr>
          <p:cNvPr id="5" name="anim-1-fade-0-849"/>
          <p:cNvSpPr/>
          <p:nvPr/>
        </p:nvSpPr>
        <p:spPr>
          <a:xfrm>
            <a:off x="548640" y="1691640"/>
            <a:ext cx="566928"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6" name="anim-1-fade-60-850"/>
          <p:cNvSpPr/>
          <p:nvPr/>
        </p:nvSpPr>
        <p:spPr>
          <a:xfrm>
            <a:off x="1179576" y="1691640"/>
            <a:ext cx="566928"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7" name="anim-1-fade-120-851"/>
          <p:cNvSpPr/>
          <p:nvPr/>
        </p:nvSpPr>
        <p:spPr>
          <a:xfrm>
            <a:off x="1810512" y="1691640"/>
            <a:ext cx="566928"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8" name="anim-1-fade-180-852"/>
          <p:cNvSpPr/>
          <p:nvPr/>
        </p:nvSpPr>
        <p:spPr>
          <a:xfrm>
            <a:off x="2441448" y="1691640"/>
            <a:ext cx="566928"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9" name="anim-1-fade-240-853"/>
          <p:cNvSpPr/>
          <p:nvPr/>
        </p:nvSpPr>
        <p:spPr>
          <a:xfrm>
            <a:off x="3072384" y="1691640"/>
            <a:ext cx="566928" cy="347472"/>
          </a:xfrm>
          <a:prstGeom prst="roundRect">
            <a:avLst>
              <a:gd name="adj" fmla="val 18421"/>
            </a:avLst>
          </a:prstGeom>
          <a:solidFill>
            <a:srgbClr val="FFE4E6"/>
          </a:solidFill>
          <a:ln w="12700">
            <a:solidFill>
              <a:srgbClr val="E11D48"/>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10" name="anim-1-fade-300-854"/>
          <p:cNvSpPr/>
          <p:nvPr/>
        </p:nvSpPr>
        <p:spPr>
          <a:xfrm>
            <a:off x="2962656" y="2066544"/>
            <a:ext cx="0" cy="310896"/>
          </a:xfrm>
          <a:prstGeom prst="line">
            <a:avLst/>
          </a:prstGeom>
          <a:noFill/>
          <a:ln w="19050">
            <a:solidFill>
              <a:srgbClr val="E11D48"/>
            </a:solidFill>
            <a:prstDash val="solid"/>
            <a:tailEnd type="triangle"/>
          </a:ln>
        </p:spPr>
      </p:sp>
      <p:sp>
        <p:nvSpPr>
          <p:cNvPr id="11" name="anim-1-fade-400-855"/>
          <p:cNvSpPr/>
          <p:nvPr/>
        </p:nvSpPr>
        <p:spPr>
          <a:xfrm>
            <a:off x="2807208" y="2423160"/>
            <a:ext cx="310896" cy="274320"/>
          </a:xfrm>
          <a:prstGeom prst="rect">
            <a:avLst/>
          </a:prstGeom>
          <a:solidFill>
            <a:srgbClr val="7C3AED"/>
          </a:solidFill>
          <a:ln w="6350">
            <a:solidFill>
              <a:srgbClr val="FFFFFF"/>
            </a:solidFill>
            <a:prstDash val="solid"/>
          </a:ln>
        </p:spPr>
      </p:sp>
      <p:sp>
        <p:nvSpPr>
          <p:cNvPr id="12" name="anim-1-fade-440-856"/>
          <p:cNvSpPr/>
          <p:nvPr/>
        </p:nvSpPr>
        <p:spPr>
          <a:xfrm>
            <a:off x="2807208" y="2734056"/>
            <a:ext cx="310896" cy="274320"/>
          </a:xfrm>
          <a:prstGeom prst="rect">
            <a:avLst/>
          </a:prstGeom>
          <a:solidFill>
            <a:srgbClr val="F9D4DC"/>
          </a:solidFill>
          <a:ln w="6350">
            <a:solidFill>
              <a:srgbClr val="FFFFFF"/>
            </a:solidFill>
            <a:prstDash val="solid"/>
          </a:ln>
        </p:spPr>
      </p:sp>
      <p:sp>
        <p:nvSpPr>
          <p:cNvPr id="13" name="anim-1-fade-480-857"/>
          <p:cNvSpPr/>
          <p:nvPr/>
        </p:nvSpPr>
        <p:spPr>
          <a:xfrm>
            <a:off x="2807208" y="3044952"/>
            <a:ext cx="310896" cy="274320"/>
          </a:xfrm>
          <a:prstGeom prst="rect">
            <a:avLst/>
          </a:prstGeom>
          <a:solidFill>
            <a:srgbClr val="EE839A"/>
          </a:solidFill>
          <a:ln w="6350">
            <a:solidFill>
              <a:srgbClr val="FFFFFF"/>
            </a:solidFill>
            <a:prstDash val="solid"/>
          </a:ln>
        </p:spPr>
      </p:sp>
      <p:sp>
        <p:nvSpPr>
          <p:cNvPr id="14" name="anim-1-fade-520-858"/>
          <p:cNvSpPr/>
          <p:nvPr/>
        </p:nvSpPr>
        <p:spPr>
          <a:xfrm>
            <a:off x="2807208" y="3355848"/>
            <a:ext cx="310896" cy="274320"/>
          </a:xfrm>
          <a:prstGeom prst="rect">
            <a:avLst/>
          </a:prstGeom>
          <a:solidFill>
            <a:srgbClr val="B792F5"/>
          </a:solidFill>
          <a:ln w="6350">
            <a:solidFill>
              <a:srgbClr val="FFFFFF"/>
            </a:solidFill>
            <a:prstDash val="solid"/>
          </a:ln>
        </p:spPr>
      </p:sp>
      <p:sp>
        <p:nvSpPr>
          <p:cNvPr id="15" name="anim-1-fade-560-859"/>
          <p:cNvSpPr/>
          <p:nvPr/>
        </p:nvSpPr>
        <p:spPr>
          <a:xfrm>
            <a:off x="2807208" y="3666744"/>
            <a:ext cx="310896" cy="274320"/>
          </a:xfrm>
          <a:prstGeom prst="rect">
            <a:avLst/>
          </a:prstGeom>
          <a:solidFill>
            <a:srgbClr val="D0B8F9"/>
          </a:solidFill>
          <a:ln w="6350">
            <a:solidFill>
              <a:srgbClr val="FFFFFF"/>
            </a:solidFill>
            <a:prstDash val="solid"/>
          </a:ln>
        </p:spPr>
      </p:sp>
      <p:sp>
        <p:nvSpPr>
          <p:cNvPr id="16" name="anim-1-fade-600-860"/>
          <p:cNvSpPr/>
          <p:nvPr/>
        </p:nvSpPr>
        <p:spPr>
          <a:xfrm>
            <a:off x="2807208" y="3977640"/>
            <a:ext cx="310896" cy="274320"/>
          </a:xfrm>
          <a:prstGeom prst="rect">
            <a:avLst/>
          </a:prstGeom>
          <a:solidFill>
            <a:srgbClr val="A87CF3"/>
          </a:solidFill>
          <a:ln w="6350">
            <a:solidFill>
              <a:srgbClr val="FFFFFF"/>
            </a:solidFill>
            <a:prstDash val="solid"/>
          </a:ln>
        </p:spPr>
      </p:sp>
      <p:sp>
        <p:nvSpPr>
          <p:cNvPr id="17" name="anim-1-fade-640-861"/>
          <p:cNvSpPr/>
          <p:nvPr/>
        </p:nvSpPr>
        <p:spPr>
          <a:xfrm>
            <a:off x="2807208" y="4288536"/>
            <a:ext cx="310896" cy="274320"/>
          </a:xfrm>
          <a:prstGeom prst="rect">
            <a:avLst/>
          </a:prstGeom>
          <a:solidFill>
            <a:srgbClr val="E22650"/>
          </a:solidFill>
          <a:ln w="6350">
            <a:solidFill>
              <a:srgbClr val="FFFFFF"/>
            </a:solidFill>
            <a:prstDash val="solid"/>
          </a:ln>
        </p:spPr>
      </p:sp>
      <p:sp>
        <p:nvSpPr>
          <p:cNvPr id="18" name="anim-1-fade-680-862"/>
          <p:cNvSpPr/>
          <p:nvPr/>
        </p:nvSpPr>
        <p:spPr>
          <a:xfrm>
            <a:off x="2807208" y="4599432"/>
            <a:ext cx="310896" cy="274320"/>
          </a:xfrm>
          <a:prstGeom prst="rect">
            <a:avLst/>
          </a:prstGeom>
          <a:solidFill>
            <a:srgbClr val="FAD8E0"/>
          </a:solidFill>
          <a:ln w="6350">
            <a:solidFill>
              <a:srgbClr val="FFFFFF"/>
            </a:solidFill>
            <a:prstDash val="solid"/>
          </a:ln>
        </p:spPr>
      </p:sp>
      <p:sp>
        <p:nvSpPr>
          <p:cNvPr id="19" name="anim-1-fade-600-863"/>
          <p:cNvSpPr txBox="1"/>
          <p:nvPr/>
        </p:nvSpPr>
        <p:spPr>
          <a:xfrm>
            <a:off x="548640" y="3154680"/>
            <a:ext cx="2103120" cy="457200"/>
          </a:xfrm>
          <a:prstGeom prst="rect">
            <a:avLst/>
          </a:prstGeom>
          <a:noFill/>
          <a:ln/>
        </p:spPr>
        <p:txBody>
          <a:bodyPr wrap="square" lIns="0" tIns="0" rIns="0" bIns="0" rtlCol="0" anchor="t"/>
          <a:lstStyle/>
          <a:p>
            <a:pPr algn="r" indent="0" marL="0">
              <a:buNone/>
            </a:pPr>
            <a:r>
              <a:rPr lang="en-US" sz="1000" b="1" dirty="0">
                <a:solidFill>
                  <a:srgbClr val="0F172A"/>
                </a:solidFill>
                <a:latin typeface="Inter" pitchFamily="34" charset="0"/>
                <a:ea typeface="Inter" pitchFamily="34" charset="-122"/>
                <a:cs typeface="Inter" pitchFamily="34" charset="-120"/>
              </a:rPr>
              <a:t>final vector of the last token (768 numbers)</a:t>
            </a:r>
            <a:endParaRPr lang="en-US" sz="1000" dirty="0"/>
          </a:p>
        </p:txBody>
      </p:sp>
      <p:sp>
        <p:nvSpPr>
          <p:cNvPr id="20" name="anim-1-fade-700-864"/>
          <p:cNvSpPr txBox="1"/>
          <p:nvPr/>
        </p:nvSpPr>
        <p:spPr>
          <a:xfrm>
            <a:off x="548640" y="3703320"/>
            <a:ext cx="2103120" cy="640080"/>
          </a:xfrm>
          <a:prstGeom prst="rect">
            <a:avLst/>
          </a:prstGeom>
          <a:noFill/>
          <a:ln/>
        </p:spPr>
        <p:txBody>
          <a:bodyPr wrap="square" lIns="0" tIns="0" rIns="0" bIns="0" rtlCol="0" anchor="t"/>
          <a:lstStyle/>
          <a:p>
            <a:pPr algn="r" indent="0" marL="0">
              <a:buNone/>
            </a:pPr>
            <a:r>
              <a:rPr lang="en-US" sz="900" i="1" dirty="0">
                <a:solidFill>
                  <a:srgbClr val="64748B"/>
                </a:solidFill>
                <a:latin typeface="Inter" pitchFamily="34" charset="0"/>
                <a:ea typeface="Inter" pitchFamily="34" charset="-122"/>
                <a:cs typeface="Inter" pitchFamily="34" charset="-120"/>
              </a:rPr>
              <a:t>Earlier positions also have outputs, but they aren’t used to pick this next token.</a:t>
            </a:r>
            <a:endParaRPr lang="en-US" sz="900" dirty="0"/>
          </a:p>
        </p:txBody>
      </p:sp>
      <p:sp>
        <p:nvSpPr>
          <p:cNvPr id="21" name="anim-2-wipe-0-865"/>
          <p:cNvSpPr/>
          <p:nvPr/>
        </p:nvSpPr>
        <p:spPr>
          <a:xfrm>
            <a:off x="3200400" y="3657600"/>
            <a:ext cx="411480" cy="0"/>
          </a:xfrm>
          <a:prstGeom prst="line">
            <a:avLst/>
          </a:prstGeom>
          <a:noFill/>
          <a:ln w="22225">
            <a:solidFill>
              <a:srgbClr val="E11D48"/>
            </a:solidFill>
            <a:prstDash val="solid"/>
            <a:tailEnd type="triangle"/>
          </a:ln>
        </p:spPr>
      </p:sp>
      <p:sp>
        <p:nvSpPr>
          <p:cNvPr id="22" name="anim-2-zoom-0-866"/>
          <p:cNvSpPr/>
          <p:nvPr/>
        </p:nvSpPr>
        <p:spPr>
          <a:xfrm>
            <a:off x="3657600" y="2743200"/>
            <a:ext cx="1737360" cy="1828800"/>
          </a:xfrm>
          <a:prstGeom prst="roundRect">
            <a:avLst>
              <a:gd name="adj" fmla="val 5263"/>
            </a:avLst>
          </a:prstGeom>
          <a:solidFill>
            <a:srgbClr val="FFE4E6"/>
          </a:solidFill>
          <a:ln/>
        </p:spPr>
        <p:txBody>
          <a:bodyPr wrap="square" lIns="76200" tIns="76200" rIns="76200" bIns="76200" rtlCol="0" anchor="ctr"/>
          <a:lstStyle/>
          <a:p>
            <a:pPr algn="ctr" indent="0" marL="0">
              <a:buNone/>
            </a:pPr>
            <a:r>
              <a:rPr lang="en-US" sz="1300" b="1" dirty="0">
                <a:solidFill>
                  <a:srgbClr val="E11D48"/>
                </a:solidFill>
                <a:latin typeface="Inter" pitchFamily="34" charset="0"/>
                <a:ea typeface="Inter" pitchFamily="34" charset="-122"/>
                <a:cs typeface="Inter" pitchFamily="34" charset="-120"/>
              </a:rPr>
              <a:t>Linear layer</a:t>
            </a:r>
            <a:endParaRPr lang="en-US" sz="1300" dirty="0"/>
          </a:p>
          <a:p>
            <a:pPr algn="ctr" indent="0" marL="0">
              <a:buNone/>
            </a:pPr>
            <a:r>
              <a:rPr lang="en-US" sz="1050" dirty="0">
                <a:solidFill>
                  <a:srgbClr val="E11D48"/>
                </a:solidFill>
                <a:latin typeface="Inter" pitchFamily="34" charset="0"/>
                <a:ea typeface="Inter" pitchFamily="34" charset="-122"/>
                <a:cs typeface="Inter" pitchFamily="34" charset="-120"/>
              </a:rPr>
              <a:t>“LM head”</a:t>
            </a:r>
            <a:endParaRPr lang="en-US" sz="1300" dirty="0"/>
          </a:p>
          <a:p>
            <a:pPr algn="ctr" indent="0" marL="0">
              <a:spcBef>
                <a:spcPts val="800"/>
              </a:spcBef>
              <a:buNone/>
            </a:pPr>
            <a:r>
              <a:rPr lang="en-US" sz="1200" b="1" dirty="0">
                <a:solidFill>
                  <a:srgbClr val="0F172A"/>
                </a:solidFill>
                <a:latin typeface="Inter" pitchFamily="34" charset="0"/>
                <a:ea typeface="Inter" pitchFamily="34" charset="-122"/>
                <a:cs typeface="Inter" pitchFamily="34" charset="-120"/>
              </a:rPr>
              <a:t>768 → 50,257</a:t>
            </a:r>
            <a:endParaRPr lang="en-US" sz="1300" dirty="0"/>
          </a:p>
          <a:p>
            <a:pPr algn="ctr" indent="0" marL="0">
              <a:spcBef>
                <a:spcPts val="400"/>
              </a:spcBef>
              <a:buNone/>
            </a:pPr>
            <a:r>
              <a:rPr lang="en-US" sz="950" dirty="0">
                <a:solidFill>
                  <a:srgbClr val="64748B"/>
                </a:solidFill>
                <a:latin typeface="Inter" pitchFamily="34" charset="0"/>
                <a:ea typeface="Inter" pitchFamily="34" charset="-122"/>
                <a:cs typeface="Inter" pitchFamily="34" charset="-120"/>
              </a:rPr>
              <a:t>one score for every token in the vocabulary</a:t>
            </a:r>
            <a:endParaRPr lang="en-US" sz="1300" dirty="0"/>
          </a:p>
        </p:txBody>
      </p:sp>
      <p:sp>
        <p:nvSpPr>
          <p:cNvPr id="23" name="anim-3-wipe-0-867"/>
          <p:cNvSpPr/>
          <p:nvPr/>
        </p:nvSpPr>
        <p:spPr>
          <a:xfrm>
            <a:off x="5440680" y="3657600"/>
            <a:ext cx="365760" cy="0"/>
          </a:xfrm>
          <a:prstGeom prst="line">
            <a:avLst/>
          </a:prstGeom>
          <a:noFill/>
          <a:ln w="22225">
            <a:solidFill>
              <a:srgbClr val="E11D48"/>
            </a:solidFill>
            <a:prstDash val="solid"/>
            <a:tailEnd type="triangle"/>
          </a:ln>
        </p:spPr>
      </p:sp>
      <p:sp>
        <p:nvSpPr>
          <p:cNvPr id="24" name="anim-3-fade-0-868"/>
          <p:cNvSpPr txBox="1"/>
          <p:nvPr/>
        </p:nvSpPr>
        <p:spPr>
          <a:xfrm>
            <a:off x="5852160" y="1965960"/>
            <a:ext cx="1828800" cy="237744"/>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Logits (raw scores)</a:t>
            </a:r>
            <a:endParaRPr lang="en-US" sz="1000" dirty="0"/>
          </a:p>
        </p:txBody>
      </p:sp>
      <p:sp>
        <p:nvSpPr>
          <p:cNvPr id="25" name="anim-4-fade-0-869"/>
          <p:cNvSpPr txBox="1"/>
          <p:nvPr/>
        </p:nvSpPr>
        <p:spPr>
          <a:xfrm>
            <a:off x="8915400" y="1965960"/>
            <a:ext cx="1828800" cy="237744"/>
          </a:xfrm>
          <a:prstGeom prst="rect">
            <a:avLst/>
          </a:prstGeom>
          <a:noFill/>
          <a:ln/>
        </p:spPr>
        <p:txBody>
          <a:bodyPr wrap="square" lIns="0" tIns="0" rIns="0" bIns="0" rtlCol="0" anchor="t"/>
          <a:lstStyle/>
          <a:p>
            <a:pPr indent="0" marL="0">
              <a:buNone/>
            </a:pPr>
            <a:r>
              <a:rPr lang="en-US" sz="1000" b="1" dirty="0">
                <a:solidFill>
                  <a:srgbClr val="64748B"/>
                </a:solidFill>
                <a:latin typeface="Inter" pitchFamily="34" charset="0"/>
                <a:ea typeface="Inter" pitchFamily="34" charset="-122"/>
                <a:cs typeface="Inter" pitchFamily="34" charset="-120"/>
              </a:rPr>
              <a:t>Probabilities</a:t>
            </a:r>
            <a:endParaRPr lang="en-US" sz="1000" dirty="0"/>
          </a:p>
        </p:txBody>
      </p:sp>
      <p:sp>
        <p:nvSpPr>
          <p:cNvPr id="26" name="anim-3-fade-0-870"/>
          <p:cNvSpPr txBox="1"/>
          <p:nvPr/>
        </p:nvSpPr>
        <p:spPr>
          <a:xfrm>
            <a:off x="5852160" y="2286000"/>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27" name="anim-3-fade-0-871"/>
          <p:cNvSpPr txBox="1"/>
          <p:nvPr/>
        </p:nvSpPr>
        <p:spPr>
          <a:xfrm>
            <a:off x="6995160" y="2286000"/>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7.1</a:t>
            </a:r>
            <a:endParaRPr lang="en-US" sz="1100" dirty="0"/>
          </a:p>
        </p:txBody>
      </p:sp>
      <p:sp>
        <p:nvSpPr>
          <p:cNvPr id="28" name="anim-4-fade-300-872"/>
          <p:cNvSpPr txBox="1"/>
          <p:nvPr/>
        </p:nvSpPr>
        <p:spPr>
          <a:xfrm>
            <a:off x="8915400" y="2286000"/>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29" name="anim-4-wipe-300-873"/>
          <p:cNvSpPr/>
          <p:nvPr/>
        </p:nvSpPr>
        <p:spPr>
          <a:xfrm>
            <a:off x="9921240" y="2340864"/>
            <a:ext cx="1274674" cy="201168"/>
          </a:xfrm>
          <a:prstGeom prst="rect">
            <a:avLst/>
          </a:prstGeom>
          <a:solidFill>
            <a:srgbClr val="E11D48"/>
          </a:solidFill>
          <a:ln/>
        </p:spPr>
      </p:sp>
      <p:sp>
        <p:nvSpPr>
          <p:cNvPr id="30" name="anim-4-fade-400-874"/>
          <p:cNvSpPr txBox="1"/>
          <p:nvPr/>
        </p:nvSpPr>
        <p:spPr>
          <a:xfrm>
            <a:off x="11250778" y="2286000"/>
            <a:ext cx="457200" cy="310896"/>
          </a:xfrm>
          <a:prstGeom prst="rect">
            <a:avLst/>
          </a:prstGeom>
          <a:noFill/>
          <a:ln/>
        </p:spPr>
        <p:txBody>
          <a:bodyPr wrap="square" lIns="0" tIns="0" rIns="0" bIns="0" rtlCol="0" anchor="ctr"/>
          <a:lstStyle/>
          <a:p>
            <a:pPr indent="0" marL="0">
              <a:buNone/>
            </a:pPr>
            <a:r>
              <a:rPr lang="en-US" sz="1000" b="1" dirty="0">
                <a:solidFill>
                  <a:srgbClr val="E11D48"/>
                </a:solidFill>
                <a:latin typeface="Inter" pitchFamily="34" charset="0"/>
                <a:ea typeface="Inter" pitchFamily="34" charset="-122"/>
                <a:cs typeface="Inter" pitchFamily="34" charset="-120"/>
              </a:rPr>
              <a:t>41%</a:t>
            </a:r>
            <a:endParaRPr lang="en-US" sz="1000" dirty="0"/>
          </a:p>
        </p:txBody>
      </p:sp>
      <p:sp>
        <p:nvSpPr>
          <p:cNvPr id="31" name="anim-3-fade-80-875"/>
          <p:cNvSpPr txBox="1"/>
          <p:nvPr/>
        </p:nvSpPr>
        <p:spPr>
          <a:xfrm>
            <a:off x="5852160" y="2670048"/>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floor</a:t>
            </a:r>
            <a:endParaRPr lang="en-US" sz="1100" dirty="0"/>
          </a:p>
        </p:txBody>
      </p:sp>
      <p:sp>
        <p:nvSpPr>
          <p:cNvPr id="32" name="anim-3-fade-80-876"/>
          <p:cNvSpPr txBox="1"/>
          <p:nvPr/>
        </p:nvSpPr>
        <p:spPr>
          <a:xfrm>
            <a:off x="6995160" y="2670048"/>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6.0</a:t>
            </a:r>
            <a:endParaRPr lang="en-US" sz="1100" dirty="0"/>
          </a:p>
        </p:txBody>
      </p:sp>
      <p:sp>
        <p:nvSpPr>
          <p:cNvPr id="33" name="anim-4-fade-390-877"/>
          <p:cNvSpPr txBox="1"/>
          <p:nvPr/>
        </p:nvSpPr>
        <p:spPr>
          <a:xfrm>
            <a:off x="8915400" y="2670048"/>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floor</a:t>
            </a:r>
            <a:endParaRPr lang="en-US" sz="1100" dirty="0"/>
          </a:p>
        </p:txBody>
      </p:sp>
      <p:sp>
        <p:nvSpPr>
          <p:cNvPr id="34" name="anim-4-wipe-390-878"/>
          <p:cNvSpPr/>
          <p:nvPr/>
        </p:nvSpPr>
        <p:spPr>
          <a:xfrm>
            <a:off x="9921240" y="2724912"/>
            <a:ext cx="435254" cy="201168"/>
          </a:xfrm>
          <a:prstGeom prst="rect">
            <a:avLst/>
          </a:prstGeom>
          <a:solidFill>
            <a:srgbClr val="FDA4AF"/>
          </a:solidFill>
          <a:ln/>
        </p:spPr>
      </p:sp>
      <p:sp>
        <p:nvSpPr>
          <p:cNvPr id="35" name="anim-4-fade-490-879"/>
          <p:cNvSpPr txBox="1"/>
          <p:nvPr/>
        </p:nvSpPr>
        <p:spPr>
          <a:xfrm>
            <a:off x="10411358" y="2670048"/>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14%</a:t>
            </a:r>
            <a:endParaRPr lang="en-US" sz="1000" dirty="0"/>
          </a:p>
        </p:txBody>
      </p:sp>
      <p:sp>
        <p:nvSpPr>
          <p:cNvPr id="36" name="anim-3-fade-160-880"/>
          <p:cNvSpPr txBox="1"/>
          <p:nvPr/>
        </p:nvSpPr>
        <p:spPr>
          <a:xfrm>
            <a:off x="5852160" y="3054096"/>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sofa</a:t>
            </a:r>
            <a:endParaRPr lang="en-US" sz="1100" dirty="0"/>
          </a:p>
        </p:txBody>
      </p:sp>
      <p:sp>
        <p:nvSpPr>
          <p:cNvPr id="37" name="anim-3-fade-160-881"/>
          <p:cNvSpPr txBox="1"/>
          <p:nvPr/>
        </p:nvSpPr>
        <p:spPr>
          <a:xfrm>
            <a:off x="6995160" y="3054096"/>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5.8</a:t>
            </a:r>
            <a:endParaRPr lang="en-US" sz="1100" dirty="0"/>
          </a:p>
        </p:txBody>
      </p:sp>
      <p:sp>
        <p:nvSpPr>
          <p:cNvPr id="38" name="anim-4-fade-480-882"/>
          <p:cNvSpPr txBox="1"/>
          <p:nvPr/>
        </p:nvSpPr>
        <p:spPr>
          <a:xfrm>
            <a:off x="8915400" y="3054096"/>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sofa</a:t>
            </a:r>
            <a:endParaRPr lang="en-US" sz="1100" dirty="0"/>
          </a:p>
        </p:txBody>
      </p:sp>
      <p:sp>
        <p:nvSpPr>
          <p:cNvPr id="39" name="anim-4-wipe-480-883"/>
          <p:cNvSpPr/>
          <p:nvPr/>
        </p:nvSpPr>
        <p:spPr>
          <a:xfrm>
            <a:off x="9921240" y="3108960"/>
            <a:ext cx="341986" cy="201168"/>
          </a:xfrm>
          <a:prstGeom prst="rect">
            <a:avLst/>
          </a:prstGeom>
          <a:solidFill>
            <a:srgbClr val="FDA4AF"/>
          </a:solidFill>
          <a:ln/>
        </p:spPr>
      </p:sp>
      <p:sp>
        <p:nvSpPr>
          <p:cNvPr id="40" name="anim-4-fade-580-884"/>
          <p:cNvSpPr txBox="1"/>
          <p:nvPr/>
        </p:nvSpPr>
        <p:spPr>
          <a:xfrm>
            <a:off x="10318090" y="3054096"/>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11%</a:t>
            </a:r>
            <a:endParaRPr lang="en-US" sz="1000" dirty="0"/>
          </a:p>
        </p:txBody>
      </p:sp>
      <p:sp>
        <p:nvSpPr>
          <p:cNvPr id="41" name="anim-3-fade-240-885"/>
          <p:cNvSpPr txBox="1"/>
          <p:nvPr/>
        </p:nvSpPr>
        <p:spPr>
          <a:xfrm>
            <a:off x="5852160" y="3438144"/>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bed</a:t>
            </a:r>
            <a:endParaRPr lang="en-US" sz="1100" dirty="0"/>
          </a:p>
        </p:txBody>
      </p:sp>
      <p:sp>
        <p:nvSpPr>
          <p:cNvPr id="42" name="anim-3-fade-240-886"/>
          <p:cNvSpPr txBox="1"/>
          <p:nvPr/>
        </p:nvSpPr>
        <p:spPr>
          <a:xfrm>
            <a:off x="6995160" y="3438144"/>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5.5</a:t>
            </a:r>
            <a:endParaRPr lang="en-US" sz="1100" dirty="0"/>
          </a:p>
        </p:txBody>
      </p:sp>
      <p:sp>
        <p:nvSpPr>
          <p:cNvPr id="43" name="anim-4-fade-570-887"/>
          <p:cNvSpPr txBox="1"/>
          <p:nvPr/>
        </p:nvSpPr>
        <p:spPr>
          <a:xfrm>
            <a:off x="8915400" y="3438144"/>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bed</a:t>
            </a:r>
            <a:endParaRPr lang="en-US" sz="1100" dirty="0"/>
          </a:p>
        </p:txBody>
      </p:sp>
      <p:sp>
        <p:nvSpPr>
          <p:cNvPr id="44" name="anim-4-wipe-570-888"/>
          <p:cNvSpPr/>
          <p:nvPr/>
        </p:nvSpPr>
        <p:spPr>
          <a:xfrm>
            <a:off x="9921240" y="3493008"/>
            <a:ext cx="248717" cy="201168"/>
          </a:xfrm>
          <a:prstGeom prst="rect">
            <a:avLst/>
          </a:prstGeom>
          <a:solidFill>
            <a:srgbClr val="FDA4AF"/>
          </a:solidFill>
          <a:ln/>
        </p:spPr>
      </p:sp>
      <p:sp>
        <p:nvSpPr>
          <p:cNvPr id="45" name="anim-4-fade-670-889"/>
          <p:cNvSpPr txBox="1"/>
          <p:nvPr/>
        </p:nvSpPr>
        <p:spPr>
          <a:xfrm>
            <a:off x="10224821" y="3438144"/>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8%</a:t>
            </a:r>
            <a:endParaRPr lang="en-US" sz="1000" dirty="0"/>
          </a:p>
        </p:txBody>
      </p:sp>
      <p:sp>
        <p:nvSpPr>
          <p:cNvPr id="46" name="anim-3-fade-320-890"/>
          <p:cNvSpPr txBox="1"/>
          <p:nvPr/>
        </p:nvSpPr>
        <p:spPr>
          <a:xfrm>
            <a:off x="5852160" y="3822192"/>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chair</a:t>
            </a:r>
            <a:endParaRPr lang="en-US" sz="1100" dirty="0"/>
          </a:p>
        </p:txBody>
      </p:sp>
      <p:sp>
        <p:nvSpPr>
          <p:cNvPr id="47" name="anim-3-fade-320-891"/>
          <p:cNvSpPr txBox="1"/>
          <p:nvPr/>
        </p:nvSpPr>
        <p:spPr>
          <a:xfrm>
            <a:off x="6995160" y="3822192"/>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5.1</a:t>
            </a:r>
            <a:endParaRPr lang="en-US" sz="1100" dirty="0"/>
          </a:p>
        </p:txBody>
      </p:sp>
      <p:sp>
        <p:nvSpPr>
          <p:cNvPr id="48" name="anim-4-fade-660-892"/>
          <p:cNvSpPr txBox="1"/>
          <p:nvPr/>
        </p:nvSpPr>
        <p:spPr>
          <a:xfrm>
            <a:off x="8915400" y="3822192"/>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chair</a:t>
            </a:r>
            <a:endParaRPr lang="en-US" sz="1100" dirty="0"/>
          </a:p>
        </p:txBody>
      </p:sp>
      <p:sp>
        <p:nvSpPr>
          <p:cNvPr id="49" name="anim-4-wipe-660-893"/>
          <p:cNvSpPr/>
          <p:nvPr/>
        </p:nvSpPr>
        <p:spPr>
          <a:xfrm>
            <a:off x="9921240" y="3877056"/>
            <a:ext cx="186538" cy="201168"/>
          </a:xfrm>
          <a:prstGeom prst="rect">
            <a:avLst/>
          </a:prstGeom>
          <a:solidFill>
            <a:srgbClr val="FDA4AF"/>
          </a:solidFill>
          <a:ln/>
        </p:spPr>
      </p:sp>
      <p:sp>
        <p:nvSpPr>
          <p:cNvPr id="50" name="anim-4-fade-760-894"/>
          <p:cNvSpPr txBox="1"/>
          <p:nvPr/>
        </p:nvSpPr>
        <p:spPr>
          <a:xfrm>
            <a:off x="10162642" y="3822192"/>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6%</a:t>
            </a:r>
            <a:endParaRPr lang="en-US" sz="1000" dirty="0"/>
          </a:p>
        </p:txBody>
      </p:sp>
      <p:sp>
        <p:nvSpPr>
          <p:cNvPr id="51" name="anim-3-fade-400-895"/>
          <p:cNvSpPr txBox="1"/>
          <p:nvPr/>
        </p:nvSpPr>
        <p:spPr>
          <a:xfrm>
            <a:off x="5852160" y="4206240"/>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windowsill</a:t>
            </a:r>
            <a:endParaRPr lang="en-US" sz="1100" dirty="0"/>
          </a:p>
        </p:txBody>
      </p:sp>
      <p:sp>
        <p:nvSpPr>
          <p:cNvPr id="52" name="anim-3-fade-400-896"/>
          <p:cNvSpPr txBox="1"/>
          <p:nvPr/>
        </p:nvSpPr>
        <p:spPr>
          <a:xfrm>
            <a:off x="6995160" y="4206240"/>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4.8</a:t>
            </a:r>
            <a:endParaRPr lang="en-US" sz="1100" dirty="0"/>
          </a:p>
        </p:txBody>
      </p:sp>
      <p:sp>
        <p:nvSpPr>
          <p:cNvPr id="53" name="anim-4-fade-750-897"/>
          <p:cNvSpPr txBox="1"/>
          <p:nvPr/>
        </p:nvSpPr>
        <p:spPr>
          <a:xfrm>
            <a:off x="8915400" y="4206240"/>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windowsill</a:t>
            </a:r>
            <a:endParaRPr lang="en-US" sz="1100" dirty="0"/>
          </a:p>
        </p:txBody>
      </p:sp>
      <p:sp>
        <p:nvSpPr>
          <p:cNvPr id="54" name="anim-4-wipe-750-898"/>
          <p:cNvSpPr/>
          <p:nvPr/>
        </p:nvSpPr>
        <p:spPr>
          <a:xfrm>
            <a:off x="9921240" y="4261104"/>
            <a:ext cx="124358" cy="201168"/>
          </a:xfrm>
          <a:prstGeom prst="rect">
            <a:avLst/>
          </a:prstGeom>
          <a:solidFill>
            <a:srgbClr val="FDA4AF"/>
          </a:solidFill>
          <a:ln/>
        </p:spPr>
      </p:sp>
      <p:sp>
        <p:nvSpPr>
          <p:cNvPr id="55" name="anim-4-fade-850-899"/>
          <p:cNvSpPr txBox="1"/>
          <p:nvPr/>
        </p:nvSpPr>
        <p:spPr>
          <a:xfrm>
            <a:off x="10100462" y="4206240"/>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4%</a:t>
            </a:r>
            <a:endParaRPr lang="en-US" sz="1000" dirty="0"/>
          </a:p>
        </p:txBody>
      </p:sp>
      <p:sp>
        <p:nvSpPr>
          <p:cNvPr id="56" name="anim-3-fade-480-900"/>
          <p:cNvSpPr txBox="1"/>
          <p:nvPr/>
        </p:nvSpPr>
        <p:spPr>
          <a:xfrm>
            <a:off x="5852160" y="4590288"/>
            <a:ext cx="1143000" cy="310896"/>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  50,000+ more</a:t>
            </a:r>
            <a:endParaRPr lang="en-US" sz="900" dirty="0"/>
          </a:p>
        </p:txBody>
      </p:sp>
      <p:sp>
        <p:nvSpPr>
          <p:cNvPr id="57" name="anim-4-fade-840-901"/>
          <p:cNvSpPr txBox="1"/>
          <p:nvPr/>
        </p:nvSpPr>
        <p:spPr>
          <a:xfrm>
            <a:off x="8915400" y="4590288"/>
            <a:ext cx="960120" cy="310896"/>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everything else</a:t>
            </a:r>
            <a:endParaRPr lang="en-US" sz="900" dirty="0"/>
          </a:p>
        </p:txBody>
      </p:sp>
      <p:sp>
        <p:nvSpPr>
          <p:cNvPr id="58" name="anim-4-wipe-840-902"/>
          <p:cNvSpPr/>
          <p:nvPr/>
        </p:nvSpPr>
        <p:spPr>
          <a:xfrm>
            <a:off x="9921240" y="4645152"/>
            <a:ext cx="497434" cy="201168"/>
          </a:xfrm>
          <a:prstGeom prst="rect">
            <a:avLst/>
          </a:prstGeom>
          <a:solidFill>
            <a:srgbClr val="CBD5E1"/>
          </a:solidFill>
          <a:ln/>
        </p:spPr>
      </p:sp>
      <p:sp>
        <p:nvSpPr>
          <p:cNvPr id="59" name="anim-4-fade-940-903"/>
          <p:cNvSpPr txBox="1"/>
          <p:nvPr/>
        </p:nvSpPr>
        <p:spPr>
          <a:xfrm>
            <a:off x="10473538" y="4590288"/>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16%</a:t>
            </a:r>
            <a:endParaRPr lang="en-US" sz="1000" dirty="0"/>
          </a:p>
        </p:txBody>
      </p:sp>
      <p:sp>
        <p:nvSpPr>
          <p:cNvPr id="60" name="anim-3-fade-560-904"/>
          <p:cNvSpPr txBox="1"/>
          <p:nvPr/>
        </p:nvSpPr>
        <p:spPr>
          <a:xfrm>
            <a:off x="5852160" y="4974336"/>
            <a:ext cx="114300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banana</a:t>
            </a:r>
            <a:endParaRPr lang="en-US" sz="1100" dirty="0"/>
          </a:p>
        </p:txBody>
      </p:sp>
      <p:sp>
        <p:nvSpPr>
          <p:cNvPr id="61" name="anim-3-fade-560-905"/>
          <p:cNvSpPr txBox="1"/>
          <p:nvPr/>
        </p:nvSpPr>
        <p:spPr>
          <a:xfrm>
            <a:off x="6995160" y="4974336"/>
            <a:ext cx="594360" cy="310896"/>
          </a:xfrm>
          <a:prstGeom prst="rect">
            <a:avLst/>
          </a:prstGeom>
          <a:noFill/>
          <a:ln/>
        </p:spPr>
        <p:txBody>
          <a:bodyPr wrap="square" lIns="0" tIns="0" rIns="0" bIns="0" rtlCol="0" anchor="ctr"/>
          <a:lstStyle/>
          <a:p>
            <a:pPr algn="r" indent="0" marL="0">
              <a:buNone/>
            </a:pPr>
            <a:r>
              <a:rPr lang="en-US" sz="1100" dirty="0">
                <a:solidFill>
                  <a:srgbClr val="334155"/>
                </a:solidFill>
                <a:latin typeface="Inter" pitchFamily="34" charset="0"/>
                <a:ea typeface="Inter" pitchFamily="34" charset="-122"/>
                <a:cs typeface="Inter" pitchFamily="34" charset="-120"/>
              </a:rPr>
              <a:t>-3.2</a:t>
            </a:r>
            <a:endParaRPr lang="en-US" sz="1100" dirty="0"/>
          </a:p>
        </p:txBody>
      </p:sp>
      <p:sp>
        <p:nvSpPr>
          <p:cNvPr id="62" name="anim-4-fade-930-906"/>
          <p:cNvSpPr txBox="1"/>
          <p:nvPr/>
        </p:nvSpPr>
        <p:spPr>
          <a:xfrm>
            <a:off x="8915400" y="4974336"/>
            <a:ext cx="960120" cy="310896"/>
          </a:xfrm>
          <a:prstGeom prst="rect">
            <a:avLst/>
          </a:prstGeom>
          <a:noFill/>
          <a:ln/>
        </p:spPr>
        <p:txBody>
          <a:bodyPr wrap="square" lIns="0" tIns="0" rIns="0" bIns="0" rtlCol="0" anchor="ctr"/>
          <a:lstStyle/>
          <a:p>
            <a:pPr indent="0" marL="0">
              <a:buNone/>
            </a:pPr>
            <a:r>
              <a:rPr lang="en-US" sz="1100" b="1" dirty="0">
                <a:solidFill>
                  <a:srgbClr val="0F172A"/>
                </a:solidFill>
                <a:latin typeface="Inter" pitchFamily="34" charset="0"/>
                <a:ea typeface="Inter" pitchFamily="34" charset="-122"/>
                <a:cs typeface="Inter" pitchFamily="34" charset="-120"/>
              </a:rPr>
              <a:t>banana</a:t>
            </a:r>
            <a:endParaRPr lang="en-US" sz="1100" dirty="0"/>
          </a:p>
        </p:txBody>
      </p:sp>
      <p:sp>
        <p:nvSpPr>
          <p:cNvPr id="63" name="anim-4-wipe-930-907"/>
          <p:cNvSpPr/>
          <p:nvPr/>
        </p:nvSpPr>
        <p:spPr>
          <a:xfrm>
            <a:off x="9921240" y="5029200"/>
            <a:ext cx="27432" cy="201168"/>
          </a:xfrm>
          <a:prstGeom prst="rect">
            <a:avLst/>
          </a:prstGeom>
          <a:solidFill>
            <a:srgbClr val="FDA4AF"/>
          </a:solidFill>
          <a:ln/>
        </p:spPr>
      </p:sp>
      <p:sp>
        <p:nvSpPr>
          <p:cNvPr id="64" name="anim-4-fade-1030-908"/>
          <p:cNvSpPr txBox="1"/>
          <p:nvPr/>
        </p:nvSpPr>
        <p:spPr>
          <a:xfrm>
            <a:off x="10003536" y="4974336"/>
            <a:ext cx="457200" cy="310896"/>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≈0%</a:t>
            </a:r>
            <a:endParaRPr lang="en-US" sz="1000" dirty="0"/>
          </a:p>
        </p:txBody>
      </p:sp>
      <p:sp>
        <p:nvSpPr>
          <p:cNvPr id="65" name="anim-4-zoom-0-909"/>
          <p:cNvSpPr/>
          <p:nvPr/>
        </p:nvSpPr>
        <p:spPr>
          <a:xfrm>
            <a:off x="7726680" y="3465576"/>
            <a:ext cx="868680" cy="384048"/>
          </a:xfrm>
          <a:prstGeom prst="roundRect">
            <a:avLst>
              <a:gd name="adj" fmla="val 23810"/>
            </a:avLst>
          </a:prstGeom>
          <a:solidFill>
            <a:srgbClr val="E11D48"/>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softmax</a:t>
            </a:r>
            <a:endParaRPr lang="en-US" sz="1100" dirty="0"/>
          </a:p>
        </p:txBody>
      </p:sp>
      <p:sp>
        <p:nvSpPr>
          <p:cNvPr id="66" name="anim-4-wipe-150-910"/>
          <p:cNvSpPr/>
          <p:nvPr/>
        </p:nvSpPr>
        <p:spPr>
          <a:xfrm>
            <a:off x="8613648" y="3657600"/>
            <a:ext cx="256032" cy="0"/>
          </a:xfrm>
          <a:prstGeom prst="line">
            <a:avLst/>
          </a:prstGeom>
          <a:noFill/>
          <a:ln w="19050">
            <a:solidFill>
              <a:srgbClr val="E11D48"/>
            </a:solidFill>
            <a:prstDash val="solid"/>
            <a:tailEnd type="triangle"/>
          </a:ln>
        </p:spPr>
      </p:sp>
      <p:sp>
        <p:nvSpPr>
          <p:cNvPr id="67" name="anim-5-rise-0-911"/>
          <p:cNvSpPr/>
          <p:nvPr/>
        </p:nvSpPr>
        <p:spPr>
          <a:xfrm>
            <a:off x="548640" y="5596128"/>
            <a:ext cx="11064240" cy="502920"/>
          </a:xfrm>
          <a:prstGeom prst="roundRect">
            <a:avLst>
              <a:gd name="adj" fmla="val 18182"/>
            </a:avLst>
          </a:prstGeom>
          <a:solidFill>
            <a:srgbClr val="F1F5F9"/>
          </a:solidFill>
          <a:ln/>
        </p:spPr>
        <p:txBody>
          <a:bodyPr wrap="square" lIns="0" tIns="177800" rIns="177800" bIns="0" rtlCol="0" anchor="ctr"/>
          <a:lstStyle/>
          <a:p>
            <a:pPr algn="l" indent="0" marL="0">
              <a:buNone/>
            </a:pPr>
            <a:r>
              <a:rPr lang="en-US" sz="1100" b="1" dirty="0">
                <a:solidFill>
                  <a:srgbClr val="E11D48"/>
                </a:solidFill>
                <a:latin typeface="Inter" pitchFamily="34" charset="0"/>
                <a:ea typeface="Inter" pitchFamily="34" charset="-122"/>
                <a:cs typeface="Inter" pitchFamily="34" charset="-120"/>
              </a:rPr>
              <a:t>Softmax  </a:t>
            </a:r>
            <a:pPr algn="l" indent="0" marL="0">
              <a:buNone/>
            </a:pPr>
            <a:r>
              <a:rPr lang="en-US" sz="1100" dirty="0">
                <a:solidFill>
                  <a:srgbClr val="334155"/>
                </a:solidFill>
                <a:latin typeface="Inter" pitchFamily="34" charset="0"/>
                <a:ea typeface="Inter" pitchFamily="34" charset="-122"/>
                <a:cs typeface="Inter" pitchFamily="34" charset="-120"/>
              </a:rPr>
              <a:t>pᵢ = eᶻⁱ / Σⱼ eᶻʲ  —  exponentiate every score (all become positive), then divide by the total so they add up to 100%.</a:t>
            </a:r>
            <a:endParaRPr lang="en-US" sz="11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9" presetID="10" presetClass="entr" presetSubtype="0" fill="hold" grpId="0" nodeType="withEffect">
                                  <p:stCondLst>
                                    <p:cond delay="60"/>
                                  </p:stCondLst>
                                  <p:childTnLst>
                                    <p:set>
                                      <p:cBhvr>
                                        <p:cTn id="8"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2" presetID="10" presetClass="entr" presetSubtype="0" fill="hold" grpId="0" nodeType="withEffect">
                                  <p:stCondLst>
                                    <p:cond delay="120"/>
                                  </p:stCondLst>
                                  <p:childTnLst>
                                    <p:set>
                                      <p:cBhvr>
                                        <p:cTn id="11"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5" presetID="10" presetClass="entr" presetSubtype="0" fill="hold" grpId="0" nodeType="withEffect">
                                  <p:stCondLst>
                                    <p:cond delay="180"/>
                                  </p:stCondLst>
                                  <p:childTnLst>
                                    <p:set>
                                      <p:cBhvr>
                                        <p:cTn id="14"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8" presetID="10" presetClass="entr" presetSubtype="0" fill="hold" grpId="0" nodeType="withEffect">
                                  <p:stCondLst>
                                    <p:cond delay="240"/>
                                  </p:stCondLst>
                                  <p:childTnLst>
                                    <p:set>
                                      <p:cBhvr>
                                        <p:cTn id="17"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1" presetID="10" presetClass="entr" presetSubtype="0" fill="hold" grpId="0" nodeType="withEffect">
                                  <p:stCondLst>
                                    <p:cond delay="3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4" presetID="10" presetClass="entr" presetSubtype="0" fill="hold" grpId="0" nodeType="withEffect">
                                  <p:stCondLst>
                                    <p:cond delay="4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7" presetID="10" presetClass="entr" presetSubtype="0" fill="hold" grpId="0" nodeType="withEffect">
                                  <p:stCondLst>
                                    <p:cond delay="44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30" presetID="10" presetClass="entr" presetSubtype="0" fill="hold" grpId="0" nodeType="withEffect">
                                  <p:stCondLst>
                                    <p:cond delay="48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3" presetID="10" presetClass="entr" presetSubtype="0" fill="hold" grpId="0" nodeType="withEffect">
                                  <p:stCondLst>
                                    <p:cond delay="520"/>
                                  </p:stCondLst>
                                  <p:childTnLst>
                                    <p:set>
                                      <p:cBhvr>
                                        <p:cTn id="32"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6" presetID="10" presetClass="entr" presetSubtype="0" fill="hold" grpId="0" nodeType="withEffect">
                                  <p:stCondLst>
                                    <p:cond delay="560"/>
                                  </p:stCondLst>
                                  <p:childTnLst>
                                    <p:set>
                                      <p:cBhvr>
                                        <p:cTn id="35"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9" presetID="10" presetClass="entr" presetSubtype="0" fill="hold" grpId="0" nodeType="withEffect">
                                  <p:stCondLst>
                                    <p:cond delay="600"/>
                                  </p:stCondLst>
                                  <p:childTnLst>
                                    <p:set>
                                      <p:cBhvr>
                                        <p:cTn id="38"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2" presetID="10" presetClass="entr" presetSubtype="0" fill="hold" grpId="0" nodeType="withEffect">
                                  <p:stCondLst>
                                    <p:cond delay="6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5" presetID="10" presetClass="entr" presetSubtype="0" fill="hold" grpId="0" nodeType="withEffect">
                                  <p:stCondLst>
                                    <p:cond delay="640"/>
                                  </p:stCondLst>
                                  <p:childTnLst>
                                    <p:set>
                                      <p:cBhvr>
                                        <p:cTn id="44"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8" presetID="10" presetClass="entr" presetSubtype="0" fill="hold" grpId="0" nodeType="withEffect">
                                  <p:stCondLst>
                                    <p:cond delay="680"/>
                                  </p:stCondLst>
                                  <p:childTnLst>
                                    <p:set>
                                      <p:cBhvr>
                                        <p:cTn id="47"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1" presetID="10" presetClass="entr" presetSubtype="0" fill="hold" grpId="0" nodeType="withEffect">
                                  <p:stCondLst>
                                    <p:cond delay="700"/>
                                  </p:stCondLst>
                                  <p:childTnLst>
                                    <p:set>
                                      <p:cBhvr>
                                        <p:cTn id="50"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6" presetID="22" presetClass="entr" presetSubtype="8"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7" dur="450"/>
                                        <p:tgtEl>
                                          <p:spTgt spid="21"/>
                                        </p:tgtEl>
                                      </p:cBhvr>
                                    </p:animEffect>
                                  </p:childTnLst>
                                </p:cTn>
                              </p:par>
                              <p:par>
                                <p:cTn id="59" presetID="53" presetClass="entr" presetSubtype="16"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6" presetID="22" presetClass="entr" presetSubtype="8"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wipe(left)">
                                      <p:cBhvr>
                                        <p:cTn id="67" dur="450"/>
                                        <p:tgtEl>
                                          <p:spTgt spid="23"/>
                                        </p:tgtEl>
                                      </p:cBhvr>
                                    </p:animEffect>
                                  </p:childTnLst>
                                </p:cTn>
                              </p:par>
                              <p:par>
                                <p:cTn id="69"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2"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5"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8" presetID="10" presetClass="entr" presetSubtype="0" fill="hold" grpId="0" nodeType="withEffect">
                                  <p:stCondLst>
                                    <p:cond delay="80"/>
                                  </p:stCondLst>
                                  <p:childTnLst>
                                    <p:set>
                                      <p:cBhvr>
                                        <p:cTn id="77" dur="1" fill="hold">
                                          <p:stCondLst>
                                            <p:cond delay="0"/>
                                          </p:stCondLst>
                                        </p:cTn>
                                        <p:tgtEl>
                                          <p:spTgt spid="31"/>
                                        </p:tgtEl>
                                        <p:attrNameLst>
                                          <p:attrName>style.visibility</p:attrName>
                                        </p:attrNameLst>
                                      </p:cBhvr>
                                      <p:to>
                                        <p:strVal val="visible"/>
                                      </p:to>
                                    </p:set>
                                    <p:animEffect transition="in" filter="fade">
                                      <p:cBhvr>
                                        <p:cTn id="79" dur="500"/>
                                        <p:tgtEl>
                                          <p:spTgt spid="31"/>
                                        </p:tgtEl>
                                      </p:cBhvr>
                                    </p:animEffect>
                                  </p:childTnLst>
                                </p:cTn>
                              </p:par>
                              <p:par>
                                <p:cTn id="81" presetID="10" presetClass="entr" presetSubtype="0" fill="hold" grpId="0" nodeType="withEffect">
                                  <p:stCondLst>
                                    <p:cond delay="80"/>
                                  </p:stCondLst>
                                  <p:childTnLst>
                                    <p:set>
                                      <p:cBhvr>
                                        <p:cTn id="80" dur="1" fill="hold">
                                          <p:stCondLst>
                                            <p:cond delay="0"/>
                                          </p:stCondLst>
                                        </p:cTn>
                                        <p:tgtEl>
                                          <p:spTgt spid="32"/>
                                        </p:tgtEl>
                                        <p:attrNameLst>
                                          <p:attrName>style.visibility</p:attrName>
                                        </p:attrNameLst>
                                      </p:cBhvr>
                                      <p:to>
                                        <p:strVal val="visible"/>
                                      </p:to>
                                    </p:set>
                                    <p:animEffect transition="in" filter="fade">
                                      <p:cBhvr>
                                        <p:cTn id="82" dur="500"/>
                                        <p:tgtEl>
                                          <p:spTgt spid="32"/>
                                        </p:tgtEl>
                                      </p:cBhvr>
                                    </p:animEffect>
                                  </p:childTnLst>
                                </p:cTn>
                              </p:par>
                              <p:par>
                                <p:cTn id="84" presetID="10" presetClass="entr" presetSubtype="0" fill="hold" grpId="0" nodeType="withEffect">
                                  <p:stCondLst>
                                    <p:cond delay="160"/>
                                  </p:stCondLst>
                                  <p:childTnLst>
                                    <p:set>
                                      <p:cBhvr>
                                        <p:cTn id="83" dur="1" fill="hold">
                                          <p:stCondLst>
                                            <p:cond delay="0"/>
                                          </p:stCondLst>
                                        </p:cTn>
                                        <p:tgtEl>
                                          <p:spTgt spid="36"/>
                                        </p:tgtEl>
                                        <p:attrNameLst>
                                          <p:attrName>style.visibility</p:attrName>
                                        </p:attrNameLst>
                                      </p:cBhvr>
                                      <p:to>
                                        <p:strVal val="visible"/>
                                      </p:to>
                                    </p:set>
                                    <p:animEffect transition="in" filter="fade">
                                      <p:cBhvr>
                                        <p:cTn id="85" dur="500"/>
                                        <p:tgtEl>
                                          <p:spTgt spid="36"/>
                                        </p:tgtEl>
                                      </p:cBhvr>
                                    </p:animEffect>
                                  </p:childTnLst>
                                </p:cTn>
                              </p:par>
                              <p:par>
                                <p:cTn id="87" presetID="10" presetClass="entr" presetSubtype="0" fill="hold" grpId="0" nodeType="withEffect">
                                  <p:stCondLst>
                                    <p:cond delay="160"/>
                                  </p:stCondLst>
                                  <p:childTnLst>
                                    <p:set>
                                      <p:cBhvr>
                                        <p:cTn id="86" dur="1" fill="hold">
                                          <p:stCondLst>
                                            <p:cond delay="0"/>
                                          </p:stCondLst>
                                        </p:cTn>
                                        <p:tgtEl>
                                          <p:spTgt spid="37"/>
                                        </p:tgtEl>
                                        <p:attrNameLst>
                                          <p:attrName>style.visibility</p:attrName>
                                        </p:attrNameLst>
                                      </p:cBhvr>
                                      <p:to>
                                        <p:strVal val="visible"/>
                                      </p:to>
                                    </p:set>
                                    <p:animEffect transition="in" filter="fade">
                                      <p:cBhvr>
                                        <p:cTn id="88" dur="500"/>
                                        <p:tgtEl>
                                          <p:spTgt spid="37"/>
                                        </p:tgtEl>
                                      </p:cBhvr>
                                    </p:animEffect>
                                  </p:childTnLst>
                                </p:cTn>
                              </p:par>
                              <p:par>
                                <p:cTn id="90" presetID="10" presetClass="entr" presetSubtype="0" fill="hold" grpId="0" nodeType="withEffect">
                                  <p:stCondLst>
                                    <p:cond delay="240"/>
                                  </p:stCondLst>
                                  <p:childTnLst>
                                    <p:set>
                                      <p:cBhvr>
                                        <p:cTn id="89" dur="1" fill="hold">
                                          <p:stCondLst>
                                            <p:cond delay="0"/>
                                          </p:stCondLst>
                                        </p:cTn>
                                        <p:tgtEl>
                                          <p:spTgt spid="41"/>
                                        </p:tgtEl>
                                        <p:attrNameLst>
                                          <p:attrName>style.visibility</p:attrName>
                                        </p:attrNameLst>
                                      </p:cBhvr>
                                      <p:to>
                                        <p:strVal val="visible"/>
                                      </p:to>
                                    </p:set>
                                    <p:animEffect transition="in" filter="fade">
                                      <p:cBhvr>
                                        <p:cTn id="91" dur="500"/>
                                        <p:tgtEl>
                                          <p:spTgt spid="41"/>
                                        </p:tgtEl>
                                      </p:cBhvr>
                                    </p:animEffect>
                                  </p:childTnLst>
                                </p:cTn>
                              </p:par>
                              <p:par>
                                <p:cTn id="93" presetID="10" presetClass="entr" presetSubtype="0" fill="hold" grpId="0" nodeType="withEffect">
                                  <p:stCondLst>
                                    <p:cond delay="240"/>
                                  </p:stCondLst>
                                  <p:childTnLst>
                                    <p:set>
                                      <p:cBhvr>
                                        <p:cTn id="92" dur="1" fill="hold">
                                          <p:stCondLst>
                                            <p:cond delay="0"/>
                                          </p:stCondLst>
                                        </p:cTn>
                                        <p:tgtEl>
                                          <p:spTgt spid="42"/>
                                        </p:tgtEl>
                                        <p:attrNameLst>
                                          <p:attrName>style.visibility</p:attrName>
                                        </p:attrNameLst>
                                      </p:cBhvr>
                                      <p:to>
                                        <p:strVal val="visible"/>
                                      </p:to>
                                    </p:set>
                                    <p:animEffect transition="in" filter="fade">
                                      <p:cBhvr>
                                        <p:cTn id="94" dur="500"/>
                                        <p:tgtEl>
                                          <p:spTgt spid="42"/>
                                        </p:tgtEl>
                                      </p:cBhvr>
                                    </p:animEffect>
                                  </p:childTnLst>
                                </p:cTn>
                              </p:par>
                              <p:par>
                                <p:cTn id="96" presetID="10" presetClass="entr" presetSubtype="0" fill="hold" grpId="0" nodeType="withEffect">
                                  <p:stCondLst>
                                    <p:cond delay="320"/>
                                  </p:stCondLst>
                                  <p:childTnLst>
                                    <p:set>
                                      <p:cBhvr>
                                        <p:cTn id="95" dur="1" fill="hold">
                                          <p:stCondLst>
                                            <p:cond delay="0"/>
                                          </p:stCondLst>
                                        </p:cTn>
                                        <p:tgtEl>
                                          <p:spTgt spid="46"/>
                                        </p:tgtEl>
                                        <p:attrNameLst>
                                          <p:attrName>style.visibility</p:attrName>
                                        </p:attrNameLst>
                                      </p:cBhvr>
                                      <p:to>
                                        <p:strVal val="visible"/>
                                      </p:to>
                                    </p:set>
                                    <p:animEffect transition="in" filter="fade">
                                      <p:cBhvr>
                                        <p:cTn id="97" dur="500"/>
                                        <p:tgtEl>
                                          <p:spTgt spid="46"/>
                                        </p:tgtEl>
                                      </p:cBhvr>
                                    </p:animEffect>
                                  </p:childTnLst>
                                </p:cTn>
                              </p:par>
                              <p:par>
                                <p:cTn id="99" presetID="10" presetClass="entr" presetSubtype="0" fill="hold" grpId="0" nodeType="withEffect">
                                  <p:stCondLst>
                                    <p:cond delay="320"/>
                                  </p:stCondLst>
                                  <p:childTnLst>
                                    <p:set>
                                      <p:cBhvr>
                                        <p:cTn id="98" dur="1" fill="hold">
                                          <p:stCondLst>
                                            <p:cond delay="0"/>
                                          </p:stCondLst>
                                        </p:cTn>
                                        <p:tgtEl>
                                          <p:spTgt spid="47"/>
                                        </p:tgtEl>
                                        <p:attrNameLst>
                                          <p:attrName>style.visibility</p:attrName>
                                        </p:attrNameLst>
                                      </p:cBhvr>
                                      <p:to>
                                        <p:strVal val="visible"/>
                                      </p:to>
                                    </p:set>
                                    <p:animEffect transition="in" filter="fade">
                                      <p:cBhvr>
                                        <p:cTn id="100" dur="500"/>
                                        <p:tgtEl>
                                          <p:spTgt spid="47"/>
                                        </p:tgtEl>
                                      </p:cBhvr>
                                    </p:animEffect>
                                  </p:childTnLst>
                                </p:cTn>
                              </p:par>
                              <p:par>
                                <p:cTn id="102" presetID="10" presetClass="entr" presetSubtype="0" fill="hold" grpId="0" nodeType="withEffect">
                                  <p:stCondLst>
                                    <p:cond delay="400"/>
                                  </p:stCondLst>
                                  <p:childTnLst>
                                    <p:set>
                                      <p:cBhvr>
                                        <p:cTn id="101" dur="1" fill="hold">
                                          <p:stCondLst>
                                            <p:cond delay="0"/>
                                          </p:stCondLst>
                                        </p:cTn>
                                        <p:tgtEl>
                                          <p:spTgt spid="51"/>
                                        </p:tgtEl>
                                        <p:attrNameLst>
                                          <p:attrName>style.visibility</p:attrName>
                                        </p:attrNameLst>
                                      </p:cBhvr>
                                      <p:to>
                                        <p:strVal val="visible"/>
                                      </p:to>
                                    </p:set>
                                    <p:animEffect transition="in" filter="fade">
                                      <p:cBhvr>
                                        <p:cTn id="103" dur="500"/>
                                        <p:tgtEl>
                                          <p:spTgt spid="51"/>
                                        </p:tgtEl>
                                      </p:cBhvr>
                                    </p:animEffect>
                                  </p:childTnLst>
                                </p:cTn>
                              </p:par>
                              <p:par>
                                <p:cTn id="105" presetID="10" presetClass="entr" presetSubtype="0" fill="hold" grpId="0" nodeType="withEffect">
                                  <p:stCondLst>
                                    <p:cond delay="400"/>
                                  </p:stCondLst>
                                  <p:childTnLst>
                                    <p:set>
                                      <p:cBhvr>
                                        <p:cTn id="104" dur="1" fill="hold">
                                          <p:stCondLst>
                                            <p:cond delay="0"/>
                                          </p:stCondLst>
                                        </p:cTn>
                                        <p:tgtEl>
                                          <p:spTgt spid="52"/>
                                        </p:tgtEl>
                                        <p:attrNameLst>
                                          <p:attrName>style.visibility</p:attrName>
                                        </p:attrNameLst>
                                      </p:cBhvr>
                                      <p:to>
                                        <p:strVal val="visible"/>
                                      </p:to>
                                    </p:set>
                                    <p:animEffect transition="in" filter="fade">
                                      <p:cBhvr>
                                        <p:cTn id="106" dur="500"/>
                                        <p:tgtEl>
                                          <p:spTgt spid="52"/>
                                        </p:tgtEl>
                                      </p:cBhvr>
                                    </p:animEffect>
                                  </p:childTnLst>
                                </p:cTn>
                              </p:par>
                              <p:par>
                                <p:cTn id="108" presetID="10" presetClass="entr" presetSubtype="0" fill="hold" grpId="0" nodeType="withEffect">
                                  <p:stCondLst>
                                    <p:cond delay="480"/>
                                  </p:stCondLst>
                                  <p:childTnLst>
                                    <p:set>
                                      <p:cBhvr>
                                        <p:cTn id="107" dur="1" fill="hold">
                                          <p:stCondLst>
                                            <p:cond delay="0"/>
                                          </p:stCondLst>
                                        </p:cTn>
                                        <p:tgtEl>
                                          <p:spTgt spid="56"/>
                                        </p:tgtEl>
                                        <p:attrNameLst>
                                          <p:attrName>style.visibility</p:attrName>
                                        </p:attrNameLst>
                                      </p:cBhvr>
                                      <p:to>
                                        <p:strVal val="visible"/>
                                      </p:to>
                                    </p:set>
                                    <p:animEffect transition="in" filter="fade">
                                      <p:cBhvr>
                                        <p:cTn id="109" dur="500"/>
                                        <p:tgtEl>
                                          <p:spTgt spid="56"/>
                                        </p:tgtEl>
                                      </p:cBhvr>
                                    </p:animEffect>
                                  </p:childTnLst>
                                </p:cTn>
                              </p:par>
                              <p:par>
                                <p:cTn id="111" presetID="10" presetClass="entr" presetSubtype="0" fill="hold" grpId="0" nodeType="withEffect">
                                  <p:stCondLst>
                                    <p:cond delay="560"/>
                                  </p:stCondLst>
                                  <p:childTnLst>
                                    <p:set>
                                      <p:cBhvr>
                                        <p:cTn id="110" dur="1" fill="hold">
                                          <p:stCondLst>
                                            <p:cond delay="0"/>
                                          </p:stCondLst>
                                        </p:cTn>
                                        <p:tgtEl>
                                          <p:spTgt spid="60"/>
                                        </p:tgtEl>
                                        <p:attrNameLst>
                                          <p:attrName>style.visibility</p:attrName>
                                        </p:attrNameLst>
                                      </p:cBhvr>
                                      <p:to>
                                        <p:strVal val="visible"/>
                                      </p:to>
                                    </p:set>
                                    <p:animEffect transition="in" filter="fade">
                                      <p:cBhvr>
                                        <p:cTn id="112" dur="500"/>
                                        <p:tgtEl>
                                          <p:spTgt spid="60"/>
                                        </p:tgtEl>
                                      </p:cBhvr>
                                    </p:animEffect>
                                  </p:childTnLst>
                                </p:cTn>
                              </p:par>
                              <p:par>
                                <p:cTn id="114" presetID="10" presetClass="entr" presetSubtype="0" fill="hold" grpId="0" nodeType="withEffect">
                                  <p:stCondLst>
                                    <p:cond delay="560"/>
                                  </p:stCondLst>
                                  <p:childTnLst>
                                    <p:set>
                                      <p:cBhvr>
                                        <p:cTn id="113" dur="1" fill="hold">
                                          <p:stCondLst>
                                            <p:cond delay="0"/>
                                          </p:stCondLst>
                                        </p:cTn>
                                        <p:tgtEl>
                                          <p:spTgt spid="61"/>
                                        </p:tgtEl>
                                        <p:attrNameLst>
                                          <p:attrName>style.visibility</p:attrName>
                                        </p:attrNameLst>
                                      </p:cBhvr>
                                      <p:to>
                                        <p:strVal val="visible"/>
                                      </p:to>
                                    </p:set>
                                    <p:animEffect transition="in" filter="fade">
                                      <p:cBhvr>
                                        <p:cTn id="115" dur="500"/>
                                        <p:tgtEl>
                                          <p:spTgt spid="61"/>
                                        </p:tgtEl>
                                      </p:cBhvr>
                                    </p:animEffect>
                                  </p:childTnLst>
                                </p:cTn>
                              </p:par>
                            </p:childTnLst>
                          </p:cTn>
                        </p:par>
                      </p:childTnLst>
                    </p:cTn>
                  </p:par>
                  <p:par>
                    <p:cTn id="116" fill="hold">
                      <p:stCondLst>
                        <p:cond delay="indefinite"/>
                      </p:stCondLst>
                      <p:childTnLst>
                        <p:par>
                          <p:cTn id="117" fill="hold">
                            <p:stCondLst>
                              <p:cond delay="0"/>
                            </p:stCondLst>
                            <p:childTnLst>
                              <p:par>
                                <p:cTn id="119" presetID="10" presetClass="entr" presetSubtype="0" fill="hold" grpId="0" nodeType="click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fade">
                                      <p:cBhvr>
                                        <p:cTn id="120" dur="500"/>
                                        <p:tgtEl>
                                          <p:spTgt spid="25"/>
                                        </p:tgtEl>
                                      </p:cBhvr>
                                    </p:animEffect>
                                  </p:childTnLst>
                                </p:cTn>
                              </p:par>
                              <p:par>
                                <p:cTn id="122" presetID="53" presetClass="entr" presetSubtype="16" fill="hold" grpId="0" nodeType="withEffect">
                                  <p:stCondLst>
                                    <p:cond delay="0"/>
                                  </p:stCondLst>
                                  <p:childTnLst>
                                    <p:set>
                                      <p:cBhvr>
                                        <p:cTn id="121" dur="1" fill="hold">
                                          <p:stCondLst>
                                            <p:cond delay="0"/>
                                          </p:stCondLst>
                                        </p:cTn>
                                        <p:tgtEl>
                                          <p:spTgt spid="65"/>
                                        </p:tgtEl>
                                        <p:attrNameLst>
                                          <p:attrName>style.visibility</p:attrName>
                                        </p:attrNameLst>
                                      </p:cBhvr>
                                      <p:to>
                                        <p:strVal val="visible"/>
                                      </p:to>
                                    </p:set>
                                    <p:anim calcmode="lin" valueType="num">
                                      <p:cBhvr>
                                        <p:cTn id="123" dur="500" fill="hold"/>
                                        <p:tgtEl>
                                          <p:spTgt spid="65"/>
                                        </p:tgtEl>
                                        <p:attrNameLst>
                                          <p:attrName>ppt_w</p:attrName>
                                        </p:attrNameLst>
                                      </p:cBhvr>
                                      <p:tavLst>
                                        <p:tav tm="0">
                                          <p:val>
                                            <p:fltVal val="0"/>
                                          </p:val>
                                        </p:tav>
                                        <p:tav tm="100000">
                                          <p:val>
                                            <p:strVal val="#ppt_w"/>
                                          </p:val>
                                        </p:tav>
                                      </p:tavLst>
                                    </p:anim>
                                    <p:anim calcmode="lin" valueType="num">
                                      <p:cBhvr>
                                        <p:cTn id="124" dur="500" fill="hold"/>
                                        <p:tgtEl>
                                          <p:spTgt spid="65"/>
                                        </p:tgtEl>
                                        <p:attrNameLst>
                                          <p:attrName>ppt_h</p:attrName>
                                        </p:attrNameLst>
                                      </p:cBhvr>
                                      <p:tavLst>
                                        <p:tav tm="0">
                                          <p:val>
                                            <p:fltVal val="0"/>
                                          </p:val>
                                        </p:tav>
                                        <p:tav tm="100000">
                                          <p:val>
                                            <p:strVal val="#ppt_h"/>
                                          </p:val>
                                        </p:tav>
                                      </p:tavLst>
                                    </p:anim>
                                    <p:animEffect transition="in" filter="fade">
                                      <p:cBhvr>
                                        <p:cTn id="125" dur="500"/>
                                        <p:tgtEl>
                                          <p:spTgt spid="65"/>
                                        </p:tgtEl>
                                      </p:cBhvr>
                                    </p:animEffect>
                                  </p:childTnLst>
                                </p:cTn>
                              </p:par>
                              <p:par>
                                <p:cTn id="127" presetID="22" presetClass="entr" presetSubtype="8" fill="hold" grpId="0" nodeType="withEffect">
                                  <p:stCondLst>
                                    <p:cond delay="150"/>
                                  </p:stCondLst>
                                  <p:childTnLst>
                                    <p:set>
                                      <p:cBhvr>
                                        <p:cTn id="126" dur="1" fill="hold">
                                          <p:stCondLst>
                                            <p:cond delay="0"/>
                                          </p:stCondLst>
                                        </p:cTn>
                                        <p:tgtEl>
                                          <p:spTgt spid="66"/>
                                        </p:tgtEl>
                                        <p:attrNameLst>
                                          <p:attrName>style.visibility</p:attrName>
                                        </p:attrNameLst>
                                      </p:cBhvr>
                                      <p:to>
                                        <p:strVal val="visible"/>
                                      </p:to>
                                    </p:set>
                                    <p:animEffect transition="in" filter="wipe(left)">
                                      <p:cBhvr>
                                        <p:cTn id="128" dur="450"/>
                                        <p:tgtEl>
                                          <p:spTgt spid="66"/>
                                        </p:tgtEl>
                                      </p:cBhvr>
                                    </p:animEffect>
                                  </p:childTnLst>
                                </p:cTn>
                              </p:par>
                              <p:par>
                                <p:cTn id="130" presetID="10" presetClass="entr" presetSubtype="0" fill="hold" grpId="0" nodeType="withEffect">
                                  <p:stCondLst>
                                    <p:cond delay="30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1" dur="500"/>
                                        <p:tgtEl>
                                          <p:spTgt spid="28"/>
                                        </p:tgtEl>
                                      </p:cBhvr>
                                    </p:animEffect>
                                  </p:childTnLst>
                                </p:cTn>
                              </p:par>
                              <p:par>
                                <p:cTn id="133" presetID="22" presetClass="entr" presetSubtype="8" fill="hold" grpId="0" nodeType="withEffect">
                                  <p:stCondLst>
                                    <p:cond delay="300"/>
                                  </p:stCondLst>
                                  <p:childTnLst>
                                    <p:set>
                                      <p:cBhvr>
                                        <p:cTn id="132" dur="1" fill="hold">
                                          <p:stCondLst>
                                            <p:cond delay="0"/>
                                          </p:stCondLst>
                                        </p:cTn>
                                        <p:tgtEl>
                                          <p:spTgt spid="29"/>
                                        </p:tgtEl>
                                        <p:attrNameLst>
                                          <p:attrName>style.visibility</p:attrName>
                                        </p:attrNameLst>
                                      </p:cBhvr>
                                      <p:to>
                                        <p:strVal val="visible"/>
                                      </p:to>
                                    </p:set>
                                    <p:animEffect transition="in" filter="wipe(left)">
                                      <p:cBhvr>
                                        <p:cTn id="134" dur="450"/>
                                        <p:tgtEl>
                                          <p:spTgt spid="29"/>
                                        </p:tgtEl>
                                      </p:cBhvr>
                                    </p:animEffect>
                                  </p:childTnLst>
                                </p:cTn>
                              </p:par>
                              <p:par>
                                <p:cTn id="136" presetID="10" presetClass="entr" presetSubtype="0" fill="hold" grpId="0" nodeType="withEffect">
                                  <p:stCondLst>
                                    <p:cond delay="39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7" dur="500"/>
                                        <p:tgtEl>
                                          <p:spTgt spid="33"/>
                                        </p:tgtEl>
                                      </p:cBhvr>
                                    </p:animEffect>
                                  </p:childTnLst>
                                </p:cTn>
                              </p:par>
                              <p:par>
                                <p:cTn id="139" presetID="22" presetClass="entr" presetSubtype="8" fill="hold" grpId="0" nodeType="withEffect">
                                  <p:stCondLst>
                                    <p:cond delay="390"/>
                                  </p:stCondLst>
                                  <p:childTnLst>
                                    <p:set>
                                      <p:cBhvr>
                                        <p:cTn id="138" dur="1" fill="hold">
                                          <p:stCondLst>
                                            <p:cond delay="0"/>
                                          </p:stCondLst>
                                        </p:cTn>
                                        <p:tgtEl>
                                          <p:spTgt spid="34"/>
                                        </p:tgtEl>
                                        <p:attrNameLst>
                                          <p:attrName>style.visibility</p:attrName>
                                        </p:attrNameLst>
                                      </p:cBhvr>
                                      <p:to>
                                        <p:strVal val="visible"/>
                                      </p:to>
                                    </p:set>
                                    <p:animEffect transition="in" filter="wipe(left)">
                                      <p:cBhvr>
                                        <p:cTn id="140" dur="450"/>
                                        <p:tgtEl>
                                          <p:spTgt spid="34"/>
                                        </p:tgtEl>
                                      </p:cBhvr>
                                    </p:animEffect>
                                  </p:childTnLst>
                                </p:cTn>
                              </p:par>
                              <p:par>
                                <p:cTn id="142" presetID="10" presetClass="entr" presetSubtype="0" fill="hold" grpId="0" nodeType="withEffect">
                                  <p:stCondLst>
                                    <p:cond delay="40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3" dur="500"/>
                                        <p:tgtEl>
                                          <p:spTgt spid="30"/>
                                        </p:tgtEl>
                                      </p:cBhvr>
                                    </p:animEffect>
                                  </p:childTnLst>
                                </p:cTn>
                              </p:par>
                              <p:par>
                                <p:cTn id="145" presetID="10" presetClass="entr" presetSubtype="0" fill="hold" grpId="0" nodeType="withEffect">
                                  <p:stCondLst>
                                    <p:cond delay="480"/>
                                  </p:stCondLst>
                                  <p:childTnLst>
                                    <p:set>
                                      <p:cBhvr>
                                        <p:cTn id="144" dur="1" fill="hold">
                                          <p:stCondLst>
                                            <p:cond delay="0"/>
                                          </p:stCondLst>
                                        </p:cTn>
                                        <p:tgtEl>
                                          <p:spTgt spid="38"/>
                                        </p:tgtEl>
                                        <p:attrNameLst>
                                          <p:attrName>style.visibility</p:attrName>
                                        </p:attrNameLst>
                                      </p:cBhvr>
                                      <p:to>
                                        <p:strVal val="visible"/>
                                      </p:to>
                                    </p:set>
                                    <p:animEffect transition="in" filter="fade">
                                      <p:cBhvr>
                                        <p:cTn id="146" dur="500"/>
                                        <p:tgtEl>
                                          <p:spTgt spid="38"/>
                                        </p:tgtEl>
                                      </p:cBhvr>
                                    </p:animEffect>
                                  </p:childTnLst>
                                </p:cTn>
                              </p:par>
                              <p:par>
                                <p:cTn id="148" presetID="22" presetClass="entr" presetSubtype="8" fill="hold" grpId="0" nodeType="withEffect">
                                  <p:stCondLst>
                                    <p:cond delay="480"/>
                                  </p:stCondLst>
                                  <p:childTnLst>
                                    <p:set>
                                      <p:cBhvr>
                                        <p:cTn id="147" dur="1" fill="hold">
                                          <p:stCondLst>
                                            <p:cond delay="0"/>
                                          </p:stCondLst>
                                        </p:cTn>
                                        <p:tgtEl>
                                          <p:spTgt spid="39"/>
                                        </p:tgtEl>
                                        <p:attrNameLst>
                                          <p:attrName>style.visibility</p:attrName>
                                        </p:attrNameLst>
                                      </p:cBhvr>
                                      <p:to>
                                        <p:strVal val="visible"/>
                                      </p:to>
                                    </p:set>
                                    <p:animEffect transition="in" filter="wipe(left)">
                                      <p:cBhvr>
                                        <p:cTn id="149" dur="450"/>
                                        <p:tgtEl>
                                          <p:spTgt spid="39"/>
                                        </p:tgtEl>
                                      </p:cBhvr>
                                    </p:animEffect>
                                  </p:childTnLst>
                                </p:cTn>
                              </p:par>
                              <p:par>
                                <p:cTn id="151" presetID="10" presetClass="entr" presetSubtype="0" fill="hold" grpId="0" nodeType="withEffect">
                                  <p:stCondLst>
                                    <p:cond delay="49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2" dur="500"/>
                                        <p:tgtEl>
                                          <p:spTgt spid="35"/>
                                        </p:tgtEl>
                                      </p:cBhvr>
                                    </p:animEffect>
                                  </p:childTnLst>
                                </p:cTn>
                              </p:par>
                              <p:par>
                                <p:cTn id="154" presetID="10" presetClass="entr" presetSubtype="0" fill="hold" grpId="0" nodeType="withEffect">
                                  <p:stCondLst>
                                    <p:cond delay="570"/>
                                  </p:stCondLst>
                                  <p:childTnLst>
                                    <p:set>
                                      <p:cBhvr>
                                        <p:cTn id="153" dur="1" fill="hold">
                                          <p:stCondLst>
                                            <p:cond delay="0"/>
                                          </p:stCondLst>
                                        </p:cTn>
                                        <p:tgtEl>
                                          <p:spTgt spid="43"/>
                                        </p:tgtEl>
                                        <p:attrNameLst>
                                          <p:attrName>style.visibility</p:attrName>
                                        </p:attrNameLst>
                                      </p:cBhvr>
                                      <p:to>
                                        <p:strVal val="visible"/>
                                      </p:to>
                                    </p:set>
                                    <p:animEffect transition="in" filter="fade">
                                      <p:cBhvr>
                                        <p:cTn id="155" dur="500"/>
                                        <p:tgtEl>
                                          <p:spTgt spid="43"/>
                                        </p:tgtEl>
                                      </p:cBhvr>
                                    </p:animEffect>
                                  </p:childTnLst>
                                </p:cTn>
                              </p:par>
                              <p:par>
                                <p:cTn id="157" presetID="22" presetClass="entr" presetSubtype="8" fill="hold" grpId="0" nodeType="withEffect">
                                  <p:stCondLst>
                                    <p:cond delay="570"/>
                                  </p:stCondLst>
                                  <p:childTnLst>
                                    <p:set>
                                      <p:cBhvr>
                                        <p:cTn id="156" dur="1" fill="hold">
                                          <p:stCondLst>
                                            <p:cond delay="0"/>
                                          </p:stCondLst>
                                        </p:cTn>
                                        <p:tgtEl>
                                          <p:spTgt spid="44"/>
                                        </p:tgtEl>
                                        <p:attrNameLst>
                                          <p:attrName>style.visibility</p:attrName>
                                        </p:attrNameLst>
                                      </p:cBhvr>
                                      <p:to>
                                        <p:strVal val="visible"/>
                                      </p:to>
                                    </p:set>
                                    <p:animEffect transition="in" filter="wipe(left)">
                                      <p:cBhvr>
                                        <p:cTn id="158" dur="450"/>
                                        <p:tgtEl>
                                          <p:spTgt spid="44"/>
                                        </p:tgtEl>
                                      </p:cBhvr>
                                    </p:animEffect>
                                  </p:childTnLst>
                                </p:cTn>
                              </p:par>
                              <p:par>
                                <p:cTn id="160" presetID="10" presetClass="entr" presetSubtype="0" fill="hold" grpId="0" nodeType="withEffect">
                                  <p:stCondLst>
                                    <p:cond delay="580"/>
                                  </p:stCondLst>
                                  <p:childTnLst>
                                    <p:set>
                                      <p:cBhvr>
                                        <p:cTn id="159" dur="1" fill="hold">
                                          <p:stCondLst>
                                            <p:cond delay="0"/>
                                          </p:stCondLst>
                                        </p:cTn>
                                        <p:tgtEl>
                                          <p:spTgt spid="40"/>
                                        </p:tgtEl>
                                        <p:attrNameLst>
                                          <p:attrName>style.visibility</p:attrName>
                                        </p:attrNameLst>
                                      </p:cBhvr>
                                      <p:to>
                                        <p:strVal val="visible"/>
                                      </p:to>
                                    </p:set>
                                    <p:animEffect transition="in" filter="fade">
                                      <p:cBhvr>
                                        <p:cTn id="161" dur="500"/>
                                        <p:tgtEl>
                                          <p:spTgt spid="40"/>
                                        </p:tgtEl>
                                      </p:cBhvr>
                                    </p:animEffect>
                                  </p:childTnLst>
                                </p:cTn>
                              </p:par>
                              <p:par>
                                <p:cTn id="163" presetID="10" presetClass="entr" presetSubtype="0" fill="hold" grpId="0" nodeType="withEffect">
                                  <p:stCondLst>
                                    <p:cond delay="660"/>
                                  </p:stCondLst>
                                  <p:childTnLst>
                                    <p:set>
                                      <p:cBhvr>
                                        <p:cTn id="162" dur="1" fill="hold">
                                          <p:stCondLst>
                                            <p:cond delay="0"/>
                                          </p:stCondLst>
                                        </p:cTn>
                                        <p:tgtEl>
                                          <p:spTgt spid="48"/>
                                        </p:tgtEl>
                                        <p:attrNameLst>
                                          <p:attrName>style.visibility</p:attrName>
                                        </p:attrNameLst>
                                      </p:cBhvr>
                                      <p:to>
                                        <p:strVal val="visible"/>
                                      </p:to>
                                    </p:set>
                                    <p:animEffect transition="in" filter="fade">
                                      <p:cBhvr>
                                        <p:cTn id="164" dur="500"/>
                                        <p:tgtEl>
                                          <p:spTgt spid="48"/>
                                        </p:tgtEl>
                                      </p:cBhvr>
                                    </p:animEffect>
                                  </p:childTnLst>
                                </p:cTn>
                              </p:par>
                              <p:par>
                                <p:cTn id="166" presetID="22" presetClass="entr" presetSubtype="8" fill="hold" grpId="0" nodeType="withEffect">
                                  <p:stCondLst>
                                    <p:cond delay="660"/>
                                  </p:stCondLst>
                                  <p:childTnLst>
                                    <p:set>
                                      <p:cBhvr>
                                        <p:cTn id="165" dur="1" fill="hold">
                                          <p:stCondLst>
                                            <p:cond delay="0"/>
                                          </p:stCondLst>
                                        </p:cTn>
                                        <p:tgtEl>
                                          <p:spTgt spid="49"/>
                                        </p:tgtEl>
                                        <p:attrNameLst>
                                          <p:attrName>style.visibility</p:attrName>
                                        </p:attrNameLst>
                                      </p:cBhvr>
                                      <p:to>
                                        <p:strVal val="visible"/>
                                      </p:to>
                                    </p:set>
                                    <p:animEffect transition="in" filter="wipe(left)">
                                      <p:cBhvr>
                                        <p:cTn id="167" dur="450"/>
                                        <p:tgtEl>
                                          <p:spTgt spid="49"/>
                                        </p:tgtEl>
                                      </p:cBhvr>
                                    </p:animEffect>
                                  </p:childTnLst>
                                </p:cTn>
                              </p:par>
                              <p:par>
                                <p:cTn id="169" presetID="10" presetClass="entr" presetSubtype="0" fill="hold" grpId="0" nodeType="withEffect">
                                  <p:stCondLst>
                                    <p:cond delay="67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70" dur="500"/>
                                        <p:tgtEl>
                                          <p:spTgt spid="45"/>
                                        </p:tgtEl>
                                      </p:cBhvr>
                                    </p:animEffect>
                                  </p:childTnLst>
                                </p:cTn>
                              </p:par>
                              <p:par>
                                <p:cTn id="172" presetID="10" presetClass="entr" presetSubtype="0" fill="hold" grpId="0" nodeType="withEffect">
                                  <p:stCondLst>
                                    <p:cond delay="750"/>
                                  </p:stCondLst>
                                  <p:childTnLst>
                                    <p:set>
                                      <p:cBhvr>
                                        <p:cTn id="171" dur="1" fill="hold">
                                          <p:stCondLst>
                                            <p:cond delay="0"/>
                                          </p:stCondLst>
                                        </p:cTn>
                                        <p:tgtEl>
                                          <p:spTgt spid="53"/>
                                        </p:tgtEl>
                                        <p:attrNameLst>
                                          <p:attrName>style.visibility</p:attrName>
                                        </p:attrNameLst>
                                      </p:cBhvr>
                                      <p:to>
                                        <p:strVal val="visible"/>
                                      </p:to>
                                    </p:set>
                                    <p:animEffect transition="in" filter="fade">
                                      <p:cBhvr>
                                        <p:cTn id="173" dur="500"/>
                                        <p:tgtEl>
                                          <p:spTgt spid="53"/>
                                        </p:tgtEl>
                                      </p:cBhvr>
                                    </p:animEffect>
                                  </p:childTnLst>
                                </p:cTn>
                              </p:par>
                              <p:par>
                                <p:cTn id="175" presetID="22" presetClass="entr" presetSubtype="8" fill="hold" grpId="0" nodeType="withEffect">
                                  <p:stCondLst>
                                    <p:cond delay="750"/>
                                  </p:stCondLst>
                                  <p:childTnLst>
                                    <p:set>
                                      <p:cBhvr>
                                        <p:cTn id="174" dur="1" fill="hold">
                                          <p:stCondLst>
                                            <p:cond delay="0"/>
                                          </p:stCondLst>
                                        </p:cTn>
                                        <p:tgtEl>
                                          <p:spTgt spid="54"/>
                                        </p:tgtEl>
                                        <p:attrNameLst>
                                          <p:attrName>style.visibility</p:attrName>
                                        </p:attrNameLst>
                                      </p:cBhvr>
                                      <p:to>
                                        <p:strVal val="visible"/>
                                      </p:to>
                                    </p:set>
                                    <p:animEffect transition="in" filter="wipe(left)">
                                      <p:cBhvr>
                                        <p:cTn id="176" dur="450"/>
                                        <p:tgtEl>
                                          <p:spTgt spid="54"/>
                                        </p:tgtEl>
                                      </p:cBhvr>
                                    </p:animEffect>
                                  </p:childTnLst>
                                </p:cTn>
                              </p:par>
                              <p:par>
                                <p:cTn id="178" presetID="10" presetClass="entr" presetSubtype="0" fill="hold" grpId="0" nodeType="withEffect">
                                  <p:stCondLst>
                                    <p:cond delay="760"/>
                                  </p:stCondLst>
                                  <p:childTnLst>
                                    <p:set>
                                      <p:cBhvr>
                                        <p:cTn id="177" dur="1" fill="hold">
                                          <p:stCondLst>
                                            <p:cond delay="0"/>
                                          </p:stCondLst>
                                        </p:cTn>
                                        <p:tgtEl>
                                          <p:spTgt spid="50"/>
                                        </p:tgtEl>
                                        <p:attrNameLst>
                                          <p:attrName>style.visibility</p:attrName>
                                        </p:attrNameLst>
                                      </p:cBhvr>
                                      <p:to>
                                        <p:strVal val="visible"/>
                                      </p:to>
                                    </p:set>
                                    <p:animEffect transition="in" filter="fade">
                                      <p:cBhvr>
                                        <p:cTn id="179" dur="500"/>
                                        <p:tgtEl>
                                          <p:spTgt spid="50"/>
                                        </p:tgtEl>
                                      </p:cBhvr>
                                    </p:animEffect>
                                  </p:childTnLst>
                                </p:cTn>
                              </p:par>
                              <p:par>
                                <p:cTn id="181" presetID="10" presetClass="entr" presetSubtype="0" fill="hold" grpId="0" nodeType="withEffect">
                                  <p:stCondLst>
                                    <p:cond delay="840"/>
                                  </p:stCondLst>
                                  <p:childTnLst>
                                    <p:set>
                                      <p:cBhvr>
                                        <p:cTn id="180" dur="1" fill="hold">
                                          <p:stCondLst>
                                            <p:cond delay="0"/>
                                          </p:stCondLst>
                                        </p:cTn>
                                        <p:tgtEl>
                                          <p:spTgt spid="57"/>
                                        </p:tgtEl>
                                        <p:attrNameLst>
                                          <p:attrName>style.visibility</p:attrName>
                                        </p:attrNameLst>
                                      </p:cBhvr>
                                      <p:to>
                                        <p:strVal val="visible"/>
                                      </p:to>
                                    </p:set>
                                    <p:animEffect transition="in" filter="fade">
                                      <p:cBhvr>
                                        <p:cTn id="182" dur="500"/>
                                        <p:tgtEl>
                                          <p:spTgt spid="57"/>
                                        </p:tgtEl>
                                      </p:cBhvr>
                                    </p:animEffect>
                                  </p:childTnLst>
                                </p:cTn>
                              </p:par>
                              <p:par>
                                <p:cTn id="184" presetID="22" presetClass="entr" presetSubtype="8" fill="hold" grpId="0" nodeType="withEffect">
                                  <p:stCondLst>
                                    <p:cond delay="840"/>
                                  </p:stCondLst>
                                  <p:childTnLst>
                                    <p:set>
                                      <p:cBhvr>
                                        <p:cTn id="183" dur="1" fill="hold">
                                          <p:stCondLst>
                                            <p:cond delay="0"/>
                                          </p:stCondLst>
                                        </p:cTn>
                                        <p:tgtEl>
                                          <p:spTgt spid="58"/>
                                        </p:tgtEl>
                                        <p:attrNameLst>
                                          <p:attrName>style.visibility</p:attrName>
                                        </p:attrNameLst>
                                      </p:cBhvr>
                                      <p:to>
                                        <p:strVal val="visible"/>
                                      </p:to>
                                    </p:set>
                                    <p:animEffect transition="in" filter="wipe(left)">
                                      <p:cBhvr>
                                        <p:cTn id="185" dur="450"/>
                                        <p:tgtEl>
                                          <p:spTgt spid="58"/>
                                        </p:tgtEl>
                                      </p:cBhvr>
                                    </p:animEffect>
                                  </p:childTnLst>
                                </p:cTn>
                              </p:par>
                              <p:par>
                                <p:cTn id="187" presetID="10" presetClass="entr" presetSubtype="0" fill="hold" grpId="0" nodeType="withEffect">
                                  <p:stCondLst>
                                    <p:cond delay="850"/>
                                  </p:stCondLst>
                                  <p:childTnLst>
                                    <p:set>
                                      <p:cBhvr>
                                        <p:cTn id="186" dur="1" fill="hold">
                                          <p:stCondLst>
                                            <p:cond delay="0"/>
                                          </p:stCondLst>
                                        </p:cTn>
                                        <p:tgtEl>
                                          <p:spTgt spid="55"/>
                                        </p:tgtEl>
                                        <p:attrNameLst>
                                          <p:attrName>style.visibility</p:attrName>
                                        </p:attrNameLst>
                                      </p:cBhvr>
                                      <p:to>
                                        <p:strVal val="visible"/>
                                      </p:to>
                                    </p:set>
                                    <p:animEffect transition="in" filter="fade">
                                      <p:cBhvr>
                                        <p:cTn id="188" dur="500"/>
                                        <p:tgtEl>
                                          <p:spTgt spid="55"/>
                                        </p:tgtEl>
                                      </p:cBhvr>
                                    </p:animEffect>
                                  </p:childTnLst>
                                </p:cTn>
                              </p:par>
                              <p:par>
                                <p:cTn id="190" presetID="10" presetClass="entr" presetSubtype="0" fill="hold" grpId="0" nodeType="withEffect">
                                  <p:stCondLst>
                                    <p:cond delay="930"/>
                                  </p:stCondLst>
                                  <p:childTnLst>
                                    <p:set>
                                      <p:cBhvr>
                                        <p:cTn id="189" dur="1" fill="hold">
                                          <p:stCondLst>
                                            <p:cond delay="0"/>
                                          </p:stCondLst>
                                        </p:cTn>
                                        <p:tgtEl>
                                          <p:spTgt spid="62"/>
                                        </p:tgtEl>
                                        <p:attrNameLst>
                                          <p:attrName>style.visibility</p:attrName>
                                        </p:attrNameLst>
                                      </p:cBhvr>
                                      <p:to>
                                        <p:strVal val="visible"/>
                                      </p:to>
                                    </p:set>
                                    <p:animEffect transition="in" filter="fade">
                                      <p:cBhvr>
                                        <p:cTn id="191" dur="500"/>
                                        <p:tgtEl>
                                          <p:spTgt spid="62"/>
                                        </p:tgtEl>
                                      </p:cBhvr>
                                    </p:animEffect>
                                  </p:childTnLst>
                                </p:cTn>
                              </p:par>
                              <p:par>
                                <p:cTn id="193" presetID="22" presetClass="entr" presetSubtype="8" fill="hold" grpId="0" nodeType="withEffect">
                                  <p:stCondLst>
                                    <p:cond delay="930"/>
                                  </p:stCondLst>
                                  <p:childTnLst>
                                    <p:set>
                                      <p:cBhvr>
                                        <p:cTn id="192" dur="1" fill="hold">
                                          <p:stCondLst>
                                            <p:cond delay="0"/>
                                          </p:stCondLst>
                                        </p:cTn>
                                        <p:tgtEl>
                                          <p:spTgt spid="63"/>
                                        </p:tgtEl>
                                        <p:attrNameLst>
                                          <p:attrName>style.visibility</p:attrName>
                                        </p:attrNameLst>
                                      </p:cBhvr>
                                      <p:to>
                                        <p:strVal val="visible"/>
                                      </p:to>
                                    </p:set>
                                    <p:animEffect transition="in" filter="wipe(left)">
                                      <p:cBhvr>
                                        <p:cTn id="194" dur="450"/>
                                        <p:tgtEl>
                                          <p:spTgt spid="63"/>
                                        </p:tgtEl>
                                      </p:cBhvr>
                                    </p:animEffect>
                                  </p:childTnLst>
                                </p:cTn>
                              </p:par>
                              <p:par>
                                <p:cTn id="196" presetID="10" presetClass="entr" presetSubtype="0" fill="hold" grpId="0" nodeType="withEffect">
                                  <p:stCondLst>
                                    <p:cond delay="940"/>
                                  </p:stCondLst>
                                  <p:childTnLst>
                                    <p:set>
                                      <p:cBhvr>
                                        <p:cTn id="195" dur="1" fill="hold">
                                          <p:stCondLst>
                                            <p:cond delay="0"/>
                                          </p:stCondLst>
                                        </p:cTn>
                                        <p:tgtEl>
                                          <p:spTgt spid="59"/>
                                        </p:tgtEl>
                                        <p:attrNameLst>
                                          <p:attrName>style.visibility</p:attrName>
                                        </p:attrNameLst>
                                      </p:cBhvr>
                                      <p:to>
                                        <p:strVal val="visible"/>
                                      </p:to>
                                    </p:set>
                                    <p:animEffect transition="in" filter="fade">
                                      <p:cBhvr>
                                        <p:cTn id="197" dur="500"/>
                                        <p:tgtEl>
                                          <p:spTgt spid="59"/>
                                        </p:tgtEl>
                                      </p:cBhvr>
                                    </p:animEffect>
                                  </p:childTnLst>
                                </p:cTn>
                              </p:par>
                              <p:par>
                                <p:cTn id="199" presetID="10" presetClass="entr" presetSubtype="0" fill="hold" grpId="0" nodeType="withEffect">
                                  <p:stCondLst>
                                    <p:cond delay="1030"/>
                                  </p:stCondLst>
                                  <p:childTnLst>
                                    <p:set>
                                      <p:cBhvr>
                                        <p:cTn id="198" dur="1" fill="hold">
                                          <p:stCondLst>
                                            <p:cond delay="0"/>
                                          </p:stCondLst>
                                        </p:cTn>
                                        <p:tgtEl>
                                          <p:spTgt spid="64"/>
                                        </p:tgtEl>
                                        <p:attrNameLst>
                                          <p:attrName>style.visibility</p:attrName>
                                        </p:attrNameLst>
                                      </p:cBhvr>
                                      <p:to>
                                        <p:strVal val="visible"/>
                                      </p:to>
                                    </p:set>
                                    <p:animEffect transition="in" filter="fade">
                                      <p:cBhvr>
                                        <p:cTn id="200" dur="500"/>
                                        <p:tgtEl>
                                          <p:spTgt spid="64"/>
                                        </p:tgtEl>
                                      </p:cBhvr>
                                    </p:animEffect>
                                  </p:childTnLst>
                                </p:cTn>
                              </p:par>
                            </p:childTnLst>
                          </p:cTn>
                        </p:par>
                      </p:childTnLst>
                    </p:cTn>
                  </p:par>
                  <p:par>
                    <p:cTn id="201" fill="hold">
                      <p:stCondLst>
                        <p:cond delay="indefinite"/>
                      </p:stCondLst>
                      <p:childTnLst>
                        <p:par>
                          <p:cTn id="202" fill="hold">
                            <p:stCondLst>
                              <p:cond delay="0"/>
                            </p:stCondLst>
                            <p:childTnLst>
                              <p:par>
                                <p:cTn id="204" presetID="42" presetClass="entr" presetSubtype="0" fill="hold" grpId="0" nodeType="clickEffect">
                                  <p:stCondLst>
                                    <p:cond delay="0"/>
                                  </p:stCondLst>
                                  <p:childTnLst>
                                    <p:set>
                                      <p:cBhvr>
                                        <p:cTn id="203" dur="1" fill="hold">
                                          <p:stCondLst>
                                            <p:cond delay="0"/>
                                          </p:stCondLst>
                                        </p:cTn>
                                        <p:tgtEl>
                                          <p:spTgt spid="67"/>
                                        </p:tgtEl>
                                        <p:attrNameLst>
                                          <p:attrName>style.visibility</p:attrName>
                                        </p:attrNameLst>
                                      </p:cBhvr>
                                      <p:to>
                                        <p:strVal val="visible"/>
                                      </p:to>
                                    </p:set>
                                    <p:animEffect transition="in" filter="fade">
                                      <p:cBhvr>
                                        <p:cTn id="205" dur="500"/>
                                        <p:tgtEl>
                                          <p:spTgt spid="67"/>
                                        </p:tgtEl>
                                      </p:cBhvr>
                                    </p:animEffect>
                                    <p:anim calcmode="lin" valueType="num">
                                      <p:cBhvr>
                                        <p:cTn id="206" dur="500" fill="hold"/>
                                        <p:tgtEl>
                                          <p:spTgt spid="67"/>
                                        </p:tgtEl>
                                        <p:attrNameLst>
                                          <p:attrName>ppt_x</p:attrName>
                                        </p:attrNameLst>
                                      </p:cBhvr>
                                      <p:tavLst>
                                        <p:tav tm="0">
                                          <p:val>
                                            <p:strVal val="#ppt_x"/>
                                          </p:val>
                                        </p:tav>
                                        <p:tav tm="100000">
                                          <p:val>
                                            <p:strVal val="#ppt_x"/>
                                          </p:val>
                                        </p:tav>
                                      </p:tavLst>
                                    </p:anim>
                                    <p:anim calcmode="lin" valueType="num">
                                      <p:cBhvr>
                                        <p:cTn id="207" dur="500" fill="hold"/>
                                        <p:tgtEl>
                                          <p:spTgt spid="6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E11D48"/>
                </a:solidFill>
                <a:latin typeface="Inter" pitchFamily="34" charset="0"/>
                <a:ea typeface="Inter" pitchFamily="34" charset="-122"/>
                <a:cs typeface="Inter" pitchFamily="34" charset="-120"/>
              </a:rPr>
              <a:t>17 · CHOOSING THE NEXT TOKEN</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Choosing the next token: decoding strategies</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The model gives probabilities. A decoding strategy turns them into one actual token.</a:t>
            </a:r>
            <a:endParaRPr lang="en-US" sz="1300" dirty="0"/>
          </a:p>
        </p:txBody>
      </p:sp>
      <p:sp>
        <p:nvSpPr>
          <p:cNvPr id="5" name="Text 3"/>
          <p:cNvSpPr txBox="1"/>
          <p:nvPr/>
        </p:nvSpPr>
        <p:spPr>
          <a:xfrm>
            <a:off x="548640" y="1645920"/>
            <a:ext cx="5120640" cy="274320"/>
          </a:xfrm>
          <a:prstGeom prst="rect">
            <a:avLst/>
          </a:prstGeom>
          <a:noFill/>
          <a:ln/>
        </p:spPr>
        <p:txBody>
          <a:bodyPr wrap="square" lIns="0" tIns="0" rIns="0" bIns="0" rtlCol="0" anchor="t"/>
          <a:lstStyle/>
          <a:p>
            <a:pPr indent="0" marL="0">
              <a:buNone/>
            </a:pPr>
            <a:r>
              <a:rPr lang="en-US" sz="1300" b="1" dirty="0">
                <a:solidFill>
                  <a:srgbClr val="0F172A"/>
                </a:solidFill>
                <a:latin typeface="Inter" pitchFamily="34" charset="0"/>
                <a:ea typeface="Inter" pitchFamily="34" charset="-122"/>
                <a:cs typeface="Inter" pitchFamily="34" charset="-120"/>
              </a:rPr>
              <a:t>Temperature: sharpen or flatten the odds</a:t>
            </a:r>
            <a:endParaRPr lang="en-US" sz="1300" dirty="0"/>
          </a:p>
        </p:txBody>
      </p:sp>
      <p:sp>
        <p:nvSpPr>
          <p:cNvPr id="6" name="anim-2-rise-0-912"/>
          <p:cNvSpPr/>
          <p:nvPr/>
        </p:nvSpPr>
        <p:spPr>
          <a:xfrm>
            <a:off x="548640" y="2057400"/>
            <a:ext cx="5212080" cy="1307592"/>
          </a:xfrm>
          <a:prstGeom prst="roundRect">
            <a:avLst>
              <a:gd name="adj" fmla="val 5594"/>
            </a:avLst>
          </a:prstGeom>
          <a:solidFill>
            <a:srgbClr val="F8FAFC"/>
          </a:solidFill>
          <a:ln/>
        </p:spPr>
      </p:sp>
      <p:sp>
        <p:nvSpPr>
          <p:cNvPr id="7" name="anim-2-rise-0-913"/>
          <p:cNvSpPr txBox="1"/>
          <p:nvPr/>
        </p:nvSpPr>
        <p:spPr>
          <a:xfrm>
            <a:off x="685800" y="2148840"/>
            <a:ext cx="1783080" cy="114300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T = 0.3</a:t>
            </a:r>
            <a:endParaRPr lang="en-US" sz="1300" dirty="0"/>
          </a:p>
          <a:p>
            <a:pPr indent="0" marL="0">
              <a:buNone/>
            </a:pPr>
            <a:r>
              <a:rPr lang="en-US" sz="1000" dirty="0">
                <a:solidFill>
                  <a:srgbClr val="64748B"/>
                </a:solidFill>
                <a:latin typeface="Inter" pitchFamily="34" charset="0"/>
                <a:ea typeface="Inter" pitchFamily="34" charset="-122"/>
                <a:cs typeface="Inter" pitchFamily="34" charset="-120"/>
              </a:rPr>
              <a:t>focused</a:t>
            </a:r>
            <a:endParaRPr lang="en-US" sz="1300" dirty="0"/>
          </a:p>
          <a:p>
            <a:pPr indent="0" marL="0">
              <a:spcBef>
                <a:spcPts val="600"/>
              </a:spcBef>
              <a:buNone/>
            </a:pPr>
            <a:r>
              <a:rPr lang="en-US" sz="950" i="1" dirty="0">
                <a:solidFill>
                  <a:srgbClr val="334155"/>
                </a:solidFill>
                <a:latin typeface="Inter" pitchFamily="34" charset="0"/>
                <a:ea typeface="Inter" pitchFamily="34" charset="-122"/>
                <a:cs typeface="Inter" pitchFamily="34" charset="-120"/>
              </a:rPr>
              <a:t>→ “mat.” almost every time</a:t>
            </a:r>
            <a:endParaRPr lang="en-US" sz="1300" dirty="0"/>
          </a:p>
        </p:txBody>
      </p:sp>
      <p:sp>
        <p:nvSpPr>
          <p:cNvPr id="8" name="anim-2-wipe-200-914"/>
          <p:cNvSpPr txBox="1"/>
          <p:nvPr/>
        </p:nvSpPr>
        <p:spPr>
          <a:xfrm>
            <a:off x="2514600" y="2112264"/>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9" name="anim-2-wipe-200-915"/>
          <p:cNvSpPr/>
          <p:nvPr/>
        </p:nvSpPr>
        <p:spPr>
          <a:xfrm>
            <a:off x="3273552" y="2130552"/>
            <a:ext cx="2194560" cy="114300"/>
          </a:xfrm>
          <a:prstGeom prst="rect">
            <a:avLst/>
          </a:prstGeom>
          <a:solidFill>
            <a:srgbClr val="E11D48"/>
          </a:solidFill>
          <a:ln/>
        </p:spPr>
      </p:sp>
      <p:sp>
        <p:nvSpPr>
          <p:cNvPr id="10" name="anim-2-wipe-200-916"/>
          <p:cNvSpPr txBox="1"/>
          <p:nvPr/>
        </p:nvSpPr>
        <p:spPr>
          <a:xfrm>
            <a:off x="5504688" y="2112264"/>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96%</a:t>
            </a:r>
            <a:endParaRPr lang="en-US" sz="850" dirty="0"/>
          </a:p>
        </p:txBody>
      </p:sp>
      <p:sp>
        <p:nvSpPr>
          <p:cNvPr id="11" name="anim-2-wipe-260-917"/>
          <p:cNvSpPr txBox="1"/>
          <p:nvPr/>
        </p:nvSpPr>
        <p:spPr>
          <a:xfrm>
            <a:off x="2514600" y="2290572"/>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floor</a:t>
            </a:r>
            <a:endParaRPr lang="en-US" sz="850" dirty="0"/>
          </a:p>
        </p:txBody>
      </p:sp>
      <p:sp>
        <p:nvSpPr>
          <p:cNvPr id="12" name="anim-2-wipe-260-918"/>
          <p:cNvSpPr/>
          <p:nvPr/>
        </p:nvSpPr>
        <p:spPr>
          <a:xfrm>
            <a:off x="3273552" y="2308860"/>
            <a:ext cx="68580" cy="114300"/>
          </a:xfrm>
          <a:prstGeom prst="rect">
            <a:avLst/>
          </a:prstGeom>
          <a:solidFill>
            <a:srgbClr val="FDA4AF"/>
          </a:solidFill>
          <a:ln/>
        </p:spPr>
      </p:sp>
      <p:sp>
        <p:nvSpPr>
          <p:cNvPr id="13" name="anim-2-wipe-260-919"/>
          <p:cNvSpPr txBox="1"/>
          <p:nvPr/>
        </p:nvSpPr>
        <p:spPr>
          <a:xfrm>
            <a:off x="3378708" y="2290572"/>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3%</a:t>
            </a:r>
            <a:endParaRPr lang="en-US" sz="850" dirty="0"/>
          </a:p>
        </p:txBody>
      </p:sp>
      <p:sp>
        <p:nvSpPr>
          <p:cNvPr id="14" name="anim-2-wipe-320-920"/>
          <p:cNvSpPr txBox="1"/>
          <p:nvPr/>
        </p:nvSpPr>
        <p:spPr>
          <a:xfrm>
            <a:off x="2514600" y="2468880"/>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sofa</a:t>
            </a:r>
            <a:endParaRPr lang="en-US" sz="850" dirty="0"/>
          </a:p>
        </p:txBody>
      </p:sp>
      <p:sp>
        <p:nvSpPr>
          <p:cNvPr id="15" name="anim-2-wipe-320-921"/>
          <p:cNvSpPr/>
          <p:nvPr/>
        </p:nvSpPr>
        <p:spPr>
          <a:xfrm>
            <a:off x="3273552" y="2487168"/>
            <a:ext cx="22860" cy="114300"/>
          </a:xfrm>
          <a:prstGeom prst="rect">
            <a:avLst/>
          </a:prstGeom>
          <a:solidFill>
            <a:srgbClr val="FDA4AF"/>
          </a:solidFill>
          <a:ln/>
        </p:spPr>
      </p:sp>
      <p:sp>
        <p:nvSpPr>
          <p:cNvPr id="16" name="anim-2-wipe-320-922"/>
          <p:cNvSpPr txBox="1"/>
          <p:nvPr/>
        </p:nvSpPr>
        <p:spPr>
          <a:xfrm>
            <a:off x="3332988" y="2468880"/>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a:t>
            </a:r>
            <a:endParaRPr lang="en-US" sz="850" dirty="0"/>
          </a:p>
        </p:txBody>
      </p:sp>
      <p:sp>
        <p:nvSpPr>
          <p:cNvPr id="17" name="anim-2-wipe-380-923"/>
          <p:cNvSpPr txBox="1"/>
          <p:nvPr/>
        </p:nvSpPr>
        <p:spPr>
          <a:xfrm>
            <a:off x="2514600" y="2647188"/>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bed</a:t>
            </a:r>
            <a:endParaRPr lang="en-US" sz="850" dirty="0"/>
          </a:p>
        </p:txBody>
      </p:sp>
      <p:sp>
        <p:nvSpPr>
          <p:cNvPr id="18" name="anim-2-wipe-380-924"/>
          <p:cNvSpPr/>
          <p:nvPr/>
        </p:nvSpPr>
        <p:spPr>
          <a:xfrm>
            <a:off x="3273552" y="2665476"/>
            <a:ext cx="18288" cy="114300"/>
          </a:xfrm>
          <a:prstGeom prst="rect">
            <a:avLst/>
          </a:prstGeom>
          <a:solidFill>
            <a:srgbClr val="FDA4AF"/>
          </a:solidFill>
          <a:ln/>
        </p:spPr>
      </p:sp>
      <p:sp>
        <p:nvSpPr>
          <p:cNvPr id="19" name="anim-2-wipe-380-925"/>
          <p:cNvSpPr txBox="1"/>
          <p:nvPr/>
        </p:nvSpPr>
        <p:spPr>
          <a:xfrm>
            <a:off x="3328416" y="2647188"/>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0%</a:t>
            </a:r>
            <a:endParaRPr lang="en-US" sz="850" dirty="0"/>
          </a:p>
        </p:txBody>
      </p:sp>
      <p:sp>
        <p:nvSpPr>
          <p:cNvPr id="20" name="anim-2-wipe-440-926"/>
          <p:cNvSpPr txBox="1"/>
          <p:nvPr/>
        </p:nvSpPr>
        <p:spPr>
          <a:xfrm>
            <a:off x="2514600" y="2825496"/>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chair</a:t>
            </a:r>
            <a:endParaRPr lang="en-US" sz="850" dirty="0"/>
          </a:p>
        </p:txBody>
      </p:sp>
      <p:sp>
        <p:nvSpPr>
          <p:cNvPr id="21" name="anim-2-wipe-440-927"/>
          <p:cNvSpPr/>
          <p:nvPr/>
        </p:nvSpPr>
        <p:spPr>
          <a:xfrm>
            <a:off x="3273552" y="2843784"/>
            <a:ext cx="18288" cy="114300"/>
          </a:xfrm>
          <a:prstGeom prst="rect">
            <a:avLst/>
          </a:prstGeom>
          <a:solidFill>
            <a:srgbClr val="FDA4AF"/>
          </a:solidFill>
          <a:ln/>
        </p:spPr>
      </p:sp>
      <p:sp>
        <p:nvSpPr>
          <p:cNvPr id="22" name="anim-2-wipe-440-928"/>
          <p:cNvSpPr txBox="1"/>
          <p:nvPr/>
        </p:nvSpPr>
        <p:spPr>
          <a:xfrm>
            <a:off x="3328416" y="2825496"/>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0%</a:t>
            </a:r>
            <a:endParaRPr lang="en-US" sz="850" dirty="0"/>
          </a:p>
        </p:txBody>
      </p:sp>
      <p:sp>
        <p:nvSpPr>
          <p:cNvPr id="23" name="anim-2-wipe-500-929"/>
          <p:cNvSpPr txBox="1"/>
          <p:nvPr/>
        </p:nvSpPr>
        <p:spPr>
          <a:xfrm>
            <a:off x="2514600" y="3003804"/>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windowsill</a:t>
            </a:r>
            <a:endParaRPr lang="en-US" sz="850" dirty="0"/>
          </a:p>
        </p:txBody>
      </p:sp>
      <p:sp>
        <p:nvSpPr>
          <p:cNvPr id="24" name="anim-2-wipe-500-930"/>
          <p:cNvSpPr/>
          <p:nvPr/>
        </p:nvSpPr>
        <p:spPr>
          <a:xfrm>
            <a:off x="3273552" y="3022092"/>
            <a:ext cx="18288" cy="114300"/>
          </a:xfrm>
          <a:prstGeom prst="rect">
            <a:avLst/>
          </a:prstGeom>
          <a:solidFill>
            <a:srgbClr val="FDA4AF"/>
          </a:solidFill>
          <a:ln/>
        </p:spPr>
      </p:sp>
      <p:sp>
        <p:nvSpPr>
          <p:cNvPr id="25" name="anim-2-wipe-500-931"/>
          <p:cNvSpPr txBox="1"/>
          <p:nvPr/>
        </p:nvSpPr>
        <p:spPr>
          <a:xfrm>
            <a:off x="3328416" y="3003804"/>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0%</a:t>
            </a:r>
            <a:endParaRPr lang="en-US" sz="850" dirty="0"/>
          </a:p>
        </p:txBody>
      </p:sp>
      <p:sp>
        <p:nvSpPr>
          <p:cNvPr id="26" name="anim-2-wipe-560-932"/>
          <p:cNvSpPr txBox="1"/>
          <p:nvPr/>
        </p:nvSpPr>
        <p:spPr>
          <a:xfrm>
            <a:off x="2514600" y="3182112"/>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others</a:t>
            </a:r>
            <a:endParaRPr lang="en-US" sz="850" dirty="0"/>
          </a:p>
        </p:txBody>
      </p:sp>
      <p:sp>
        <p:nvSpPr>
          <p:cNvPr id="27" name="anim-2-wipe-560-933"/>
          <p:cNvSpPr/>
          <p:nvPr/>
        </p:nvSpPr>
        <p:spPr>
          <a:xfrm>
            <a:off x="3273552" y="3200400"/>
            <a:ext cx="18288" cy="114300"/>
          </a:xfrm>
          <a:prstGeom prst="rect">
            <a:avLst/>
          </a:prstGeom>
          <a:solidFill>
            <a:srgbClr val="FDA4AF"/>
          </a:solidFill>
          <a:ln/>
        </p:spPr>
      </p:sp>
      <p:sp>
        <p:nvSpPr>
          <p:cNvPr id="28" name="anim-2-wipe-560-934"/>
          <p:cNvSpPr txBox="1"/>
          <p:nvPr/>
        </p:nvSpPr>
        <p:spPr>
          <a:xfrm>
            <a:off x="3328416" y="3182112"/>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0%</a:t>
            </a:r>
            <a:endParaRPr lang="en-US" sz="850" dirty="0"/>
          </a:p>
        </p:txBody>
      </p:sp>
      <p:sp>
        <p:nvSpPr>
          <p:cNvPr id="29" name="anim-1-rise-0-935"/>
          <p:cNvSpPr/>
          <p:nvPr/>
        </p:nvSpPr>
        <p:spPr>
          <a:xfrm>
            <a:off x="548640" y="3456432"/>
            <a:ext cx="5212080" cy="1307592"/>
          </a:xfrm>
          <a:prstGeom prst="roundRect">
            <a:avLst>
              <a:gd name="adj" fmla="val 5594"/>
            </a:avLst>
          </a:prstGeom>
          <a:solidFill>
            <a:srgbClr val="F8FAFC"/>
          </a:solidFill>
          <a:ln/>
        </p:spPr>
      </p:sp>
      <p:sp>
        <p:nvSpPr>
          <p:cNvPr id="30" name="anim-1-rise-0-936"/>
          <p:cNvSpPr txBox="1"/>
          <p:nvPr/>
        </p:nvSpPr>
        <p:spPr>
          <a:xfrm>
            <a:off x="685800" y="3547872"/>
            <a:ext cx="1783080" cy="114300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T = 1.0</a:t>
            </a:r>
            <a:endParaRPr lang="en-US" sz="1300" dirty="0"/>
          </a:p>
          <a:p>
            <a:pPr indent="0" marL="0">
              <a:buNone/>
            </a:pPr>
            <a:r>
              <a:rPr lang="en-US" sz="1000" dirty="0">
                <a:solidFill>
                  <a:srgbClr val="64748B"/>
                </a:solidFill>
                <a:latin typeface="Inter" pitchFamily="34" charset="0"/>
                <a:ea typeface="Inter" pitchFamily="34" charset="-122"/>
                <a:cs typeface="Inter" pitchFamily="34" charset="-120"/>
              </a:rPr>
              <a:t>as trained</a:t>
            </a:r>
            <a:endParaRPr lang="en-US" sz="1300" dirty="0"/>
          </a:p>
          <a:p>
            <a:pPr indent="0" marL="0">
              <a:spcBef>
                <a:spcPts val="600"/>
              </a:spcBef>
              <a:buNone/>
            </a:pPr>
            <a:r>
              <a:rPr lang="en-US" sz="950" i="1" dirty="0">
                <a:solidFill>
                  <a:srgbClr val="334155"/>
                </a:solidFill>
                <a:latin typeface="Inter" pitchFamily="34" charset="0"/>
                <a:ea typeface="Inter" pitchFamily="34" charset="-122"/>
                <a:cs typeface="Inter" pitchFamily="34" charset="-120"/>
              </a:rPr>
              <a:t>→ mostly “mat”, sometimes “sofa”</a:t>
            </a:r>
            <a:endParaRPr lang="en-US" sz="1300" dirty="0"/>
          </a:p>
        </p:txBody>
      </p:sp>
      <p:sp>
        <p:nvSpPr>
          <p:cNvPr id="31" name="anim-1-wipe-200-937"/>
          <p:cNvSpPr txBox="1"/>
          <p:nvPr/>
        </p:nvSpPr>
        <p:spPr>
          <a:xfrm>
            <a:off x="2514600" y="3511296"/>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32" name="anim-1-wipe-200-938"/>
          <p:cNvSpPr/>
          <p:nvPr/>
        </p:nvSpPr>
        <p:spPr>
          <a:xfrm>
            <a:off x="3273552" y="3529584"/>
            <a:ext cx="937260" cy="114300"/>
          </a:xfrm>
          <a:prstGeom prst="rect">
            <a:avLst/>
          </a:prstGeom>
          <a:solidFill>
            <a:srgbClr val="E11D48"/>
          </a:solidFill>
          <a:ln/>
        </p:spPr>
      </p:sp>
      <p:sp>
        <p:nvSpPr>
          <p:cNvPr id="33" name="anim-1-wipe-200-939"/>
          <p:cNvSpPr txBox="1"/>
          <p:nvPr/>
        </p:nvSpPr>
        <p:spPr>
          <a:xfrm>
            <a:off x="4247388" y="3511296"/>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41%</a:t>
            </a:r>
            <a:endParaRPr lang="en-US" sz="850" dirty="0"/>
          </a:p>
        </p:txBody>
      </p:sp>
      <p:sp>
        <p:nvSpPr>
          <p:cNvPr id="34" name="anim-1-wipe-260-940"/>
          <p:cNvSpPr txBox="1"/>
          <p:nvPr/>
        </p:nvSpPr>
        <p:spPr>
          <a:xfrm>
            <a:off x="2514600" y="3689604"/>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floor</a:t>
            </a:r>
            <a:endParaRPr lang="en-US" sz="850" dirty="0"/>
          </a:p>
        </p:txBody>
      </p:sp>
      <p:sp>
        <p:nvSpPr>
          <p:cNvPr id="35" name="anim-1-wipe-260-941"/>
          <p:cNvSpPr/>
          <p:nvPr/>
        </p:nvSpPr>
        <p:spPr>
          <a:xfrm>
            <a:off x="3273552" y="3707892"/>
            <a:ext cx="320040" cy="114300"/>
          </a:xfrm>
          <a:prstGeom prst="rect">
            <a:avLst/>
          </a:prstGeom>
          <a:solidFill>
            <a:srgbClr val="FDA4AF"/>
          </a:solidFill>
          <a:ln/>
        </p:spPr>
      </p:sp>
      <p:sp>
        <p:nvSpPr>
          <p:cNvPr id="36" name="anim-1-wipe-260-942"/>
          <p:cNvSpPr txBox="1"/>
          <p:nvPr/>
        </p:nvSpPr>
        <p:spPr>
          <a:xfrm>
            <a:off x="3630168" y="3689604"/>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14%</a:t>
            </a:r>
            <a:endParaRPr lang="en-US" sz="850" dirty="0"/>
          </a:p>
        </p:txBody>
      </p:sp>
      <p:sp>
        <p:nvSpPr>
          <p:cNvPr id="37" name="anim-1-wipe-320-943"/>
          <p:cNvSpPr txBox="1"/>
          <p:nvPr/>
        </p:nvSpPr>
        <p:spPr>
          <a:xfrm>
            <a:off x="2514600" y="3867912"/>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sofa</a:t>
            </a:r>
            <a:endParaRPr lang="en-US" sz="850" dirty="0"/>
          </a:p>
        </p:txBody>
      </p:sp>
      <p:sp>
        <p:nvSpPr>
          <p:cNvPr id="38" name="anim-1-wipe-320-944"/>
          <p:cNvSpPr/>
          <p:nvPr/>
        </p:nvSpPr>
        <p:spPr>
          <a:xfrm>
            <a:off x="3273552" y="3886200"/>
            <a:ext cx="251460" cy="114300"/>
          </a:xfrm>
          <a:prstGeom prst="rect">
            <a:avLst/>
          </a:prstGeom>
          <a:solidFill>
            <a:srgbClr val="FDA4AF"/>
          </a:solidFill>
          <a:ln/>
        </p:spPr>
      </p:sp>
      <p:sp>
        <p:nvSpPr>
          <p:cNvPr id="39" name="anim-1-wipe-320-945"/>
          <p:cNvSpPr txBox="1"/>
          <p:nvPr/>
        </p:nvSpPr>
        <p:spPr>
          <a:xfrm>
            <a:off x="3561588" y="3867912"/>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11%</a:t>
            </a:r>
            <a:endParaRPr lang="en-US" sz="850" dirty="0"/>
          </a:p>
        </p:txBody>
      </p:sp>
      <p:sp>
        <p:nvSpPr>
          <p:cNvPr id="40" name="anim-1-wipe-380-946"/>
          <p:cNvSpPr txBox="1"/>
          <p:nvPr/>
        </p:nvSpPr>
        <p:spPr>
          <a:xfrm>
            <a:off x="2514600" y="4046220"/>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bed</a:t>
            </a:r>
            <a:endParaRPr lang="en-US" sz="850" dirty="0"/>
          </a:p>
        </p:txBody>
      </p:sp>
      <p:sp>
        <p:nvSpPr>
          <p:cNvPr id="41" name="anim-1-wipe-380-947"/>
          <p:cNvSpPr/>
          <p:nvPr/>
        </p:nvSpPr>
        <p:spPr>
          <a:xfrm>
            <a:off x="3273552" y="4064508"/>
            <a:ext cx="182880" cy="114300"/>
          </a:xfrm>
          <a:prstGeom prst="rect">
            <a:avLst/>
          </a:prstGeom>
          <a:solidFill>
            <a:srgbClr val="FDA4AF"/>
          </a:solidFill>
          <a:ln/>
        </p:spPr>
      </p:sp>
      <p:sp>
        <p:nvSpPr>
          <p:cNvPr id="42" name="anim-1-wipe-380-948"/>
          <p:cNvSpPr txBox="1"/>
          <p:nvPr/>
        </p:nvSpPr>
        <p:spPr>
          <a:xfrm>
            <a:off x="3493008" y="4046220"/>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8%</a:t>
            </a:r>
            <a:endParaRPr lang="en-US" sz="850" dirty="0"/>
          </a:p>
        </p:txBody>
      </p:sp>
      <p:sp>
        <p:nvSpPr>
          <p:cNvPr id="43" name="anim-1-wipe-440-949"/>
          <p:cNvSpPr txBox="1"/>
          <p:nvPr/>
        </p:nvSpPr>
        <p:spPr>
          <a:xfrm>
            <a:off x="2514600" y="4224528"/>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chair</a:t>
            </a:r>
            <a:endParaRPr lang="en-US" sz="850" dirty="0"/>
          </a:p>
        </p:txBody>
      </p:sp>
      <p:sp>
        <p:nvSpPr>
          <p:cNvPr id="44" name="anim-1-wipe-440-950"/>
          <p:cNvSpPr/>
          <p:nvPr/>
        </p:nvSpPr>
        <p:spPr>
          <a:xfrm>
            <a:off x="3273552" y="4242816"/>
            <a:ext cx="137160" cy="114300"/>
          </a:xfrm>
          <a:prstGeom prst="rect">
            <a:avLst/>
          </a:prstGeom>
          <a:solidFill>
            <a:srgbClr val="FDA4AF"/>
          </a:solidFill>
          <a:ln/>
        </p:spPr>
      </p:sp>
      <p:sp>
        <p:nvSpPr>
          <p:cNvPr id="45" name="anim-1-wipe-440-951"/>
          <p:cNvSpPr txBox="1"/>
          <p:nvPr/>
        </p:nvSpPr>
        <p:spPr>
          <a:xfrm>
            <a:off x="3447288" y="4224528"/>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6%</a:t>
            </a:r>
            <a:endParaRPr lang="en-US" sz="850" dirty="0"/>
          </a:p>
        </p:txBody>
      </p:sp>
      <p:sp>
        <p:nvSpPr>
          <p:cNvPr id="46" name="anim-1-wipe-500-952"/>
          <p:cNvSpPr txBox="1"/>
          <p:nvPr/>
        </p:nvSpPr>
        <p:spPr>
          <a:xfrm>
            <a:off x="2514600" y="4402836"/>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windowsill</a:t>
            </a:r>
            <a:endParaRPr lang="en-US" sz="850" dirty="0"/>
          </a:p>
        </p:txBody>
      </p:sp>
      <p:sp>
        <p:nvSpPr>
          <p:cNvPr id="47" name="anim-1-wipe-500-953"/>
          <p:cNvSpPr/>
          <p:nvPr/>
        </p:nvSpPr>
        <p:spPr>
          <a:xfrm>
            <a:off x="3273552" y="4421124"/>
            <a:ext cx="91440" cy="114300"/>
          </a:xfrm>
          <a:prstGeom prst="rect">
            <a:avLst/>
          </a:prstGeom>
          <a:solidFill>
            <a:srgbClr val="FDA4AF"/>
          </a:solidFill>
          <a:ln/>
        </p:spPr>
      </p:sp>
      <p:sp>
        <p:nvSpPr>
          <p:cNvPr id="48" name="anim-1-wipe-500-954"/>
          <p:cNvSpPr txBox="1"/>
          <p:nvPr/>
        </p:nvSpPr>
        <p:spPr>
          <a:xfrm>
            <a:off x="3401568" y="4402836"/>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4%</a:t>
            </a:r>
            <a:endParaRPr lang="en-US" sz="850" dirty="0"/>
          </a:p>
        </p:txBody>
      </p:sp>
      <p:sp>
        <p:nvSpPr>
          <p:cNvPr id="49" name="anim-1-wipe-560-955"/>
          <p:cNvSpPr txBox="1"/>
          <p:nvPr/>
        </p:nvSpPr>
        <p:spPr>
          <a:xfrm>
            <a:off x="2514600" y="4581144"/>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others</a:t>
            </a:r>
            <a:endParaRPr lang="en-US" sz="850" dirty="0"/>
          </a:p>
        </p:txBody>
      </p:sp>
      <p:sp>
        <p:nvSpPr>
          <p:cNvPr id="50" name="anim-1-wipe-560-956"/>
          <p:cNvSpPr/>
          <p:nvPr/>
        </p:nvSpPr>
        <p:spPr>
          <a:xfrm>
            <a:off x="3273552" y="4599432"/>
            <a:ext cx="365760" cy="114300"/>
          </a:xfrm>
          <a:prstGeom prst="rect">
            <a:avLst/>
          </a:prstGeom>
          <a:solidFill>
            <a:srgbClr val="FDA4AF"/>
          </a:solidFill>
          <a:ln/>
        </p:spPr>
      </p:sp>
      <p:sp>
        <p:nvSpPr>
          <p:cNvPr id="51" name="anim-1-wipe-560-957"/>
          <p:cNvSpPr txBox="1"/>
          <p:nvPr/>
        </p:nvSpPr>
        <p:spPr>
          <a:xfrm>
            <a:off x="3675888" y="4581144"/>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16%</a:t>
            </a:r>
            <a:endParaRPr lang="en-US" sz="850" dirty="0"/>
          </a:p>
        </p:txBody>
      </p:sp>
      <p:sp>
        <p:nvSpPr>
          <p:cNvPr id="52" name="anim-3-rise-0-958"/>
          <p:cNvSpPr/>
          <p:nvPr/>
        </p:nvSpPr>
        <p:spPr>
          <a:xfrm>
            <a:off x="548640" y="4855464"/>
            <a:ext cx="5212080" cy="1307592"/>
          </a:xfrm>
          <a:prstGeom prst="roundRect">
            <a:avLst>
              <a:gd name="adj" fmla="val 5594"/>
            </a:avLst>
          </a:prstGeom>
          <a:solidFill>
            <a:srgbClr val="F8FAFC"/>
          </a:solidFill>
          <a:ln/>
        </p:spPr>
      </p:sp>
      <p:sp>
        <p:nvSpPr>
          <p:cNvPr id="53" name="anim-3-rise-0-959"/>
          <p:cNvSpPr txBox="1"/>
          <p:nvPr/>
        </p:nvSpPr>
        <p:spPr>
          <a:xfrm>
            <a:off x="685800" y="4946904"/>
            <a:ext cx="1783080" cy="114300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T = 1.8</a:t>
            </a:r>
            <a:endParaRPr lang="en-US" sz="1300" dirty="0"/>
          </a:p>
          <a:p>
            <a:pPr indent="0" marL="0">
              <a:buNone/>
            </a:pPr>
            <a:r>
              <a:rPr lang="en-US" sz="1000" dirty="0">
                <a:solidFill>
                  <a:srgbClr val="64748B"/>
                </a:solidFill>
                <a:latin typeface="Inter" pitchFamily="34" charset="0"/>
                <a:ea typeface="Inter" pitchFamily="34" charset="-122"/>
                <a:cs typeface="Inter" pitchFamily="34" charset="-120"/>
              </a:rPr>
              <a:t>wild</a:t>
            </a:r>
            <a:endParaRPr lang="en-US" sz="1300" dirty="0"/>
          </a:p>
          <a:p>
            <a:pPr indent="0" marL="0">
              <a:spcBef>
                <a:spcPts val="600"/>
              </a:spcBef>
              <a:buNone/>
            </a:pPr>
            <a:r>
              <a:rPr lang="en-US" sz="950" i="1" dirty="0">
                <a:solidFill>
                  <a:srgbClr val="334155"/>
                </a:solidFill>
                <a:latin typeface="Inter" pitchFamily="34" charset="0"/>
                <a:ea typeface="Inter" pitchFamily="34" charset="-122"/>
                <a:cs typeface="Inter" pitchFamily="34" charset="-120"/>
              </a:rPr>
              <a:t>→ “…on the keyboard and refused to move”</a:t>
            </a:r>
            <a:endParaRPr lang="en-US" sz="1300" dirty="0"/>
          </a:p>
        </p:txBody>
      </p:sp>
      <p:sp>
        <p:nvSpPr>
          <p:cNvPr id="54" name="anim-3-wipe-200-960"/>
          <p:cNvSpPr txBox="1"/>
          <p:nvPr/>
        </p:nvSpPr>
        <p:spPr>
          <a:xfrm>
            <a:off x="2514600" y="4910328"/>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55" name="anim-3-wipe-200-961"/>
          <p:cNvSpPr/>
          <p:nvPr/>
        </p:nvSpPr>
        <p:spPr>
          <a:xfrm>
            <a:off x="3273552" y="4928616"/>
            <a:ext cx="411480" cy="114300"/>
          </a:xfrm>
          <a:prstGeom prst="rect">
            <a:avLst/>
          </a:prstGeom>
          <a:solidFill>
            <a:srgbClr val="E11D48"/>
          </a:solidFill>
          <a:ln/>
        </p:spPr>
      </p:sp>
      <p:sp>
        <p:nvSpPr>
          <p:cNvPr id="56" name="anim-3-wipe-200-962"/>
          <p:cNvSpPr txBox="1"/>
          <p:nvPr/>
        </p:nvSpPr>
        <p:spPr>
          <a:xfrm>
            <a:off x="3721608" y="4910328"/>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18%</a:t>
            </a:r>
            <a:endParaRPr lang="en-US" sz="850" dirty="0"/>
          </a:p>
        </p:txBody>
      </p:sp>
      <p:sp>
        <p:nvSpPr>
          <p:cNvPr id="57" name="anim-3-wipe-260-963"/>
          <p:cNvSpPr txBox="1"/>
          <p:nvPr/>
        </p:nvSpPr>
        <p:spPr>
          <a:xfrm>
            <a:off x="2514600" y="5088636"/>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floor</a:t>
            </a:r>
            <a:endParaRPr lang="en-US" sz="850" dirty="0"/>
          </a:p>
        </p:txBody>
      </p:sp>
      <p:sp>
        <p:nvSpPr>
          <p:cNvPr id="58" name="anim-3-wipe-260-964"/>
          <p:cNvSpPr/>
          <p:nvPr/>
        </p:nvSpPr>
        <p:spPr>
          <a:xfrm>
            <a:off x="3273552" y="5106924"/>
            <a:ext cx="228600" cy="114300"/>
          </a:xfrm>
          <a:prstGeom prst="rect">
            <a:avLst/>
          </a:prstGeom>
          <a:solidFill>
            <a:srgbClr val="FDA4AF"/>
          </a:solidFill>
          <a:ln/>
        </p:spPr>
      </p:sp>
      <p:sp>
        <p:nvSpPr>
          <p:cNvPr id="59" name="anim-3-wipe-260-965"/>
          <p:cNvSpPr txBox="1"/>
          <p:nvPr/>
        </p:nvSpPr>
        <p:spPr>
          <a:xfrm>
            <a:off x="3538728" y="5088636"/>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10%</a:t>
            </a:r>
            <a:endParaRPr lang="en-US" sz="850" dirty="0"/>
          </a:p>
        </p:txBody>
      </p:sp>
      <p:sp>
        <p:nvSpPr>
          <p:cNvPr id="60" name="anim-3-wipe-320-966"/>
          <p:cNvSpPr txBox="1"/>
          <p:nvPr/>
        </p:nvSpPr>
        <p:spPr>
          <a:xfrm>
            <a:off x="2514600" y="5266944"/>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sofa</a:t>
            </a:r>
            <a:endParaRPr lang="en-US" sz="850" dirty="0"/>
          </a:p>
        </p:txBody>
      </p:sp>
      <p:sp>
        <p:nvSpPr>
          <p:cNvPr id="61" name="anim-3-wipe-320-967"/>
          <p:cNvSpPr/>
          <p:nvPr/>
        </p:nvSpPr>
        <p:spPr>
          <a:xfrm>
            <a:off x="3273552" y="5285232"/>
            <a:ext cx="205740" cy="114300"/>
          </a:xfrm>
          <a:prstGeom prst="rect">
            <a:avLst/>
          </a:prstGeom>
          <a:solidFill>
            <a:srgbClr val="FDA4AF"/>
          </a:solidFill>
          <a:ln/>
        </p:spPr>
      </p:sp>
      <p:sp>
        <p:nvSpPr>
          <p:cNvPr id="62" name="anim-3-wipe-320-968"/>
          <p:cNvSpPr txBox="1"/>
          <p:nvPr/>
        </p:nvSpPr>
        <p:spPr>
          <a:xfrm>
            <a:off x="3515868" y="5266944"/>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9%</a:t>
            </a:r>
            <a:endParaRPr lang="en-US" sz="850" dirty="0"/>
          </a:p>
        </p:txBody>
      </p:sp>
      <p:sp>
        <p:nvSpPr>
          <p:cNvPr id="63" name="anim-3-wipe-380-969"/>
          <p:cNvSpPr txBox="1"/>
          <p:nvPr/>
        </p:nvSpPr>
        <p:spPr>
          <a:xfrm>
            <a:off x="2514600" y="5445252"/>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bed</a:t>
            </a:r>
            <a:endParaRPr lang="en-US" sz="850" dirty="0"/>
          </a:p>
        </p:txBody>
      </p:sp>
      <p:sp>
        <p:nvSpPr>
          <p:cNvPr id="64" name="anim-3-wipe-380-970"/>
          <p:cNvSpPr/>
          <p:nvPr/>
        </p:nvSpPr>
        <p:spPr>
          <a:xfrm>
            <a:off x="3273552" y="5463540"/>
            <a:ext cx="160020" cy="114300"/>
          </a:xfrm>
          <a:prstGeom prst="rect">
            <a:avLst/>
          </a:prstGeom>
          <a:solidFill>
            <a:srgbClr val="FDA4AF"/>
          </a:solidFill>
          <a:ln/>
        </p:spPr>
      </p:sp>
      <p:sp>
        <p:nvSpPr>
          <p:cNvPr id="65" name="anim-3-wipe-380-971"/>
          <p:cNvSpPr txBox="1"/>
          <p:nvPr/>
        </p:nvSpPr>
        <p:spPr>
          <a:xfrm>
            <a:off x="3470148" y="5445252"/>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7%</a:t>
            </a:r>
            <a:endParaRPr lang="en-US" sz="850" dirty="0"/>
          </a:p>
        </p:txBody>
      </p:sp>
      <p:sp>
        <p:nvSpPr>
          <p:cNvPr id="66" name="anim-3-wipe-440-972"/>
          <p:cNvSpPr txBox="1"/>
          <p:nvPr/>
        </p:nvSpPr>
        <p:spPr>
          <a:xfrm>
            <a:off x="2514600" y="5623560"/>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chair</a:t>
            </a:r>
            <a:endParaRPr lang="en-US" sz="850" dirty="0"/>
          </a:p>
        </p:txBody>
      </p:sp>
      <p:sp>
        <p:nvSpPr>
          <p:cNvPr id="67" name="anim-3-wipe-440-973"/>
          <p:cNvSpPr/>
          <p:nvPr/>
        </p:nvSpPr>
        <p:spPr>
          <a:xfrm>
            <a:off x="3273552" y="5641848"/>
            <a:ext cx="137160" cy="114300"/>
          </a:xfrm>
          <a:prstGeom prst="rect">
            <a:avLst/>
          </a:prstGeom>
          <a:solidFill>
            <a:srgbClr val="FDA4AF"/>
          </a:solidFill>
          <a:ln/>
        </p:spPr>
      </p:sp>
      <p:sp>
        <p:nvSpPr>
          <p:cNvPr id="68" name="anim-3-wipe-440-974"/>
          <p:cNvSpPr txBox="1"/>
          <p:nvPr/>
        </p:nvSpPr>
        <p:spPr>
          <a:xfrm>
            <a:off x="3447288" y="5623560"/>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6%</a:t>
            </a:r>
            <a:endParaRPr lang="en-US" sz="850" dirty="0"/>
          </a:p>
        </p:txBody>
      </p:sp>
      <p:sp>
        <p:nvSpPr>
          <p:cNvPr id="69" name="anim-3-wipe-500-975"/>
          <p:cNvSpPr txBox="1"/>
          <p:nvPr/>
        </p:nvSpPr>
        <p:spPr>
          <a:xfrm>
            <a:off x="2514600" y="5801868"/>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windowsill</a:t>
            </a:r>
            <a:endParaRPr lang="en-US" sz="850" dirty="0"/>
          </a:p>
        </p:txBody>
      </p:sp>
      <p:sp>
        <p:nvSpPr>
          <p:cNvPr id="70" name="anim-3-wipe-500-976"/>
          <p:cNvSpPr/>
          <p:nvPr/>
        </p:nvSpPr>
        <p:spPr>
          <a:xfrm>
            <a:off x="3273552" y="5820156"/>
            <a:ext cx="114300" cy="114300"/>
          </a:xfrm>
          <a:prstGeom prst="rect">
            <a:avLst/>
          </a:prstGeom>
          <a:solidFill>
            <a:srgbClr val="FDA4AF"/>
          </a:solidFill>
          <a:ln/>
        </p:spPr>
      </p:sp>
      <p:sp>
        <p:nvSpPr>
          <p:cNvPr id="71" name="anim-3-wipe-500-977"/>
          <p:cNvSpPr txBox="1"/>
          <p:nvPr/>
        </p:nvSpPr>
        <p:spPr>
          <a:xfrm>
            <a:off x="3424428" y="5801868"/>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5%</a:t>
            </a:r>
            <a:endParaRPr lang="en-US" sz="850" dirty="0"/>
          </a:p>
        </p:txBody>
      </p:sp>
      <p:sp>
        <p:nvSpPr>
          <p:cNvPr id="72" name="anim-3-wipe-560-978"/>
          <p:cNvSpPr txBox="1"/>
          <p:nvPr/>
        </p:nvSpPr>
        <p:spPr>
          <a:xfrm>
            <a:off x="2514600" y="5980176"/>
            <a:ext cx="685800" cy="150876"/>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others</a:t>
            </a:r>
            <a:endParaRPr lang="en-US" sz="850" dirty="0"/>
          </a:p>
        </p:txBody>
      </p:sp>
      <p:sp>
        <p:nvSpPr>
          <p:cNvPr id="73" name="anim-3-wipe-560-979"/>
          <p:cNvSpPr/>
          <p:nvPr/>
        </p:nvSpPr>
        <p:spPr>
          <a:xfrm>
            <a:off x="3273552" y="5998464"/>
            <a:ext cx="1028700" cy="114300"/>
          </a:xfrm>
          <a:prstGeom prst="rect">
            <a:avLst/>
          </a:prstGeom>
          <a:solidFill>
            <a:srgbClr val="FDA4AF"/>
          </a:solidFill>
          <a:ln/>
        </p:spPr>
      </p:sp>
      <p:sp>
        <p:nvSpPr>
          <p:cNvPr id="74" name="anim-3-wipe-560-980"/>
          <p:cNvSpPr txBox="1"/>
          <p:nvPr/>
        </p:nvSpPr>
        <p:spPr>
          <a:xfrm>
            <a:off x="4338828" y="5980176"/>
            <a:ext cx="411480" cy="150876"/>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45%</a:t>
            </a:r>
            <a:endParaRPr lang="en-US" sz="850" dirty="0"/>
          </a:p>
        </p:txBody>
      </p:sp>
      <p:sp>
        <p:nvSpPr>
          <p:cNvPr id="75" name="anim-4-rise-0-981"/>
          <p:cNvSpPr/>
          <p:nvPr/>
        </p:nvSpPr>
        <p:spPr>
          <a:xfrm>
            <a:off x="6035040" y="1645920"/>
            <a:ext cx="5577840" cy="1389888"/>
          </a:xfrm>
          <a:prstGeom prst="roundRect">
            <a:avLst>
              <a:gd name="adj" fmla="val 5263"/>
            </a:avLst>
          </a:prstGeom>
          <a:solidFill>
            <a:srgbClr val="FFE4E6"/>
          </a:solidFill>
          <a:ln/>
        </p:spPr>
      </p:sp>
      <p:sp>
        <p:nvSpPr>
          <p:cNvPr id="76" name="anim-4-rise-0-982"/>
          <p:cNvSpPr txBox="1"/>
          <p:nvPr/>
        </p:nvSpPr>
        <p:spPr>
          <a:xfrm>
            <a:off x="6172200" y="1737360"/>
            <a:ext cx="2697480" cy="123444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Greedy</a:t>
            </a:r>
            <a:endParaRPr lang="en-US" sz="1300" dirty="0"/>
          </a:p>
          <a:p>
            <a:pPr indent="0" marL="0">
              <a:spcBef>
                <a:spcPts val="300"/>
              </a:spcBef>
              <a:buNone/>
            </a:pPr>
            <a:r>
              <a:rPr lang="en-US" sz="1000" dirty="0">
                <a:solidFill>
                  <a:srgbClr val="334155"/>
                </a:solidFill>
                <a:latin typeface="Inter" pitchFamily="34" charset="0"/>
                <a:ea typeface="Inter" pitchFamily="34" charset="-122"/>
                <a:cs typeface="Inter" pitchFamily="34" charset="-120"/>
              </a:rPr>
              <a:t>Always take the single most likely token.</a:t>
            </a:r>
            <a:endParaRPr lang="en-US" sz="1300" dirty="0"/>
          </a:p>
          <a:p>
            <a:pPr indent="0" marL="0">
              <a:spcBef>
                <a:spcPts val="500"/>
              </a:spcBef>
              <a:buNone/>
            </a:pPr>
            <a:r>
              <a:rPr lang="en-US" sz="1050" b="1" dirty="0">
                <a:solidFill>
                  <a:srgbClr val="0F172A"/>
                </a:solidFill>
                <a:latin typeface="Inter" pitchFamily="34" charset="0"/>
                <a:ea typeface="Inter" pitchFamily="34" charset="-122"/>
                <a:cs typeface="Inter" pitchFamily="34" charset="-120"/>
              </a:rPr>
              <a:t>“The cat sat on the mat.”</a:t>
            </a:r>
            <a:endParaRPr lang="en-US" sz="1300" dirty="0"/>
          </a:p>
          <a:p>
            <a:pPr indent="0" marL="0">
              <a:spcBef>
                <a:spcPts val="300"/>
              </a:spcBef>
              <a:buNone/>
            </a:pPr>
            <a:r>
              <a:rPr lang="en-US" sz="900" i="1" dirty="0">
                <a:solidFill>
                  <a:srgbClr val="64748B"/>
                </a:solidFill>
                <a:latin typeface="Inter" pitchFamily="34" charset="0"/>
                <a:ea typeface="Inter" pitchFamily="34" charset="-122"/>
                <a:cs typeface="Inter" pitchFamily="34" charset="-120"/>
              </a:rPr>
              <a:t>Predictable — but can get repetitive.</a:t>
            </a:r>
            <a:endParaRPr lang="en-US" sz="1300" dirty="0"/>
          </a:p>
        </p:txBody>
      </p:sp>
      <p:sp>
        <p:nvSpPr>
          <p:cNvPr id="77" name="anim-4-wipe-200-983"/>
          <p:cNvSpPr txBox="1"/>
          <p:nvPr/>
        </p:nvSpPr>
        <p:spPr>
          <a:xfrm>
            <a:off x="8869680" y="181051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78" name="anim-4-wipe-200-984"/>
          <p:cNvSpPr/>
          <p:nvPr/>
        </p:nvSpPr>
        <p:spPr>
          <a:xfrm>
            <a:off x="9720072" y="1828800"/>
            <a:ext cx="899770" cy="118872"/>
          </a:xfrm>
          <a:prstGeom prst="rect">
            <a:avLst/>
          </a:prstGeom>
          <a:solidFill>
            <a:srgbClr val="E11D48"/>
          </a:solidFill>
          <a:ln/>
        </p:spPr>
      </p:sp>
      <p:sp>
        <p:nvSpPr>
          <p:cNvPr id="79" name="anim-4-wipe-200-985"/>
          <p:cNvSpPr txBox="1"/>
          <p:nvPr/>
        </p:nvSpPr>
        <p:spPr>
          <a:xfrm>
            <a:off x="10656418" y="181051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41%</a:t>
            </a:r>
            <a:endParaRPr lang="en-US" sz="850" dirty="0"/>
          </a:p>
        </p:txBody>
      </p:sp>
      <p:sp>
        <p:nvSpPr>
          <p:cNvPr id="80" name="anim-4-wipe-260-986"/>
          <p:cNvSpPr txBox="1"/>
          <p:nvPr/>
        </p:nvSpPr>
        <p:spPr>
          <a:xfrm>
            <a:off x="8869680" y="199339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floor</a:t>
            </a:r>
            <a:endParaRPr lang="en-US" sz="850" dirty="0"/>
          </a:p>
        </p:txBody>
      </p:sp>
      <p:sp>
        <p:nvSpPr>
          <p:cNvPr id="81" name="anim-4-wipe-260-987"/>
          <p:cNvSpPr/>
          <p:nvPr/>
        </p:nvSpPr>
        <p:spPr>
          <a:xfrm>
            <a:off x="9720072" y="2011680"/>
            <a:ext cx="307238" cy="118872"/>
          </a:xfrm>
          <a:prstGeom prst="rect">
            <a:avLst/>
          </a:prstGeom>
          <a:solidFill>
            <a:srgbClr val="E2E8F0"/>
          </a:solidFill>
          <a:ln/>
        </p:spPr>
      </p:sp>
      <p:sp>
        <p:nvSpPr>
          <p:cNvPr id="82" name="anim-4-wipe-260-988"/>
          <p:cNvSpPr txBox="1"/>
          <p:nvPr/>
        </p:nvSpPr>
        <p:spPr>
          <a:xfrm>
            <a:off x="10063886" y="199339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83" name="anim-4-wipe-320-989"/>
          <p:cNvSpPr txBox="1"/>
          <p:nvPr/>
        </p:nvSpPr>
        <p:spPr>
          <a:xfrm>
            <a:off x="8869680" y="217627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sofa</a:t>
            </a:r>
            <a:endParaRPr lang="en-US" sz="850" dirty="0"/>
          </a:p>
        </p:txBody>
      </p:sp>
      <p:sp>
        <p:nvSpPr>
          <p:cNvPr id="84" name="anim-4-wipe-320-990"/>
          <p:cNvSpPr/>
          <p:nvPr/>
        </p:nvSpPr>
        <p:spPr>
          <a:xfrm>
            <a:off x="9720072" y="2194560"/>
            <a:ext cx="241402" cy="118872"/>
          </a:xfrm>
          <a:prstGeom prst="rect">
            <a:avLst/>
          </a:prstGeom>
          <a:solidFill>
            <a:srgbClr val="E2E8F0"/>
          </a:solidFill>
          <a:ln/>
        </p:spPr>
      </p:sp>
      <p:sp>
        <p:nvSpPr>
          <p:cNvPr id="85" name="anim-4-wipe-320-991"/>
          <p:cNvSpPr txBox="1"/>
          <p:nvPr/>
        </p:nvSpPr>
        <p:spPr>
          <a:xfrm>
            <a:off x="9998050" y="217627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86" name="anim-4-wipe-380-992"/>
          <p:cNvSpPr txBox="1"/>
          <p:nvPr/>
        </p:nvSpPr>
        <p:spPr>
          <a:xfrm>
            <a:off x="8869680" y="235915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bed</a:t>
            </a:r>
            <a:endParaRPr lang="en-US" sz="850" dirty="0"/>
          </a:p>
        </p:txBody>
      </p:sp>
      <p:sp>
        <p:nvSpPr>
          <p:cNvPr id="87" name="anim-4-wipe-380-993"/>
          <p:cNvSpPr/>
          <p:nvPr/>
        </p:nvSpPr>
        <p:spPr>
          <a:xfrm>
            <a:off x="9720072" y="2377440"/>
            <a:ext cx="175565" cy="118872"/>
          </a:xfrm>
          <a:prstGeom prst="rect">
            <a:avLst/>
          </a:prstGeom>
          <a:solidFill>
            <a:srgbClr val="E2E8F0"/>
          </a:solidFill>
          <a:ln/>
        </p:spPr>
      </p:sp>
      <p:sp>
        <p:nvSpPr>
          <p:cNvPr id="88" name="anim-4-wipe-380-994"/>
          <p:cNvSpPr txBox="1"/>
          <p:nvPr/>
        </p:nvSpPr>
        <p:spPr>
          <a:xfrm>
            <a:off x="9932213" y="235915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89" name="anim-4-wipe-440-995"/>
          <p:cNvSpPr txBox="1"/>
          <p:nvPr/>
        </p:nvSpPr>
        <p:spPr>
          <a:xfrm>
            <a:off x="8869680" y="254203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chair</a:t>
            </a:r>
            <a:endParaRPr lang="en-US" sz="850" dirty="0"/>
          </a:p>
        </p:txBody>
      </p:sp>
      <p:sp>
        <p:nvSpPr>
          <p:cNvPr id="90" name="anim-4-wipe-440-996"/>
          <p:cNvSpPr/>
          <p:nvPr/>
        </p:nvSpPr>
        <p:spPr>
          <a:xfrm>
            <a:off x="9720072" y="2560320"/>
            <a:ext cx="131674" cy="118872"/>
          </a:xfrm>
          <a:prstGeom prst="rect">
            <a:avLst/>
          </a:prstGeom>
          <a:solidFill>
            <a:srgbClr val="E2E8F0"/>
          </a:solidFill>
          <a:ln/>
        </p:spPr>
      </p:sp>
      <p:sp>
        <p:nvSpPr>
          <p:cNvPr id="91" name="anim-4-wipe-440-997"/>
          <p:cNvSpPr txBox="1"/>
          <p:nvPr/>
        </p:nvSpPr>
        <p:spPr>
          <a:xfrm>
            <a:off x="9888322" y="254203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92" name="anim-4-wipe-500-998"/>
          <p:cNvSpPr txBox="1"/>
          <p:nvPr/>
        </p:nvSpPr>
        <p:spPr>
          <a:xfrm>
            <a:off x="8869680" y="272491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windowsill</a:t>
            </a:r>
            <a:endParaRPr lang="en-US" sz="850" dirty="0"/>
          </a:p>
        </p:txBody>
      </p:sp>
      <p:sp>
        <p:nvSpPr>
          <p:cNvPr id="93" name="anim-4-wipe-500-999"/>
          <p:cNvSpPr/>
          <p:nvPr/>
        </p:nvSpPr>
        <p:spPr>
          <a:xfrm>
            <a:off x="9720072" y="2743200"/>
            <a:ext cx="87782" cy="118872"/>
          </a:xfrm>
          <a:prstGeom prst="rect">
            <a:avLst/>
          </a:prstGeom>
          <a:solidFill>
            <a:srgbClr val="E2E8F0"/>
          </a:solidFill>
          <a:ln/>
        </p:spPr>
      </p:sp>
      <p:sp>
        <p:nvSpPr>
          <p:cNvPr id="94" name="anim-4-wipe-500-1000"/>
          <p:cNvSpPr txBox="1"/>
          <p:nvPr/>
        </p:nvSpPr>
        <p:spPr>
          <a:xfrm>
            <a:off x="9844430" y="272491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95" name="anim-5-rise-0-1001"/>
          <p:cNvSpPr/>
          <p:nvPr/>
        </p:nvSpPr>
        <p:spPr>
          <a:xfrm>
            <a:off x="6035040" y="3154680"/>
            <a:ext cx="5577840" cy="1389888"/>
          </a:xfrm>
          <a:prstGeom prst="roundRect">
            <a:avLst>
              <a:gd name="adj" fmla="val 5263"/>
            </a:avLst>
          </a:prstGeom>
          <a:solidFill>
            <a:srgbClr val="FFE4E6"/>
          </a:solidFill>
          <a:ln/>
        </p:spPr>
      </p:sp>
      <p:sp>
        <p:nvSpPr>
          <p:cNvPr id="96" name="anim-5-rise-0-1002"/>
          <p:cNvSpPr txBox="1"/>
          <p:nvPr/>
        </p:nvSpPr>
        <p:spPr>
          <a:xfrm>
            <a:off x="6172200" y="3246120"/>
            <a:ext cx="2697480" cy="123444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Top-k  (k = 3)</a:t>
            </a:r>
            <a:endParaRPr lang="en-US" sz="1300" dirty="0"/>
          </a:p>
          <a:p>
            <a:pPr indent="0" marL="0">
              <a:spcBef>
                <a:spcPts val="300"/>
              </a:spcBef>
              <a:buNone/>
            </a:pPr>
            <a:r>
              <a:rPr lang="en-US" sz="1000" dirty="0">
                <a:solidFill>
                  <a:srgbClr val="334155"/>
                </a:solidFill>
                <a:latin typeface="Inter" pitchFamily="34" charset="0"/>
                <a:ea typeface="Inter" pitchFamily="34" charset="-122"/>
                <a:cs typeface="Inter" pitchFamily="34" charset="-120"/>
              </a:rPr>
              <a:t>Keep the 3 most likely, renormalise, roll the dice.</a:t>
            </a:r>
            <a:endParaRPr lang="en-US" sz="1300" dirty="0"/>
          </a:p>
          <a:p>
            <a:pPr indent="0" marL="0">
              <a:spcBef>
                <a:spcPts val="500"/>
              </a:spcBef>
              <a:buNone/>
            </a:pPr>
            <a:r>
              <a:rPr lang="en-US" sz="1050" b="1" dirty="0">
                <a:solidFill>
                  <a:srgbClr val="0F172A"/>
                </a:solidFill>
                <a:latin typeface="Inter" pitchFamily="34" charset="0"/>
                <a:ea typeface="Inter" pitchFamily="34" charset="-122"/>
                <a:cs typeface="Inter" pitchFamily="34" charset="-120"/>
              </a:rPr>
              <a:t>“…on the floor.”</a:t>
            </a:r>
            <a:endParaRPr lang="en-US" sz="1300" dirty="0"/>
          </a:p>
          <a:p>
            <a:pPr indent="0" marL="0">
              <a:spcBef>
                <a:spcPts val="300"/>
              </a:spcBef>
              <a:buNone/>
            </a:pPr>
            <a:r>
              <a:rPr lang="en-US" sz="900" i="1" dirty="0">
                <a:solidFill>
                  <a:srgbClr val="64748B"/>
                </a:solidFill>
                <a:latin typeface="Inter" pitchFamily="34" charset="0"/>
                <a:ea typeface="Inter" pitchFamily="34" charset="-122"/>
                <a:cs typeface="Inter" pitchFamily="34" charset="-120"/>
              </a:rPr>
              <a:t>Cuts off the weird tail.</a:t>
            </a:r>
            <a:endParaRPr lang="en-US" sz="1300" dirty="0"/>
          </a:p>
        </p:txBody>
      </p:sp>
      <p:sp>
        <p:nvSpPr>
          <p:cNvPr id="97" name="anim-5-wipe-200-1003"/>
          <p:cNvSpPr txBox="1"/>
          <p:nvPr/>
        </p:nvSpPr>
        <p:spPr>
          <a:xfrm>
            <a:off x="8869680" y="331927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98" name="anim-5-wipe-200-1004"/>
          <p:cNvSpPr/>
          <p:nvPr/>
        </p:nvSpPr>
        <p:spPr>
          <a:xfrm>
            <a:off x="9720072" y="3337560"/>
            <a:ext cx="1360627" cy="118872"/>
          </a:xfrm>
          <a:prstGeom prst="rect">
            <a:avLst/>
          </a:prstGeom>
          <a:solidFill>
            <a:srgbClr val="E11D48"/>
          </a:solidFill>
          <a:ln/>
        </p:spPr>
      </p:sp>
      <p:sp>
        <p:nvSpPr>
          <p:cNvPr id="99" name="anim-5-wipe-200-1005"/>
          <p:cNvSpPr txBox="1"/>
          <p:nvPr/>
        </p:nvSpPr>
        <p:spPr>
          <a:xfrm>
            <a:off x="11117275" y="331927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62%</a:t>
            </a:r>
            <a:endParaRPr lang="en-US" sz="850" dirty="0"/>
          </a:p>
        </p:txBody>
      </p:sp>
      <p:sp>
        <p:nvSpPr>
          <p:cNvPr id="100" name="anim-5-wipe-260-1006"/>
          <p:cNvSpPr txBox="1"/>
          <p:nvPr/>
        </p:nvSpPr>
        <p:spPr>
          <a:xfrm>
            <a:off x="8869680" y="350215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floor</a:t>
            </a:r>
            <a:endParaRPr lang="en-US" sz="850" dirty="0"/>
          </a:p>
        </p:txBody>
      </p:sp>
      <p:sp>
        <p:nvSpPr>
          <p:cNvPr id="101" name="anim-5-wipe-260-1007"/>
          <p:cNvSpPr/>
          <p:nvPr/>
        </p:nvSpPr>
        <p:spPr>
          <a:xfrm>
            <a:off x="9720072" y="3520440"/>
            <a:ext cx="460858" cy="118872"/>
          </a:xfrm>
          <a:prstGeom prst="rect">
            <a:avLst/>
          </a:prstGeom>
          <a:solidFill>
            <a:srgbClr val="FDA4AF"/>
          </a:solidFill>
          <a:ln/>
        </p:spPr>
      </p:sp>
      <p:sp>
        <p:nvSpPr>
          <p:cNvPr id="102" name="anim-5-wipe-260-1008"/>
          <p:cNvSpPr txBox="1"/>
          <p:nvPr/>
        </p:nvSpPr>
        <p:spPr>
          <a:xfrm>
            <a:off x="10217506" y="350215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21%</a:t>
            </a:r>
            <a:endParaRPr lang="en-US" sz="850" dirty="0"/>
          </a:p>
        </p:txBody>
      </p:sp>
      <p:sp>
        <p:nvSpPr>
          <p:cNvPr id="103" name="anim-5-wipe-320-1009"/>
          <p:cNvSpPr txBox="1"/>
          <p:nvPr/>
        </p:nvSpPr>
        <p:spPr>
          <a:xfrm>
            <a:off x="8869680" y="368503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sofa</a:t>
            </a:r>
            <a:endParaRPr lang="en-US" sz="850" dirty="0"/>
          </a:p>
        </p:txBody>
      </p:sp>
      <p:sp>
        <p:nvSpPr>
          <p:cNvPr id="104" name="anim-5-wipe-320-1010"/>
          <p:cNvSpPr/>
          <p:nvPr/>
        </p:nvSpPr>
        <p:spPr>
          <a:xfrm>
            <a:off x="9720072" y="3703320"/>
            <a:ext cx="373075" cy="118872"/>
          </a:xfrm>
          <a:prstGeom prst="rect">
            <a:avLst/>
          </a:prstGeom>
          <a:solidFill>
            <a:srgbClr val="FDA4AF"/>
          </a:solidFill>
          <a:ln/>
        </p:spPr>
      </p:sp>
      <p:sp>
        <p:nvSpPr>
          <p:cNvPr id="105" name="anim-5-wipe-320-1011"/>
          <p:cNvSpPr txBox="1"/>
          <p:nvPr/>
        </p:nvSpPr>
        <p:spPr>
          <a:xfrm>
            <a:off x="10129723" y="368503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17%</a:t>
            </a:r>
            <a:endParaRPr lang="en-US" sz="850" dirty="0"/>
          </a:p>
        </p:txBody>
      </p:sp>
      <p:sp>
        <p:nvSpPr>
          <p:cNvPr id="106" name="anim-5-wipe-380-1012"/>
          <p:cNvSpPr txBox="1"/>
          <p:nvPr/>
        </p:nvSpPr>
        <p:spPr>
          <a:xfrm>
            <a:off x="8869680" y="386791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bed</a:t>
            </a:r>
            <a:endParaRPr lang="en-US" sz="850" dirty="0"/>
          </a:p>
        </p:txBody>
      </p:sp>
      <p:sp>
        <p:nvSpPr>
          <p:cNvPr id="107" name="anim-5-wipe-380-1013"/>
          <p:cNvSpPr/>
          <p:nvPr/>
        </p:nvSpPr>
        <p:spPr>
          <a:xfrm>
            <a:off x="9720072" y="3886200"/>
            <a:ext cx="175565" cy="118872"/>
          </a:xfrm>
          <a:prstGeom prst="rect">
            <a:avLst/>
          </a:prstGeom>
          <a:solidFill>
            <a:srgbClr val="E2E8F0"/>
          </a:solidFill>
          <a:ln/>
        </p:spPr>
      </p:sp>
      <p:sp>
        <p:nvSpPr>
          <p:cNvPr id="108" name="anim-5-wipe-380-1014"/>
          <p:cNvSpPr txBox="1"/>
          <p:nvPr/>
        </p:nvSpPr>
        <p:spPr>
          <a:xfrm>
            <a:off x="9932213" y="386791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109" name="anim-5-wipe-440-1015"/>
          <p:cNvSpPr txBox="1"/>
          <p:nvPr/>
        </p:nvSpPr>
        <p:spPr>
          <a:xfrm>
            <a:off x="8869680" y="405079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chair</a:t>
            </a:r>
            <a:endParaRPr lang="en-US" sz="850" dirty="0"/>
          </a:p>
        </p:txBody>
      </p:sp>
      <p:sp>
        <p:nvSpPr>
          <p:cNvPr id="110" name="anim-5-wipe-440-1016"/>
          <p:cNvSpPr/>
          <p:nvPr/>
        </p:nvSpPr>
        <p:spPr>
          <a:xfrm>
            <a:off x="9720072" y="4069080"/>
            <a:ext cx="131674" cy="118872"/>
          </a:xfrm>
          <a:prstGeom prst="rect">
            <a:avLst/>
          </a:prstGeom>
          <a:solidFill>
            <a:srgbClr val="E2E8F0"/>
          </a:solidFill>
          <a:ln/>
        </p:spPr>
      </p:sp>
      <p:sp>
        <p:nvSpPr>
          <p:cNvPr id="111" name="anim-5-wipe-440-1017"/>
          <p:cNvSpPr txBox="1"/>
          <p:nvPr/>
        </p:nvSpPr>
        <p:spPr>
          <a:xfrm>
            <a:off x="9888322" y="405079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112" name="anim-5-wipe-500-1018"/>
          <p:cNvSpPr txBox="1"/>
          <p:nvPr/>
        </p:nvSpPr>
        <p:spPr>
          <a:xfrm>
            <a:off x="8869680" y="423367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windowsill</a:t>
            </a:r>
            <a:endParaRPr lang="en-US" sz="850" dirty="0"/>
          </a:p>
        </p:txBody>
      </p:sp>
      <p:sp>
        <p:nvSpPr>
          <p:cNvPr id="113" name="anim-5-wipe-500-1019"/>
          <p:cNvSpPr/>
          <p:nvPr/>
        </p:nvSpPr>
        <p:spPr>
          <a:xfrm>
            <a:off x="9720072" y="4251960"/>
            <a:ext cx="87782" cy="118872"/>
          </a:xfrm>
          <a:prstGeom prst="rect">
            <a:avLst/>
          </a:prstGeom>
          <a:solidFill>
            <a:srgbClr val="E2E8F0"/>
          </a:solidFill>
          <a:ln/>
        </p:spPr>
      </p:sp>
      <p:sp>
        <p:nvSpPr>
          <p:cNvPr id="114" name="anim-5-wipe-500-1020"/>
          <p:cNvSpPr txBox="1"/>
          <p:nvPr/>
        </p:nvSpPr>
        <p:spPr>
          <a:xfrm>
            <a:off x="9844430" y="423367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115" name="anim-6-rise-0-1021"/>
          <p:cNvSpPr/>
          <p:nvPr/>
        </p:nvSpPr>
        <p:spPr>
          <a:xfrm>
            <a:off x="6035040" y="4663440"/>
            <a:ext cx="5577840" cy="1389888"/>
          </a:xfrm>
          <a:prstGeom prst="roundRect">
            <a:avLst>
              <a:gd name="adj" fmla="val 5263"/>
            </a:avLst>
          </a:prstGeom>
          <a:solidFill>
            <a:srgbClr val="FFE4E6"/>
          </a:solidFill>
          <a:ln/>
        </p:spPr>
      </p:sp>
      <p:sp>
        <p:nvSpPr>
          <p:cNvPr id="116" name="anim-6-rise-0-1022"/>
          <p:cNvSpPr txBox="1"/>
          <p:nvPr/>
        </p:nvSpPr>
        <p:spPr>
          <a:xfrm>
            <a:off x="6172200" y="4754880"/>
            <a:ext cx="2697480" cy="123444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Top-p  (p = 0.8)</a:t>
            </a:r>
            <a:endParaRPr lang="en-US" sz="1300" dirty="0"/>
          </a:p>
          <a:p>
            <a:pPr indent="0" marL="0">
              <a:spcBef>
                <a:spcPts val="300"/>
              </a:spcBef>
              <a:buNone/>
            </a:pPr>
            <a:r>
              <a:rPr lang="en-US" sz="1000" dirty="0">
                <a:solidFill>
                  <a:srgbClr val="334155"/>
                </a:solidFill>
                <a:latin typeface="Inter" pitchFamily="34" charset="0"/>
                <a:ea typeface="Inter" pitchFamily="34" charset="-122"/>
                <a:cs typeface="Inter" pitchFamily="34" charset="-120"/>
              </a:rPr>
              <a:t>Keep the smallest set that covers 80% of probability.</a:t>
            </a:r>
            <a:endParaRPr lang="en-US" sz="1300" dirty="0"/>
          </a:p>
          <a:p>
            <a:pPr indent="0" marL="0">
              <a:spcBef>
                <a:spcPts val="500"/>
              </a:spcBef>
              <a:buNone/>
            </a:pPr>
            <a:r>
              <a:rPr lang="en-US" sz="1050" b="1" dirty="0">
                <a:solidFill>
                  <a:srgbClr val="0F172A"/>
                </a:solidFill>
                <a:latin typeface="Inter" pitchFamily="34" charset="0"/>
                <a:ea typeface="Inter" pitchFamily="34" charset="-122"/>
                <a:cs typeface="Inter" pitchFamily="34" charset="-120"/>
              </a:rPr>
              <a:t>“…on the sofa.”</a:t>
            </a:r>
            <a:endParaRPr lang="en-US" sz="1300" dirty="0"/>
          </a:p>
          <a:p>
            <a:pPr indent="0" marL="0">
              <a:spcBef>
                <a:spcPts val="300"/>
              </a:spcBef>
              <a:buNone/>
            </a:pPr>
            <a:r>
              <a:rPr lang="en-US" sz="900" i="1" dirty="0">
                <a:solidFill>
                  <a:srgbClr val="64748B"/>
                </a:solidFill>
                <a:latin typeface="Inter" pitchFamily="34" charset="0"/>
                <a:ea typeface="Inter" pitchFamily="34" charset="-122"/>
                <a:cs typeface="Inter" pitchFamily="34" charset="-120"/>
              </a:rPr>
              <a:t>Adapts: few options when confident, more when unsure.</a:t>
            </a:r>
            <a:endParaRPr lang="en-US" sz="1300" dirty="0"/>
          </a:p>
        </p:txBody>
      </p:sp>
      <p:sp>
        <p:nvSpPr>
          <p:cNvPr id="117" name="anim-6-wipe-200-1023"/>
          <p:cNvSpPr txBox="1"/>
          <p:nvPr/>
        </p:nvSpPr>
        <p:spPr>
          <a:xfrm>
            <a:off x="8869680" y="482803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mat</a:t>
            </a:r>
            <a:endParaRPr lang="en-US" sz="850" dirty="0"/>
          </a:p>
        </p:txBody>
      </p:sp>
      <p:sp>
        <p:nvSpPr>
          <p:cNvPr id="118" name="anim-6-wipe-200-1024"/>
          <p:cNvSpPr/>
          <p:nvPr/>
        </p:nvSpPr>
        <p:spPr>
          <a:xfrm>
            <a:off x="9720072" y="4846320"/>
            <a:ext cx="1119226" cy="118872"/>
          </a:xfrm>
          <a:prstGeom prst="rect">
            <a:avLst/>
          </a:prstGeom>
          <a:solidFill>
            <a:srgbClr val="E11D48"/>
          </a:solidFill>
          <a:ln/>
        </p:spPr>
      </p:sp>
      <p:sp>
        <p:nvSpPr>
          <p:cNvPr id="119" name="anim-6-wipe-200-1025"/>
          <p:cNvSpPr txBox="1"/>
          <p:nvPr/>
        </p:nvSpPr>
        <p:spPr>
          <a:xfrm>
            <a:off x="10875874" y="482803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51%</a:t>
            </a:r>
            <a:endParaRPr lang="en-US" sz="850" dirty="0"/>
          </a:p>
        </p:txBody>
      </p:sp>
      <p:sp>
        <p:nvSpPr>
          <p:cNvPr id="120" name="anim-6-wipe-260-1026"/>
          <p:cNvSpPr txBox="1"/>
          <p:nvPr/>
        </p:nvSpPr>
        <p:spPr>
          <a:xfrm>
            <a:off x="8869680" y="501091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floor</a:t>
            </a:r>
            <a:endParaRPr lang="en-US" sz="850" dirty="0"/>
          </a:p>
        </p:txBody>
      </p:sp>
      <p:sp>
        <p:nvSpPr>
          <p:cNvPr id="121" name="anim-6-wipe-260-1027"/>
          <p:cNvSpPr/>
          <p:nvPr/>
        </p:nvSpPr>
        <p:spPr>
          <a:xfrm>
            <a:off x="9720072" y="5029200"/>
            <a:ext cx="395021" cy="118872"/>
          </a:xfrm>
          <a:prstGeom prst="rect">
            <a:avLst/>
          </a:prstGeom>
          <a:solidFill>
            <a:srgbClr val="FDA4AF"/>
          </a:solidFill>
          <a:ln/>
        </p:spPr>
      </p:sp>
      <p:sp>
        <p:nvSpPr>
          <p:cNvPr id="122" name="anim-6-wipe-260-1028"/>
          <p:cNvSpPr txBox="1"/>
          <p:nvPr/>
        </p:nvSpPr>
        <p:spPr>
          <a:xfrm>
            <a:off x="10151669" y="501091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18%</a:t>
            </a:r>
            <a:endParaRPr lang="en-US" sz="850" dirty="0"/>
          </a:p>
        </p:txBody>
      </p:sp>
      <p:sp>
        <p:nvSpPr>
          <p:cNvPr id="123" name="anim-6-wipe-320-1029"/>
          <p:cNvSpPr txBox="1"/>
          <p:nvPr/>
        </p:nvSpPr>
        <p:spPr>
          <a:xfrm>
            <a:off x="8869680" y="519379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sofa</a:t>
            </a:r>
            <a:endParaRPr lang="en-US" sz="850" dirty="0"/>
          </a:p>
        </p:txBody>
      </p:sp>
      <p:sp>
        <p:nvSpPr>
          <p:cNvPr id="124" name="anim-6-wipe-320-1030"/>
          <p:cNvSpPr/>
          <p:nvPr/>
        </p:nvSpPr>
        <p:spPr>
          <a:xfrm>
            <a:off x="9720072" y="5212080"/>
            <a:ext cx="307238" cy="118872"/>
          </a:xfrm>
          <a:prstGeom prst="rect">
            <a:avLst/>
          </a:prstGeom>
          <a:solidFill>
            <a:srgbClr val="FDA4AF"/>
          </a:solidFill>
          <a:ln/>
        </p:spPr>
      </p:sp>
      <p:sp>
        <p:nvSpPr>
          <p:cNvPr id="125" name="anim-6-wipe-320-1031"/>
          <p:cNvSpPr txBox="1"/>
          <p:nvPr/>
        </p:nvSpPr>
        <p:spPr>
          <a:xfrm>
            <a:off x="10063886" y="519379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14%</a:t>
            </a:r>
            <a:endParaRPr lang="en-US" sz="850" dirty="0"/>
          </a:p>
        </p:txBody>
      </p:sp>
      <p:sp>
        <p:nvSpPr>
          <p:cNvPr id="126" name="anim-6-wipe-380-1032"/>
          <p:cNvSpPr txBox="1"/>
          <p:nvPr/>
        </p:nvSpPr>
        <p:spPr>
          <a:xfrm>
            <a:off x="8869680" y="537667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bed</a:t>
            </a:r>
            <a:endParaRPr lang="en-US" sz="850" dirty="0"/>
          </a:p>
        </p:txBody>
      </p:sp>
      <p:sp>
        <p:nvSpPr>
          <p:cNvPr id="127" name="anim-6-wipe-380-1033"/>
          <p:cNvSpPr/>
          <p:nvPr/>
        </p:nvSpPr>
        <p:spPr>
          <a:xfrm>
            <a:off x="9720072" y="5394960"/>
            <a:ext cx="219456" cy="118872"/>
          </a:xfrm>
          <a:prstGeom prst="rect">
            <a:avLst/>
          </a:prstGeom>
          <a:solidFill>
            <a:srgbClr val="FDA4AF"/>
          </a:solidFill>
          <a:ln/>
        </p:spPr>
      </p:sp>
      <p:sp>
        <p:nvSpPr>
          <p:cNvPr id="128" name="anim-6-wipe-380-1034"/>
          <p:cNvSpPr txBox="1"/>
          <p:nvPr/>
        </p:nvSpPr>
        <p:spPr>
          <a:xfrm>
            <a:off x="9976104" y="537667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10%</a:t>
            </a:r>
            <a:endParaRPr lang="en-US" sz="850" dirty="0"/>
          </a:p>
        </p:txBody>
      </p:sp>
      <p:sp>
        <p:nvSpPr>
          <p:cNvPr id="129" name="anim-6-wipe-440-1035"/>
          <p:cNvSpPr txBox="1"/>
          <p:nvPr/>
        </p:nvSpPr>
        <p:spPr>
          <a:xfrm>
            <a:off x="8869680" y="5559552"/>
            <a:ext cx="777240" cy="155448"/>
          </a:xfrm>
          <a:prstGeom prst="rect">
            <a:avLst/>
          </a:prstGeom>
          <a:noFill/>
          <a:ln/>
        </p:spPr>
        <p:txBody>
          <a:bodyPr wrap="square" lIns="0" tIns="0" rIns="0" bIns="0" rtlCol="0" anchor="ctr"/>
          <a:lstStyle/>
          <a:p>
            <a:pPr algn="r" indent="0" marL="0">
              <a:buNone/>
            </a:pPr>
            <a:r>
              <a:rPr lang="en-US" sz="850" dirty="0">
                <a:solidFill>
                  <a:srgbClr val="0F172A"/>
                </a:solidFill>
                <a:latin typeface="Inter" pitchFamily="34" charset="0"/>
                <a:ea typeface="Inter" pitchFamily="34" charset="-122"/>
                <a:cs typeface="Inter" pitchFamily="34" charset="-120"/>
              </a:rPr>
              <a:t>chair</a:t>
            </a:r>
            <a:endParaRPr lang="en-US" sz="850" dirty="0"/>
          </a:p>
        </p:txBody>
      </p:sp>
      <p:sp>
        <p:nvSpPr>
          <p:cNvPr id="130" name="anim-6-wipe-440-1036"/>
          <p:cNvSpPr/>
          <p:nvPr/>
        </p:nvSpPr>
        <p:spPr>
          <a:xfrm>
            <a:off x="9720072" y="5577840"/>
            <a:ext cx="153619" cy="118872"/>
          </a:xfrm>
          <a:prstGeom prst="rect">
            <a:avLst/>
          </a:prstGeom>
          <a:solidFill>
            <a:srgbClr val="FDA4AF"/>
          </a:solidFill>
          <a:ln/>
        </p:spPr>
      </p:sp>
      <p:sp>
        <p:nvSpPr>
          <p:cNvPr id="131" name="anim-6-wipe-440-1037"/>
          <p:cNvSpPr txBox="1"/>
          <p:nvPr/>
        </p:nvSpPr>
        <p:spPr>
          <a:xfrm>
            <a:off x="9910267" y="5559552"/>
            <a:ext cx="411480" cy="155448"/>
          </a:xfrm>
          <a:prstGeom prst="rect">
            <a:avLst/>
          </a:prstGeom>
          <a:noFill/>
          <a:ln/>
        </p:spPr>
        <p:txBody>
          <a:bodyPr wrap="square" lIns="0" tIns="0" rIns="0" bIns="0" rtlCol="0" anchor="ctr"/>
          <a:lstStyle/>
          <a:p>
            <a:pPr indent="0" marL="0">
              <a:buNone/>
            </a:pPr>
            <a:r>
              <a:rPr lang="en-US" sz="850" dirty="0">
                <a:solidFill>
                  <a:srgbClr val="64748B"/>
                </a:solidFill>
                <a:latin typeface="Inter" pitchFamily="34" charset="0"/>
                <a:ea typeface="Inter" pitchFamily="34" charset="-122"/>
                <a:cs typeface="Inter" pitchFamily="34" charset="-120"/>
              </a:rPr>
              <a:t>7%</a:t>
            </a:r>
            <a:endParaRPr lang="en-US" sz="850" dirty="0"/>
          </a:p>
        </p:txBody>
      </p:sp>
      <p:sp>
        <p:nvSpPr>
          <p:cNvPr id="132" name="anim-6-wipe-500-1038"/>
          <p:cNvSpPr txBox="1"/>
          <p:nvPr/>
        </p:nvSpPr>
        <p:spPr>
          <a:xfrm>
            <a:off x="8869680" y="5742432"/>
            <a:ext cx="777240" cy="155448"/>
          </a:xfrm>
          <a:prstGeom prst="rect">
            <a:avLst/>
          </a:prstGeom>
          <a:noFill/>
          <a:ln/>
        </p:spPr>
        <p:txBody>
          <a:bodyPr wrap="square" lIns="0" tIns="0" rIns="0" bIns="0" rtlCol="0" anchor="ctr"/>
          <a:lstStyle/>
          <a:p>
            <a:pPr algn="r" indent="0" marL="0">
              <a:buNone/>
            </a:pPr>
            <a:r>
              <a:rPr lang="en-US" sz="850" dirty="0">
                <a:solidFill>
                  <a:srgbClr val="94A3B8"/>
                </a:solidFill>
                <a:latin typeface="Inter" pitchFamily="34" charset="0"/>
                <a:ea typeface="Inter" pitchFamily="34" charset="-122"/>
                <a:cs typeface="Inter" pitchFamily="34" charset="-120"/>
              </a:rPr>
              <a:t>windowsill</a:t>
            </a:r>
            <a:endParaRPr lang="en-US" sz="850" dirty="0"/>
          </a:p>
        </p:txBody>
      </p:sp>
      <p:sp>
        <p:nvSpPr>
          <p:cNvPr id="133" name="anim-6-wipe-500-1039"/>
          <p:cNvSpPr/>
          <p:nvPr/>
        </p:nvSpPr>
        <p:spPr>
          <a:xfrm>
            <a:off x="9720072" y="5760720"/>
            <a:ext cx="87782" cy="118872"/>
          </a:xfrm>
          <a:prstGeom prst="rect">
            <a:avLst/>
          </a:prstGeom>
          <a:solidFill>
            <a:srgbClr val="E2E8F0"/>
          </a:solidFill>
          <a:ln/>
        </p:spPr>
      </p:sp>
      <p:sp>
        <p:nvSpPr>
          <p:cNvPr id="134" name="anim-6-wipe-500-1040"/>
          <p:cNvSpPr txBox="1"/>
          <p:nvPr/>
        </p:nvSpPr>
        <p:spPr>
          <a:xfrm>
            <a:off x="9844430" y="5742432"/>
            <a:ext cx="411480" cy="155448"/>
          </a:xfrm>
          <a:prstGeom prst="rect">
            <a:avLst/>
          </a:prstGeom>
          <a:noFill/>
          <a:ln/>
        </p:spPr>
        <p:txBody>
          <a:bodyPr wrap="square" lIns="0" tIns="0" rIns="0" bIns="0" rtlCol="0" anchor="ctr"/>
          <a:lstStyle/>
          <a:p>
            <a:pPr indent="0" marL="0">
              <a:buNone/>
            </a:pPr>
            <a:r>
              <a:rPr lang="en-US" sz="850" dirty="0">
                <a:solidFill>
                  <a:srgbClr val="94A3B8"/>
                </a:solidFill>
                <a:latin typeface="Inter" pitchFamily="34" charset="0"/>
                <a:ea typeface="Inter" pitchFamily="34" charset="-122"/>
                <a:cs typeface="Inter" pitchFamily="34" charset="-120"/>
              </a:rPr>
              <a:t>✕</a:t>
            </a:r>
            <a:endParaRPr lang="en-US" sz="850" dirty="0"/>
          </a:p>
        </p:txBody>
      </p:sp>
      <p:sp>
        <p:nvSpPr>
          <p:cNvPr id="135" name="Text 133"/>
          <p:cNvSpPr txBox="1"/>
          <p:nvPr/>
        </p:nvSpPr>
        <p:spPr>
          <a:xfrm>
            <a:off x="548640" y="6217920"/>
            <a:ext cx="10058400" cy="182880"/>
          </a:xfrm>
          <a:prstGeom prst="rect">
            <a:avLst/>
          </a:prstGeom>
          <a:noFill/>
          <a:ln/>
        </p:spPr>
        <p:txBody>
          <a:bodyPr wrap="square" lIns="0" tIns="0" rIns="0" bIns="0" rtlCol="0" anchor="t"/>
          <a:lstStyle/>
          <a:p>
            <a:pPr indent="0" marL="0">
              <a:buNone/>
            </a:pPr>
            <a:r>
              <a:rPr lang="en-US" sz="850" i="1" dirty="0">
                <a:solidFill>
                  <a:srgbClr val="94A3B8"/>
                </a:solidFill>
                <a:latin typeface="Inter" pitchFamily="34" charset="0"/>
                <a:ea typeface="Inter" pitchFamily="34" charset="-122"/>
                <a:cs typeface="Inter" pitchFamily="34" charset="-120"/>
              </a:rPr>
              <a:t>Sampling = rolling a weighted die. Real systems usually combine temperature with top-p. Outputs shown are illustrative.</a:t>
            </a:r>
            <a:endParaRPr lang="en-US" sz="85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anim calcmode="lin" valueType="num">
                                      <p:cBhvr>
                                        <p:cTn id="8" dur="500" fill="hold"/>
                                        <p:tgtEl>
                                          <p:spTgt spid="29"/>
                                        </p:tgtEl>
                                        <p:attrNameLst>
                                          <p:attrName>ppt_x</p:attrName>
                                        </p:attrNameLst>
                                      </p:cBhvr>
                                      <p:tavLst>
                                        <p:tav tm="0">
                                          <p:val>
                                            <p:strVal val="#ppt_x"/>
                                          </p:val>
                                        </p:tav>
                                        <p:tav tm="100000">
                                          <p:val>
                                            <p:strVal val="#ppt_x"/>
                                          </p:val>
                                        </p:tav>
                                      </p:tavLst>
                                    </p:anim>
                                    <p:anim calcmode="lin" valueType="num">
                                      <p:cBhvr>
                                        <p:cTn id="9" dur="500" fill="hold"/>
                                        <p:tgtEl>
                                          <p:spTgt spid="29"/>
                                        </p:tgtEl>
                                        <p:attrNameLst>
                                          <p:attrName>ppt_y</p:attrName>
                                        </p:attrNameLst>
                                      </p:cBhvr>
                                      <p:tavLst>
                                        <p:tav tm="0">
                                          <p:val>
                                            <p:strVal val="#ppt_y+0.06"/>
                                          </p:val>
                                        </p:tav>
                                        <p:tav tm="100000">
                                          <p:val>
                                            <p:strVal val="#ppt_y"/>
                                          </p:val>
                                        </p:tav>
                                      </p:tavLst>
                                    </p:anim>
                                  </p:childTnLst>
                                </p:cTn>
                              </p:par>
                              <p:par>
                                <p:cTn id="11" presetID="42"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anim calcmode="lin" valueType="num">
                                      <p:cBhvr>
                                        <p:cTn id="13" dur="500" fill="hold"/>
                                        <p:tgtEl>
                                          <p:spTgt spid="30"/>
                                        </p:tgtEl>
                                        <p:attrNameLst>
                                          <p:attrName>ppt_x</p:attrName>
                                        </p:attrNameLst>
                                      </p:cBhvr>
                                      <p:tavLst>
                                        <p:tav tm="0">
                                          <p:val>
                                            <p:strVal val="#ppt_x"/>
                                          </p:val>
                                        </p:tav>
                                        <p:tav tm="100000">
                                          <p:val>
                                            <p:strVal val="#ppt_x"/>
                                          </p:val>
                                        </p:tav>
                                      </p:tavLst>
                                    </p:anim>
                                    <p:anim calcmode="lin" valueType="num">
                                      <p:cBhvr>
                                        <p:cTn id="14" dur="500" fill="hold"/>
                                        <p:tgtEl>
                                          <p:spTgt spid="30"/>
                                        </p:tgtEl>
                                        <p:attrNameLst>
                                          <p:attrName>ppt_y</p:attrName>
                                        </p:attrNameLst>
                                      </p:cBhvr>
                                      <p:tavLst>
                                        <p:tav tm="0">
                                          <p:val>
                                            <p:strVal val="#ppt_y+0.06"/>
                                          </p:val>
                                        </p:tav>
                                        <p:tav tm="100000">
                                          <p:val>
                                            <p:strVal val="#ppt_y"/>
                                          </p:val>
                                        </p:tav>
                                      </p:tavLst>
                                    </p:anim>
                                  </p:childTnLst>
                                </p:cTn>
                              </p:par>
                              <p:par>
                                <p:cTn id="16" presetID="22" presetClass="entr" presetSubtype="8" fill="hold" grpId="0" nodeType="withEffect">
                                  <p:stCondLst>
                                    <p:cond delay="20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7" dur="450"/>
                                        <p:tgtEl>
                                          <p:spTgt spid="31"/>
                                        </p:tgtEl>
                                      </p:cBhvr>
                                    </p:animEffect>
                                  </p:childTnLst>
                                </p:cTn>
                              </p:par>
                              <p:par>
                                <p:cTn id="19" presetID="22" presetClass="entr" presetSubtype="8" fill="hold" grpId="0" nodeType="withEffect">
                                  <p:stCondLst>
                                    <p:cond delay="20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20" dur="450"/>
                                        <p:tgtEl>
                                          <p:spTgt spid="32"/>
                                        </p:tgtEl>
                                      </p:cBhvr>
                                    </p:animEffect>
                                  </p:childTnLst>
                                </p:cTn>
                              </p:par>
                              <p:par>
                                <p:cTn id="22" presetID="22" presetClass="entr" presetSubtype="8" fill="hold" grpId="0" nodeType="withEffect">
                                  <p:stCondLst>
                                    <p:cond delay="20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3" dur="450"/>
                                        <p:tgtEl>
                                          <p:spTgt spid="33"/>
                                        </p:tgtEl>
                                      </p:cBhvr>
                                    </p:animEffect>
                                  </p:childTnLst>
                                </p:cTn>
                              </p:par>
                              <p:par>
                                <p:cTn id="25" presetID="22" presetClass="entr" presetSubtype="8" fill="hold" grpId="0" nodeType="withEffect">
                                  <p:stCondLst>
                                    <p:cond delay="26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6" dur="450"/>
                                        <p:tgtEl>
                                          <p:spTgt spid="34"/>
                                        </p:tgtEl>
                                      </p:cBhvr>
                                    </p:animEffect>
                                  </p:childTnLst>
                                </p:cTn>
                              </p:par>
                              <p:par>
                                <p:cTn id="28" presetID="22" presetClass="entr" presetSubtype="8" fill="hold" grpId="0" nodeType="withEffect">
                                  <p:stCondLst>
                                    <p:cond delay="260"/>
                                  </p:stCondLst>
                                  <p:childTnLst>
                                    <p:set>
                                      <p:cBhvr>
                                        <p:cTn id="27" dur="1" fill="hold">
                                          <p:stCondLst>
                                            <p:cond delay="0"/>
                                          </p:stCondLst>
                                        </p:cTn>
                                        <p:tgtEl>
                                          <p:spTgt spid="35"/>
                                        </p:tgtEl>
                                        <p:attrNameLst>
                                          <p:attrName>style.visibility</p:attrName>
                                        </p:attrNameLst>
                                      </p:cBhvr>
                                      <p:to>
                                        <p:strVal val="visible"/>
                                      </p:to>
                                    </p:set>
                                    <p:animEffect transition="in" filter="wipe(left)">
                                      <p:cBhvr>
                                        <p:cTn id="29" dur="450"/>
                                        <p:tgtEl>
                                          <p:spTgt spid="35"/>
                                        </p:tgtEl>
                                      </p:cBhvr>
                                    </p:animEffect>
                                  </p:childTnLst>
                                </p:cTn>
                              </p:par>
                              <p:par>
                                <p:cTn id="31" presetID="22" presetClass="entr" presetSubtype="8" fill="hold" grpId="0" nodeType="withEffect">
                                  <p:stCondLst>
                                    <p:cond delay="26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2" dur="450"/>
                                        <p:tgtEl>
                                          <p:spTgt spid="36"/>
                                        </p:tgtEl>
                                      </p:cBhvr>
                                    </p:animEffect>
                                  </p:childTnLst>
                                </p:cTn>
                              </p:par>
                              <p:par>
                                <p:cTn id="34" presetID="22" presetClass="entr" presetSubtype="8" fill="hold" grpId="0" nodeType="withEffect">
                                  <p:stCondLst>
                                    <p:cond delay="320"/>
                                  </p:stCondLst>
                                  <p:childTnLst>
                                    <p:set>
                                      <p:cBhvr>
                                        <p:cTn id="33" dur="1" fill="hold">
                                          <p:stCondLst>
                                            <p:cond delay="0"/>
                                          </p:stCondLst>
                                        </p:cTn>
                                        <p:tgtEl>
                                          <p:spTgt spid="37"/>
                                        </p:tgtEl>
                                        <p:attrNameLst>
                                          <p:attrName>style.visibility</p:attrName>
                                        </p:attrNameLst>
                                      </p:cBhvr>
                                      <p:to>
                                        <p:strVal val="visible"/>
                                      </p:to>
                                    </p:set>
                                    <p:animEffect transition="in" filter="wipe(left)">
                                      <p:cBhvr>
                                        <p:cTn id="35" dur="450"/>
                                        <p:tgtEl>
                                          <p:spTgt spid="37"/>
                                        </p:tgtEl>
                                      </p:cBhvr>
                                    </p:animEffect>
                                  </p:childTnLst>
                                </p:cTn>
                              </p:par>
                              <p:par>
                                <p:cTn id="37" presetID="22" presetClass="entr" presetSubtype="8" fill="hold" grpId="0" nodeType="withEffect">
                                  <p:stCondLst>
                                    <p:cond delay="320"/>
                                  </p:stCondLst>
                                  <p:childTnLst>
                                    <p:set>
                                      <p:cBhvr>
                                        <p:cTn id="36" dur="1" fill="hold">
                                          <p:stCondLst>
                                            <p:cond delay="0"/>
                                          </p:stCondLst>
                                        </p:cTn>
                                        <p:tgtEl>
                                          <p:spTgt spid="38"/>
                                        </p:tgtEl>
                                        <p:attrNameLst>
                                          <p:attrName>style.visibility</p:attrName>
                                        </p:attrNameLst>
                                      </p:cBhvr>
                                      <p:to>
                                        <p:strVal val="visible"/>
                                      </p:to>
                                    </p:set>
                                    <p:animEffect transition="in" filter="wipe(left)">
                                      <p:cBhvr>
                                        <p:cTn id="38" dur="450"/>
                                        <p:tgtEl>
                                          <p:spTgt spid="38"/>
                                        </p:tgtEl>
                                      </p:cBhvr>
                                    </p:animEffect>
                                  </p:childTnLst>
                                </p:cTn>
                              </p:par>
                              <p:par>
                                <p:cTn id="40" presetID="22" presetClass="entr" presetSubtype="8" fill="hold" grpId="0" nodeType="withEffect">
                                  <p:stCondLst>
                                    <p:cond delay="320"/>
                                  </p:stCondLst>
                                  <p:childTnLst>
                                    <p:set>
                                      <p:cBhvr>
                                        <p:cTn id="39" dur="1" fill="hold">
                                          <p:stCondLst>
                                            <p:cond delay="0"/>
                                          </p:stCondLst>
                                        </p:cTn>
                                        <p:tgtEl>
                                          <p:spTgt spid="39"/>
                                        </p:tgtEl>
                                        <p:attrNameLst>
                                          <p:attrName>style.visibility</p:attrName>
                                        </p:attrNameLst>
                                      </p:cBhvr>
                                      <p:to>
                                        <p:strVal val="visible"/>
                                      </p:to>
                                    </p:set>
                                    <p:animEffect transition="in" filter="wipe(left)">
                                      <p:cBhvr>
                                        <p:cTn id="41" dur="450"/>
                                        <p:tgtEl>
                                          <p:spTgt spid="39"/>
                                        </p:tgtEl>
                                      </p:cBhvr>
                                    </p:animEffect>
                                  </p:childTnLst>
                                </p:cTn>
                              </p:par>
                              <p:par>
                                <p:cTn id="43" presetID="22" presetClass="entr" presetSubtype="8" fill="hold" grpId="0" nodeType="withEffect">
                                  <p:stCondLst>
                                    <p:cond delay="38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4" dur="450"/>
                                        <p:tgtEl>
                                          <p:spTgt spid="40"/>
                                        </p:tgtEl>
                                      </p:cBhvr>
                                    </p:animEffect>
                                  </p:childTnLst>
                                </p:cTn>
                              </p:par>
                              <p:par>
                                <p:cTn id="46" presetID="22" presetClass="entr" presetSubtype="8" fill="hold" grpId="0" nodeType="withEffect">
                                  <p:stCondLst>
                                    <p:cond delay="38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7" dur="450"/>
                                        <p:tgtEl>
                                          <p:spTgt spid="41"/>
                                        </p:tgtEl>
                                      </p:cBhvr>
                                    </p:animEffect>
                                  </p:childTnLst>
                                </p:cTn>
                              </p:par>
                              <p:par>
                                <p:cTn id="49" presetID="22" presetClass="entr" presetSubtype="8" fill="hold" grpId="0" nodeType="withEffect">
                                  <p:stCondLst>
                                    <p:cond delay="380"/>
                                  </p:stCondLst>
                                  <p:childTnLst>
                                    <p:set>
                                      <p:cBhvr>
                                        <p:cTn id="48" dur="1" fill="hold">
                                          <p:stCondLst>
                                            <p:cond delay="0"/>
                                          </p:stCondLst>
                                        </p:cTn>
                                        <p:tgtEl>
                                          <p:spTgt spid="42"/>
                                        </p:tgtEl>
                                        <p:attrNameLst>
                                          <p:attrName>style.visibility</p:attrName>
                                        </p:attrNameLst>
                                      </p:cBhvr>
                                      <p:to>
                                        <p:strVal val="visible"/>
                                      </p:to>
                                    </p:set>
                                    <p:animEffect transition="in" filter="wipe(left)">
                                      <p:cBhvr>
                                        <p:cTn id="50" dur="450"/>
                                        <p:tgtEl>
                                          <p:spTgt spid="42"/>
                                        </p:tgtEl>
                                      </p:cBhvr>
                                    </p:animEffect>
                                  </p:childTnLst>
                                </p:cTn>
                              </p:par>
                              <p:par>
                                <p:cTn id="52" presetID="22" presetClass="entr" presetSubtype="8" fill="hold" grpId="0" nodeType="withEffect">
                                  <p:stCondLst>
                                    <p:cond delay="440"/>
                                  </p:stCondLst>
                                  <p:childTnLst>
                                    <p:set>
                                      <p:cBhvr>
                                        <p:cTn id="51" dur="1" fill="hold">
                                          <p:stCondLst>
                                            <p:cond delay="0"/>
                                          </p:stCondLst>
                                        </p:cTn>
                                        <p:tgtEl>
                                          <p:spTgt spid="43"/>
                                        </p:tgtEl>
                                        <p:attrNameLst>
                                          <p:attrName>style.visibility</p:attrName>
                                        </p:attrNameLst>
                                      </p:cBhvr>
                                      <p:to>
                                        <p:strVal val="visible"/>
                                      </p:to>
                                    </p:set>
                                    <p:animEffect transition="in" filter="wipe(left)">
                                      <p:cBhvr>
                                        <p:cTn id="53" dur="450"/>
                                        <p:tgtEl>
                                          <p:spTgt spid="43"/>
                                        </p:tgtEl>
                                      </p:cBhvr>
                                    </p:animEffect>
                                  </p:childTnLst>
                                </p:cTn>
                              </p:par>
                              <p:par>
                                <p:cTn id="55" presetID="22" presetClass="entr" presetSubtype="8" fill="hold" grpId="0" nodeType="withEffect">
                                  <p:stCondLst>
                                    <p:cond delay="440"/>
                                  </p:stCondLst>
                                  <p:childTnLst>
                                    <p:set>
                                      <p:cBhvr>
                                        <p:cTn id="54" dur="1" fill="hold">
                                          <p:stCondLst>
                                            <p:cond delay="0"/>
                                          </p:stCondLst>
                                        </p:cTn>
                                        <p:tgtEl>
                                          <p:spTgt spid="44"/>
                                        </p:tgtEl>
                                        <p:attrNameLst>
                                          <p:attrName>style.visibility</p:attrName>
                                        </p:attrNameLst>
                                      </p:cBhvr>
                                      <p:to>
                                        <p:strVal val="visible"/>
                                      </p:to>
                                    </p:set>
                                    <p:animEffect transition="in" filter="wipe(left)">
                                      <p:cBhvr>
                                        <p:cTn id="56" dur="450"/>
                                        <p:tgtEl>
                                          <p:spTgt spid="44"/>
                                        </p:tgtEl>
                                      </p:cBhvr>
                                    </p:animEffect>
                                  </p:childTnLst>
                                </p:cTn>
                              </p:par>
                              <p:par>
                                <p:cTn id="58" presetID="22" presetClass="entr" presetSubtype="8" fill="hold" grpId="0" nodeType="withEffect">
                                  <p:stCondLst>
                                    <p:cond delay="440"/>
                                  </p:stCondLst>
                                  <p:childTnLst>
                                    <p:set>
                                      <p:cBhvr>
                                        <p:cTn id="57" dur="1" fill="hold">
                                          <p:stCondLst>
                                            <p:cond delay="0"/>
                                          </p:stCondLst>
                                        </p:cTn>
                                        <p:tgtEl>
                                          <p:spTgt spid="45"/>
                                        </p:tgtEl>
                                        <p:attrNameLst>
                                          <p:attrName>style.visibility</p:attrName>
                                        </p:attrNameLst>
                                      </p:cBhvr>
                                      <p:to>
                                        <p:strVal val="visible"/>
                                      </p:to>
                                    </p:set>
                                    <p:animEffect transition="in" filter="wipe(left)">
                                      <p:cBhvr>
                                        <p:cTn id="59" dur="450"/>
                                        <p:tgtEl>
                                          <p:spTgt spid="45"/>
                                        </p:tgtEl>
                                      </p:cBhvr>
                                    </p:animEffect>
                                  </p:childTnLst>
                                </p:cTn>
                              </p:par>
                              <p:par>
                                <p:cTn id="61" presetID="22" presetClass="entr" presetSubtype="8" fill="hold" grpId="0" nodeType="withEffect">
                                  <p:stCondLst>
                                    <p:cond delay="500"/>
                                  </p:stCondLst>
                                  <p:childTnLst>
                                    <p:set>
                                      <p:cBhvr>
                                        <p:cTn id="60" dur="1" fill="hold">
                                          <p:stCondLst>
                                            <p:cond delay="0"/>
                                          </p:stCondLst>
                                        </p:cTn>
                                        <p:tgtEl>
                                          <p:spTgt spid="46"/>
                                        </p:tgtEl>
                                        <p:attrNameLst>
                                          <p:attrName>style.visibility</p:attrName>
                                        </p:attrNameLst>
                                      </p:cBhvr>
                                      <p:to>
                                        <p:strVal val="visible"/>
                                      </p:to>
                                    </p:set>
                                    <p:animEffect transition="in" filter="wipe(left)">
                                      <p:cBhvr>
                                        <p:cTn id="62" dur="450"/>
                                        <p:tgtEl>
                                          <p:spTgt spid="46"/>
                                        </p:tgtEl>
                                      </p:cBhvr>
                                    </p:animEffect>
                                  </p:childTnLst>
                                </p:cTn>
                              </p:par>
                              <p:par>
                                <p:cTn id="64" presetID="22" presetClass="entr" presetSubtype="8" fill="hold" grpId="0" nodeType="withEffect">
                                  <p:stCondLst>
                                    <p:cond delay="50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5" dur="450"/>
                                        <p:tgtEl>
                                          <p:spTgt spid="47"/>
                                        </p:tgtEl>
                                      </p:cBhvr>
                                    </p:animEffect>
                                  </p:childTnLst>
                                </p:cTn>
                              </p:par>
                              <p:par>
                                <p:cTn id="67" presetID="22" presetClass="entr" presetSubtype="8" fill="hold" grpId="0" nodeType="withEffect">
                                  <p:stCondLst>
                                    <p:cond delay="500"/>
                                  </p:stCondLst>
                                  <p:childTnLst>
                                    <p:set>
                                      <p:cBhvr>
                                        <p:cTn id="66" dur="1" fill="hold">
                                          <p:stCondLst>
                                            <p:cond delay="0"/>
                                          </p:stCondLst>
                                        </p:cTn>
                                        <p:tgtEl>
                                          <p:spTgt spid="48"/>
                                        </p:tgtEl>
                                        <p:attrNameLst>
                                          <p:attrName>style.visibility</p:attrName>
                                        </p:attrNameLst>
                                      </p:cBhvr>
                                      <p:to>
                                        <p:strVal val="visible"/>
                                      </p:to>
                                    </p:set>
                                    <p:animEffect transition="in" filter="wipe(left)">
                                      <p:cBhvr>
                                        <p:cTn id="68" dur="450"/>
                                        <p:tgtEl>
                                          <p:spTgt spid="48"/>
                                        </p:tgtEl>
                                      </p:cBhvr>
                                    </p:animEffect>
                                  </p:childTnLst>
                                </p:cTn>
                              </p:par>
                              <p:par>
                                <p:cTn id="70" presetID="22" presetClass="entr" presetSubtype="8" fill="hold" grpId="0" nodeType="withEffect">
                                  <p:stCondLst>
                                    <p:cond delay="560"/>
                                  </p:stCondLst>
                                  <p:childTnLst>
                                    <p:set>
                                      <p:cBhvr>
                                        <p:cTn id="69" dur="1" fill="hold">
                                          <p:stCondLst>
                                            <p:cond delay="0"/>
                                          </p:stCondLst>
                                        </p:cTn>
                                        <p:tgtEl>
                                          <p:spTgt spid="49"/>
                                        </p:tgtEl>
                                        <p:attrNameLst>
                                          <p:attrName>style.visibility</p:attrName>
                                        </p:attrNameLst>
                                      </p:cBhvr>
                                      <p:to>
                                        <p:strVal val="visible"/>
                                      </p:to>
                                    </p:set>
                                    <p:animEffect transition="in" filter="wipe(left)">
                                      <p:cBhvr>
                                        <p:cTn id="71" dur="450"/>
                                        <p:tgtEl>
                                          <p:spTgt spid="49"/>
                                        </p:tgtEl>
                                      </p:cBhvr>
                                    </p:animEffect>
                                  </p:childTnLst>
                                </p:cTn>
                              </p:par>
                              <p:par>
                                <p:cTn id="73" presetID="22" presetClass="entr" presetSubtype="8" fill="hold" grpId="0" nodeType="withEffect">
                                  <p:stCondLst>
                                    <p:cond delay="560"/>
                                  </p:stCondLst>
                                  <p:childTnLst>
                                    <p:set>
                                      <p:cBhvr>
                                        <p:cTn id="72" dur="1" fill="hold">
                                          <p:stCondLst>
                                            <p:cond delay="0"/>
                                          </p:stCondLst>
                                        </p:cTn>
                                        <p:tgtEl>
                                          <p:spTgt spid="50"/>
                                        </p:tgtEl>
                                        <p:attrNameLst>
                                          <p:attrName>style.visibility</p:attrName>
                                        </p:attrNameLst>
                                      </p:cBhvr>
                                      <p:to>
                                        <p:strVal val="visible"/>
                                      </p:to>
                                    </p:set>
                                    <p:animEffect transition="in" filter="wipe(left)">
                                      <p:cBhvr>
                                        <p:cTn id="74" dur="450"/>
                                        <p:tgtEl>
                                          <p:spTgt spid="50"/>
                                        </p:tgtEl>
                                      </p:cBhvr>
                                    </p:animEffect>
                                  </p:childTnLst>
                                </p:cTn>
                              </p:par>
                              <p:par>
                                <p:cTn id="76" presetID="22" presetClass="entr" presetSubtype="8" fill="hold" grpId="0" nodeType="withEffect">
                                  <p:stCondLst>
                                    <p:cond delay="560"/>
                                  </p:stCondLst>
                                  <p:childTnLst>
                                    <p:set>
                                      <p:cBhvr>
                                        <p:cTn id="75" dur="1" fill="hold">
                                          <p:stCondLst>
                                            <p:cond delay="0"/>
                                          </p:stCondLst>
                                        </p:cTn>
                                        <p:tgtEl>
                                          <p:spTgt spid="51"/>
                                        </p:tgtEl>
                                        <p:attrNameLst>
                                          <p:attrName>style.visibility</p:attrName>
                                        </p:attrNameLst>
                                      </p:cBhvr>
                                      <p:to>
                                        <p:strVal val="visible"/>
                                      </p:to>
                                    </p:set>
                                    <p:animEffect transition="in" filter="wipe(left)">
                                      <p:cBhvr>
                                        <p:cTn id="77" dur="450"/>
                                        <p:tgtEl>
                                          <p:spTgt spid="51"/>
                                        </p:tgtEl>
                                      </p:cBhvr>
                                    </p:animEffect>
                                  </p:childTnLst>
                                </p:cTn>
                              </p:par>
                            </p:childTnLst>
                          </p:cTn>
                        </p:par>
                      </p:childTnLst>
                    </p:cTn>
                  </p:par>
                  <p:par>
                    <p:cTn id="78" fill="hold">
                      <p:stCondLst>
                        <p:cond delay="indefinite"/>
                      </p:stCondLst>
                      <p:childTnLst>
                        <p:par>
                          <p:cTn id="79" fill="hold">
                            <p:stCondLst>
                              <p:cond delay="0"/>
                            </p:stCondLst>
                            <p:childTnLst>
                              <p:par>
                                <p:cTn id="81" presetID="42" presetClass="entr" presetSubtype="0" fill="hold" grpId="0"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fade">
                                      <p:cBhvr>
                                        <p:cTn id="82" dur="500"/>
                                        <p:tgtEl>
                                          <p:spTgt spid="6"/>
                                        </p:tgtEl>
                                      </p:cBhvr>
                                    </p:animEffect>
                                    <p:anim calcmode="lin" valueType="num">
                                      <p:cBhvr>
                                        <p:cTn id="83" dur="500" fill="hold"/>
                                        <p:tgtEl>
                                          <p:spTgt spid="6"/>
                                        </p:tgtEl>
                                        <p:attrNameLst>
                                          <p:attrName>ppt_x</p:attrName>
                                        </p:attrNameLst>
                                      </p:cBhvr>
                                      <p:tavLst>
                                        <p:tav tm="0">
                                          <p:val>
                                            <p:strVal val="#ppt_x"/>
                                          </p:val>
                                        </p:tav>
                                        <p:tav tm="100000">
                                          <p:val>
                                            <p:strVal val="#ppt_x"/>
                                          </p:val>
                                        </p:tav>
                                      </p:tavLst>
                                    </p:anim>
                                    <p:anim calcmode="lin" valueType="num">
                                      <p:cBhvr>
                                        <p:cTn id="84" dur="500" fill="hold"/>
                                        <p:tgtEl>
                                          <p:spTgt spid="6"/>
                                        </p:tgtEl>
                                        <p:attrNameLst>
                                          <p:attrName>ppt_y</p:attrName>
                                        </p:attrNameLst>
                                      </p:cBhvr>
                                      <p:tavLst>
                                        <p:tav tm="0">
                                          <p:val>
                                            <p:strVal val="#ppt_y+0.06"/>
                                          </p:val>
                                        </p:tav>
                                        <p:tav tm="100000">
                                          <p:val>
                                            <p:strVal val="#ppt_y"/>
                                          </p:val>
                                        </p:tav>
                                      </p:tavLst>
                                    </p:anim>
                                  </p:childTnLst>
                                </p:cTn>
                              </p:par>
                              <p:par>
                                <p:cTn id="86" presetID="42" presetClass="entr" presetSubtype="0" fill="hold" grpId="0" nodeType="withEffect">
                                  <p:stCondLst>
                                    <p:cond delay="0"/>
                                  </p:stCondLst>
                                  <p:childTnLst>
                                    <p:set>
                                      <p:cBhvr>
                                        <p:cTn id="85" dur="1" fill="hold">
                                          <p:stCondLst>
                                            <p:cond delay="0"/>
                                          </p:stCondLst>
                                        </p:cTn>
                                        <p:tgtEl>
                                          <p:spTgt spid="7"/>
                                        </p:tgtEl>
                                        <p:attrNameLst>
                                          <p:attrName>style.visibility</p:attrName>
                                        </p:attrNameLst>
                                      </p:cBhvr>
                                      <p:to>
                                        <p:strVal val="visible"/>
                                      </p:to>
                                    </p:set>
                                    <p:animEffect transition="in" filter="fade">
                                      <p:cBhvr>
                                        <p:cTn id="87" dur="500"/>
                                        <p:tgtEl>
                                          <p:spTgt spid="7"/>
                                        </p:tgtEl>
                                      </p:cBhvr>
                                    </p:animEffect>
                                    <p:anim calcmode="lin" valueType="num">
                                      <p:cBhvr>
                                        <p:cTn id="88" dur="500" fill="hold"/>
                                        <p:tgtEl>
                                          <p:spTgt spid="7"/>
                                        </p:tgtEl>
                                        <p:attrNameLst>
                                          <p:attrName>ppt_x</p:attrName>
                                        </p:attrNameLst>
                                      </p:cBhvr>
                                      <p:tavLst>
                                        <p:tav tm="0">
                                          <p:val>
                                            <p:strVal val="#ppt_x"/>
                                          </p:val>
                                        </p:tav>
                                        <p:tav tm="100000">
                                          <p:val>
                                            <p:strVal val="#ppt_x"/>
                                          </p:val>
                                        </p:tav>
                                      </p:tavLst>
                                    </p:anim>
                                    <p:anim calcmode="lin" valueType="num">
                                      <p:cBhvr>
                                        <p:cTn id="89" dur="500" fill="hold"/>
                                        <p:tgtEl>
                                          <p:spTgt spid="7"/>
                                        </p:tgtEl>
                                        <p:attrNameLst>
                                          <p:attrName>ppt_y</p:attrName>
                                        </p:attrNameLst>
                                      </p:cBhvr>
                                      <p:tavLst>
                                        <p:tav tm="0">
                                          <p:val>
                                            <p:strVal val="#ppt_y+0.06"/>
                                          </p:val>
                                        </p:tav>
                                        <p:tav tm="100000">
                                          <p:val>
                                            <p:strVal val="#ppt_y"/>
                                          </p:val>
                                        </p:tav>
                                      </p:tavLst>
                                    </p:anim>
                                  </p:childTnLst>
                                </p:cTn>
                              </p:par>
                              <p:par>
                                <p:cTn id="91" presetID="22" presetClass="entr" presetSubtype="8" fill="hold" grpId="0" nodeType="withEffect">
                                  <p:stCondLst>
                                    <p:cond delay="200"/>
                                  </p:stCondLst>
                                  <p:childTnLst>
                                    <p:set>
                                      <p:cBhvr>
                                        <p:cTn id="90" dur="1" fill="hold">
                                          <p:stCondLst>
                                            <p:cond delay="0"/>
                                          </p:stCondLst>
                                        </p:cTn>
                                        <p:tgtEl>
                                          <p:spTgt spid="8"/>
                                        </p:tgtEl>
                                        <p:attrNameLst>
                                          <p:attrName>style.visibility</p:attrName>
                                        </p:attrNameLst>
                                      </p:cBhvr>
                                      <p:to>
                                        <p:strVal val="visible"/>
                                      </p:to>
                                    </p:set>
                                    <p:animEffect transition="in" filter="wipe(left)">
                                      <p:cBhvr>
                                        <p:cTn id="92" dur="450"/>
                                        <p:tgtEl>
                                          <p:spTgt spid="8"/>
                                        </p:tgtEl>
                                      </p:cBhvr>
                                    </p:animEffect>
                                  </p:childTnLst>
                                </p:cTn>
                              </p:par>
                              <p:par>
                                <p:cTn id="94" presetID="22" presetClass="entr" presetSubtype="8" fill="hold" grpId="0" nodeType="withEffect">
                                  <p:stCondLst>
                                    <p:cond delay="200"/>
                                  </p:stCondLst>
                                  <p:childTnLst>
                                    <p:set>
                                      <p:cBhvr>
                                        <p:cTn id="93" dur="1" fill="hold">
                                          <p:stCondLst>
                                            <p:cond delay="0"/>
                                          </p:stCondLst>
                                        </p:cTn>
                                        <p:tgtEl>
                                          <p:spTgt spid="9"/>
                                        </p:tgtEl>
                                        <p:attrNameLst>
                                          <p:attrName>style.visibility</p:attrName>
                                        </p:attrNameLst>
                                      </p:cBhvr>
                                      <p:to>
                                        <p:strVal val="visible"/>
                                      </p:to>
                                    </p:set>
                                    <p:animEffect transition="in" filter="wipe(left)">
                                      <p:cBhvr>
                                        <p:cTn id="95" dur="450"/>
                                        <p:tgtEl>
                                          <p:spTgt spid="9"/>
                                        </p:tgtEl>
                                      </p:cBhvr>
                                    </p:animEffect>
                                  </p:childTnLst>
                                </p:cTn>
                              </p:par>
                              <p:par>
                                <p:cTn id="97" presetID="22" presetClass="entr" presetSubtype="8" fill="hold" grpId="0" nodeType="withEffect">
                                  <p:stCondLst>
                                    <p:cond delay="200"/>
                                  </p:stCondLst>
                                  <p:childTnLst>
                                    <p:set>
                                      <p:cBhvr>
                                        <p:cTn id="96" dur="1" fill="hold">
                                          <p:stCondLst>
                                            <p:cond delay="0"/>
                                          </p:stCondLst>
                                        </p:cTn>
                                        <p:tgtEl>
                                          <p:spTgt spid="10"/>
                                        </p:tgtEl>
                                        <p:attrNameLst>
                                          <p:attrName>style.visibility</p:attrName>
                                        </p:attrNameLst>
                                      </p:cBhvr>
                                      <p:to>
                                        <p:strVal val="visible"/>
                                      </p:to>
                                    </p:set>
                                    <p:animEffect transition="in" filter="wipe(left)">
                                      <p:cBhvr>
                                        <p:cTn id="98" dur="450"/>
                                        <p:tgtEl>
                                          <p:spTgt spid="10"/>
                                        </p:tgtEl>
                                      </p:cBhvr>
                                    </p:animEffect>
                                  </p:childTnLst>
                                </p:cTn>
                              </p:par>
                              <p:par>
                                <p:cTn id="100" presetID="22" presetClass="entr" presetSubtype="8" fill="hold" grpId="0" nodeType="withEffect">
                                  <p:stCondLst>
                                    <p:cond delay="260"/>
                                  </p:stCondLst>
                                  <p:childTnLst>
                                    <p:set>
                                      <p:cBhvr>
                                        <p:cTn id="99" dur="1" fill="hold">
                                          <p:stCondLst>
                                            <p:cond delay="0"/>
                                          </p:stCondLst>
                                        </p:cTn>
                                        <p:tgtEl>
                                          <p:spTgt spid="11"/>
                                        </p:tgtEl>
                                        <p:attrNameLst>
                                          <p:attrName>style.visibility</p:attrName>
                                        </p:attrNameLst>
                                      </p:cBhvr>
                                      <p:to>
                                        <p:strVal val="visible"/>
                                      </p:to>
                                    </p:set>
                                    <p:animEffect transition="in" filter="wipe(left)">
                                      <p:cBhvr>
                                        <p:cTn id="101" dur="450"/>
                                        <p:tgtEl>
                                          <p:spTgt spid="11"/>
                                        </p:tgtEl>
                                      </p:cBhvr>
                                    </p:animEffect>
                                  </p:childTnLst>
                                </p:cTn>
                              </p:par>
                              <p:par>
                                <p:cTn id="103" presetID="22" presetClass="entr" presetSubtype="8" fill="hold" grpId="0" nodeType="withEffect">
                                  <p:stCondLst>
                                    <p:cond delay="260"/>
                                  </p:stCondLst>
                                  <p:childTnLst>
                                    <p:set>
                                      <p:cBhvr>
                                        <p:cTn id="102" dur="1" fill="hold">
                                          <p:stCondLst>
                                            <p:cond delay="0"/>
                                          </p:stCondLst>
                                        </p:cTn>
                                        <p:tgtEl>
                                          <p:spTgt spid="12"/>
                                        </p:tgtEl>
                                        <p:attrNameLst>
                                          <p:attrName>style.visibility</p:attrName>
                                        </p:attrNameLst>
                                      </p:cBhvr>
                                      <p:to>
                                        <p:strVal val="visible"/>
                                      </p:to>
                                    </p:set>
                                    <p:animEffect transition="in" filter="wipe(left)">
                                      <p:cBhvr>
                                        <p:cTn id="104" dur="450"/>
                                        <p:tgtEl>
                                          <p:spTgt spid="12"/>
                                        </p:tgtEl>
                                      </p:cBhvr>
                                    </p:animEffect>
                                  </p:childTnLst>
                                </p:cTn>
                              </p:par>
                              <p:par>
                                <p:cTn id="106" presetID="22" presetClass="entr" presetSubtype="8" fill="hold" grpId="0" nodeType="withEffect">
                                  <p:stCondLst>
                                    <p:cond delay="260"/>
                                  </p:stCondLst>
                                  <p:childTnLst>
                                    <p:set>
                                      <p:cBhvr>
                                        <p:cTn id="105" dur="1" fill="hold">
                                          <p:stCondLst>
                                            <p:cond delay="0"/>
                                          </p:stCondLst>
                                        </p:cTn>
                                        <p:tgtEl>
                                          <p:spTgt spid="13"/>
                                        </p:tgtEl>
                                        <p:attrNameLst>
                                          <p:attrName>style.visibility</p:attrName>
                                        </p:attrNameLst>
                                      </p:cBhvr>
                                      <p:to>
                                        <p:strVal val="visible"/>
                                      </p:to>
                                    </p:set>
                                    <p:animEffect transition="in" filter="wipe(left)">
                                      <p:cBhvr>
                                        <p:cTn id="107" dur="450"/>
                                        <p:tgtEl>
                                          <p:spTgt spid="13"/>
                                        </p:tgtEl>
                                      </p:cBhvr>
                                    </p:animEffect>
                                  </p:childTnLst>
                                </p:cTn>
                              </p:par>
                              <p:par>
                                <p:cTn id="109" presetID="22" presetClass="entr" presetSubtype="8" fill="hold" grpId="0" nodeType="withEffect">
                                  <p:stCondLst>
                                    <p:cond delay="320"/>
                                  </p:stCondLst>
                                  <p:childTnLst>
                                    <p:set>
                                      <p:cBhvr>
                                        <p:cTn id="108" dur="1" fill="hold">
                                          <p:stCondLst>
                                            <p:cond delay="0"/>
                                          </p:stCondLst>
                                        </p:cTn>
                                        <p:tgtEl>
                                          <p:spTgt spid="14"/>
                                        </p:tgtEl>
                                        <p:attrNameLst>
                                          <p:attrName>style.visibility</p:attrName>
                                        </p:attrNameLst>
                                      </p:cBhvr>
                                      <p:to>
                                        <p:strVal val="visible"/>
                                      </p:to>
                                    </p:set>
                                    <p:animEffect transition="in" filter="wipe(left)">
                                      <p:cBhvr>
                                        <p:cTn id="110" dur="450"/>
                                        <p:tgtEl>
                                          <p:spTgt spid="14"/>
                                        </p:tgtEl>
                                      </p:cBhvr>
                                    </p:animEffect>
                                  </p:childTnLst>
                                </p:cTn>
                              </p:par>
                              <p:par>
                                <p:cTn id="112" presetID="22" presetClass="entr" presetSubtype="8" fill="hold" grpId="0" nodeType="withEffect">
                                  <p:stCondLst>
                                    <p:cond delay="320"/>
                                  </p:stCondLst>
                                  <p:childTnLst>
                                    <p:set>
                                      <p:cBhvr>
                                        <p:cTn id="111" dur="1" fill="hold">
                                          <p:stCondLst>
                                            <p:cond delay="0"/>
                                          </p:stCondLst>
                                        </p:cTn>
                                        <p:tgtEl>
                                          <p:spTgt spid="15"/>
                                        </p:tgtEl>
                                        <p:attrNameLst>
                                          <p:attrName>style.visibility</p:attrName>
                                        </p:attrNameLst>
                                      </p:cBhvr>
                                      <p:to>
                                        <p:strVal val="visible"/>
                                      </p:to>
                                    </p:set>
                                    <p:animEffect transition="in" filter="wipe(left)">
                                      <p:cBhvr>
                                        <p:cTn id="113" dur="450"/>
                                        <p:tgtEl>
                                          <p:spTgt spid="15"/>
                                        </p:tgtEl>
                                      </p:cBhvr>
                                    </p:animEffect>
                                  </p:childTnLst>
                                </p:cTn>
                              </p:par>
                              <p:par>
                                <p:cTn id="115" presetID="22" presetClass="entr" presetSubtype="8" fill="hold" grpId="0" nodeType="withEffect">
                                  <p:stCondLst>
                                    <p:cond delay="320"/>
                                  </p:stCondLst>
                                  <p:childTnLst>
                                    <p:set>
                                      <p:cBhvr>
                                        <p:cTn id="114" dur="1" fill="hold">
                                          <p:stCondLst>
                                            <p:cond delay="0"/>
                                          </p:stCondLst>
                                        </p:cTn>
                                        <p:tgtEl>
                                          <p:spTgt spid="16"/>
                                        </p:tgtEl>
                                        <p:attrNameLst>
                                          <p:attrName>style.visibility</p:attrName>
                                        </p:attrNameLst>
                                      </p:cBhvr>
                                      <p:to>
                                        <p:strVal val="visible"/>
                                      </p:to>
                                    </p:set>
                                    <p:animEffect transition="in" filter="wipe(left)">
                                      <p:cBhvr>
                                        <p:cTn id="116" dur="450"/>
                                        <p:tgtEl>
                                          <p:spTgt spid="16"/>
                                        </p:tgtEl>
                                      </p:cBhvr>
                                    </p:animEffect>
                                  </p:childTnLst>
                                </p:cTn>
                              </p:par>
                              <p:par>
                                <p:cTn id="118" presetID="22" presetClass="entr" presetSubtype="8" fill="hold" grpId="0" nodeType="withEffect">
                                  <p:stCondLst>
                                    <p:cond delay="380"/>
                                  </p:stCondLst>
                                  <p:childTnLst>
                                    <p:set>
                                      <p:cBhvr>
                                        <p:cTn id="117" dur="1" fill="hold">
                                          <p:stCondLst>
                                            <p:cond delay="0"/>
                                          </p:stCondLst>
                                        </p:cTn>
                                        <p:tgtEl>
                                          <p:spTgt spid="17"/>
                                        </p:tgtEl>
                                        <p:attrNameLst>
                                          <p:attrName>style.visibility</p:attrName>
                                        </p:attrNameLst>
                                      </p:cBhvr>
                                      <p:to>
                                        <p:strVal val="visible"/>
                                      </p:to>
                                    </p:set>
                                    <p:animEffect transition="in" filter="wipe(left)">
                                      <p:cBhvr>
                                        <p:cTn id="119" dur="450"/>
                                        <p:tgtEl>
                                          <p:spTgt spid="17"/>
                                        </p:tgtEl>
                                      </p:cBhvr>
                                    </p:animEffect>
                                  </p:childTnLst>
                                </p:cTn>
                              </p:par>
                              <p:par>
                                <p:cTn id="121" presetID="22" presetClass="entr" presetSubtype="8" fill="hold" grpId="0" nodeType="withEffect">
                                  <p:stCondLst>
                                    <p:cond delay="380"/>
                                  </p:stCondLst>
                                  <p:childTnLst>
                                    <p:set>
                                      <p:cBhvr>
                                        <p:cTn id="120" dur="1" fill="hold">
                                          <p:stCondLst>
                                            <p:cond delay="0"/>
                                          </p:stCondLst>
                                        </p:cTn>
                                        <p:tgtEl>
                                          <p:spTgt spid="18"/>
                                        </p:tgtEl>
                                        <p:attrNameLst>
                                          <p:attrName>style.visibility</p:attrName>
                                        </p:attrNameLst>
                                      </p:cBhvr>
                                      <p:to>
                                        <p:strVal val="visible"/>
                                      </p:to>
                                    </p:set>
                                    <p:animEffect transition="in" filter="wipe(left)">
                                      <p:cBhvr>
                                        <p:cTn id="122" dur="450"/>
                                        <p:tgtEl>
                                          <p:spTgt spid="18"/>
                                        </p:tgtEl>
                                      </p:cBhvr>
                                    </p:animEffect>
                                  </p:childTnLst>
                                </p:cTn>
                              </p:par>
                              <p:par>
                                <p:cTn id="124" presetID="22" presetClass="entr" presetSubtype="8" fill="hold" grpId="0" nodeType="withEffect">
                                  <p:stCondLst>
                                    <p:cond delay="380"/>
                                  </p:stCondLst>
                                  <p:childTnLst>
                                    <p:set>
                                      <p:cBhvr>
                                        <p:cTn id="123" dur="1" fill="hold">
                                          <p:stCondLst>
                                            <p:cond delay="0"/>
                                          </p:stCondLst>
                                        </p:cTn>
                                        <p:tgtEl>
                                          <p:spTgt spid="19"/>
                                        </p:tgtEl>
                                        <p:attrNameLst>
                                          <p:attrName>style.visibility</p:attrName>
                                        </p:attrNameLst>
                                      </p:cBhvr>
                                      <p:to>
                                        <p:strVal val="visible"/>
                                      </p:to>
                                    </p:set>
                                    <p:animEffect transition="in" filter="wipe(left)">
                                      <p:cBhvr>
                                        <p:cTn id="125" dur="450"/>
                                        <p:tgtEl>
                                          <p:spTgt spid="19"/>
                                        </p:tgtEl>
                                      </p:cBhvr>
                                    </p:animEffect>
                                  </p:childTnLst>
                                </p:cTn>
                              </p:par>
                              <p:par>
                                <p:cTn id="127" presetID="22" presetClass="entr" presetSubtype="8" fill="hold" grpId="0" nodeType="withEffect">
                                  <p:stCondLst>
                                    <p:cond delay="440"/>
                                  </p:stCondLst>
                                  <p:childTnLst>
                                    <p:set>
                                      <p:cBhvr>
                                        <p:cTn id="126" dur="1" fill="hold">
                                          <p:stCondLst>
                                            <p:cond delay="0"/>
                                          </p:stCondLst>
                                        </p:cTn>
                                        <p:tgtEl>
                                          <p:spTgt spid="20"/>
                                        </p:tgtEl>
                                        <p:attrNameLst>
                                          <p:attrName>style.visibility</p:attrName>
                                        </p:attrNameLst>
                                      </p:cBhvr>
                                      <p:to>
                                        <p:strVal val="visible"/>
                                      </p:to>
                                    </p:set>
                                    <p:animEffect transition="in" filter="wipe(left)">
                                      <p:cBhvr>
                                        <p:cTn id="128" dur="450"/>
                                        <p:tgtEl>
                                          <p:spTgt spid="20"/>
                                        </p:tgtEl>
                                      </p:cBhvr>
                                    </p:animEffect>
                                  </p:childTnLst>
                                </p:cTn>
                              </p:par>
                              <p:par>
                                <p:cTn id="130" presetID="22" presetClass="entr" presetSubtype="8" fill="hold" grpId="0" nodeType="withEffect">
                                  <p:stCondLst>
                                    <p:cond delay="440"/>
                                  </p:stCondLst>
                                  <p:childTnLst>
                                    <p:set>
                                      <p:cBhvr>
                                        <p:cTn id="129" dur="1" fill="hold">
                                          <p:stCondLst>
                                            <p:cond delay="0"/>
                                          </p:stCondLst>
                                        </p:cTn>
                                        <p:tgtEl>
                                          <p:spTgt spid="21"/>
                                        </p:tgtEl>
                                        <p:attrNameLst>
                                          <p:attrName>style.visibility</p:attrName>
                                        </p:attrNameLst>
                                      </p:cBhvr>
                                      <p:to>
                                        <p:strVal val="visible"/>
                                      </p:to>
                                    </p:set>
                                    <p:animEffect transition="in" filter="wipe(left)">
                                      <p:cBhvr>
                                        <p:cTn id="131" dur="450"/>
                                        <p:tgtEl>
                                          <p:spTgt spid="21"/>
                                        </p:tgtEl>
                                      </p:cBhvr>
                                    </p:animEffect>
                                  </p:childTnLst>
                                </p:cTn>
                              </p:par>
                              <p:par>
                                <p:cTn id="133" presetID="22" presetClass="entr" presetSubtype="8" fill="hold" grpId="0" nodeType="withEffect">
                                  <p:stCondLst>
                                    <p:cond delay="440"/>
                                  </p:stCondLst>
                                  <p:childTnLst>
                                    <p:set>
                                      <p:cBhvr>
                                        <p:cTn id="132" dur="1" fill="hold">
                                          <p:stCondLst>
                                            <p:cond delay="0"/>
                                          </p:stCondLst>
                                        </p:cTn>
                                        <p:tgtEl>
                                          <p:spTgt spid="22"/>
                                        </p:tgtEl>
                                        <p:attrNameLst>
                                          <p:attrName>style.visibility</p:attrName>
                                        </p:attrNameLst>
                                      </p:cBhvr>
                                      <p:to>
                                        <p:strVal val="visible"/>
                                      </p:to>
                                    </p:set>
                                    <p:animEffect transition="in" filter="wipe(left)">
                                      <p:cBhvr>
                                        <p:cTn id="134" dur="450"/>
                                        <p:tgtEl>
                                          <p:spTgt spid="22"/>
                                        </p:tgtEl>
                                      </p:cBhvr>
                                    </p:animEffect>
                                  </p:childTnLst>
                                </p:cTn>
                              </p:par>
                              <p:par>
                                <p:cTn id="136" presetID="22" presetClass="entr" presetSubtype="8" fill="hold" grpId="0" nodeType="withEffect">
                                  <p:stCondLst>
                                    <p:cond delay="500"/>
                                  </p:stCondLst>
                                  <p:childTnLst>
                                    <p:set>
                                      <p:cBhvr>
                                        <p:cTn id="135" dur="1" fill="hold">
                                          <p:stCondLst>
                                            <p:cond delay="0"/>
                                          </p:stCondLst>
                                        </p:cTn>
                                        <p:tgtEl>
                                          <p:spTgt spid="23"/>
                                        </p:tgtEl>
                                        <p:attrNameLst>
                                          <p:attrName>style.visibility</p:attrName>
                                        </p:attrNameLst>
                                      </p:cBhvr>
                                      <p:to>
                                        <p:strVal val="visible"/>
                                      </p:to>
                                    </p:set>
                                    <p:animEffect transition="in" filter="wipe(left)">
                                      <p:cBhvr>
                                        <p:cTn id="137" dur="450"/>
                                        <p:tgtEl>
                                          <p:spTgt spid="23"/>
                                        </p:tgtEl>
                                      </p:cBhvr>
                                    </p:animEffect>
                                  </p:childTnLst>
                                </p:cTn>
                              </p:par>
                              <p:par>
                                <p:cTn id="139" presetID="22" presetClass="entr" presetSubtype="8" fill="hold" grpId="0" nodeType="withEffect">
                                  <p:stCondLst>
                                    <p:cond delay="500"/>
                                  </p:stCondLst>
                                  <p:childTnLst>
                                    <p:set>
                                      <p:cBhvr>
                                        <p:cTn id="138" dur="1" fill="hold">
                                          <p:stCondLst>
                                            <p:cond delay="0"/>
                                          </p:stCondLst>
                                        </p:cTn>
                                        <p:tgtEl>
                                          <p:spTgt spid="24"/>
                                        </p:tgtEl>
                                        <p:attrNameLst>
                                          <p:attrName>style.visibility</p:attrName>
                                        </p:attrNameLst>
                                      </p:cBhvr>
                                      <p:to>
                                        <p:strVal val="visible"/>
                                      </p:to>
                                    </p:set>
                                    <p:animEffect transition="in" filter="wipe(left)">
                                      <p:cBhvr>
                                        <p:cTn id="140" dur="450"/>
                                        <p:tgtEl>
                                          <p:spTgt spid="24"/>
                                        </p:tgtEl>
                                      </p:cBhvr>
                                    </p:animEffect>
                                  </p:childTnLst>
                                </p:cTn>
                              </p:par>
                              <p:par>
                                <p:cTn id="142" presetID="22" presetClass="entr" presetSubtype="8" fill="hold" grpId="0" nodeType="withEffect">
                                  <p:stCondLst>
                                    <p:cond delay="500"/>
                                  </p:stCondLst>
                                  <p:childTnLst>
                                    <p:set>
                                      <p:cBhvr>
                                        <p:cTn id="141" dur="1" fill="hold">
                                          <p:stCondLst>
                                            <p:cond delay="0"/>
                                          </p:stCondLst>
                                        </p:cTn>
                                        <p:tgtEl>
                                          <p:spTgt spid="25"/>
                                        </p:tgtEl>
                                        <p:attrNameLst>
                                          <p:attrName>style.visibility</p:attrName>
                                        </p:attrNameLst>
                                      </p:cBhvr>
                                      <p:to>
                                        <p:strVal val="visible"/>
                                      </p:to>
                                    </p:set>
                                    <p:animEffect transition="in" filter="wipe(left)">
                                      <p:cBhvr>
                                        <p:cTn id="143" dur="450"/>
                                        <p:tgtEl>
                                          <p:spTgt spid="25"/>
                                        </p:tgtEl>
                                      </p:cBhvr>
                                    </p:animEffect>
                                  </p:childTnLst>
                                </p:cTn>
                              </p:par>
                              <p:par>
                                <p:cTn id="145" presetID="22" presetClass="entr" presetSubtype="8" fill="hold" grpId="0" nodeType="withEffect">
                                  <p:stCondLst>
                                    <p:cond delay="560"/>
                                  </p:stCondLst>
                                  <p:childTnLst>
                                    <p:set>
                                      <p:cBhvr>
                                        <p:cTn id="144" dur="1" fill="hold">
                                          <p:stCondLst>
                                            <p:cond delay="0"/>
                                          </p:stCondLst>
                                        </p:cTn>
                                        <p:tgtEl>
                                          <p:spTgt spid="26"/>
                                        </p:tgtEl>
                                        <p:attrNameLst>
                                          <p:attrName>style.visibility</p:attrName>
                                        </p:attrNameLst>
                                      </p:cBhvr>
                                      <p:to>
                                        <p:strVal val="visible"/>
                                      </p:to>
                                    </p:set>
                                    <p:animEffect transition="in" filter="wipe(left)">
                                      <p:cBhvr>
                                        <p:cTn id="146" dur="450"/>
                                        <p:tgtEl>
                                          <p:spTgt spid="26"/>
                                        </p:tgtEl>
                                      </p:cBhvr>
                                    </p:animEffect>
                                  </p:childTnLst>
                                </p:cTn>
                              </p:par>
                              <p:par>
                                <p:cTn id="148" presetID="22" presetClass="entr" presetSubtype="8" fill="hold" grpId="0" nodeType="withEffect">
                                  <p:stCondLst>
                                    <p:cond delay="560"/>
                                  </p:stCondLst>
                                  <p:childTnLst>
                                    <p:set>
                                      <p:cBhvr>
                                        <p:cTn id="147" dur="1" fill="hold">
                                          <p:stCondLst>
                                            <p:cond delay="0"/>
                                          </p:stCondLst>
                                        </p:cTn>
                                        <p:tgtEl>
                                          <p:spTgt spid="27"/>
                                        </p:tgtEl>
                                        <p:attrNameLst>
                                          <p:attrName>style.visibility</p:attrName>
                                        </p:attrNameLst>
                                      </p:cBhvr>
                                      <p:to>
                                        <p:strVal val="visible"/>
                                      </p:to>
                                    </p:set>
                                    <p:animEffect transition="in" filter="wipe(left)">
                                      <p:cBhvr>
                                        <p:cTn id="149" dur="450"/>
                                        <p:tgtEl>
                                          <p:spTgt spid="27"/>
                                        </p:tgtEl>
                                      </p:cBhvr>
                                    </p:animEffect>
                                  </p:childTnLst>
                                </p:cTn>
                              </p:par>
                              <p:par>
                                <p:cTn id="151" presetID="22" presetClass="entr" presetSubtype="8" fill="hold" grpId="0" nodeType="withEffect">
                                  <p:stCondLst>
                                    <p:cond delay="560"/>
                                  </p:stCondLst>
                                  <p:childTnLst>
                                    <p:set>
                                      <p:cBhvr>
                                        <p:cTn id="150" dur="1" fill="hold">
                                          <p:stCondLst>
                                            <p:cond delay="0"/>
                                          </p:stCondLst>
                                        </p:cTn>
                                        <p:tgtEl>
                                          <p:spTgt spid="28"/>
                                        </p:tgtEl>
                                        <p:attrNameLst>
                                          <p:attrName>style.visibility</p:attrName>
                                        </p:attrNameLst>
                                      </p:cBhvr>
                                      <p:to>
                                        <p:strVal val="visible"/>
                                      </p:to>
                                    </p:set>
                                    <p:animEffect transition="in" filter="wipe(left)">
                                      <p:cBhvr>
                                        <p:cTn id="152" dur="450"/>
                                        <p:tgtEl>
                                          <p:spTgt spid="28"/>
                                        </p:tgtEl>
                                      </p:cBhvr>
                                    </p:animEffect>
                                  </p:childTnLst>
                                </p:cTn>
                              </p:par>
                            </p:childTnLst>
                          </p:cTn>
                        </p:par>
                      </p:childTnLst>
                    </p:cTn>
                  </p:par>
                  <p:par>
                    <p:cTn id="153" fill="hold">
                      <p:stCondLst>
                        <p:cond delay="indefinite"/>
                      </p:stCondLst>
                      <p:childTnLst>
                        <p:par>
                          <p:cTn id="154" fill="hold">
                            <p:stCondLst>
                              <p:cond delay="0"/>
                            </p:stCondLst>
                            <p:childTnLst>
                              <p:par>
                                <p:cTn id="156" presetID="42" presetClass="entr" presetSubtype="0" fill="hold" grpId="0" nodeType="clickEffect">
                                  <p:stCondLst>
                                    <p:cond delay="0"/>
                                  </p:stCondLst>
                                  <p:childTnLst>
                                    <p:set>
                                      <p:cBhvr>
                                        <p:cTn id="155" dur="1" fill="hold">
                                          <p:stCondLst>
                                            <p:cond delay="0"/>
                                          </p:stCondLst>
                                        </p:cTn>
                                        <p:tgtEl>
                                          <p:spTgt spid="52"/>
                                        </p:tgtEl>
                                        <p:attrNameLst>
                                          <p:attrName>style.visibility</p:attrName>
                                        </p:attrNameLst>
                                      </p:cBhvr>
                                      <p:to>
                                        <p:strVal val="visible"/>
                                      </p:to>
                                    </p:set>
                                    <p:animEffect transition="in" filter="fade">
                                      <p:cBhvr>
                                        <p:cTn id="157" dur="500"/>
                                        <p:tgtEl>
                                          <p:spTgt spid="52"/>
                                        </p:tgtEl>
                                      </p:cBhvr>
                                    </p:animEffect>
                                    <p:anim calcmode="lin" valueType="num">
                                      <p:cBhvr>
                                        <p:cTn id="158" dur="500" fill="hold"/>
                                        <p:tgtEl>
                                          <p:spTgt spid="52"/>
                                        </p:tgtEl>
                                        <p:attrNameLst>
                                          <p:attrName>ppt_x</p:attrName>
                                        </p:attrNameLst>
                                      </p:cBhvr>
                                      <p:tavLst>
                                        <p:tav tm="0">
                                          <p:val>
                                            <p:strVal val="#ppt_x"/>
                                          </p:val>
                                        </p:tav>
                                        <p:tav tm="100000">
                                          <p:val>
                                            <p:strVal val="#ppt_x"/>
                                          </p:val>
                                        </p:tav>
                                      </p:tavLst>
                                    </p:anim>
                                    <p:anim calcmode="lin" valueType="num">
                                      <p:cBhvr>
                                        <p:cTn id="159" dur="500" fill="hold"/>
                                        <p:tgtEl>
                                          <p:spTgt spid="52"/>
                                        </p:tgtEl>
                                        <p:attrNameLst>
                                          <p:attrName>ppt_y</p:attrName>
                                        </p:attrNameLst>
                                      </p:cBhvr>
                                      <p:tavLst>
                                        <p:tav tm="0">
                                          <p:val>
                                            <p:strVal val="#ppt_y+0.06"/>
                                          </p:val>
                                        </p:tav>
                                        <p:tav tm="100000">
                                          <p:val>
                                            <p:strVal val="#ppt_y"/>
                                          </p:val>
                                        </p:tav>
                                      </p:tavLst>
                                    </p:anim>
                                  </p:childTnLst>
                                </p:cTn>
                              </p:par>
                              <p:par>
                                <p:cTn id="161" presetID="42" presetClass="entr" presetSubtype="0" fill="hold" grpId="0" nodeType="withEffect">
                                  <p:stCondLst>
                                    <p:cond delay="0"/>
                                  </p:stCondLst>
                                  <p:childTnLst>
                                    <p:set>
                                      <p:cBhvr>
                                        <p:cTn id="160" dur="1" fill="hold">
                                          <p:stCondLst>
                                            <p:cond delay="0"/>
                                          </p:stCondLst>
                                        </p:cTn>
                                        <p:tgtEl>
                                          <p:spTgt spid="53"/>
                                        </p:tgtEl>
                                        <p:attrNameLst>
                                          <p:attrName>style.visibility</p:attrName>
                                        </p:attrNameLst>
                                      </p:cBhvr>
                                      <p:to>
                                        <p:strVal val="visible"/>
                                      </p:to>
                                    </p:set>
                                    <p:animEffect transition="in" filter="fade">
                                      <p:cBhvr>
                                        <p:cTn id="162" dur="500"/>
                                        <p:tgtEl>
                                          <p:spTgt spid="53"/>
                                        </p:tgtEl>
                                      </p:cBhvr>
                                    </p:animEffect>
                                    <p:anim calcmode="lin" valueType="num">
                                      <p:cBhvr>
                                        <p:cTn id="163" dur="500" fill="hold"/>
                                        <p:tgtEl>
                                          <p:spTgt spid="53"/>
                                        </p:tgtEl>
                                        <p:attrNameLst>
                                          <p:attrName>ppt_x</p:attrName>
                                        </p:attrNameLst>
                                      </p:cBhvr>
                                      <p:tavLst>
                                        <p:tav tm="0">
                                          <p:val>
                                            <p:strVal val="#ppt_x"/>
                                          </p:val>
                                        </p:tav>
                                        <p:tav tm="100000">
                                          <p:val>
                                            <p:strVal val="#ppt_x"/>
                                          </p:val>
                                        </p:tav>
                                      </p:tavLst>
                                    </p:anim>
                                    <p:anim calcmode="lin" valueType="num">
                                      <p:cBhvr>
                                        <p:cTn id="164" dur="500" fill="hold"/>
                                        <p:tgtEl>
                                          <p:spTgt spid="53"/>
                                        </p:tgtEl>
                                        <p:attrNameLst>
                                          <p:attrName>ppt_y</p:attrName>
                                        </p:attrNameLst>
                                      </p:cBhvr>
                                      <p:tavLst>
                                        <p:tav tm="0">
                                          <p:val>
                                            <p:strVal val="#ppt_y+0.06"/>
                                          </p:val>
                                        </p:tav>
                                        <p:tav tm="100000">
                                          <p:val>
                                            <p:strVal val="#ppt_y"/>
                                          </p:val>
                                        </p:tav>
                                      </p:tavLst>
                                    </p:anim>
                                  </p:childTnLst>
                                </p:cTn>
                              </p:par>
                              <p:par>
                                <p:cTn id="166" presetID="22" presetClass="entr" presetSubtype="8" fill="hold" grpId="0" nodeType="withEffect">
                                  <p:stCondLst>
                                    <p:cond delay="200"/>
                                  </p:stCondLst>
                                  <p:childTnLst>
                                    <p:set>
                                      <p:cBhvr>
                                        <p:cTn id="165" dur="1" fill="hold">
                                          <p:stCondLst>
                                            <p:cond delay="0"/>
                                          </p:stCondLst>
                                        </p:cTn>
                                        <p:tgtEl>
                                          <p:spTgt spid="54"/>
                                        </p:tgtEl>
                                        <p:attrNameLst>
                                          <p:attrName>style.visibility</p:attrName>
                                        </p:attrNameLst>
                                      </p:cBhvr>
                                      <p:to>
                                        <p:strVal val="visible"/>
                                      </p:to>
                                    </p:set>
                                    <p:animEffect transition="in" filter="wipe(left)">
                                      <p:cBhvr>
                                        <p:cTn id="167" dur="450"/>
                                        <p:tgtEl>
                                          <p:spTgt spid="54"/>
                                        </p:tgtEl>
                                      </p:cBhvr>
                                    </p:animEffect>
                                  </p:childTnLst>
                                </p:cTn>
                              </p:par>
                              <p:par>
                                <p:cTn id="169" presetID="22" presetClass="entr" presetSubtype="8" fill="hold" grpId="0" nodeType="withEffect">
                                  <p:stCondLst>
                                    <p:cond delay="200"/>
                                  </p:stCondLst>
                                  <p:childTnLst>
                                    <p:set>
                                      <p:cBhvr>
                                        <p:cTn id="168" dur="1" fill="hold">
                                          <p:stCondLst>
                                            <p:cond delay="0"/>
                                          </p:stCondLst>
                                        </p:cTn>
                                        <p:tgtEl>
                                          <p:spTgt spid="55"/>
                                        </p:tgtEl>
                                        <p:attrNameLst>
                                          <p:attrName>style.visibility</p:attrName>
                                        </p:attrNameLst>
                                      </p:cBhvr>
                                      <p:to>
                                        <p:strVal val="visible"/>
                                      </p:to>
                                    </p:set>
                                    <p:animEffect transition="in" filter="wipe(left)">
                                      <p:cBhvr>
                                        <p:cTn id="170" dur="450"/>
                                        <p:tgtEl>
                                          <p:spTgt spid="55"/>
                                        </p:tgtEl>
                                      </p:cBhvr>
                                    </p:animEffect>
                                  </p:childTnLst>
                                </p:cTn>
                              </p:par>
                              <p:par>
                                <p:cTn id="172" presetID="22" presetClass="entr" presetSubtype="8" fill="hold" grpId="0" nodeType="withEffect">
                                  <p:stCondLst>
                                    <p:cond delay="200"/>
                                  </p:stCondLst>
                                  <p:childTnLst>
                                    <p:set>
                                      <p:cBhvr>
                                        <p:cTn id="171" dur="1" fill="hold">
                                          <p:stCondLst>
                                            <p:cond delay="0"/>
                                          </p:stCondLst>
                                        </p:cTn>
                                        <p:tgtEl>
                                          <p:spTgt spid="56"/>
                                        </p:tgtEl>
                                        <p:attrNameLst>
                                          <p:attrName>style.visibility</p:attrName>
                                        </p:attrNameLst>
                                      </p:cBhvr>
                                      <p:to>
                                        <p:strVal val="visible"/>
                                      </p:to>
                                    </p:set>
                                    <p:animEffect transition="in" filter="wipe(left)">
                                      <p:cBhvr>
                                        <p:cTn id="173" dur="450"/>
                                        <p:tgtEl>
                                          <p:spTgt spid="56"/>
                                        </p:tgtEl>
                                      </p:cBhvr>
                                    </p:animEffect>
                                  </p:childTnLst>
                                </p:cTn>
                              </p:par>
                              <p:par>
                                <p:cTn id="175" presetID="22" presetClass="entr" presetSubtype="8" fill="hold" grpId="0" nodeType="withEffect">
                                  <p:stCondLst>
                                    <p:cond delay="260"/>
                                  </p:stCondLst>
                                  <p:childTnLst>
                                    <p:set>
                                      <p:cBhvr>
                                        <p:cTn id="174" dur="1" fill="hold">
                                          <p:stCondLst>
                                            <p:cond delay="0"/>
                                          </p:stCondLst>
                                        </p:cTn>
                                        <p:tgtEl>
                                          <p:spTgt spid="57"/>
                                        </p:tgtEl>
                                        <p:attrNameLst>
                                          <p:attrName>style.visibility</p:attrName>
                                        </p:attrNameLst>
                                      </p:cBhvr>
                                      <p:to>
                                        <p:strVal val="visible"/>
                                      </p:to>
                                    </p:set>
                                    <p:animEffect transition="in" filter="wipe(left)">
                                      <p:cBhvr>
                                        <p:cTn id="176" dur="450"/>
                                        <p:tgtEl>
                                          <p:spTgt spid="57"/>
                                        </p:tgtEl>
                                      </p:cBhvr>
                                    </p:animEffect>
                                  </p:childTnLst>
                                </p:cTn>
                              </p:par>
                              <p:par>
                                <p:cTn id="178" presetID="22" presetClass="entr" presetSubtype="8" fill="hold" grpId="0" nodeType="withEffect">
                                  <p:stCondLst>
                                    <p:cond delay="260"/>
                                  </p:stCondLst>
                                  <p:childTnLst>
                                    <p:set>
                                      <p:cBhvr>
                                        <p:cTn id="177" dur="1" fill="hold">
                                          <p:stCondLst>
                                            <p:cond delay="0"/>
                                          </p:stCondLst>
                                        </p:cTn>
                                        <p:tgtEl>
                                          <p:spTgt spid="58"/>
                                        </p:tgtEl>
                                        <p:attrNameLst>
                                          <p:attrName>style.visibility</p:attrName>
                                        </p:attrNameLst>
                                      </p:cBhvr>
                                      <p:to>
                                        <p:strVal val="visible"/>
                                      </p:to>
                                    </p:set>
                                    <p:animEffect transition="in" filter="wipe(left)">
                                      <p:cBhvr>
                                        <p:cTn id="179" dur="450"/>
                                        <p:tgtEl>
                                          <p:spTgt spid="58"/>
                                        </p:tgtEl>
                                      </p:cBhvr>
                                    </p:animEffect>
                                  </p:childTnLst>
                                </p:cTn>
                              </p:par>
                              <p:par>
                                <p:cTn id="181" presetID="22" presetClass="entr" presetSubtype="8" fill="hold" grpId="0" nodeType="withEffect">
                                  <p:stCondLst>
                                    <p:cond delay="260"/>
                                  </p:stCondLst>
                                  <p:childTnLst>
                                    <p:set>
                                      <p:cBhvr>
                                        <p:cTn id="180" dur="1" fill="hold">
                                          <p:stCondLst>
                                            <p:cond delay="0"/>
                                          </p:stCondLst>
                                        </p:cTn>
                                        <p:tgtEl>
                                          <p:spTgt spid="59"/>
                                        </p:tgtEl>
                                        <p:attrNameLst>
                                          <p:attrName>style.visibility</p:attrName>
                                        </p:attrNameLst>
                                      </p:cBhvr>
                                      <p:to>
                                        <p:strVal val="visible"/>
                                      </p:to>
                                    </p:set>
                                    <p:animEffect transition="in" filter="wipe(left)">
                                      <p:cBhvr>
                                        <p:cTn id="182" dur="450"/>
                                        <p:tgtEl>
                                          <p:spTgt spid="59"/>
                                        </p:tgtEl>
                                      </p:cBhvr>
                                    </p:animEffect>
                                  </p:childTnLst>
                                </p:cTn>
                              </p:par>
                              <p:par>
                                <p:cTn id="184" presetID="22" presetClass="entr" presetSubtype="8" fill="hold" grpId="0" nodeType="withEffect">
                                  <p:stCondLst>
                                    <p:cond delay="320"/>
                                  </p:stCondLst>
                                  <p:childTnLst>
                                    <p:set>
                                      <p:cBhvr>
                                        <p:cTn id="183" dur="1" fill="hold">
                                          <p:stCondLst>
                                            <p:cond delay="0"/>
                                          </p:stCondLst>
                                        </p:cTn>
                                        <p:tgtEl>
                                          <p:spTgt spid="60"/>
                                        </p:tgtEl>
                                        <p:attrNameLst>
                                          <p:attrName>style.visibility</p:attrName>
                                        </p:attrNameLst>
                                      </p:cBhvr>
                                      <p:to>
                                        <p:strVal val="visible"/>
                                      </p:to>
                                    </p:set>
                                    <p:animEffect transition="in" filter="wipe(left)">
                                      <p:cBhvr>
                                        <p:cTn id="185" dur="450"/>
                                        <p:tgtEl>
                                          <p:spTgt spid="60"/>
                                        </p:tgtEl>
                                      </p:cBhvr>
                                    </p:animEffect>
                                  </p:childTnLst>
                                </p:cTn>
                              </p:par>
                              <p:par>
                                <p:cTn id="187" presetID="22" presetClass="entr" presetSubtype="8" fill="hold" grpId="0" nodeType="withEffect">
                                  <p:stCondLst>
                                    <p:cond delay="320"/>
                                  </p:stCondLst>
                                  <p:childTnLst>
                                    <p:set>
                                      <p:cBhvr>
                                        <p:cTn id="186" dur="1" fill="hold">
                                          <p:stCondLst>
                                            <p:cond delay="0"/>
                                          </p:stCondLst>
                                        </p:cTn>
                                        <p:tgtEl>
                                          <p:spTgt spid="61"/>
                                        </p:tgtEl>
                                        <p:attrNameLst>
                                          <p:attrName>style.visibility</p:attrName>
                                        </p:attrNameLst>
                                      </p:cBhvr>
                                      <p:to>
                                        <p:strVal val="visible"/>
                                      </p:to>
                                    </p:set>
                                    <p:animEffect transition="in" filter="wipe(left)">
                                      <p:cBhvr>
                                        <p:cTn id="188" dur="450"/>
                                        <p:tgtEl>
                                          <p:spTgt spid="61"/>
                                        </p:tgtEl>
                                      </p:cBhvr>
                                    </p:animEffect>
                                  </p:childTnLst>
                                </p:cTn>
                              </p:par>
                              <p:par>
                                <p:cTn id="190" presetID="22" presetClass="entr" presetSubtype="8" fill="hold" grpId="0" nodeType="withEffect">
                                  <p:stCondLst>
                                    <p:cond delay="320"/>
                                  </p:stCondLst>
                                  <p:childTnLst>
                                    <p:set>
                                      <p:cBhvr>
                                        <p:cTn id="189" dur="1" fill="hold">
                                          <p:stCondLst>
                                            <p:cond delay="0"/>
                                          </p:stCondLst>
                                        </p:cTn>
                                        <p:tgtEl>
                                          <p:spTgt spid="62"/>
                                        </p:tgtEl>
                                        <p:attrNameLst>
                                          <p:attrName>style.visibility</p:attrName>
                                        </p:attrNameLst>
                                      </p:cBhvr>
                                      <p:to>
                                        <p:strVal val="visible"/>
                                      </p:to>
                                    </p:set>
                                    <p:animEffect transition="in" filter="wipe(left)">
                                      <p:cBhvr>
                                        <p:cTn id="191" dur="450"/>
                                        <p:tgtEl>
                                          <p:spTgt spid="62"/>
                                        </p:tgtEl>
                                      </p:cBhvr>
                                    </p:animEffect>
                                  </p:childTnLst>
                                </p:cTn>
                              </p:par>
                              <p:par>
                                <p:cTn id="193" presetID="22" presetClass="entr" presetSubtype="8" fill="hold" grpId="0" nodeType="withEffect">
                                  <p:stCondLst>
                                    <p:cond delay="380"/>
                                  </p:stCondLst>
                                  <p:childTnLst>
                                    <p:set>
                                      <p:cBhvr>
                                        <p:cTn id="192" dur="1" fill="hold">
                                          <p:stCondLst>
                                            <p:cond delay="0"/>
                                          </p:stCondLst>
                                        </p:cTn>
                                        <p:tgtEl>
                                          <p:spTgt spid="63"/>
                                        </p:tgtEl>
                                        <p:attrNameLst>
                                          <p:attrName>style.visibility</p:attrName>
                                        </p:attrNameLst>
                                      </p:cBhvr>
                                      <p:to>
                                        <p:strVal val="visible"/>
                                      </p:to>
                                    </p:set>
                                    <p:animEffect transition="in" filter="wipe(left)">
                                      <p:cBhvr>
                                        <p:cTn id="194" dur="450"/>
                                        <p:tgtEl>
                                          <p:spTgt spid="63"/>
                                        </p:tgtEl>
                                      </p:cBhvr>
                                    </p:animEffect>
                                  </p:childTnLst>
                                </p:cTn>
                              </p:par>
                              <p:par>
                                <p:cTn id="196" presetID="22" presetClass="entr" presetSubtype="8" fill="hold" grpId="0" nodeType="withEffect">
                                  <p:stCondLst>
                                    <p:cond delay="380"/>
                                  </p:stCondLst>
                                  <p:childTnLst>
                                    <p:set>
                                      <p:cBhvr>
                                        <p:cTn id="195" dur="1" fill="hold">
                                          <p:stCondLst>
                                            <p:cond delay="0"/>
                                          </p:stCondLst>
                                        </p:cTn>
                                        <p:tgtEl>
                                          <p:spTgt spid="64"/>
                                        </p:tgtEl>
                                        <p:attrNameLst>
                                          <p:attrName>style.visibility</p:attrName>
                                        </p:attrNameLst>
                                      </p:cBhvr>
                                      <p:to>
                                        <p:strVal val="visible"/>
                                      </p:to>
                                    </p:set>
                                    <p:animEffect transition="in" filter="wipe(left)">
                                      <p:cBhvr>
                                        <p:cTn id="197" dur="450"/>
                                        <p:tgtEl>
                                          <p:spTgt spid="64"/>
                                        </p:tgtEl>
                                      </p:cBhvr>
                                    </p:animEffect>
                                  </p:childTnLst>
                                </p:cTn>
                              </p:par>
                              <p:par>
                                <p:cTn id="199" presetID="22" presetClass="entr" presetSubtype="8" fill="hold" grpId="0" nodeType="withEffect">
                                  <p:stCondLst>
                                    <p:cond delay="380"/>
                                  </p:stCondLst>
                                  <p:childTnLst>
                                    <p:set>
                                      <p:cBhvr>
                                        <p:cTn id="198" dur="1" fill="hold">
                                          <p:stCondLst>
                                            <p:cond delay="0"/>
                                          </p:stCondLst>
                                        </p:cTn>
                                        <p:tgtEl>
                                          <p:spTgt spid="65"/>
                                        </p:tgtEl>
                                        <p:attrNameLst>
                                          <p:attrName>style.visibility</p:attrName>
                                        </p:attrNameLst>
                                      </p:cBhvr>
                                      <p:to>
                                        <p:strVal val="visible"/>
                                      </p:to>
                                    </p:set>
                                    <p:animEffect transition="in" filter="wipe(left)">
                                      <p:cBhvr>
                                        <p:cTn id="200" dur="450"/>
                                        <p:tgtEl>
                                          <p:spTgt spid="65"/>
                                        </p:tgtEl>
                                      </p:cBhvr>
                                    </p:animEffect>
                                  </p:childTnLst>
                                </p:cTn>
                              </p:par>
                              <p:par>
                                <p:cTn id="202" presetID="22" presetClass="entr" presetSubtype="8" fill="hold" grpId="0" nodeType="withEffect">
                                  <p:stCondLst>
                                    <p:cond delay="440"/>
                                  </p:stCondLst>
                                  <p:childTnLst>
                                    <p:set>
                                      <p:cBhvr>
                                        <p:cTn id="201" dur="1" fill="hold">
                                          <p:stCondLst>
                                            <p:cond delay="0"/>
                                          </p:stCondLst>
                                        </p:cTn>
                                        <p:tgtEl>
                                          <p:spTgt spid="66"/>
                                        </p:tgtEl>
                                        <p:attrNameLst>
                                          <p:attrName>style.visibility</p:attrName>
                                        </p:attrNameLst>
                                      </p:cBhvr>
                                      <p:to>
                                        <p:strVal val="visible"/>
                                      </p:to>
                                    </p:set>
                                    <p:animEffect transition="in" filter="wipe(left)">
                                      <p:cBhvr>
                                        <p:cTn id="203" dur="450"/>
                                        <p:tgtEl>
                                          <p:spTgt spid="66"/>
                                        </p:tgtEl>
                                      </p:cBhvr>
                                    </p:animEffect>
                                  </p:childTnLst>
                                </p:cTn>
                              </p:par>
                              <p:par>
                                <p:cTn id="205" presetID="22" presetClass="entr" presetSubtype="8" fill="hold" grpId="0" nodeType="withEffect">
                                  <p:stCondLst>
                                    <p:cond delay="440"/>
                                  </p:stCondLst>
                                  <p:childTnLst>
                                    <p:set>
                                      <p:cBhvr>
                                        <p:cTn id="204" dur="1" fill="hold">
                                          <p:stCondLst>
                                            <p:cond delay="0"/>
                                          </p:stCondLst>
                                        </p:cTn>
                                        <p:tgtEl>
                                          <p:spTgt spid="67"/>
                                        </p:tgtEl>
                                        <p:attrNameLst>
                                          <p:attrName>style.visibility</p:attrName>
                                        </p:attrNameLst>
                                      </p:cBhvr>
                                      <p:to>
                                        <p:strVal val="visible"/>
                                      </p:to>
                                    </p:set>
                                    <p:animEffect transition="in" filter="wipe(left)">
                                      <p:cBhvr>
                                        <p:cTn id="206" dur="450"/>
                                        <p:tgtEl>
                                          <p:spTgt spid="67"/>
                                        </p:tgtEl>
                                      </p:cBhvr>
                                    </p:animEffect>
                                  </p:childTnLst>
                                </p:cTn>
                              </p:par>
                              <p:par>
                                <p:cTn id="208" presetID="22" presetClass="entr" presetSubtype="8" fill="hold" grpId="0" nodeType="withEffect">
                                  <p:stCondLst>
                                    <p:cond delay="440"/>
                                  </p:stCondLst>
                                  <p:childTnLst>
                                    <p:set>
                                      <p:cBhvr>
                                        <p:cTn id="207" dur="1" fill="hold">
                                          <p:stCondLst>
                                            <p:cond delay="0"/>
                                          </p:stCondLst>
                                        </p:cTn>
                                        <p:tgtEl>
                                          <p:spTgt spid="68"/>
                                        </p:tgtEl>
                                        <p:attrNameLst>
                                          <p:attrName>style.visibility</p:attrName>
                                        </p:attrNameLst>
                                      </p:cBhvr>
                                      <p:to>
                                        <p:strVal val="visible"/>
                                      </p:to>
                                    </p:set>
                                    <p:animEffect transition="in" filter="wipe(left)">
                                      <p:cBhvr>
                                        <p:cTn id="209" dur="450"/>
                                        <p:tgtEl>
                                          <p:spTgt spid="68"/>
                                        </p:tgtEl>
                                      </p:cBhvr>
                                    </p:animEffect>
                                  </p:childTnLst>
                                </p:cTn>
                              </p:par>
                              <p:par>
                                <p:cTn id="211" presetID="22" presetClass="entr" presetSubtype="8" fill="hold" grpId="0" nodeType="withEffect">
                                  <p:stCondLst>
                                    <p:cond delay="500"/>
                                  </p:stCondLst>
                                  <p:childTnLst>
                                    <p:set>
                                      <p:cBhvr>
                                        <p:cTn id="210" dur="1" fill="hold">
                                          <p:stCondLst>
                                            <p:cond delay="0"/>
                                          </p:stCondLst>
                                        </p:cTn>
                                        <p:tgtEl>
                                          <p:spTgt spid="69"/>
                                        </p:tgtEl>
                                        <p:attrNameLst>
                                          <p:attrName>style.visibility</p:attrName>
                                        </p:attrNameLst>
                                      </p:cBhvr>
                                      <p:to>
                                        <p:strVal val="visible"/>
                                      </p:to>
                                    </p:set>
                                    <p:animEffect transition="in" filter="wipe(left)">
                                      <p:cBhvr>
                                        <p:cTn id="212" dur="450"/>
                                        <p:tgtEl>
                                          <p:spTgt spid="69"/>
                                        </p:tgtEl>
                                      </p:cBhvr>
                                    </p:animEffect>
                                  </p:childTnLst>
                                </p:cTn>
                              </p:par>
                              <p:par>
                                <p:cTn id="214" presetID="22" presetClass="entr" presetSubtype="8" fill="hold" grpId="0" nodeType="withEffect">
                                  <p:stCondLst>
                                    <p:cond delay="500"/>
                                  </p:stCondLst>
                                  <p:childTnLst>
                                    <p:set>
                                      <p:cBhvr>
                                        <p:cTn id="213" dur="1" fill="hold">
                                          <p:stCondLst>
                                            <p:cond delay="0"/>
                                          </p:stCondLst>
                                        </p:cTn>
                                        <p:tgtEl>
                                          <p:spTgt spid="70"/>
                                        </p:tgtEl>
                                        <p:attrNameLst>
                                          <p:attrName>style.visibility</p:attrName>
                                        </p:attrNameLst>
                                      </p:cBhvr>
                                      <p:to>
                                        <p:strVal val="visible"/>
                                      </p:to>
                                    </p:set>
                                    <p:animEffect transition="in" filter="wipe(left)">
                                      <p:cBhvr>
                                        <p:cTn id="215" dur="450"/>
                                        <p:tgtEl>
                                          <p:spTgt spid="70"/>
                                        </p:tgtEl>
                                      </p:cBhvr>
                                    </p:animEffect>
                                  </p:childTnLst>
                                </p:cTn>
                              </p:par>
                              <p:par>
                                <p:cTn id="217" presetID="22" presetClass="entr" presetSubtype="8" fill="hold" grpId="0" nodeType="withEffect">
                                  <p:stCondLst>
                                    <p:cond delay="500"/>
                                  </p:stCondLst>
                                  <p:childTnLst>
                                    <p:set>
                                      <p:cBhvr>
                                        <p:cTn id="216" dur="1" fill="hold">
                                          <p:stCondLst>
                                            <p:cond delay="0"/>
                                          </p:stCondLst>
                                        </p:cTn>
                                        <p:tgtEl>
                                          <p:spTgt spid="71"/>
                                        </p:tgtEl>
                                        <p:attrNameLst>
                                          <p:attrName>style.visibility</p:attrName>
                                        </p:attrNameLst>
                                      </p:cBhvr>
                                      <p:to>
                                        <p:strVal val="visible"/>
                                      </p:to>
                                    </p:set>
                                    <p:animEffect transition="in" filter="wipe(left)">
                                      <p:cBhvr>
                                        <p:cTn id="218" dur="450"/>
                                        <p:tgtEl>
                                          <p:spTgt spid="71"/>
                                        </p:tgtEl>
                                      </p:cBhvr>
                                    </p:animEffect>
                                  </p:childTnLst>
                                </p:cTn>
                              </p:par>
                              <p:par>
                                <p:cTn id="220" presetID="22" presetClass="entr" presetSubtype="8" fill="hold" grpId="0" nodeType="withEffect">
                                  <p:stCondLst>
                                    <p:cond delay="560"/>
                                  </p:stCondLst>
                                  <p:childTnLst>
                                    <p:set>
                                      <p:cBhvr>
                                        <p:cTn id="219" dur="1" fill="hold">
                                          <p:stCondLst>
                                            <p:cond delay="0"/>
                                          </p:stCondLst>
                                        </p:cTn>
                                        <p:tgtEl>
                                          <p:spTgt spid="72"/>
                                        </p:tgtEl>
                                        <p:attrNameLst>
                                          <p:attrName>style.visibility</p:attrName>
                                        </p:attrNameLst>
                                      </p:cBhvr>
                                      <p:to>
                                        <p:strVal val="visible"/>
                                      </p:to>
                                    </p:set>
                                    <p:animEffect transition="in" filter="wipe(left)">
                                      <p:cBhvr>
                                        <p:cTn id="221" dur="450"/>
                                        <p:tgtEl>
                                          <p:spTgt spid="72"/>
                                        </p:tgtEl>
                                      </p:cBhvr>
                                    </p:animEffect>
                                  </p:childTnLst>
                                </p:cTn>
                              </p:par>
                              <p:par>
                                <p:cTn id="223" presetID="22" presetClass="entr" presetSubtype="8" fill="hold" grpId="0" nodeType="withEffect">
                                  <p:stCondLst>
                                    <p:cond delay="560"/>
                                  </p:stCondLst>
                                  <p:childTnLst>
                                    <p:set>
                                      <p:cBhvr>
                                        <p:cTn id="222" dur="1" fill="hold">
                                          <p:stCondLst>
                                            <p:cond delay="0"/>
                                          </p:stCondLst>
                                        </p:cTn>
                                        <p:tgtEl>
                                          <p:spTgt spid="73"/>
                                        </p:tgtEl>
                                        <p:attrNameLst>
                                          <p:attrName>style.visibility</p:attrName>
                                        </p:attrNameLst>
                                      </p:cBhvr>
                                      <p:to>
                                        <p:strVal val="visible"/>
                                      </p:to>
                                    </p:set>
                                    <p:animEffect transition="in" filter="wipe(left)">
                                      <p:cBhvr>
                                        <p:cTn id="224" dur="450"/>
                                        <p:tgtEl>
                                          <p:spTgt spid="73"/>
                                        </p:tgtEl>
                                      </p:cBhvr>
                                    </p:animEffect>
                                  </p:childTnLst>
                                </p:cTn>
                              </p:par>
                              <p:par>
                                <p:cTn id="226" presetID="22" presetClass="entr" presetSubtype="8" fill="hold" grpId="0" nodeType="withEffect">
                                  <p:stCondLst>
                                    <p:cond delay="560"/>
                                  </p:stCondLst>
                                  <p:childTnLst>
                                    <p:set>
                                      <p:cBhvr>
                                        <p:cTn id="225" dur="1" fill="hold">
                                          <p:stCondLst>
                                            <p:cond delay="0"/>
                                          </p:stCondLst>
                                        </p:cTn>
                                        <p:tgtEl>
                                          <p:spTgt spid="74"/>
                                        </p:tgtEl>
                                        <p:attrNameLst>
                                          <p:attrName>style.visibility</p:attrName>
                                        </p:attrNameLst>
                                      </p:cBhvr>
                                      <p:to>
                                        <p:strVal val="visible"/>
                                      </p:to>
                                    </p:set>
                                    <p:animEffect transition="in" filter="wipe(left)">
                                      <p:cBhvr>
                                        <p:cTn id="227" dur="450"/>
                                        <p:tgtEl>
                                          <p:spTgt spid="74"/>
                                        </p:tgtEl>
                                      </p:cBhvr>
                                    </p:animEffect>
                                  </p:childTnLst>
                                </p:cTn>
                              </p:par>
                            </p:childTnLst>
                          </p:cTn>
                        </p:par>
                      </p:childTnLst>
                    </p:cTn>
                  </p:par>
                  <p:par>
                    <p:cTn id="228" fill="hold">
                      <p:stCondLst>
                        <p:cond delay="indefinite"/>
                      </p:stCondLst>
                      <p:childTnLst>
                        <p:par>
                          <p:cTn id="229" fill="hold">
                            <p:stCondLst>
                              <p:cond delay="0"/>
                            </p:stCondLst>
                            <p:childTnLst>
                              <p:par>
                                <p:cTn id="231" presetID="42" presetClass="entr" presetSubtype="0" fill="hold" grpId="0" nodeType="clickEffect">
                                  <p:stCondLst>
                                    <p:cond delay="0"/>
                                  </p:stCondLst>
                                  <p:childTnLst>
                                    <p:set>
                                      <p:cBhvr>
                                        <p:cTn id="230" dur="1" fill="hold">
                                          <p:stCondLst>
                                            <p:cond delay="0"/>
                                          </p:stCondLst>
                                        </p:cTn>
                                        <p:tgtEl>
                                          <p:spTgt spid="75"/>
                                        </p:tgtEl>
                                        <p:attrNameLst>
                                          <p:attrName>style.visibility</p:attrName>
                                        </p:attrNameLst>
                                      </p:cBhvr>
                                      <p:to>
                                        <p:strVal val="visible"/>
                                      </p:to>
                                    </p:set>
                                    <p:animEffect transition="in" filter="fade">
                                      <p:cBhvr>
                                        <p:cTn id="232" dur="500"/>
                                        <p:tgtEl>
                                          <p:spTgt spid="75"/>
                                        </p:tgtEl>
                                      </p:cBhvr>
                                    </p:animEffect>
                                    <p:anim calcmode="lin" valueType="num">
                                      <p:cBhvr>
                                        <p:cTn id="233" dur="500" fill="hold"/>
                                        <p:tgtEl>
                                          <p:spTgt spid="75"/>
                                        </p:tgtEl>
                                        <p:attrNameLst>
                                          <p:attrName>ppt_x</p:attrName>
                                        </p:attrNameLst>
                                      </p:cBhvr>
                                      <p:tavLst>
                                        <p:tav tm="0">
                                          <p:val>
                                            <p:strVal val="#ppt_x"/>
                                          </p:val>
                                        </p:tav>
                                        <p:tav tm="100000">
                                          <p:val>
                                            <p:strVal val="#ppt_x"/>
                                          </p:val>
                                        </p:tav>
                                      </p:tavLst>
                                    </p:anim>
                                    <p:anim calcmode="lin" valueType="num">
                                      <p:cBhvr>
                                        <p:cTn id="234" dur="500" fill="hold"/>
                                        <p:tgtEl>
                                          <p:spTgt spid="75"/>
                                        </p:tgtEl>
                                        <p:attrNameLst>
                                          <p:attrName>ppt_y</p:attrName>
                                        </p:attrNameLst>
                                      </p:cBhvr>
                                      <p:tavLst>
                                        <p:tav tm="0">
                                          <p:val>
                                            <p:strVal val="#ppt_y+0.06"/>
                                          </p:val>
                                        </p:tav>
                                        <p:tav tm="100000">
                                          <p:val>
                                            <p:strVal val="#ppt_y"/>
                                          </p:val>
                                        </p:tav>
                                      </p:tavLst>
                                    </p:anim>
                                  </p:childTnLst>
                                </p:cTn>
                              </p:par>
                              <p:par>
                                <p:cTn id="236" presetID="42" presetClass="entr" presetSubtype="0" fill="hold" grpId="0" nodeType="withEffect">
                                  <p:stCondLst>
                                    <p:cond delay="0"/>
                                  </p:stCondLst>
                                  <p:childTnLst>
                                    <p:set>
                                      <p:cBhvr>
                                        <p:cTn id="235" dur="1" fill="hold">
                                          <p:stCondLst>
                                            <p:cond delay="0"/>
                                          </p:stCondLst>
                                        </p:cTn>
                                        <p:tgtEl>
                                          <p:spTgt spid="76"/>
                                        </p:tgtEl>
                                        <p:attrNameLst>
                                          <p:attrName>style.visibility</p:attrName>
                                        </p:attrNameLst>
                                      </p:cBhvr>
                                      <p:to>
                                        <p:strVal val="visible"/>
                                      </p:to>
                                    </p:set>
                                    <p:animEffect transition="in" filter="fade">
                                      <p:cBhvr>
                                        <p:cTn id="237" dur="500"/>
                                        <p:tgtEl>
                                          <p:spTgt spid="76"/>
                                        </p:tgtEl>
                                      </p:cBhvr>
                                    </p:animEffect>
                                    <p:anim calcmode="lin" valueType="num">
                                      <p:cBhvr>
                                        <p:cTn id="238" dur="500" fill="hold"/>
                                        <p:tgtEl>
                                          <p:spTgt spid="76"/>
                                        </p:tgtEl>
                                        <p:attrNameLst>
                                          <p:attrName>ppt_x</p:attrName>
                                        </p:attrNameLst>
                                      </p:cBhvr>
                                      <p:tavLst>
                                        <p:tav tm="0">
                                          <p:val>
                                            <p:strVal val="#ppt_x"/>
                                          </p:val>
                                        </p:tav>
                                        <p:tav tm="100000">
                                          <p:val>
                                            <p:strVal val="#ppt_x"/>
                                          </p:val>
                                        </p:tav>
                                      </p:tavLst>
                                    </p:anim>
                                    <p:anim calcmode="lin" valueType="num">
                                      <p:cBhvr>
                                        <p:cTn id="239" dur="500" fill="hold"/>
                                        <p:tgtEl>
                                          <p:spTgt spid="76"/>
                                        </p:tgtEl>
                                        <p:attrNameLst>
                                          <p:attrName>ppt_y</p:attrName>
                                        </p:attrNameLst>
                                      </p:cBhvr>
                                      <p:tavLst>
                                        <p:tav tm="0">
                                          <p:val>
                                            <p:strVal val="#ppt_y+0.06"/>
                                          </p:val>
                                        </p:tav>
                                        <p:tav tm="100000">
                                          <p:val>
                                            <p:strVal val="#ppt_y"/>
                                          </p:val>
                                        </p:tav>
                                      </p:tavLst>
                                    </p:anim>
                                  </p:childTnLst>
                                </p:cTn>
                              </p:par>
                              <p:par>
                                <p:cTn id="241" presetID="22" presetClass="entr" presetSubtype="8" fill="hold" grpId="0" nodeType="withEffect">
                                  <p:stCondLst>
                                    <p:cond delay="200"/>
                                  </p:stCondLst>
                                  <p:childTnLst>
                                    <p:set>
                                      <p:cBhvr>
                                        <p:cTn id="240" dur="1" fill="hold">
                                          <p:stCondLst>
                                            <p:cond delay="0"/>
                                          </p:stCondLst>
                                        </p:cTn>
                                        <p:tgtEl>
                                          <p:spTgt spid="77"/>
                                        </p:tgtEl>
                                        <p:attrNameLst>
                                          <p:attrName>style.visibility</p:attrName>
                                        </p:attrNameLst>
                                      </p:cBhvr>
                                      <p:to>
                                        <p:strVal val="visible"/>
                                      </p:to>
                                    </p:set>
                                    <p:animEffect transition="in" filter="wipe(left)">
                                      <p:cBhvr>
                                        <p:cTn id="242" dur="450"/>
                                        <p:tgtEl>
                                          <p:spTgt spid="77"/>
                                        </p:tgtEl>
                                      </p:cBhvr>
                                    </p:animEffect>
                                  </p:childTnLst>
                                </p:cTn>
                              </p:par>
                              <p:par>
                                <p:cTn id="244" presetID="22" presetClass="entr" presetSubtype="8" fill="hold" grpId="0" nodeType="withEffect">
                                  <p:stCondLst>
                                    <p:cond delay="200"/>
                                  </p:stCondLst>
                                  <p:childTnLst>
                                    <p:set>
                                      <p:cBhvr>
                                        <p:cTn id="243" dur="1" fill="hold">
                                          <p:stCondLst>
                                            <p:cond delay="0"/>
                                          </p:stCondLst>
                                        </p:cTn>
                                        <p:tgtEl>
                                          <p:spTgt spid="78"/>
                                        </p:tgtEl>
                                        <p:attrNameLst>
                                          <p:attrName>style.visibility</p:attrName>
                                        </p:attrNameLst>
                                      </p:cBhvr>
                                      <p:to>
                                        <p:strVal val="visible"/>
                                      </p:to>
                                    </p:set>
                                    <p:animEffect transition="in" filter="wipe(left)">
                                      <p:cBhvr>
                                        <p:cTn id="245" dur="450"/>
                                        <p:tgtEl>
                                          <p:spTgt spid="78"/>
                                        </p:tgtEl>
                                      </p:cBhvr>
                                    </p:animEffect>
                                  </p:childTnLst>
                                </p:cTn>
                              </p:par>
                              <p:par>
                                <p:cTn id="247" presetID="22" presetClass="entr" presetSubtype="8" fill="hold" grpId="0" nodeType="withEffect">
                                  <p:stCondLst>
                                    <p:cond delay="200"/>
                                  </p:stCondLst>
                                  <p:childTnLst>
                                    <p:set>
                                      <p:cBhvr>
                                        <p:cTn id="246" dur="1" fill="hold">
                                          <p:stCondLst>
                                            <p:cond delay="0"/>
                                          </p:stCondLst>
                                        </p:cTn>
                                        <p:tgtEl>
                                          <p:spTgt spid="79"/>
                                        </p:tgtEl>
                                        <p:attrNameLst>
                                          <p:attrName>style.visibility</p:attrName>
                                        </p:attrNameLst>
                                      </p:cBhvr>
                                      <p:to>
                                        <p:strVal val="visible"/>
                                      </p:to>
                                    </p:set>
                                    <p:animEffect transition="in" filter="wipe(left)">
                                      <p:cBhvr>
                                        <p:cTn id="248" dur="450"/>
                                        <p:tgtEl>
                                          <p:spTgt spid="79"/>
                                        </p:tgtEl>
                                      </p:cBhvr>
                                    </p:animEffect>
                                  </p:childTnLst>
                                </p:cTn>
                              </p:par>
                              <p:par>
                                <p:cTn id="250" presetID="22" presetClass="entr" presetSubtype="8" fill="hold" grpId="0" nodeType="withEffect">
                                  <p:stCondLst>
                                    <p:cond delay="260"/>
                                  </p:stCondLst>
                                  <p:childTnLst>
                                    <p:set>
                                      <p:cBhvr>
                                        <p:cTn id="249" dur="1" fill="hold">
                                          <p:stCondLst>
                                            <p:cond delay="0"/>
                                          </p:stCondLst>
                                        </p:cTn>
                                        <p:tgtEl>
                                          <p:spTgt spid="80"/>
                                        </p:tgtEl>
                                        <p:attrNameLst>
                                          <p:attrName>style.visibility</p:attrName>
                                        </p:attrNameLst>
                                      </p:cBhvr>
                                      <p:to>
                                        <p:strVal val="visible"/>
                                      </p:to>
                                    </p:set>
                                    <p:animEffect transition="in" filter="wipe(left)">
                                      <p:cBhvr>
                                        <p:cTn id="251" dur="450"/>
                                        <p:tgtEl>
                                          <p:spTgt spid="80"/>
                                        </p:tgtEl>
                                      </p:cBhvr>
                                    </p:animEffect>
                                  </p:childTnLst>
                                </p:cTn>
                              </p:par>
                              <p:par>
                                <p:cTn id="253" presetID="22" presetClass="entr" presetSubtype="8" fill="hold" grpId="0" nodeType="withEffect">
                                  <p:stCondLst>
                                    <p:cond delay="260"/>
                                  </p:stCondLst>
                                  <p:childTnLst>
                                    <p:set>
                                      <p:cBhvr>
                                        <p:cTn id="252" dur="1" fill="hold">
                                          <p:stCondLst>
                                            <p:cond delay="0"/>
                                          </p:stCondLst>
                                        </p:cTn>
                                        <p:tgtEl>
                                          <p:spTgt spid="81"/>
                                        </p:tgtEl>
                                        <p:attrNameLst>
                                          <p:attrName>style.visibility</p:attrName>
                                        </p:attrNameLst>
                                      </p:cBhvr>
                                      <p:to>
                                        <p:strVal val="visible"/>
                                      </p:to>
                                    </p:set>
                                    <p:animEffect transition="in" filter="wipe(left)">
                                      <p:cBhvr>
                                        <p:cTn id="254" dur="450"/>
                                        <p:tgtEl>
                                          <p:spTgt spid="81"/>
                                        </p:tgtEl>
                                      </p:cBhvr>
                                    </p:animEffect>
                                  </p:childTnLst>
                                </p:cTn>
                              </p:par>
                              <p:par>
                                <p:cTn id="256" presetID="22" presetClass="entr" presetSubtype="8" fill="hold" grpId="0" nodeType="withEffect">
                                  <p:stCondLst>
                                    <p:cond delay="260"/>
                                  </p:stCondLst>
                                  <p:childTnLst>
                                    <p:set>
                                      <p:cBhvr>
                                        <p:cTn id="255" dur="1" fill="hold">
                                          <p:stCondLst>
                                            <p:cond delay="0"/>
                                          </p:stCondLst>
                                        </p:cTn>
                                        <p:tgtEl>
                                          <p:spTgt spid="82"/>
                                        </p:tgtEl>
                                        <p:attrNameLst>
                                          <p:attrName>style.visibility</p:attrName>
                                        </p:attrNameLst>
                                      </p:cBhvr>
                                      <p:to>
                                        <p:strVal val="visible"/>
                                      </p:to>
                                    </p:set>
                                    <p:animEffect transition="in" filter="wipe(left)">
                                      <p:cBhvr>
                                        <p:cTn id="257" dur="450"/>
                                        <p:tgtEl>
                                          <p:spTgt spid="82"/>
                                        </p:tgtEl>
                                      </p:cBhvr>
                                    </p:animEffect>
                                  </p:childTnLst>
                                </p:cTn>
                              </p:par>
                              <p:par>
                                <p:cTn id="259" presetID="22" presetClass="entr" presetSubtype="8" fill="hold" grpId="0" nodeType="withEffect">
                                  <p:stCondLst>
                                    <p:cond delay="320"/>
                                  </p:stCondLst>
                                  <p:childTnLst>
                                    <p:set>
                                      <p:cBhvr>
                                        <p:cTn id="258" dur="1" fill="hold">
                                          <p:stCondLst>
                                            <p:cond delay="0"/>
                                          </p:stCondLst>
                                        </p:cTn>
                                        <p:tgtEl>
                                          <p:spTgt spid="83"/>
                                        </p:tgtEl>
                                        <p:attrNameLst>
                                          <p:attrName>style.visibility</p:attrName>
                                        </p:attrNameLst>
                                      </p:cBhvr>
                                      <p:to>
                                        <p:strVal val="visible"/>
                                      </p:to>
                                    </p:set>
                                    <p:animEffect transition="in" filter="wipe(left)">
                                      <p:cBhvr>
                                        <p:cTn id="260" dur="450"/>
                                        <p:tgtEl>
                                          <p:spTgt spid="83"/>
                                        </p:tgtEl>
                                      </p:cBhvr>
                                    </p:animEffect>
                                  </p:childTnLst>
                                </p:cTn>
                              </p:par>
                              <p:par>
                                <p:cTn id="262" presetID="22" presetClass="entr" presetSubtype="8" fill="hold" grpId="0" nodeType="withEffect">
                                  <p:stCondLst>
                                    <p:cond delay="320"/>
                                  </p:stCondLst>
                                  <p:childTnLst>
                                    <p:set>
                                      <p:cBhvr>
                                        <p:cTn id="261" dur="1" fill="hold">
                                          <p:stCondLst>
                                            <p:cond delay="0"/>
                                          </p:stCondLst>
                                        </p:cTn>
                                        <p:tgtEl>
                                          <p:spTgt spid="84"/>
                                        </p:tgtEl>
                                        <p:attrNameLst>
                                          <p:attrName>style.visibility</p:attrName>
                                        </p:attrNameLst>
                                      </p:cBhvr>
                                      <p:to>
                                        <p:strVal val="visible"/>
                                      </p:to>
                                    </p:set>
                                    <p:animEffect transition="in" filter="wipe(left)">
                                      <p:cBhvr>
                                        <p:cTn id="263" dur="450"/>
                                        <p:tgtEl>
                                          <p:spTgt spid="84"/>
                                        </p:tgtEl>
                                      </p:cBhvr>
                                    </p:animEffect>
                                  </p:childTnLst>
                                </p:cTn>
                              </p:par>
                              <p:par>
                                <p:cTn id="265" presetID="22" presetClass="entr" presetSubtype="8" fill="hold" grpId="0" nodeType="withEffect">
                                  <p:stCondLst>
                                    <p:cond delay="320"/>
                                  </p:stCondLst>
                                  <p:childTnLst>
                                    <p:set>
                                      <p:cBhvr>
                                        <p:cTn id="264" dur="1" fill="hold">
                                          <p:stCondLst>
                                            <p:cond delay="0"/>
                                          </p:stCondLst>
                                        </p:cTn>
                                        <p:tgtEl>
                                          <p:spTgt spid="85"/>
                                        </p:tgtEl>
                                        <p:attrNameLst>
                                          <p:attrName>style.visibility</p:attrName>
                                        </p:attrNameLst>
                                      </p:cBhvr>
                                      <p:to>
                                        <p:strVal val="visible"/>
                                      </p:to>
                                    </p:set>
                                    <p:animEffect transition="in" filter="wipe(left)">
                                      <p:cBhvr>
                                        <p:cTn id="266" dur="450"/>
                                        <p:tgtEl>
                                          <p:spTgt spid="85"/>
                                        </p:tgtEl>
                                      </p:cBhvr>
                                    </p:animEffect>
                                  </p:childTnLst>
                                </p:cTn>
                              </p:par>
                              <p:par>
                                <p:cTn id="268" presetID="22" presetClass="entr" presetSubtype="8" fill="hold" grpId="0" nodeType="withEffect">
                                  <p:stCondLst>
                                    <p:cond delay="380"/>
                                  </p:stCondLst>
                                  <p:childTnLst>
                                    <p:set>
                                      <p:cBhvr>
                                        <p:cTn id="267" dur="1" fill="hold">
                                          <p:stCondLst>
                                            <p:cond delay="0"/>
                                          </p:stCondLst>
                                        </p:cTn>
                                        <p:tgtEl>
                                          <p:spTgt spid="86"/>
                                        </p:tgtEl>
                                        <p:attrNameLst>
                                          <p:attrName>style.visibility</p:attrName>
                                        </p:attrNameLst>
                                      </p:cBhvr>
                                      <p:to>
                                        <p:strVal val="visible"/>
                                      </p:to>
                                    </p:set>
                                    <p:animEffect transition="in" filter="wipe(left)">
                                      <p:cBhvr>
                                        <p:cTn id="269" dur="450"/>
                                        <p:tgtEl>
                                          <p:spTgt spid="86"/>
                                        </p:tgtEl>
                                      </p:cBhvr>
                                    </p:animEffect>
                                  </p:childTnLst>
                                </p:cTn>
                              </p:par>
                              <p:par>
                                <p:cTn id="271" presetID="22" presetClass="entr" presetSubtype="8" fill="hold" grpId="0" nodeType="withEffect">
                                  <p:stCondLst>
                                    <p:cond delay="380"/>
                                  </p:stCondLst>
                                  <p:childTnLst>
                                    <p:set>
                                      <p:cBhvr>
                                        <p:cTn id="270" dur="1" fill="hold">
                                          <p:stCondLst>
                                            <p:cond delay="0"/>
                                          </p:stCondLst>
                                        </p:cTn>
                                        <p:tgtEl>
                                          <p:spTgt spid="87"/>
                                        </p:tgtEl>
                                        <p:attrNameLst>
                                          <p:attrName>style.visibility</p:attrName>
                                        </p:attrNameLst>
                                      </p:cBhvr>
                                      <p:to>
                                        <p:strVal val="visible"/>
                                      </p:to>
                                    </p:set>
                                    <p:animEffect transition="in" filter="wipe(left)">
                                      <p:cBhvr>
                                        <p:cTn id="272" dur="450"/>
                                        <p:tgtEl>
                                          <p:spTgt spid="87"/>
                                        </p:tgtEl>
                                      </p:cBhvr>
                                    </p:animEffect>
                                  </p:childTnLst>
                                </p:cTn>
                              </p:par>
                              <p:par>
                                <p:cTn id="274" presetID="22" presetClass="entr" presetSubtype="8" fill="hold" grpId="0" nodeType="withEffect">
                                  <p:stCondLst>
                                    <p:cond delay="380"/>
                                  </p:stCondLst>
                                  <p:childTnLst>
                                    <p:set>
                                      <p:cBhvr>
                                        <p:cTn id="273" dur="1" fill="hold">
                                          <p:stCondLst>
                                            <p:cond delay="0"/>
                                          </p:stCondLst>
                                        </p:cTn>
                                        <p:tgtEl>
                                          <p:spTgt spid="88"/>
                                        </p:tgtEl>
                                        <p:attrNameLst>
                                          <p:attrName>style.visibility</p:attrName>
                                        </p:attrNameLst>
                                      </p:cBhvr>
                                      <p:to>
                                        <p:strVal val="visible"/>
                                      </p:to>
                                    </p:set>
                                    <p:animEffect transition="in" filter="wipe(left)">
                                      <p:cBhvr>
                                        <p:cTn id="275" dur="450"/>
                                        <p:tgtEl>
                                          <p:spTgt spid="88"/>
                                        </p:tgtEl>
                                      </p:cBhvr>
                                    </p:animEffect>
                                  </p:childTnLst>
                                </p:cTn>
                              </p:par>
                              <p:par>
                                <p:cTn id="277" presetID="22" presetClass="entr" presetSubtype="8" fill="hold" grpId="0" nodeType="withEffect">
                                  <p:stCondLst>
                                    <p:cond delay="440"/>
                                  </p:stCondLst>
                                  <p:childTnLst>
                                    <p:set>
                                      <p:cBhvr>
                                        <p:cTn id="276" dur="1" fill="hold">
                                          <p:stCondLst>
                                            <p:cond delay="0"/>
                                          </p:stCondLst>
                                        </p:cTn>
                                        <p:tgtEl>
                                          <p:spTgt spid="89"/>
                                        </p:tgtEl>
                                        <p:attrNameLst>
                                          <p:attrName>style.visibility</p:attrName>
                                        </p:attrNameLst>
                                      </p:cBhvr>
                                      <p:to>
                                        <p:strVal val="visible"/>
                                      </p:to>
                                    </p:set>
                                    <p:animEffect transition="in" filter="wipe(left)">
                                      <p:cBhvr>
                                        <p:cTn id="278" dur="450"/>
                                        <p:tgtEl>
                                          <p:spTgt spid="89"/>
                                        </p:tgtEl>
                                      </p:cBhvr>
                                    </p:animEffect>
                                  </p:childTnLst>
                                </p:cTn>
                              </p:par>
                              <p:par>
                                <p:cTn id="280" presetID="22" presetClass="entr" presetSubtype="8" fill="hold" grpId="0" nodeType="withEffect">
                                  <p:stCondLst>
                                    <p:cond delay="440"/>
                                  </p:stCondLst>
                                  <p:childTnLst>
                                    <p:set>
                                      <p:cBhvr>
                                        <p:cTn id="279" dur="1" fill="hold">
                                          <p:stCondLst>
                                            <p:cond delay="0"/>
                                          </p:stCondLst>
                                        </p:cTn>
                                        <p:tgtEl>
                                          <p:spTgt spid="90"/>
                                        </p:tgtEl>
                                        <p:attrNameLst>
                                          <p:attrName>style.visibility</p:attrName>
                                        </p:attrNameLst>
                                      </p:cBhvr>
                                      <p:to>
                                        <p:strVal val="visible"/>
                                      </p:to>
                                    </p:set>
                                    <p:animEffect transition="in" filter="wipe(left)">
                                      <p:cBhvr>
                                        <p:cTn id="281" dur="450"/>
                                        <p:tgtEl>
                                          <p:spTgt spid="90"/>
                                        </p:tgtEl>
                                      </p:cBhvr>
                                    </p:animEffect>
                                  </p:childTnLst>
                                </p:cTn>
                              </p:par>
                              <p:par>
                                <p:cTn id="283" presetID="22" presetClass="entr" presetSubtype="8" fill="hold" grpId="0" nodeType="withEffect">
                                  <p:stCondLst>
                                    <p:cond delay="440"/>
                                  </p:stCondLst>
                                  <p:childTnLst>
                                    <p:set>
                                      <p:cBhvr>
                                        <p:cTn id="282" dur="1" fill="hold">
                                          <p:stCondLst>
                                            <p:cond delay="0"/>
                                          </p:stCondLst>
                                        </p:cTn>
                                        <p:tgtEl>
                                          <p:spTgt spid="91"/>
                                        </p:tgtEl>
                                        <p:attrNameLst>
                                          <p:attrName>style.visibility</p:attrName>
                                        </p:attrNameLst>
                                      </p:cBhvr>
                                      <p:to>
                                        <p:strVal val="visible"/>
                                      </p:to>
                                    </p:set>
                                    <p:animEffect transition="in" filter="wipe(left)">
                                      <p:cBhvr>
                                        <p:cTn id="284" dur="450"/>
                                        <p:tgtEl>
                                          <p:spTgt spid="91"/>
                                        </p:tgtEl>
                                      </p:cBhvr>
                                    </p:animEffect>
                                  </p:childTnLst>
                                </p:cTn>
                              </p:par>
                              <p:par>
                                <p:cTn id="286" presetID="22" presetClass="entr" presetSubtype="8" fill="hold" grpId="0" nodeType="withEffect">
                                  <p:stCondLst>
                                    <p:cond delay="500"/>
                                  </p:stCondLst>
                                  <p:childTnLst>
                                    <p:set>
                                      <p:cBhvr>
                                        <p:cTn id="285" dur="1" fill="hold">
                                          <p:stCondLst>
                                            <p:cond delay="0"/>
                                          </p:stCondLst>
                                        </p:cTn>
                                        <p:tgtEl>
                                          <p:spTgt spid="92"/>
                                        </p:tgtEl>
                                        <p:attrNameLst>
                                          <p:attrName>style.visibility</p:attrName>
                                        </p:attrNameLst>
                                      </p:cBhvr>
                                      <p:to>
                                        <p:strVal val="visible"/>
                                      </p:to>
                                    </p:set>
                                    <p:animEffect transition="in" filter="wipe(left)">
                                      <p:cBhvr>
                                        <p:cTn id="287" dur="450"/>
                                        <p:tgtEl>
                                          <p:spTgt spid="92"/>
                                        </p:tgtEl>
                                      </p:cBhvr>
                                    </p:animEffect>
                                  </p:childTnLst>
                                </p:cTn>
                              </p:par>
                              <p:par>
                                <p:cTn id="289" presetID="22" presetClass="entr" presetSubtype="8" fill="hold" grpId="0" nodeType="withEffect">
                                  <p:stCondLst>
                                    <p:cond delay="500"/>
                                  </p:stCondLst>
                                  <p:childTnLst>
                                    <p:set>
                                      <p:cBhvr>
                                        <p:cTn id="288" dur="1" fill="hold">
                                          <p:stCondLst>
                                            <p:cond delay="0"/>
                                          </p:stCondLst>
                                        </p:cTn>
                                        <p:tgtEl>
                                          <p:spTgt spid="93"/>
                                        </p:tgtEl>
                                        <p:attrNameLst>
                                          <p:attrName>style.visibility</p:attrName>
                                        </p:attrNameLst>
                                      </p:cBhvr>
                                      <p:to>
                                        <p:strVal val="visible"/>
                                      </p:to>
                                    </p:set>
                                    <p:animEffect transition="in" filter="wipe(left)">
                                      <p:cBhvr>
                                        <p:cTn id="290" dur="450"/>
                                        <p:tgtEl>
                                          <p:spTgt spid="93"/>
                                        </p:tgtEl>
                                      </p:cBhvr>
                                    </p:animEffect>
                                  </p:childTnLst>
                                </p:cTn>
                              </p:par>
                              <p:par>
                                <p:cTn id="292" presetID="22" presetClass="entr" presetSubtype="8" fill="hold" grpId="0" nodeType="withEffect">
                                  <p:stCondLst>
                                    <p:cond delay="500"/>
                                  </p:stCondLst>
                                  <p:childTnLst>
                                    <p:set>
                                      <p:cBhvr>
                                        <p:cTn id="291" dur="1" fill="hold">
                                          <p:stCondLst>
                                            <p:cond delay="0"/>
                                          </p:stCondLst>
                                        </p:cTn>
                                        <p:tgtEl>
                                          <p:spTgt spid="94"/>
                                        </p:tgtEl>
                                        <p:attrNameLst>
                                          <p:attrName>style.visibility</p:attrName>
                                        </p:attrNameLst>
                                      </p:cBhvr>
                                      <p:to>
                                        <p:strVal val="visible"/>
                                      </p:to>
                                    </p:set>
                                    <p:animEffect transition="in" filter="wipe(left)">
                                      <p:cBhvr>
                                        <p:cTn id="293" dur="450"/>
                                        <p:tgtEl>
                                          <p:spTgt spid="94"/>
                                        </p:tgtEl>
                                      </p:cBhvr>
                                    </p:animEffect>
                                  </p:childTnLst>
                                </p:cTn>
                              </p:par>
                            </p:childTnLst>
                          </p:cTn>
                        </p:par>
                      </p:childTnLst>
                    </p:cTn>
                  </p:par>
                  <p:par>
                    <p:cTn id="294" fill="hold">
                      <p:stCondLst>
                        <p:cond delay="indefinite"/>
                      </p:stCondLst>
                      <p:childTnLst>
                        <p:par>
                          <p:cTn id="295" fill="hold">
                            <p:stCondLst>
                              <p:cond delay="0"/>
                            </p:stCondLst>
                            <p:childTnLst>
                              <p:par>
                                <p:cTn id="297" presetID="42" presetClass="entr" presetSubtype="0" fill="hold" grpId="0" nodeType="clickEffect">
                                  <p:stCondLst>
                                    <p:cond delay="0"/>
                                  </p:stCondLst>
                                  <p:childTnLst>
                                    <p:set>
                                      <p:cBhvr>
                                        <p:cTn id="296" dur="1" fill="hold">
                                          <p:stCondLst>
                                            <p:cond delay="0"/>
                                          </p:stCondLst>
                                        </p:cTn>
                                        <p:tgtEl>
                                          <p:spTgt spid="95"/>
                                        </p:tgtEl>
                                        <p:attrNameLst>
                                          <p:attrName>style.visibility</p:attrName>
                                        </p:attrNameLst>
                                      </p:cBhvr>
                                      <p:to>
                                        <p:strVal val="visible"/>
                                      </p:to>
                                    </p:set>
                                    <p:animEffect transition="in" filter="fade">
                                      <p:cBhvr>
                                        <p:cTn id="298" dur="500"/>
                                        <p:tgtEl>
                                          <p:spTgt spid="95"/>
                                        </p:tgtEl>
                                      </p:cBhvr>
                                    </p:animEffect>
                                    <p:anim calcmode="lin" valueType="num">
                                      <p:cBhvr>
                                        <p:cTn id="299" dur="500" fill="hold"/>
                                        <p:tgtEl>
                                          <p:spTgt spid="95"/>
                                        </p:tgtEl>
                                        <p:attrNameLst>
                                          <p:attrName>ppt_x</p:attrName>
                                        </p:attrNameLst>
                                      </p:cBhvr>
                                      <p:tavLst>
                                        <p:tav tm="0">
                                          <p:val>
                                            <p:strVal val="#ppt_x"/>
                                          </p:val>
                                        </p:tav>
                                        <p:tav tm="100000">
                                          <p:val>
                                            <p:strVal val="#ppt_x"/>
                                          </p:val>
                                        </p:tav>
                                      </p:tavLst>
                                    </p:anim>
                                    <p:anim calcmode="lin" valueType="num">
                                      <p:cBhvr>
                                        <p:cTn id="300" dur="500" fill="hold"/>
                                        <p:tgtEl>
                                          <p:spTgt spid="95"/>
                                        </p:tgtEl>
                                        <p:attrNameLst>
                                          <p:attrName>ppt_y</p:attrName>
                                        </p:attrNameLst>
                                      </p:cBhvr>
                                      <p:tavLst>
                                        <p:tav tm="0">
                                          <p:val>
                                            <p:strVal val="#ppt_y+0.06"/>
                                          </p:val>
                                        </p:tav>
                                        <p:tav tm="100000">
                                          <p:val>
                                            <p:strVal val="#ppt_y"/>
                                          </p:val>
                                        </p:tav>
                                      </p:tavLst>
                                    </p:anim>
                                  </p:childTnLst>
                                </p:cTn>
                              </p:par>
                              <p:par>
                                <p:cTn id="302" presetID="42" presetClass="entr" presetSubtype="0" fill="hold" grpId="0" nodeType="withEffect">
                                  <p:stCondLst>
                                    <p:cond delay="0"/>
                                  </p:stCondLst>
                                  <p:childTnLst>
                                    <p:set>
                                      <p:cBhvr>
                                        <p:cTn id="301" dur="1" fill="hold">
                                          <p:stCondLst>
                                            <p:cond delay="0"/>
                                          </p:stCondLst>
                                        </p:cTn>
                                        <p:tgtEl>
                                          <p:spTgt spid="96"/>
                                        </p:tgtEl>
                                        <p:attrNameLst>
                                          <p:attrName>style.visibility</p:attrName>
                                        </p:attrNameLst>
                                      </p:cBhvr>
                                      <p:to>
                                        <p:strVal val="visible"/>
                                      </p:to>
                                    </p:set>
                                    <p:animEffect transition="in" filter="fade">
                                      <p:cBhvr>
                                        <p:cTn id="303" dur="500"/>
                                        <p:tgtEl>
                                          <p:spTgt spid="96"/>
                                        </p:tgtEl>
                                      </p:cBhvr>
                                    </p:animEffect>
                                    <p:anim calcmode="lin" valueType="num">
                                      <p:cBhvr>
                                        <p:cTn id="304" dur="500" fill="hold"/>
                                        <p:tgtEl>
                                          <p:spTgt spid="96"/>
                                        </p:tgtEl>
                                        <p:attrNameLst>
                                          <p:attrName>ppt_x</p:attrName>
                                        </p:attrNameLst>
                                      </p:cBhvr>
                                      <p:tavLst>
                                        <p:tav tm="0">
                                          <p:val>
                                            <p:strVal val="#ppt_x"/>
                                          </p:val>
                                        </p:tav>
                                        <p:tav tm="100000">
                                          <p:val>
                                            <p:strVal val="#ppt_x"/>
                                          </p:val>
                                        </p:tav>
                                      </p:tavLst>
                                    </p:anim>
                                    <p:anim calcmode="lin" valueType="num">
                                      <p:cBhvr>
                                        <p:cTn id="305" dur="500" fill="hold"/>
                                        <p:tgtEl>
                                          <p:spTgt spid="96"/>
                                        </p:tgtEl>
                                        <p:attrNameLst>
                                          <p:attrName>ppt_y</p:attrName>
                                        </p:attrNameLst>
                                      </p:cBhvr>
                                      <p:tavLst>
                                        <p:tav tm="0">
                                          <p:val>
                                            <p:strVal val="#ppt_y+0.06"/>
                                          </p:val>
                                        </p:tav>
                                        <p:tav tm="100000">
                                          <p:val>
                                            <p:strVal val="#ppt_y"/>
                                          </p:val>
                                        </p:tav>
                                      </p:tavLst>
                                    </p:anim>
                                  </p:childTnLst>
                                </p:cTn>
                              </p:par>
                              <p:par>
                                <p:cTn id="307" presetID="22" presetClass="entr" presetSubtype="8" fill="hold" grpId="0" nodeType="withEffect">
                                  <p:stCondLst>
                                    <p:cond delay="200"/>
                                  </p:stCondLst>
                                  <p:childTnLst>
                                    <p:set>
                                      <p:cBhvr>
                                        <p:cTn id="306" dur="1" fill="hold">
                                          <p:stCondLst>
                                            <p:cond delay="0"/>
                                          </p:stCondLst>
                                        </p:cTn>
                                        <p:tgtEl>
                                          <p:spTgt spid="97"/>
                                        </p:tgtEl>
                                        <p:attrNameLst>
                                          <p:attrName>style.visibility</p:attrName>
                                        </p:attrNameLst>
                                      </p:cBhvr>
                                      <p:to>
                                        <p:strVal val="visible"/>
                                      </p:to>
                                    </p:set>
                                    <p:animEffect transition="in" filter="wipe(left)">
                                      <p:cBhvr>
                                        <p:cTn id="308" dur="450"/>
                                        <p:tgtEl>
                                          <p:spTgt spid="97"/>
                                        </p:tgtEl>
                                      </p:cBhvr>
                                    </p:animEffect>
                                  </p:childTnLst>
                                </p:cTn>
                              </p:par>
                              <p:par>
                                <p:cTn id="310" presetID="22" presetClass="entr" presetSubtype="8" fill="hold" grpId="0" nodeType="withEffect">
                                  <p:stCondLst>
                                    <p:cond delay="200"/>
                                  </p:stCondLst>
                                  <p:childTnLst>
                                    <p:set>
                                      <p:cBhvr>
                                        <p:cTn id="309" dur="1" fill="hold">
                                          <p:stCondLst>
                                            <p:cond delay="0"/>
                                          </p:stCondLst>
                                        </p:cTn>
                                        <p:tgtEl>
                                          <p:spTgt spid="98"/>
                                        </p:tgtEl>
                                        <p:attrNameLst>
                                          <p:attrName>style.visibility</p:attrName>
                                        </p:attrNameLst>
                                      </p:cBhvr>
                                      <p:to>
                                        <p:strVal val="visible"/>
                                      </p:to>
                                    </p:set>
                                    <p:animEffect transition="in" filter="wipe(left)">
                                      <p:cBhvr>
                                        <p:cTn id="311" dur="450"/>
                                        <p:tgtEl>
                                          <p:spTgt spid="98"/>
                                        </p:tgtEl>
                                      </p:cBhvr>
                                    </p:animEffect>
                                  </p:childTnLst>
                                </p:cTn>
                              </p:par>
                              <p:par>
                                <p:cTn id="313" presetID="22" presetClass="entr" presetSubtype="8" fill="hold" grpId="0" nodeType="withEffect">
                                  <p:stCondLst>
                                    <p:cond delay="200"/>
                                  </p:stCondLst>
                                  <p:childTnLst>
                                    <p:set>
                                      <p:cBhvr>
                                        <p:cTn id="312" dur="1" fill="hold">
                                          <p:stCondLst>
                                            <p:cond delay="0"/>
                                          </p:stCondLst>
                                        </p:cTn>
                                        <p:tgtEl>
                                          <p:spTgt spid="99"/>
                                        </p:tgtEl>
                                        <p:attrNameLst>
                                          <p:attrName>style.visibility</p:attrName>
                                        </p:attrNameLst>
                                      </p:cBhvr>
                                      <p:to>
                                        <p:strVal val="visible"/>
                                      </p:to>
                                    </p:set>
                                    <p:animEffect transition="in" filter="wipe(left)">
                                      <p:cBhvr>
                                        <p:cTn id="314" dur="450"/>
                                        <p:tgtEl>
                                          <p:spTgt spid="99"/>
                                        </p:tgtEl>
                                      </p:cBhvr>
                                    </p:animEffect>
                                  </p:childTnLst>
                                </p:cTn>
                              </p:par>
                              <p:par>
                                <p:cTn id="316" presetID="22" presetClass="entr" presetSubtype="8" fill="hold" grpId="0" nodeType="withEffect">
                                  <p:stCondLst>
                                    <p:cond delay="260"/>
                                  </p:stCondLst>
                                  <p:childTnLst>
                                    <p:set>
                                      <p:cBhvr>
                                        <p:cTn id="315" dur="1" fill="hold">
                                          <p:stCondLst>
                                            <p:cond delay="0"/>
                                          </p:stCondLst>
                                        </p:cTn>
                                        <p:tgtEl>
                                          <p:spTgt spid="100"/>
                                        </p:tgtEl>
                                        <p:attrNameLst>
                                          <p:attrName>style.visibility</p:attrName>
                                        </p:attrNameLst>
                                      </p:cBhvr>
                                      <p:to>
                                        <p:strVal val="visible"/>
                                      </p:to>
                                    </p:set>
                                    <p:animEffect transition="in" filter="wipe(left)">
                                      <p:cBhvr>
                                        <p:cTn id="317" dur="450"/>
                                        <p:tgtEl>
                                          <p:spTgt spid="100"/>
                                        </p:tgtEl>
                                      </p:cBhvr>
                                    </p:animEffect>
                                  </p:childTnLst>
                                </p:cTn>
                              </p:par>
                              <p:par>
                                <p:cTn id="319" presetID="22" presetClass="entr" presetSubtype="8" fill="hold" grpId="0" nodeType="withEffect">
                                  <p:stCondLst>
                                    <p:cond delay="260"/>
                                  </p:stCondLst>
                                  <p:childTnLst>
                                    <p:set>
                                      <p:cBhvr>
                                        <p:cTn id="318" dur="1" fill="hold">
                                          <p:stCondLst>
                                            <p:cond delay="0"/>
                                          </p:stCondLst>
                                        </p:cTn>
                                        <p:tgtEl>
                                          <p:spTgt spid="101"/>
                                        </p:tgtEl>
                                        <p:attrNameLst>
                                          <p:attrName>style.visibility</p:attrName>
                                        </p:attrNameLst>
                                      </p:cBhvr>
                                      <p:to>
                                        <p:strVal val="visible"/>
                                      </p:to>
                                    </p:set>
                                    <p:animEffect transition="in" filter="wipe(left)">
                                      <p:cBhvr>
                                        <p:cTn id="320" dur="450"/>
                                        <p:tgtEl>
                                          <p:spTgt spid="101"/>
                                        </p:tgtEl>
                                      </p:cBhvr>
                                    </p:animEffect>
                                  </p:childTnLst>
                                </p:cTn>
                              </p:par>
                              <p:par>
                                <p:cTn id="322" presetID="22" presetClass="entr" presetSubtype="8" fill="hold" grpId="0" nodeType="withEffect">
                                  <p:stCondLst>
                                    <p:cond delay="260"/>
                                  </p:stCondLst>
                                  <p:childTnLst>
                                    <p:set>
                                      <p:cBhvr>
                                        <p:cTn id="321" dur="1" fill="hold">
                                          <p:stCondLst>
                                            <p:cond delay="0"/>
                                          </p:stCondLst>
                                        </p:cTn>
                                        <p:tgtEl>
                                          <p:spTgt spid="102"/>
                                        </p:tgtEl>
                                        <p:attrNameLst>
                                          <p:attrName>style.visibility</p:attrName>
                                        </p:attrNameLst>
                                      </p:cBhvr>
                                      <p:to>
                                        <p:strVal val="visible"/>
                                      </p:to>
                                    </p:set>
                                    <p:animEffect transition="in" filter="wipe(left)">
                                      <p:cBhvr>
                                        <p:cTn id="323" dur="450"/>
                                        <p:tgtEl>
                                          <p:spTgt spid="102"/>
                                        </p:tgtEl>
                                      </p:cBhvr>
                                    </p:animEffect>
                                  </p:childTnLst>
                                </p:cTn>
                              </p:par>
                              <p:par>
                                <p:cTn id="325" presetID="22" presetClass="entr" presetSubtype="8" fill="hold" grpId="0" nodeType="withEffect">
                                  <p:stCondLst>
                                    <p:cond delay="320"/>
                                  </p:stCondLst>
                                  <p:childTnLst>
                                    <p:set>
                                      <p:cBhvr>
                                        <p:cTn id="324" dur="1" fill="hold">
                                          <p:stCondLst>
                                            <p:cond delay="0"/>
                                          </p:stCondLst>
                                        </p:cTn>
                                        <p:tgtEl>
                                          <p:spTgt spid="103"/>
                                        </p:tgtEl>
                                        <p:attrNameLst>
                                          <p:attrName>style.visibility</p:attrName>
                                        </p:attrNameLst>
                                      </p:cBhvr>
                                      <p:to>
                                        <p:strVal val="visible"/>
                                      </p:to>
                                    </p:set>
                                    <p:animEffect transition="in" filter="wipe(left)">
                                      <p:cBhvr>
                                        <p:cTn id="326" dur="450"/>
                                        <p:tgtEl>
                                          <p:spTgt spid="103"/>
                                        </p:tgtEl>
                                      </p:cBhvr>
                                    </p:animEffect>
                                  </p:childTnLst>
                                </p:cTn>
                              </p:par>
                              <p:par>
                                <p:cTn id="328" presetID="22" presetClass="entr" presetSubtype="8" fill="hold" grpId="0" nodeType="withEffect">
                                  <p:stCondLst>
                                    <p:cond delay="320"/>
                                  </p:stCondLst>
                                  <p:childTnLst>
                                    <p:set>
                                      <p:cBhvr>
                                        <p:cTn id="327" dur="1" fill="hold">
                                          <p:stCondLst>
                                            <p:cond delay="0"/>
                                          </p:stCondLst>
                                        </p:cTn>
                                        <p:tgtEl>
                                          <p:spTgt spid="104"/>
                                        </p:tgtEl>
                                        <p:attrNameLst>
                                          <p:attrName>style.visibility</p:attrName>
                                        </p:attrNameLst>
                                      </p:cBhvr>
                                      <p:to>
                                        <p:strVal val="visible"/>
                                      </p:to>
                                    </p:set>
                                    <p:animEffect transition="in" filter="wipe(left)">
                                      <p:cBhvr>
                                        <p:cTn id="329" dur="450"/>
                                        <p:tgtEl>
                                          <p:spTgt spid="104"/>
                                        </p:tgtEl>
                                      </p:cBhvr>
                                    </p:animEffect>
                                  </p:childTnLst>
                                </p:cTn>
                              </p:par>
                              <p:par>
                                <p:cTn id="331" presetID="22" presetClass="entr" presetSubtype="8" fill="hold" grpId="0" nodeType="withEffect">
                                  <p:stCondLst>
                                    <p:cond delay="320"/>
                                  </p:stCondLst>
                                  <p:childTnLst>
                                    <p:set>
                                      <p:cBhvr>
                                        <p:cTn id="330" dur="1" fill="hold">
                                          <p:stCondLst>
                                            <p:cond delay="0"/>
                                          </p:stCondLst>
                                        </p:cTn>
                                        <p:tgtEl>
                                          <p:spTgt spid="105"/>
                                        </p:tgtEl>
                                        <p:attrNameLst>
                                          <p:attrName>style.visibility</p:attrName>
                                        </p:attrNameLst>
                                      </p:cBhvr>
                                      <p:to>
                                        <p:strVal val="visible"/>
                                      </p:to>
                                    </p:set>
                                    <p:animEffect transition="in" filter="wipe(left)">
                                      <p:cBhvr>
                                        <p:cTn id="332" dur="450"/>
                                        <p:tgtEl>
                                          <p:spTgt spid="105"/>
                                        </p:tgtEl>
                                      </p:cBhvr>
                                    </p:animEffect>
                                  </p:childTnLst>
                                </p:cTn>
                              </p:par>
                              <p:par>
                                <p:cTn id="334" presetID="22" presetClass="entr" presetSubtype="8" fill="hold" grpId="0" nodeType="withEffect">
                                  <p:stCondLst>
                                    <p:cond delay="380"/>
                                  </p:stCondLst>
                                  <p:childTnLst>
                                    <p:set>
                                      <p:cBhvr>
                                        <p:cTn id="333" dur="1" fill="hold">
                                          <p:stCondLst>
                                            <p:cond delay="0"/>
                                          </p:stCondLst>
                                        </p:cTn>
                                        <p:tgtEl>
                                          <p:spTgt spid="106"/>
                                        </p:tgtEl>
                                        <p:attrNameLst>
                                          <p:attrName>style.visibility</p:attrName>
                                        </p:attrNameLst>
                                      </p:cBhvr>
                                      <p:to>
                                        <p:strVal val="visible"/>
                                      </p:to>
                                    </p:set>
                                    <p:animEffect transition="in" filter="wipe(left)">
                                      <p:cBhvr>
                                        <p:cTn id="335" dur="450"/>
                                        <p:tgtEl>
                                          <p:spTgt spid="106"/>
                                        </p:tgtEl>
                                      </p:cBhvr>
                                    </p:animEffect>
                                  </p:childTnLst>
                                </p:cTn>
                              </p:par>
                              <p:par>
                                <p:cTn id="337" presetID="22" presetClass="entr" presetSubtype="8" fill="hold" grpId="0" nodeType="withEffect">
                                  <p:stCondLst>
                                    <p:cond delay="380"/>
                                  </p:stCondLst>
                                  <p:childTnLst>
                                    <p:set>
                                      <p:cBhvr>
                                        <p:cTn id="336" dur="1" fill="hold">
                                          <p:stCondLst>
                                            <p:cond delay="0"/>
                                          </p:stCondLst>
                                        </p:cTn>
                                        <p:tgtEl>
                                          <p:spTgt spid="107"/>
                                        </p:tgtEl>
                                        <p:attrNameLst>
                                          <p:attrName>style.visibility</p:attrName>
                                        </p:attrNameLst>
                                      </p:cBhvr>
                                      <p:to>
                                        <p:strVal val="visible"/>
                                      </p:to>
                                    </p:set>
                                    <p:animEffect transition="in" filter="wipe(left)">
                                      <p:cBhvr>
                                        <p:cTn id="338" dur="450"/>
                                        <p:tgtEl>
                                          <p:spTgt spid="107"/>
                                        </p:tgtEl>
                                      </p:cBhvr>
                                    </p:animEffect>
                                  </p:childTnLst>
                                </p:cTn>
                              </p:par>
                              <p:par>
                                <p:cTn id="340" presetID="22" presetClass="entr" presetSubtype="8" fill="hold" grpId="0" nodeType="withEffect">
                                  <p:stCondLst>
                                    <p:cond delay="380"/>
                                  </p:stCondLst>
                                  <p:childTnLst>
                                    <p:set>
                                      <p:cBhvr>
                                        <p:cTn id="339" dur="1" fill="hold">
                                          <p:stCondLst>
                                            <p:cond delay="0"/>
                                          </p:stCondLst>
                                        </p:cTn>
                                        <p:tgtEl>
                                          <p:spTgt spid="108"/>
                                        </p:tgtEl>
                                        <p:attrNameLst>
                                          <p:attrName>style.visibility</p:attrName>
                                        </p:attrNameLst>
                                      </p:cBhvr>
                                      <p:to>
                                        <p:strVal val="visible"/>
                                      </p:to>
                                    </p:set>
                                    <p:animEffect transition="in" filter="wipe(left)">
                                      <p:cBhvr>
                                        <p:cTn id="341" dur="450"/>
                                        <p:tgtEl>
                                          <p:spTgt spid="108"/>
                                        </p:tgtEl>
                                      </p:cBhvr>
                                    </p:animEffect>
                                  </p:childTnLst>
                                </p:cTn>
                              </p:par>
                              <p:par>
                                <p:cTn id="343" presetID="22" presetClass="entr" presetSubtype="8" fill="hold" grpId="0" nodeType="withEffect">
                                  <p:stCondLst>
                                    <p:cond delay="440"/>
                                  </p:stCondLst>
                                  <p:childTnLst>
                                    <p:set>
                                      <p:cBhvr>
                                        <p:cTn id="342" dur="1" fill="hold">
                                          <p:stCondLst>
                                            <p:cond delay="0"/>
                                          </p:stCondLst>
                                        </p:cTn>
                                        <p:tgtEl>
                                          <p:spTgt spid="109"/>
                                        </p:tgtEl>
                                        <p:attrNameLst>
                                          <p:attrName>style.visibility</p:attrName>
                                        </p:attrNameLst>
                                      </p:cBhvr>
                                      <p:to>
                                        <p:strVal val="visible"/>
                                      </p:to>
                                    </p:set>
                                    <p:animEffect transition="in" filter="wipe(left)">
                                      <p:cBhvr>
                                        <p:cTn id="344" dur="450"/>
                                        <p:tgtEl>
                                          <p:spTgt spid="109"/>
                                        </p:tgtEl>
                                      </p:cBhvr>
                                    </p:animEffect>
                                  </p:childTnLst>
                                </p:cTn>
                              </p:par>
                              <p:par>
                                <p:cTn id="346" presetID="22" presetClass="entr" presetSubtype="8" fill="hold" grpId="0" nodeType="withEffect">
                                  <p:stCondLst>
                                    <p:cond delay="440"/>
                                  </p:stCondLst>
                                  <p:childTnLst>
                                    <p:set>
                                      <p:cBhvr>
                                        <p:cTn id="345" dur="1" fill="hold">
                                          <p:stCondLst>
                                            <p:cond delay="0"/>
                                          </p:stCondLst>
                                        </p:cTn>
                                        <p:tgtEl>
                                          <p:spTgt spid="110"/>
                                        </p:tgtEl>
                                        <p:attrNameLst>
                                          <p:attrName>style.visibility</p:attrName>
                                        </p:attrNameLst>
                                      </p:cBhvr>
                                      <p:to>
                                        <p:strVal val="visible"/>
                                      </p:to>
                                    </p:set>
                                    <p:animEffect transition="in" filter="wipe(left)">
                                      <p:cBhvr>
                                        <p:cTn id="347" dur="450"/>
                                        <p:tgtEl>
                                          <p:spTgt spid="110"/>
                                        </p:tgtEl>
                                      </p:cBhvr>
                                    </p:animEffect>
                                  </p:childTnLst>
                                </p:cTn>
                              </p:par>
                              <p:par>
                                <p:cTn id="349" presetID="22" presetClass="entr" presetSubtype="8" fill="hold" grpId="0" nodeType="withEffect">
                                  <p:stCondLst>
                                    <p:cond delay="440"/>
                                  </p:stCondLst>
                                  <p:childTnLst>
                                    <p:set>
                                      <p:cBhvr>
                                        <p:cTn id="348" dur="1" fill="hold">
                                          <p:stCondLst>
                                            <p:cond delay="0"/>
                                          </p:stCondLst>
                                        </p:cTn>
                                        <p:tgtEl>
                                          <p:spTgt spid="111"/>
                                        </p:tgtEl>
                                        <p:attrNameLst>
                                          <p:attrName>style.visibility</p:attrName>
                                        </p:attrNameLst>
                                      </p:cBhvr>
                                      <p:to>
                                        <p:strVal val="visible"/>
                                      </p:to>
                                    </p:set>
                                    <p:animEffect transition="in" filter="wipe(left)">
                                      <p:cBhvr>
                                        <p:cTn id="350" dur="450"/>
                                        <p:tgtEl>
                                          <p:spTgt spid="111"/>
                                        </p:tgtEl>
                                      </p:cBhvr>
                                    </p:animEffect>
                                  </p:childTnLst>
                                </p:cTn>
                              </p:par>
                              <p:par>
                                <p:cTn id="352" presetID="22" presetClass="entr" presetSubtype="8" fill="hold" grpId="0" nodeType="withEffect">
                                  <p:stCondLst>
                                    <p:cond delay="500"/>
                                  </p:stCondLst>
                                  <p:childTnLst>
                                    <p:set>
                                      <p:cBhvr>
                                        <p:cTn id="351" dur="1" fill="hold">
                                          <p:stCondLst>
                                            <p:cond delay="0"/>
                                          </p:stCondLst>
                                        </p:cTn>
                                        <p:tgtEl>
                                          <p:spTgt spid="112"/>
                                        </p:tgtEl>
                                        <p:attrNameLst>
                                          <p:attrName>style.visibility</p:attrName>
                                        </p:attrNameLst>
                                      </p:cBhvr>
                                      <p:to>
                                        <p:strVal val="visible"/>
                                      </p:to>
                                    </p:set>
                                    <p:animEffect transition="in" filter="wipe(left)">
                                      <p:cBhvr>
                                        <p:cTn id="353" dur="450"/>
                                        <p:tgtEl>
                                          <p:spTgt spid="112"/>
                                        </p:tgtEl>
                                      </p:cBhvr>
                                    </p:animEffect>
                                  </p:childTnLst>
                                </p:cTn>
                              </p:par>
                              <p:par>
                                <p:cTn id="355" presetID="22" presetClass="entr" presetSubtype="8" fill="hold" grpId="0" nodeType="withEffect">
                                  <p:stCondLst>
                                    <p:cond delay="500"/>
                                  </p:stCondLst>
                                  <p:childTnLst>
                                    <p:set>
                                      <p:cBhvr>
                                        <p:cTn id="354" dur="1" fill="hold">
                                          <p:stCondLst>
                                            <p:cond delay="0"/>
                                          </p:stCondLst>
                                        </p:cTn>
                                        <p:tgtEl>
                                          <p:spTgt spid="113"/>
                                        </p:tgtEl>
                                        <p:attrNameLst>
                                          <p:attrName>style.visibility</p:attrName>
                                        </p:attrNameLst>
                                      </p:cBhvr>
                                      <p:to>
                                        <p:strVal val="visible"/>
                                      </p:to>
                                    </p:set>
                                    <p:animEffect transition="in" filter="wipe(left)">
                                      <p:cBhvr>
                                        <p:cTn id="356" dur="450"/>
                                        <p:tgtEl>
                                          <p:spTgt spid="113"/>
                                        </p:tgtEl>
                                      </p:cBhvr>
                                    </p:animEffect>
                                  </p:childTnLst>
                                </p:cTn>
                              </p:par>
                              <p:par>
                                <p:cTn id="358" presetID="22" presetClass="entr" presetSubtype="8" fill="hold" grpId="0" nodeType="withEffect">
                                  <p:stCondLst>
                                    <p:cond delay="500"/>
                                  </p:stCondLst>
                                  <p:childTnLst>
                                    <p:set>
                                      <p:cBhvr>
                                        <p:cTn id="357" dur="1" fill="hold">
                                          <p:stCondLst>
                                            <p:cond delay="0"/>
                                          </p:stCondLst>
                                        </p:cTn>
                                        <p:tgtEl>
                                          <p:spTgt spid="114"/>
                                        </p:tgtEl>
                                        <p:attrNameLst>
                                          <p:attrName>style.visibility</p:attrName>
                                        </p:attrNameLst>
                                      </p:cBhvr>
                                      <p:to>
                                        <p:strVal val="visible"/>
                                      </p:to>
                                    </p:set>
                                    <p:animEffect transition="in" filter="wipe(left)">
                                      <p:cBhvr>
                                        <p:cTn id="359" dur="450"/>
                                        <p:tgtEl>
                                          <p:spTgt spid="114"/>
                                        </p:tgtEl>
                                      </p:cBhvr>
                                    </p:animEffect>
                                  </p:childTnLst>
                                </p:cTn>
                              </p:par>
                            </p:childTnLst>
                          </p:cTn>
                        </p:par>
                      </p:childTnLst>
                    </p:cTn>
                  </p:par>
                  <p:par>
                    <p:cTn id="360" fill="hold">
                      <p:stCondLst>
                        <p:cond delay="indefinite"/>
                      </p:stCondLst>
                      <p:childTnLst>
                        <p:par>
                          <p:cTn id="361" fill="hold">
                            <p:stCondLst>
                              <p:cond delay="0"/>
                            </p:stCondLst>
                            <p:childTnLst>
                              <p:par>
                                <p:cTn id="363" presetID="42" presetClass="entr" presetSubtype="0" fill="hold" grpId="0" nodeType="clickEffect">
                                  <p:stCondLst>
                                    <p:cond delay="0"/>
                                  </p:stCondLst>
                                  <p:childTnLst>
                                    <p:set>
                                      <p:cBhvr>
                                        <p:cTn id="362" dur="1" fill="hold">
                                          <p:stCondLst>
                                            <p:cond delay="0"/>
                                          </p:stCondLst>
                                        </p:cTn>
                                        <p:tgtEl>
                                          <p:spTgt spid="115"/>
                                        </p:tgtEl>
                                        <p:attrNameLst>
                                          <p:attrName>style.visibility</p:attrName>
                                        </p:attrNameLst>
                                      </p:cBhvr>
                                      <p:to>
                                        <p:strVal val="visible"/>
                                      </p:to>
                                    </p:set>
                                    <p:animEffect transition="in" filter="fade">
                                      <p:cBhvr>
                                        <p:cTn id="364" dur="500"/>
                                        <p:tgtEl>
                                          <p:spTgt spid="115"/>
                                        </p:tgtEl>
                                      </p:cBhvr>
                                    </p:animEffect>
                                    <p:anim calcmode="lin" valueType="num">
                                      <p:cBhvr>
                                        <p:cTn id="365" dur="500" fill="hold"/>
                                        <p:tgtEl>
                                          <p:spTgt spid="115"/>
                                        </p:tgtEl>
                                        <p:attrNameLst>
                                          <p:attrName>ppt_x</p:attrName>
                                        </p:attrNameLst>
                                      </p:cBhvr>
                                      <p:tavLst>
                                        <p:tav tm="0">
                                          <p:val>
                                            <p:strVal val="#ppt_x"/>
                                          </p:val>
                                        </p:tav>
                                        <p:tav tm="100000">
                                          <p:val>
                                            <p:strVal val="#ppt_x"/>
                                          </p:val>
                                        </p:tav>
                                      </p:tavLst>
                                    </p:anim>
                                    <p:anim calcmode="lin" valueType="num">
                                      <p:cBhvr>
                                        <p:cTn id="366" dur="500" fill="hold"/>
                                        <p:tgtEl>
                                          <p:spTgt spid="115"/>
                                        </p:tgtEl>
                                        <p:attrNameLst>
                                          <p:attrName>ppt_y</p:attrName>
                                        </p:attrNameLst>
                                      </p:cBhvr>
                                      <p:tavLst>
                                        <p:tav tm="0">
                                          <p:val>
                                            <p:strVal val="#ppt_y+0.06"/>
                                          </p:val>
                                        </p:tav>
                                        <p:tav tm="100000">
                                          <p:val>
                                            <p:strVal val="#ppt_y"/>
                                          </p:val>
                                        </p:tav>
                                      </p:tavLst>
                                    </p:anim>
                                  </p:childTnLst>
                                </p:cTn>
                              </p:par>
                              <p:par>
                                <p:cTn id="368" presetID="42" presetClass="entr" presetSubtype="0" fill="hold" grpId="0" nodeType="withEffect">
                                  <p:stCondLst>
                                    <p:cond delay="0"/>
                                  </p:stCondLst>
                                  <p:childTnLst>
                                    <p:set>
                                      <p:cBhvr>
                                        <p:cTn id="367" dur="1" fill="hold">
                                          <p:stCondLst>
                                            <p:cond delay="0"/>
                                          </p:stCondLst>
                                        </p:cTn>
                                        <p:tgtEl>
                                          <p:spTgt spid="116"/>
                                        </p:tgtEl>
                                        <p:attrNameLst>
                                          <p:attrName>style.visibility</p:attrName>
                                        </p:attrNameLst>
                                      </p:cBhvr>
                                      <p:to>
                                        <p:strVal val="visible"/>
                                      </p:to>
                                    </p:set>
                                    <p:animEffect transition="in" filter="fade">
                                      <p:cBhvr>
                                        <p:cTn id="369" dur="500"/>
                                        <p:tgtEl>
                                          <p:spTgt spid="116"/>
                                        </p:tgtEl>
                                      </p:cBhvr>
                                    </p:animEffect>
                                    <p:anim calcmode="lin" valueType="num">
                                      <p:cBhvr>
                                        <p:cTn id="370" dur="500" fill="hold"/>
                                        <p:tgtEl>
                                          <p:spTgt spid="116"/>
                                        </p:tgtEl>
                                        <p:attrNameLst>
                                          <p:attrName>ppt_x</p:attrName>
                                        </p:attrNameLst>
                                      </p:cBhvr>
                                      <p:tavLst>
                                        <p:tav tm="0">
                                          <p:val>
                                            <p:strVal val="#ppt_x"/>
                                          </p:val>
                                        </p:tav>
                                        <p:tav tm="100000">
                                          <p:val>
                                            <p:strVal val="#ppt_x"/>
                                          </p:val>
                                        </p:tav>
                                      </p:tavLst>
                                    </p:anim>
                                    <p:anim calcmode="lin" valueType="num">
                                      <p:cBhvr>
                                        <p:cTn id="371" dur="500" fill="hold"/>
                                        <p:tgtEl>
                                          <p:spTgt spid="116"/>
                                        </p:tgtEl>
                                        <p:attrNameLst>
                                          <p:attrName>ppt_y</p:attrName>
                                        </p:attrNameLst>
                                      </p:cBhvr>
                                      <p:tavLst>
                                        <p:tav tm="0">
                                          <p:val>
                                            <p:strVal val="#ppt_y+0.06"/>
                                          </p:val>
                                        </p:tav>
                                        <p:tav tm="100000">
                                          <p:val>
                                            <p:strVal val="#ppt_y"/>
                                          </p:val>
                                        </p:tav>
                                      </p:tavLst>
                                    </p:anim>
                                  </p:childTnLst>
                                </p:cTn>
                              </p:par>
                              <p:par>
                                <p:cTn id="373" presetID="22" presetClass="entr" presetSubtype="8" fill="hold" grpId="0" nodeType="withEffect">
                                  <p:stCondLst>
                                    <p:cond delay="200"/>
                                  </p:stCondLst>
                                  <p:childTnLst>
                                    <p:set>
                                      <p:cBhvr>
                                        <p:cTn id="372" dur="1" fill="hold">
                                          <p:stCondLst>
                                            <p:cond delay="0"/>
                                          </p:stCondLst>
                                        </p:cTn>
                                        <p:tgtEl>
                                          <p:spTgt spid="117"/>
                                        </p:tgtEl>
                                        <p:attrNameLst>
                                          <p:attrName>style.visibility</p:attrName>
                                        </p:attrNameLst>
                                      </p:cBhvr>
                                      <p:to>
                                        <p:strVal val="visible"/>
                                      </p:to>
                                    </p:set>
                                    <p:animEffect transition="in" filter="wipe(left)">
                                      <p:cBhvr>
                                        <p:cTn id="374" dur="450"/>
                                        <p:tgtEl>
                                          <p:spTgt spid="117"/>
                                        </p:tgtEl>
                                      </p:cBhvr>
                                    </p:animEffect>
                                  </p:childTnLst>
                                </p:cTn>
                              </p:par>
                              <p:par>
                                <p:cTn id="376" presetID="22" presetClass="entr" presetSubtype="8" fill="hold" grpId="0" nodeType="withEffect">
                                  <p:stCondLst>
                                    <p:cond delay="200"/>
                                  </p:stCondLst>
                                  <p:childTnLst>
                                    <p:set>
                                      <p:cBhvr>
                                        <p:cTn id="375" dur="1" fill="hold">
                                          <p:stCondLst>
                                            <p:cond delay="0"/>
                                          </p:stCondLst>
                                        </p:cTn>
                                        <p:tgtEl>
                                          <p:spTgt spid="118"/>
                                        </p:tgtEl>
                                        <p:attrNameLst>
                                          <p:attrName>style.visibility</p:attrName>
                                        </p:attrNameLst>
                                      </p:cBhvr>
                                      <p:to>
                                        <p:strVal val="visible"/>
                                      </p:to>
                                    </p:set>
                                    <p:animEffect transition="in" filter="wipe(left)">
                                      <p:cBhvr>
                                        <p:cTn id="377" dur="450"/>
                                        <p:tgtEl>
                                          <p:spTgt spid="118"/>
                                        </p:tgtEl>
                                      </p:cBhvr>
                                    </p:animEffect>
                                  </p:childTnLst>
                                </p:cTn>
                              </p:par>
                              <p:par>
                                <p:cTn id="379" presetID="22" presetClass="entr" presetSubtype="8" fill="hold" grpId="0" nodeType="withEffect">
                                  <p:stCondLst>
                                    <p:cond delay="200"/>
                                  </p:stCondLst>
                                  <p:childTnLst>
                                    <p:set>
                                      <p:cBhvr>
                                        <p:cTn id="378" dur="1" fill="hold">
                                          <p:stCondLst>
                                            <p:cond delay="0"/>
                                          </p:stCondLst>
                                        </p:cTn>
                                        <p:tgtEl>
                                          <p:spTgt spid="119"/>
                                        </p:tgtEl>
                                        <p:attrNameLst>
                                          <p:attrName>style.visibility</p:attrName>
                                        </p:attrNameLst>
                                      </p:cBhvr>
                                      <p:to>
                                        <p:strVal val="visible"/>
                                      </p:to>
                                    </p:set>
                                    <p:animEffect transition="in" filter="wipe(left)">
                                      <p:cBhvr>
                                        <p:cTn id="380" dur="450"/>
                                        <p:tgtEl>
                                          <p:spTgt spid="119"/>
                                        </p:tgtEl>
                                      </p:cBhvr>
                                    </p:animEffect>
                                  </p:childTnLst>
                                </p:cTn>
                              </p:par>
                              <p:par>
                                <p:cTn id="382" presetID="22" presetClass="entr" presetSubtype="8" fill="hold" grpId="0" nodeType="withEffect">
                                  <p:stCondLst>
                                    <p:cond delay="260"/>
                                  </p:stCondLst>
                                  <p:childTnLst>
                                    <p:set>
                                      <p:cBhvr>
                                        <p:cTn id="381" dur="1" fill="hold">
                                          <p:stCondLst>
                                            <p:cond delay="0"/>
                                          </p:stCondLst>
                                        </p:cTn>
                                        <p:tgtEl>
                                          <p:spTgt spid="120"/>
                                        </p:tgtEl>
                                        <p:attrNameLst>
                                          <p:attrName>style.visibility</p:attrName>
                                        </p:attrNameLst>
                                      </p:cBhvr>
                                      <p:to>
                                        <p:strVal val="visible"/>
                                      </p:to>
                                    </p:set>
                                    <p:animEffect transition="in" filter="wipe(left)">
                                      <p:cBhvr>
                                        <p:cTn id="383" dur="450"/>
                                        <p:tgtEl>
                                          <p:spTgt spid="120"/>
                                        </p:tgtEl>
                                      </p:cBhvr>
                                    </p:animEffect>
                                  </p:childTnLst>
                                </p:cTn>
                              </p:par>
                              <p:par>
                                <p:cTn id="385" presetID="22" presetClass="entr" presetSubtype="8" fill="hold" grpId="0" nodeType="withEffect">
                                  <p:stCondLst>
                                    <p:cond delay="260"/>
                                  </p:stCondLst>
                                  <p:childTnLst>
                                    <p:set>
                                      <p:cBhvr>
                                        <p:cTn id="384" dur="1" fill="hold">
                                          <p:stCondLst>
                                            <p:cond delay="0"/>
                                          </p:stCondLst>
                                        </p:cTn>
                                        <p:tgtEl>
                                          <p:spTgt spid="121"/>
                                        </p:tgtEl>
                                        <p:attrNameLst>
                                          <p:attrName>style.visibility</p:attrName>
                                        </p:attrNameLst>
                                      </p:cBhvr>
                                      <p:to>
                                        <p:strVal val="visible"/>
                                      </p:to>
                                    </p:set>
                                    <p:animEffect transition="in" filter="wipe(left)">
                                      <p:cBhvr>
                                        <p:cTn id="386" dur="450"/>
                                        <p:tgtEl>
                                          <p:spTgt spid="121"/>
                                        </p:tgtEl>
                                      </p:cBhvr>
                                    </p:animEffect>
                                  </p:childTnLst>
                                </p:cTn>
                              </p:par>
                              <p:par>
                                <p:cTn id="388" presetID="22" presetClass="entr" presetSubtype="8" fill="hold" grpId="0" nodeType="withEffect">
                                  <p:stCondLst>
                                    <p:cond delay="260"/>
                                  </p:stCondLst>
                                  <p:childTnLst>
                                    <p:set>
                                      <p:cBhvr>
                                        <p:cTn id="387" dur="1" fill="hold">
                                          <p:stCondLst>
                                            <p:cond delay="0"/>
                                          </p:stCondLst>
                                        </p:cTn>
                                        <p:tgtEl>
                                          <p:spTgt spid="122"/>
                                        </p:tgtEl>
                                        <p:attrNameLst>
                                          <p:attrName>style.visibility</p:attrName>
                                        </p:attrNameLst>
                                      </p:cBhvr>
                                      <p:to>
                                        <p:strVal val="visible"/>
                                      </p:to>
                                    </p:set>
                                    <p:animEffect transition="in" filter="wipe(left)">
                                      <p:cBhvr>
                                        <p:cTn id="389" dur="450"/>
                                        <p:tgtEl>
                                          <p:spTgt spid="122"/>
                                        </p:tgtEl>
                                      </p:cBhvr>
                                    </p:animEffect>
                                  </p:childTnLst>
                                </p:cTn>
                              </p:par>
                              <p:par>
                                <p:cTn id="391" presetID="22" presetClass="entr" presetSubtype="8" fill="hold" grpId="0" nodeType="withEffect">
                                  <p:stCondLst>
                                    <p:cond delay="320"/>
                                  </p:stCondLst>
                                  <p:childTnLst>
                                    <p:set>
                                      <p:cBhvr>
                                        <p:cTn id="390" dur="1" fill="hold">
                                          <p:stCondLst>
                                            <p:cond delay="0"/>
                                          </p:stCondLst>
                                        </p:cTn>
                                        <p:tgtEl>
                                          <p:spTgt spid="123"/>
                                        </p:tgtEl>
                                        <p:attrNameLst>
                                          <p:attrName>style.visibility</p:attrName>
                                        </p:attrNameLst>
                                      </p:cBhvr>
                                      <p:to>
                                        <p:strVal val="visible"/>
                                      </p:to>
                                    </p:set>
                                    <p:animEffect transition="in" filter="wipe(left)">
                                      <p:cBhvr>
                                        <p:cTn id="392" dur="450"/>
                                        <p:tgtEl>
                                          <p:spTgt spid="123"/>
                                        </p:tgtEl>
                                      </p:cBhvr>
                                    </p:animEffect>
                                  </p:childTnLst>
                                </p:cTn>
                              </p:par>
                              <p:par>
                                <p:cTn id="394" presetID="22" presetClass="entr" presetSubtype="8" fill="hold" grpId="0" nodeType="withEffect">
                                  <p:stCondLst>
                                    <p:cond delay="320"/>
                                  </p:stCondLst>
                                  <p:childTnLst>
                                    <p:set>
                                      <p:cBhvr>
                                        <p:cTn id="393" dur="1" fill="hold">
                                          <p:stCondLst>
                                            <p:cond delay="0"/>
                                          </p:stCondLst>
                                        </p:cTn>
                                        <p:tgtEl>
                                          <p:spTgt spid="124"/>
                                        </p:tgtEl>
                                        <p:attrNameLst>
                                          <p:attrName>style.visibility</p:attrName>
                                        </p:attrNameLst>
                                      </p:cBhvr>
                                      <p:to>
                                        <p:strVal val="visible"/>
                                      </p:to>
                                    </p:set>
                                    <p:animEffect transition="in" filter="wipe(left)">
                                      <p:cBhvr>
                                        <p:cTn id="395" dur="450"/>
                                        <p:tgtEl>
                                          <p:spTgt spid="124"/>
                                        </p:tgtEl>
                                      </p:cBhvr>
                                    </p:animEffect>
                                  </p:childTnLst>
                                </p:cTn>
                              </p:par>
                              <p:par>
                                <p:cTn id="397" presetID="22" presetClass="entr" presetSubtype="8" fill="hold" grpId="0" nodeType="withEffect">
                                  <p:stCondLst>
                                    <p:cond delay="320"/>
                                  </p:stCondLst>
                                  <p:childTnLst>
                                    <p:set>
                                      <p:cBhvr>
                                        <p:cTn id="396" dur="1" fill="hold">
                                          <p:stCondLst>
                                            <p:cond delay="0"/>
                                          </p:stCondLst>
                                        </p:cTn>
                                        <p:tgtEl>
                                          <p:spTgt spid="125"/>
                                        </p:tgtEl>
                                        <p:attrNameLst>
                                          <p:attrName>style.visibility</p:attrName>
                                        </p:attrNameLst>
                                      </p:cBhvr>
                                      <p:to>
                                        <p:strVal val="visible"/>
                                      </p:to>
                                    </p:set>
                                    <p:animEffect transition="in" filter="wipe(left)">
                                      <p:cBhvr>
                                        <p:cTn id="398" dur="450"/>
                                        <p:tgtEl>
                                          <p:spTgt spid="125"/>
                                        </p:tgtEl>
                                      </p:cBhvr>
                                    </p:animEffect>
                                  </p:childTnLst>
                                </p:cTn>
                              </p:par>
                              <p:par>
                                <p:cTn id="400" presetID="22" presetClass="entr" presetSubtype="8" fill="hold" grpId="0" nodeType="withEffect">
                                  <p:stCondLst>
                                    <p:cond delay="380"/>
                                  </p:stCondLst>
                                  <p:childTnLst>
                                    <p:set>
                                      <p:cBhvr>
                                        <p:cTn id="399" dur="1" fill="hold">
                                          <p:stCondLst>
                                            <p:cond delay="0"/>
                                          </p:stCondLst>
                                        </p:cTn>
                                        <p:tgtEl>
                                          <p:spTgt spid="126"/>
                                        </p:tgtEl>
                                        <p:attrNameLst>
                                          <p:attrName>style.visibility</p:attrName>
                                        </p:attrNameLst>
                                      </p:cBhvr>
                                      <p:to>
                                        <p:strVal val="visible"/>
                                      </p:to>
                                    </p:set>
                                    <p:animEffect transition="in" filter="wipe(left)">
                                      <p:cBhvr>
                                        <p:cTn id="401" dur="450"/>
                                        <p:tgtEl>
                                          <p:spTgt spid="126"/>
                                        </p:tgtEl>
                                      </p:cBhvr>
                                    </p:animEffect>
                                  </p:childTnLst>
                                </p:cTn>
                              </p:par>
                              <p:par>
                                <p:cTn id="403" presetID="22" presetClass="entr" presetSubtype="8" fill="hold" grpId="0" nodeType="withEffect">
                                  <p:stCondLst>
                                    <p:cond delay="380"/>
                                  </p:stCondLst>
                                  <p:childTnLst>
                                    <p:set>
                                      <p:cBhvr>
                                        <p:cTn id="402" dur="1" fill="hold">
                                          <p:stCondLst>
                                            <p:cond delay="0"/>
                                          </p:stCondLst>
                                        </p:cTn>
                                        <p:tgtEl>
                                          <p:spTgt spid="127"/>
                                        </p:tgtEl>
                                        <p:attrNameLst>
                                          <p:attrName>style.visibility</p:attrName>
                                        </p:attrNameLst>
                                      </p:cBhvr>
                                      <p:to>
                                        <p:strVal val="visible"/>
                                      </p:to>
                                    </p:set>
                                    <p:animEffect transition="in" filter="wipe(left)">
                                      <p:cBhvr>
                                        <p:cTn id="404" dur="450"/>
                                        <p:tgtEl>
                                          <p:spTgt spid="127"/>
                                        </p:tgtEl>
                                      </p:cBhvr>
                                    </p:animEffect>
                                  </p:childTnLst>
                                </p:cTn>
                              </p:par>
                              <p:par>
                                <p:cTn id="406" presetID="22" presetClass="entr" presetSubtype="8" fill="hold" grpId="0" nodeType="withEffect">
                                  <p:stCondLst>
                                    <p:cond delay="380"/>
                                  </p:stCondLst>
                                  <p:childTnLst>
                                    <p:set>
                                      <p:cBhvr>
                                        <p:cTn id="405" dur="1" fill="hold">
                                          <p:stCondLst>
                                            <p:cond delay="0"/>
                                          </p:stCondLst>
                                        </p:cTn>
                                        <p:tgtEl>
                                          <p:spTgt spid="128"/>
                                        </p:tgtEl>
                                        <p:attrNameLst>
                                          <p:attrName>style.visibility</p:attrName>
                                        </p:attrNameLst>
                                      </p:cBhvr>
                                      <p:to>
                                        <p:strVal val="visible"/>
                                      </p:to>
                                    </p:set>
                                    <p:animEffect transition="in" filter="wipe(left)">
                                      <p:cBhvr>
                                        <p:cTn id="407" dur="450"/>
                                        <p:tgtEl>
                                          <p:spTgt spid="128"/>
                                        </p:tgtEl>
                                      </p:cBhvr>
                                    </p:animEffect>
                                  </p:childTnLst>
                                </p:cTn>
                              </p:par>
                              <p:par>
                                <p:cTn id="409" presetID="22" presetClass="entr" presetSubtype="8" fill="hold" grpId="0" nodeType="withEffect">
                                  <p:stCondLst>
                                    <p:cond delay="440"/>
                                  </p:stCondLst>
                                  <p:childTnLst>
                                    <p:set>
                                      <p:cBhvr>
                                        <p:cTn id="408" dur="1" fill="hold">
                                          <p:stCondLst>
                                            <p:cond delay="0"/>
                                          </p:stCondLst>
                                        </p:cTn>
                                        <p:tgtEl>
                                          <p:spTgt spid="129"/>
                                        </p:tgtEl>
                                        <p:attrNameLst>
                                          <p:attrName>style.visibility</p:attrName>
                                        </p:attrNameLst>
                                      </p:cBhvr>
                                      <p:to>
                                        <p:strVal val="visible"/>
                                      </p:to>
                                    </p:set>
                                    <p:animEffect transition="in" filter="wipe(left)">
                                      <p:cBhvr>
                                        <p:cTn id="410" dur="450"/>
                                        <p:tgtEl>
                                          <p:spTgt spid="129"/>
                                        </p:tgtEl>
                                      </p:cBhvr>
                                    </p:animEffect>
                                  </p:childTnLst>
                                </p:cTn>
                              </p:par>
                              <p:par>
                                <p:cTn id="412" presetID="22" presetClass="entr" presetSubtype="8" fill="hold" grpId="0" nodeType="withEffect">
                                  <p:stCondLst>
                                    <p:cond delay="440"/>
                                  </p:stCondLst>
                                  <p:childTnLst>
                                    <p:set>
                                      <p:cBhvr>
                                        <p:cTn id="411" dur="1" fill="hold">
                                          <p:stCondLst>
                                            <p:cond delay="0"/>
                                          </p:stCondLst>
                                        </p:cTn>
                                        <p:tgtEl>
                                          <p:spTgt spid="130"/>
                                        </p:tgtEl>
                                        <p:attrNameLst>
                                          <p:attrName>style.visibility</p:attrName>
                                        </p:attrNameLst>
                                      </p:cBhvr>
                                      <p:to>
                                        <p:strVal val="visible"/>
                                      </p:to>
                                    </p:set>
                                    <p:animEffect transition="in" filter="wipe(left)">
                                      <p:cBhvr>
                                        <p:cTn id="413" dur="450"/>
                                        <p:tgtEl>
                                          <p:spTgt spid="130"/>
                                        </p:tgtEl>
                                      </p:cBhvr>
                                    </p:animEffect>
                                  </p:childTnLst>
                                </p:cTn>
                              </p:par>
                              <p:par>
                                <p:cTn id="415" presetID="22" presetClass="entr" presetSubtype="8" fill="hold" grpId="0" nodeType="withEffect">
                                  <p:stCondLst>
                                    <p:cond delay="440"/>
                                  </p:stCondLst>
                                  <p:childTnLst>
                                    <p:set>
                                      <p:cBhvr>
                                        <p:cTn id="414" dur="1" fill="hold">
                                          <p:stCondLst>
                                            <p:cond delay="0"/>
                                          </p:stCondLst>
                                        </p:cTn>
                                        <p:tgtEl>
                                          <p:spTgt spid="131"/>
                                        </p:tgtEl>
                                        <p:attrNameLst>
                                          <p:attrName>style.visibility</p:attrName>
                                        </p:attrNameLst>
                                      </p:cBhvr>
                                      <p:to>
                                        <p:strVal val="visible"/>
                                      </p:to>
                                    </p:set>
                                    <p:animEffect transition="in" filter="wipe(left)">
                                      <p:cBhvr>
                                        <p:cTn id="416" dur="450"/>
                                        <p:tgtEl>
                                          <p:spTgt spid="131"/>
                                        </p:tgtEl>
                                      </p:cBhvr>
                                    </p:animEffect>
                                  </p:childTnLst>
                                </p:cTn>
                              </p:par>
                              <p:par>
                                <p:cTn id="418" presetID="22" presetClass="entr" presetSubtype="8" fill="hold" grpId="0" nodeType="withEffect">
                                  <p:stCondLst>
                                    <p:cond delay="500"/>
                                  </p:stCondLst>
                                  <p:childTnLst>
                                    <p:set>
                                      <p:cBhvr>
                                        <p:cTn id="417" dur="1" fill="hold">
                                          <p:stCondLst>
                                            <p:cond delay="0"/>
                                          </p:stCondLst>
                                        </p:cTn>
                                        <p:tgtEl>
                                          <p:spTgt spid="132"/>
                                        </p:tgtEl>
                                        <p:attrNameLst>
                                          <p:attrName>style.visibility</p:attrName>
                                        </p:attrNameLst>
                                      </p:cBhvr>
                                      <p:to>
                                        <p:strVal val="visible"/>
                                      </p:to>
                                    </p:set>
                                    <p:animEffect transition="in" filter="wipe(left)">
                                      <p:cBhvr>
                                        <p:cTn id="419" dur="450"/>
                                        <p:tgtEl>
                                          <p:spTgt spid="132"/>
                                        </p:tgtEl>
                                      </p:cBhvr>
                                    </p:animEffect>
                                  </p:childTnLst>
                                </p:cTn>
                              </p:par>
                              <p:par>
                                <p:cTn id="421" presetID="22" presetClass="entr" presetSubtype="8" fill="hold" grpId="0" nodeType="withEffect">
                                  <p:stCondLst>
                                    <p:cond delay="500"/>
                                  </p:stCondLst>
                                  <p:childTnLst>
                                    <p:set>
                                      <p:cBhvr>
                                        <p:cTn id="420" dur="1" fill="hold">
                                          <p:stCondLst>
                                            <p:cond delay="0"/>
                                          </p:stCondLst>
                                        </p:cTn>
                                        <p:tgtEl>
                                          <p:spTgt spid="133"/>
                                        </p:tgtEl>
                                        <p:attrNameLst>
                                          <p:attrName>style.visibility</p:attrName>
                                        </p:attrNameLst>
                                      </p:cBhvr>
                                      <p:to>
                                        <p:strVal val="visible"/>
                                      </p:to>
                                    </p:set>
                                    <p:animEffect transition="in" filter="wipe(left)">
                                      <p:cBhvr>
                                        <p:cTn id="422" dur="450"/>
                                        <p:tgtEl>
                                          <p:spTgt spid="133"/>
                                        </p:tgtEl>
                                      </p:cBhvr>
                                    </p:animEffect>
                                  </p:childTnLst>
                                </p:cTn>
                              </p:par>
                              <p:par>
                                <p:cTn id="424" presetID="22" presetClass="entr" presetSubtype="8" fill="hold" grpId="0" nodeType="withEffect">
                                  <p:stCondLst>
                                    <p:cond delay="500"/>
                                  </p:stCondLst>
                                  <p:childTnLst>
                                    <p:set>
                                      <p:cBhvr>
                                        <p:cTn id="423" dur="1" fill="hold">
                                          <p:stCondLst>
                                            <p:cond delay="0"/>
                                          </p:stCondLst>
                                        </p:cTn>
                                        <p:tgtEl>
                                          <p:spTgt spid="134"/>
                                        </p:tgtEl>
                                        <p:attrNameLst>
                                          <p:attrName>style.visibility</p:attrName>
                                        </p:attrNameLst>
                                      </p:cBhvr>
                                      <p:to>
                                        <p:strVal val="visible"/>
                                      </p:to>
                                    </p:set>
                                    <p:animEffect transition="in" filter="wipe(left)">
                                      <p:cBhvr>
                                        <p:cTn id="425" dur="45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E11D48"/>
                </a:solidFill>
                <a:latin typeface="Inter" pitchFamily="34" charset="0"/>
                <a:ea typeface="Inter" pitchFamily="34" charset="-122"/>
                <a:cs typeface="Inter" pitchFamily="34" charset="-120"/>
              </a:rPr>
              <a:t>18 · THE AUTOREGRESSIVE LOOP</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The generation loop</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Predict, append, repeat — until the model emits an end token or hits a length limit.</a:t>
            </a:r>
            <a:endParaRPr lang="en-US" sz="1300" dirty="0"/>
          </a:p>
        </p:txBody>
      </p:sp>
      <p:sp>
        <p:nvSpPr>
          <p:cNvPr id="5" name="Shape 3"/>
          <p:cNvSpPr/>
          <p:nvPr/>
        </p:nvSpPr>
        <p:spPr>
          <a:xfrm>
            <a:off x="1371600" y="2377440"/>
            <a:ext cx="3931920" cy="3291840"/>
          </a:xfrm>
          <a:prstGeom prst="ellipse">
            <a:avLst/>
          </a:prstGeom>
          <a:ln w="25400">
            <a:solidFill>
              <a:srgbClr val="CBD5E1"/>
            </a:solidFill>
            <a:prstDash val="dash"/>
          </a:ln>
        </p:spPr>
      </p:sp>
      <p:sp>
        <p:nvSpPr>
          <p:cNvPr id="6" name="anim-1-zoom-0-1041"/>
          <p:cNvSpPr/>
          <p:nvPr/>
        </p:nvSpPr>
        <p:spPr>
          <a:xfrm>
            <a:off x="2514600" y="2103120"/>
            <a:ext cx="1645920" cy="548640"/>
          </a:xfrm>
          <a:prstGeom prst="roundRect">
            <a:avLst>
              <a:gd name="adj" fmla="val 16667"/>
            </a:avLst>
          </a:prstGeom>
          <a:solidFill>
            <a:srgbClr val="7C3AED"/>
          </a:solidFill>
          <a:ln/>
        </p:spPr>
        <p:txBody>
          <a:bodyPr wrap="square" lIns="1016" tIns="1016" rIns="1016" bIns="1016"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① Run the decoder</a:t>
            </a:r>
            <a:endParaRPr lang="en-US" sz="1150" dirty="0"/>
          </a:p>
        </p:txBody>
      </p:sp>
      <p:sp>
        <p:nvSpPr>
          <p:cNvPr id="7" name="anim-1-fade-200-1042"/>
          <p:cNvSpPr/>
          <p:nvPr/>
        </p:nvSpPr>
        <p:spPr>
          <a:xfrm rot="8100000">
            <a:off x="4608832" y="2740647"/>
            <a:ext cx="237744" cy="237744"/>
          </a:xfrm>
          <a:prstGeom prst="triangle">
            <a:avLst/>
          </a:prstGeom>
          <a:solidFill>
            <a:srgbClr val="475569"/>
          </a:solidFill>
          <a:ln/>
        </p:spPr>
      </p:sp>
      <p:sp>
        <p:nvSpPr>
          <p:cNvPr id="8" name="anim-1-zoom-350-1043"/>
          <p:cNvSpPr/>
          <p:nvPr/>
        </p:nvSpPr>
        <p:spPr>
          <a:xfrm>
            <a:off x="4480560" y="3749040"/>
            <a:ext cx="1645920" cy="548640"/>
          </a:xfrm>
          <a:prstGeom prst="roundRect">
            <a:avLst>
              <a:gd name="adj" fmla="val 16667"/>
            </a:avLst>
          </a:prstGeom>
          <a:solidFill>
            <a:srgbClr val="E11D48"/>
          </a:solidFill>
          <a:ln/>
        </p:spPr>
        <p:txBody>
          <a:bodyPr wrap="square" lIns="1016" tIns="1016" rIns="1016" bIns="1016"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② Get probabilities</a:t>
            </a:r>
            <a:endParaRPr lang="en-US" sz="1150" dirty="0"/>
          </a:p>
        </p:txBody>
      </p:sp>
      <p:sp>
        <p:nvSpPr>
          <p:cNvPr id="9" name="anim-1-fade-550-1044"/>
          <p:cNvSpPr/>
          <p:nvPr/>
        </p:nvSpPr>
        <p:spPr>
          <a:xfrm rot="13500000">
            <a:off x="4608832" y="5068329"/>
            <a:ext cx="237744" cy="237744"/>
          </a:xfrm>
          <a:prstGeom prst="triangle">
            <a:avLst/>
          </a:prstGeom>
          <a:solidFill>
            <a:srgbClr val="475569"/>
          </a:solidFill>
          <a:ln/>
        </p:spPr>
      </p:sp>
      <p:sp>
        <p:nvSpPr>
          <p:cNvPr id="10" name="anim-1-zoom-700-1045"/>
          <p:cNvSpPr/>
          <p:nvPr/>
        </p:nvSpPr>
        <p:spPr>
          <a:xfrm>
            <a:off x="2514600" y="5394960"/>
            <a:ext cx="1645920" cy="548640"/>
          </a:xfrm>
          <a:prstGeom prst="roundRect">
            <a:avLst>
              <a:gd name="adj" fmla="val 16667"/>
            </a:avLst>
          </a:prstGeom>
          <a:solidFill>
            <a:srgbClr val="D97706"/>
          </a:solidFill>
          <a:ln/>
        </p:spPr>
        <p:txBody>
          <a:bodyPr wrap="square" lIns="1016" tIns="1016" rIns="1016" bIns="1016"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③ Pick a token</a:t>
            </a:r>
            <a:endParaRPr lang="en-US" sz="1150" dirty="0"/>
          </a:p>
        </p:txBody>
      </p:sp>
      <p:sp>
        <p:nvSpPr>
          <p:cNvPr id="11" name="anim-1-fade-900-1046"/>
          <p:cNvSpPr/>
          <p:nvPr/>
        </p:nvSpPr>
        <p:spPr>
          <a:xfrm rot="18900000">
            <a:off x="1828544" y="5068329"/>
            <a:ext cx="237744" cy="237744"/>
          </a:xfrm>
          <a:prstGeom prst="triangle">
            <a:avLst/>
          </a:prstGeom>
          <a:solidFill>
            <a:srgbClr val="475569"/>
          </a:solidFill>
          <a:ln/>
        </p:spPr>
      </p:sp>
      <p:sp>
        <p:nvSpPr>
          <p:cNvPr id="12" name="anim-1-zoom-1050-1047"/>
          <p:cNvSpPr/>
          <p:nvPr/>
        </p:nvSpPr>
        <p:spPr>
          <a:xfrm>
            <a:off x="548640" y="3749040"/>
            <a:ext cx="1645920" cy="548640"/>
          </a:xfrm>
          <a:prstGeom prst="roundRect">
            <a:avLst>
              <a:gd name="adj" fmla="val 16667"/>
            </a:avLst>
          </a:prstGeom>
          <a:solidFill>
            <a:srgbClr val="0D9488"/>
          </a:solidFill>
          <a:ln/>
        </p:spPr>
        <p:txBody>
          <a:bodyPr wrap="square" lIns="1016" tIns="1016" rIns="1016" bIns="1016"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④ Append it</a:t>
            </a:r>
            <a:endParaRPr lang="en-US" sz="1150" dirty="0"/>
          </a:p>
        </p:txBody>
      </p:sp>
      <p:sp>
        <p:nvSpPr>
          <p:cNvPr id="13" name="anim-1-fade-1250-1048"/>
          <p:cNvSpPr/>
          <p:nvPr/>
        </p:nvSpPr>
        <p:spPr>
          <a:xfrm rot="2700000">
            <a:off x="1828544" y="2740647"/>
            <a:ext cx="237744" cy="237744"/>
          </a:xfrm>
          <a:prstGeom prst="triangle">
            <a:avLst/>
          </a:prstGeom>
          <a:solidFill>
            <a:srgbClr val="475569"/>
          </a:solidFill>
          <a:ln/>
        </p:spPr>
      </p:sp>
      <p:sp>
        <p:nvSpPr>
          <p:cNvPr id="14" name="Text 12"/>
          <p:cNvSpPr txBox="1"/>
          <p:nvPr/>
        </p:nvSpPr>
        <p:spPr>
          <a:xfrm>
            <a:off x="2606040" y="3703320"/>
            <a:ext cx="1463040" cy="640080"/>
          </a:xfrm>
          <a:prstGeom prst="rect">
            <a:avLst/>
          </a:prstGeom>
          <a:noFill/>
          <a:ln/>
        </p:spPr>
        <p:txBody>
          <a:bodyPr wrap="square" lIns="0" tIns="0" rIns="0" bIns="0" rtlCol="0" anchor="ctr"/>
          <a:lstStyle/>
          <a:p>
            <a:pPr algn="ctr" indent="0" marL="0">
              <a:buNone/>
            </a:pPr>
            <a:r>
              <a:rPr lang="en-US" sz="1000" i="1" dirty="0">
                <a:solidFill>
                  <a:srgbClr val="64748B"/>
                </a:solidFill>
                <a:latin typeface="Inter" pitchFamily="34" charset="0"/>
                <a:ea typeface="Inter" pitchFamily="34" charset="-122"/>
                <a:cs typeface="Inter" pitchFamily="34" charset="-120"/>
              </a:rPr>
              <a:t>the sequence grows by one token each lap</a:t>
            </a:r>
            <a:endParaRPr lang="en-US" sz="1000" dirty="0"/>
          </a:p>
        </p:txBody>
      </p:sp>
      <p:sp>
        <p:nvSpPr>
          <p:cNvPr id="15" name="anim-2-fade-0-1049"/>
          <p:cNvSpPr txBox="1"/>
          <p:nvPr/>
        </p:nvSpPr>
        <p:spPr>
          <a:xfrm>
            <a:off x="6309360" y="1691640"/>
            <a:ext cx="914400" cy="219456"/>
          </a:xfrm>
          <a:prstGeom prst="rect">
            <a:avLst/>
          </a:prstGeom>
          <a:noFill/>
          <a:ln/>
        </p:spPr>
        <p:txBody>
          <a:bodyPr wrap="square" lIns="0" tIns="0" rIns="0" bIns="0" rtlCol="0" anchor="t"/>
          <a:lstStyle/>
          <a:p>
            <a:pPr indent="0" marL="0">
              <a:buNone/>
            </a:pPr>
            <a:r>
              <a:rPr lang="en-US" sz="950" b="1" dirty="0">
                <a:solidFill>
                  <a:srgbClr val="64748B"/>
                </a:solidFill>
                <a:latin typeface="Inter" pitchFamily="34" charset="0"/>
                <a:ea typeface="Inter" pitchFamily="34" charset="-122"/>
                <a:cs typeface="Inter" pitchFamily="34" charset="-120"/>
              </a:rPr>
              <a:t>Lap 1</a:t>
            </a:r>
            <a:endParaRPr lang="en-US" sz="950" dirty="0"/>
          </a:p>
        </p:txBody>
      </p:sp>
      <p:sp>
        <p:nvSpPr>
          <p:cNvPr id="16" name="anim-2-fade-50-1050"/>
          <p:cNvSpPr/>
          <p:nvPr/>
        </p:nvSpPr>
        <p:spPr>
          <a:xfrm>
            <a:off x="6309360" y="19659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17" name="anim-2-fade-100-1051"/>
          <p:cNvSpPr/>
          <p:nvPr/>
        </p:nvSpPr>
        <p:spPr>
          <a:xfrm>
            <a:off x="6885798" y="19659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18" name="anim-2-fade-150-1052"/>
          <p:cNvSpPr/>
          <p:nvPr/>
        </p:nvSpPr>
        <p:spPr>
          <a:xfrm>
            <a:off x="7462236" y="19659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19" name="anim-2-fade-200-1053"/>
          <p:cNvSpPr/>
          <p:nvPr/>
        </p:nvSpPr>
        <p:spPr>
          <a:xfrm>
            <a:off x="8038673" y="1965960"/>
            <a:ext cx="433060"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20" name="anim-2-fade-250-1054"/>
          <p:cNvSpPr/>
          <p:nvPr/>
        </p:nvSpPr>
        <p:spPr>
          <a:xfrm>
            <a:off x="8526597" y="19659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21" name="anim-2-fade-300-1055"/>
          <p:cNvSpPr/>
          <p:nvPr/>
        </p:nvSpPr>
        <p:spPr>
          <a:xfrm>
            <a:off x="9139611" y="2148840"/>
            <a:ext cx="347472" cy="0"/>
          </a:xfrm>
          <a:prstGeom prst="line">
            <a:avLst/>
          </a:prstGeom>
          <a:noFill/>
          <a:ln w="22225">
            <a:solidFill>
              <a:srgbClr val="E11D48"/>
            </a:solidFill>
            <a:prstDash val="solid"/>
            <a:tailEnd type="triangle"/>
          </a:ln>
        </p:spPr>
      </p:sp>
      <p:sp>
        <p:nvSpPr>
          <p:cNvPr id="22" name="anim-2-zoom-450-1056"/>
          <p:cNvSpPr/>
          <p:nvPr/>
        </p:nvSpPr>
        <p:spPr>
          <a:xfrm>
            <a:off x="9560235" y="1965960"/>
            <a:ext cx="521574" cy="365760"/>
          </a:xfrm>
          <a:prstGeom prst="roundRect">
            <a:avLst>
              <a:gd name="adj" fmla="val 17500"/>
            </a:avLst>
          </a:prstGeom>
          <a:solidFill>
            <a:srgbClr val="E11D48"/>
          </a:solidFill>
          <a:ln w="12700">
            <a:solidFill>
              <a:srgbClr val="E11D48"/>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mat</a:t>
            </a:r>
            <a:endParaRPr lang="en-US" sz="1100" dirty="0"/>
          </a:p>
        </p:txBody>
      </p:sp>
      <p:sp>
        <p:nvSpPr>
          <p:cNvPr id="23" name="anim-2-fade-550-1057"/>
          <p:cNvSpPr txBox="1"/>
          <p:nvPr/>
        </p:nvSpPr>
        <p:spPr>
          <a:xfrm>
            <a:off x="10154961" y="2039112"/>
            <a:ext cx="457200" cy="219456"/>
          </a:xfrm>
          <a:prstGeom prst="rect">
            <a:avLst/>
          </a:prstGeom>
          <a:noFill/>
          <a:ln/>
        </p:spPr>
        <p:txBody>
          <a:bodyPr wrap="square" lIns="0" tIns="0" rIns="0" bIns="0" rtlCol="0" anchor="t"/>
          <a:lstStyle/>
          <a:p>
            <a:pPr indent="0" marL="0">
              <a:buNone/>
            </a:pPr>
            <a:r>
              <a:rPr lang="en-US" sz="950" dirty="0">
                <a:solidFill>
                  <a:srgbClr val="E11D48"/>
                </a:solidFill>
                <a:latin typeface="Inter" pitchFamily="34" charset="0"/>
                <a:ea typeface="Inter" pitchFamily="34" charset="-122"/>
                <a:cs typeface="Inter" pitchFamily="34" charset="-120"/>
              </a:rPr>
              <a:t>41%</a:t>
            </a:r>
            <a:endParaRPr lang="en-US" sz="950" dirty="0"/>
          </a:p>
        </p:txBody>
      </p:sp>
      <p:sp>
        <p:nvSpPr>
          <p:cNvPr id="24" name="anim-3-fade-0-1058"/>
          <p:cNvSpPr txBox="1"/>
          <p:nvPr/>
        </p:nvSpPr>
        <p:spPr>
          <a:xfrm>
            <a:off x="6309360" y="2606040"/>
            <a:ext cx="914400" cy="219456"/>
          </a:xfrm>
          <a:prstGeom prst="rect">
            <a:avLst/>
          </a:prstGeom>
          <a:noFill/>
          <a:ln/>
        </p:spPr>
        <p:txBody>
          <a:bodyPr wrap="square" lIns="0" tIns="0" rIns="0" bIns="0" rtlCol="0" anchor="t"/>
          <a:lstStyle/>
          <a:p>
            <a:pPr indent="0" marL="0">
              <a:buNone/>
            </a:pPr>
            <a:r>
              <a:rPr lang="en-US" sz="950" b="1" dirty="0">
                <a:solidFill>
                  <a:srgbClr val="64748B"/>
                </a:solidFill>
                <a:latin typeface="Inter" pitchFamily="34" charset="0"/>
                <a:ea typeface="Inter" pitchFamily="34" charset="-122"/>
                <a:cs typeface="Inter" pitchFamily="34" charset="-120"/>
              </a:rPr>
              <a:t>Lap 2</a:t>
            </a:r>
            <a:endParaRPr lang="en-US" sz="950" dirty="0"/>
          </a:p>
        </p:txBody>
      </p:sp>
      <p:sp>
        <p:nvSpPr>
          <p:cNvPr id="25" name="anim-3-fade-50-1059"/>
          <p:cNvSpPr/>
          <p:nvPr/>
        </p:nvSpPr>
        <p:spPr>
          <a:xfrm>
            <a:off x="6309360" y="28803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26" name="anim-3-fade-100-1060"/>
          <p:cNvSpPr/>
          <p:nvPr/>
        </p:nvSpPr>
        <p:spPr>
          <a:xfrm>
            <a:off x="6885798" y="28803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27" name="anim-3-fade-150-1061"/>
          <p:cNvSpPr/>
          <p:nvPr/>
        </p:nvSpPr>
        <p:spPr>
          <a:xfrm>
            <a:off x="7462236" y="28803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28" name="anim-3-fade-200-1062"/>
          <p:cNvSpPr/>
          <p:nvPr/>
        </p:nvSpPr>
        <p:spPr>
          <a:xfrm>
            <a:off x="8038673" y="2880360"/>
            <a:ext cx="433060"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29" name="anim-3-fade-250-1063"/>
          <p:cNvSpPr/>
          <p:nvPr/>
        </p:nvSpPr>
        <p:spPr>
          <a:xfrm>
            <a:off x="8526597" y="28803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30" name="anim-3-fade-300-1064"/>
          <p:cNvSpPr/>
          <p:nvPr/>
        </p:nvSpPr>
        <p:spPr>
          <a:xfrm>
            <a:off x="9103035" y="2880360"/>
            <a:ext cx="521574" cy="365760"/>
          </a:xfrm>
          <a:prstGeom prst="roundRect">
            <a:avLst>
              <a:gd name="adj" fmla="val 17500"/>
            </a:avLst>
          </a:prstGeom>
          <a:solidFill>
            <a:srgbClr val="FFE4E6"/>
          </a:solidFill>
          <a:ln w="12700">
            <a:solidFill>
              <a:srgbClr val="E11D48"/>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31" name="anim-3-fade-350-1065"/>
          <p:cNvSpPr/>
          <p:nvPr/>
        </p:nvSpPr>
        <p:spPr>
          <a:xfrm>
            <a:off x="9716049" y="3063240"/>
            <a:ext cx="347472" cy="0"/>
          </a:xfrm>
          <a:prstGeom prst="line">
            <a:avLst/>
          </a:prstGeom>
          <a:noFill/>
          <a:ln w="22225">
            <a:solidFill>
              <a:srgbClr val="E11D48"/>
            </a:solidFill>
            <a:prstDash val="solid"/>
            <a:tailEnd type="triangle"/>
          </a:ln>
        </p:spPr>
      </p:sp>
      <p:sp>
        <p:nvSpPr>
          <p:cNvPr id="32" name="anim-3-zoom-450-1066"/>
          <p:cNvSpPr/>
          <p:nvPr/>
        </p:nvSpPr>
        <p:spPr>
          <a:xfrm>
            <a:off x="10136673" y="2880360"/>
            <a:ext cx="384048" cy="365760"/>
          </a:xfrm>
          <a:prstGeom prst="roundRect">
            <a:avLst>
              <a:gd name="adj" fmla="val 17500"/>
            </a:avLst>
          </a:prstGeom>
          <a:solidFill>
            <a:srgbClr val="E11D48"/>
          </a:solidFill>
          <a:ln w="12700">
            <a:solidFill>
              <a:srgbClr val="E11D48"/>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3" name="anim-3-fade-550-1067"/>
          <p:cNvSpPr txBox="1"/>
          <p:nvPr/>
        </p:nvSpPr>
        <p:spPr>
          <a:xfrm>
            <a:off x="10593873" y="2953512"/>
            <a:ext cx="457200" cy="219456"/>
          </a:xfrm>
          <a:prstGeom prst="rect">
            <a:avLst/>
          </a:prstGeom>
          <a:noFill/>
          <a:ln/>
        </p:spPr>
        <p:txBody>
          <a:bodyPr wrap="square" lIns="0" tIns="0" rIns="0" bIns="0" rtlCol="0" anchor="t"/>
          <a:lstStyle/>
          <a:p>
            <a:pPr indent="0" marL="0">
              <a:buNone/>
            </a:pPr>
            <a:r>
              <a:rPr lang="en-US" sz="950" dirty="0">
                <a:solidFill>
                  <a:srgbClr val="E11D48"/>
                </a:solidFill>
                <a:latin typeface="Inter" pitchFamily="34" charset="0"/>
                <a:ea typeface="Inter" pitchFamily="34" charset="-122"/>
                <a:cs typeface="Inter" pitchFamily="34" charset="-120"/>
              </a:rPr>
              <a:t>63%</a:t>
            </a:r>
            <a:endParaRPr lang="en-US" sz="950" dirty="0"/>
          </a:p>
        </p:txBody>
      </p:sp>
      <p:sp>
        <p:nvSpPr>
          <p:cNvPr id="34" name="anim-4-fade-0-1068"/>
          <p:cNvSpPr txBox="1"/>
          <p:nvPr/>
        </p:nvSpPr>
        <p:spPr>
          <a:xfrm>
            <a:off x="6309360" y="3520440"/>
            <a:ext cx="914400" cy="219456"/>
          </a:xfrm>
          <a:prstGeom prst="rect">
            <a:avLst/>
          </a:prstGeom>
          <a:noFill/>
          <a:ln/>
        </p:spPr>
        <p:txBody>
          <a:bodyPr wrap="square" lIns="0" tIns="0" rIns="0" bIns="0" rtlCol="0" anchor="t"/>
          <a:lstStyle/>
          <a:p>
            <a:pPr indent="0" marL="0">
              <a:buNone/>
            </a:pPr>
            <a:r>
              <a:rPr lang="en-US" sz="950" b="1" dirty="0">
                <a:solidFill>
                  <a:srgbClr val="64748B"/>
                </a:solidFill>
                <a:latin typeface="Inter" pitchFamily="34" charset="0"/>
                <a:ea typeface="Inter" pitchFamily="34" charset="-122"/>
                <a:cs typeface="Inter" pitchFamily="34" charset="-120"/>
              </a:rPr>
              <a:t>Lap 3</a:t>
            </a:r>
            <a:endParaRPr lang="en-US" sz="950" dirty="0"/>
          </a:p>
        </p:txBody>
      </p:sp>
      <p:sp>
        <p:nvSpPr>
          <p:cNvPr id="35" name="anim-4-fade-50-1069"/>
          <p:cNvSpPr/>
          <p:nvPr/>
        </p:nvSpPr>
        <p:spPr>
          <a:xfrm>
            <a:off x="6309360" y="37947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36" name="anim-4-fade-100-1070"/>
          <p:cNvSpPr/>
          <p:nvPr/>
        </p:nvSpPr>
        <p:spPr>
          <a:xfrm>
            <a:off x="6885798" y="37947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cat</a:t>
            </a:r>
            <a:endParaRPr lang="en-US" sz="1100" dirty="0"/>
          </a:p>
        </p:txBody>
      </p:sp>
      <p:sp>
        <p:nvSpPr>
          <p:cNvPr id="37" name="anim-4-fade-150-1071"/>
          <p:cNvSpPr/>
          <p:nvPr/>
        </p:nvSpPr>
        <p:spPr>
          <a:xfrm>
            <a:off x="7462236" y="37947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sat</a:t>
            </a:r>
            <a:endParaRPr lang="en-US" sz="1100" dirty="0"/>
          </a:p>
        </p:txBody>
      </p:sp>
      <p:sp>
        <p:nvSpPr>
          <p:cNvPr id="38" name="anim-4-fade-200-1072"/>
          <p:cNvSpPr/>
          <p:nvPr/>
        </p:nvSpPr>
        <p:spPr>
          <a:xfrm>
            <a:off x="8038673" y="3794760"/>
            <a:ext cx="433060"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on</a:t>
            </a:r>
            <a:endParaRPr lang="en-US" sz="1100" dirty="0"/>
          </a:p>
        </p:txBody>
      </p:sp>
      <p:sp>
        <p:nvSpPr>
          <p:cNvPr id="39" name="anim-4-fade-250-1073"/>
          <p:cNvSpPr/>
          <p:nvPr/>
        </p:nvSpPr>
        <p:spPr>
          <a:xfrm>
            <a:off x="8526597" y="3794760"/>
            <a:ext cx="521574" cy="365760"/>
          </a:xfrm>
          <a:prstGeom prst="roundRect">
            <a:avLst>
              <a:gd name="adj" fmla="val 17500"/>
            </a:avLst>
          </a:prstGeom>
          <a:solidFill>
            <a:srgbClr val="FFFFFF"/>
          </a:solidFill>
          <a:ln w="12700">
            <a:solidFill>
              <a:srgbClr val="CBD5E1"/>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the</a:t>
            </a:r>
            <a:endParaRPr lang="en-US" sz="1100" dirty="0"/>
          </a:p>
        </p:txBody>
      </p:sp>
      <p:sp>
        <p:nvSpPr>
          <p:cNvPr id="40" name="anim-4-fade-300-1074"/>
          <p:cNvSpPr/>
          <p:nvPr/>
        </p:nvSpPr>
        <p:spPr>
          <a:xfrm>
            <a:off x="9103035" y="3794760"/>
            <a:ext cx="521574" cy="365760"/>
          </a:xfrm>
          <a:prstGeom prst="roundRect">
            <a:avLst>
              <a:gd name="adj" fmla="val 17500"/>
            </a:avLst>
          </a:prstGeom>
          <a:solidFill>
            <a:srgbClr val="FFE4E6"/>
          </a:solidFill>
          <a:ln w="12700">
            <a:solidFill>
              <a:srgbClr val="E11D48"/>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mat</a:t>
            </a:r>
            <a:endParaRPr lang="en-US" sz="1100" dirty="0"/>
          </a:p>
        </p:txBody>
      </p:sp>
      <p:sp>
        <p:nvSpPr>
          <p:cNvPr id="41" name="anim-4-fade-350-1075"/>
          <p:cNvSpPr/>
          <p:nvPr/>
        </p:nvSpPr>
        <p:spPr>
          <a:xfrm>
            <a:off x="9679473" y="3794760"/>
            <a:ext cx="384048" cy="365760"/>
          </a:xfrm>
          <a:prstGeom prst="roundRect">
            <a:avLst>
              <a:gd name="adj" fmla="val 17500"/>
            </a:avLst>
          </a:prstGeom>
          <a:solidFill>
            <a:srgbClr val="FFE4E6"/>
          </a:solidFill>
          <a:ln w="12700">
            <a:solidFill>
              <a:srgbClr val="E11D48"/>
            </a:solidFill>
          </a:ln>
        </p:spPr>
        <p:txBody>
          <a:bodyPr wrap="square" lIns="0" tIns="0" rIns="0" bIns="0" rtlCol="0" anchor="ctr"/>
          <a:lstStyle/>
          <a:p>
            <a:pPr algn="ctr" indent="0" marL="0">
              <a:buNone/>
            </a:pPr>
            <a:r>
              <a:rPr lang="en-US" sz="1100" b="1" dirty="0">
                <a:solidFill>
                  <a:srgbClr val="0F172A"/>
                </a:solidFill>
                <a:latin typeface="Inter" pitchFamily="34" charset="0"/>
                <a:ea typeface="Inter" pitchFamily="34" charset="-122"/>
                <a:cs typeface="Inter" pitchFamily="34" charset="-120"/>
              </a:rPr>
              <a:t>.</a:t>
            </a:r>
            <a:endParaRPr lang="en-US" sz="1100" dirty="0"/>
          </a:p>
        </p:txBody>
      </p:sp>
      <p:sp>
        <p:nvSpPr>
          <p:cNvPr id="42" name="anim-4-fade-400-1076"/>
          <p:cNvSpPr/>
          <p:nvPr/>
        </p:nvSpPr>
        <p:spPr>
          <a:xfrm>
            <a:off x="10154961" y="3977640"/>
            <a:ext cx="347472" cy="0"/>
          </a:xfrm>
          <a:prstGeom prst="line">
            <a:avLst/>
          </a:prstGeom>
          <a:noFill/>
          <a:ln w="22225">
            <a:solidFill>
              <a:srgbClr val="E11D48"/>
            </a:solidFill>
            <a:prstDash val="solid"/>
            <a:tailEnd type="triangle"/>
          </a:ln>
        </p:spPr>
      </p:sp>
      <p:sp>
        <p:nvSpPr>
          <p:cNvPr id="43" name="anim-4-zoom-450-1077"/>
          <p:cNvSpPr/>
          <p:nvPr/>
        </p:nvSpPr>
        <p:spPr>
          <a:xfrm>
            <a:off x="10575585" y="3794760"/>
            <a:ext cx="698602" cy="365760"/>
          </a:xfrm>
          <a:prstGeom prst="roundRect">
            <a:avLst>
              <a:gd name="adj" fmla="val 17500"/>
            </a:avLst>
          </a:prstGeom>
          <a:solidFill>
            <a:srgbClr val="E11D48"/>
          </a:solidFill>
          <a:ln w="12700">
            <a:solidFill>
              <a:srgbClr val="E11D48"/>
            </a:solid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&lt;end&gt;</a:t>
            </a:r>
            <a:endParaRPr lang="en-US" sz="1100" dirty="0"/>
          </a:p>
        </p:txBody>
      </p:sp>
      <p:sp>
        <p:nvSpPr>
          <p:cNvPr id="44" name="anim-4-fade-550-1078"/>
          <p:cNvSpPr txBox="1"/>
          <p:nvPr/>
        </p:nvSpPr>
        <p:spPr>
          <a:xfrm>
            <a:off x="11347338" y="3867912"/>
            <a:ext cx="457200" cy="219456"/>
          </a:xfrm>
          <a:prstGeom prst="rect">
            <a:avLst/>
          </a:prstGeom>
          <a:noFill/>
          <a:ln/>
        </p:spPr>
        <p:txBody>
          <a:bodyPr wrap="square" lIns="0" tIns="0" rIns="0" bIns="0" rtlCol="0" anchor="t"/>
          <a:lstStyle/>
          <a:p>
            <a:pPr indent="0" marL="0">
              <a:buNone/>
            </a:pPr>
            <a:r>
              <a:rPr lang="en-US" sz="950" dirty="0">
                <a:solidFill>
                  <a:srgbClr val="E11D48"/>
                </a:solidFill>
                <a:latin typeface="Inter" pitchFamily="34" charset="0"/>
                <a:ea typeface="Inter" pitchFamily="34" charset="-122"/>
                <a:cs typeface="Inter" pitchFamily="34" charset="-120"/>
              </a:rPr>
              <a:t>58%</a:t>
            </a:r>
            <a:endParaRPr lang="en-US" sz="950" dirty="0"/>
          </a:p>
        </p:txBody>
      </p:sp>
      <p:sp>
        <p:nvSpPr>
          <p:cNvPr id="45" name="anim-4-zoom-800-1079"/>
          <p:cNvSpPr/>
          <p:nvPr/>
        </p:nvSpPr>
        <p:spPr>
          <a:xfrm>
            <a:off x="10744200" y="4224528"/>
            <a:ext cx="868680" cy="329184"/>
          </a:xfrm>
          <a:prstGeom prst="roundRect">
            <a:avLst>
              <a:gd name="adj" fmla="val 27778"/>
            </a:avLst>
          </a:prstGeom>
          <a:solidFill>
            <a:srgbClr val="0F172A"/>
          </a:solidFill>
          <a:ln/>
        </p:spPr>
        <p:txBody>
          <a:bodyPr wrap="square" lIns="1016" tIns="1016" rIns="1016" bIns="1016"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STOP</a:t>
            </a:r>
            <a:endParaRPr lang="en-US" sz="1000" dirty="0"/>
          </a:p>
        </p:txBody>
      </p:sp>
      <p:sp>
        <p:nvSpPr>
          <p:cNvPr id="46" name="anim-5-rise-0-1080"/>
          <p:cNvSpPr/>
          <p:nvPr/>
        </p:nvSpPr>
        <p:spPr>
          <a:xfrm>
            <a:off x="6309360" y="4709160"/>
            <a:ext cx="2606040" cy="1417320"/>
          </a:xfrm>
          <a:prstGeom prst="roundRect">
            <a:avLst>
              <a:gd name="adj" fmla="val 6452"/>
            </a:avLst>
          </a:prstGeom>
          <a:solidFill>
            <a:srgbClr val="F1F5F9"/>
          </a:solidFill>
          <a:ln/>
        </p:spPr>
        <p:txBody>
          <a:bodyPr wrap="square" lIns="127000" tIns="152400" rIns="152400" bIns="127000" rtlCol="0" anchor="t"/>
          <a:lstStyle/>
          <a:p>
            <a:pPr indent="0" marL="0">
              <a:buNone/>
            </a:pPr>
            <a:r>
              <a:rPr lang="en-US" sz="1300" b="1" dirty="0">
                <a:solidFill>
                  <a:srgbClr val="0F172A"/>
                </a:solidFill>
                <a:latin typeface="Inter" pitchFamily="34" charset="0"/>
                <a:ea typeface="Inter" pitchFamily="34" charset="-122"/>
                <a:cs typeface="Inter" pitchFamily="34" charset="-120"/>
              </a:rPr>
              <a:t>When does it stop?</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 it emits an end-of-text token, or</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 it reaches a length limit (e.g. max_tokens = 256)</a:t>
            </a:r>
            <a:endParaRPr lang="en-US" sz="1300" dirty="0"/>
          </a:p>
        </p:txBody>
      </p:sp>
      <p:sp>
        <p:nvSpPr>
          <p:cNvPr id="47" name="anim-5-rise-200-1081"/>
          <p:cNvSpPr/>
          <p:nvPr/>
        </p:nvSpPr>
        <p:spPr>
          <a:xfrm>
            <a:off x="9052560" y="4709160"/>
            <a:ext cx="2560320" cy="1417320"/>
          </a:xfrm>
          <a:prstGeom prst="roundRect">
            <a:avLst>
              <a:gd name="adj" fmla="val 6452"/>
            </a:avLst>
          </a:prstGeom>
          <a:solidFill>
            <a:srgbClr val="EDE9FE"/>
          </a:solidFill>
          <a:ln/>
        </p:spPr>
        <p:txBody>
          <a:bodyPr wrap="square" lIns="127000" tIns="152400" rIns="152400" bIns="127000" rtlCol="0" anchor="t"/>
          <a:lstStyle/>
          <a:p>
            <a:pPr indent="0" marL="0">
              <a:buNone/>
            </a:pPr>
            <a:r>
              <a:rPr lang="en-US" sz="1300" b="1" dirty="0">
                <a:solidFill>
                  <a:srgbClr val="7C3AED"/>
                </a:solidFill>
                <a:latin typeface="Inter" pitchFamily="34" charset="0"/>
                <a:ea typeface="Inter" pitchFamily="34" charset="-122"/>
                <a:cs typeface="Inter" pitchFamily="34" charset="-120"/>
              </a:rPr>
              <a:t>Speed trick: KV cache</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Keys and values of earlier tokens are saved, so each lap only computes the newest token.</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53" presetClass="entr" presetSubtype="16"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1" presetID="10" presetClass="entr" presetSubtype="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4" presetID="53" presetClass="entr" presetSubtype="16" fill="hold" grpId="0" nodeType="withEffect">
                                  <p:stCondLst>
                                    <p:cond delay="350"/>
                                  </p:stCondLst>
                                  <p:childTnLst>
                                    <p:set>
                                      <p:cBhvr>
                                        <p:cTn id="13"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par>
                                <p:cTn id="19" presetID="10" presetClass="entr" presetSubtype="0" fill="hold" grpId="0" nodeType="withEffect">
                                  <p:stCondLst>
                                    <p:cond delay="550"/>
                                  </p:stCondLst>
                                  <p:childTnLst>
                                    <p:set>
                                      <p:cBhvr>
                                        <p:cTn id="18"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2" presetID="53" presetClass="entr" presetSubtype="16" fill="hold" grpId="0" nodeType="withEffect">
                                  <p:stCondLst>
                                    <p:cond delay="700"/>
                                  </p:stCondLst>
                                  <p:childTnLst>
                                    <p:set>
                                      <p:cBhvr>
                                        <p:cTn id="21"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ppt_w</p:attrName>
                                        </p:attrNameLst>
                                      </p:cBhvr>
                                      <p:tavLst>
                                        <p:tav tm="0">
                                          <p:val>
                                            <p:fltVal val="0"/>
                                          </p:val>
                                        </p:tav>
                                        <p:tav tm="100000">
                                          <p:val>
                                            <p:strVal val="#ppt_w"/>
                                          </p:val>
                                        </p:tav>
                                      </p:tavLst>
                                    </p:anim>
                                    <p:anim calcmode="lin" valueType="num">
                                      <p:cBhvr>
                                        <p:cTn id="24" dur="500" fill="hold"/>
                                        <p:tgtEl>
                                          <p:spTgt spid="10"/>
                                        </p:tgtEl>
                                        <p:attrNameLst>
                                          <p:attrName>ppt_h</p:attrName>
                                        </p:attrNameLst>
                                      </p:cBhvr>
                                      <p:tavLst>
                                        <p:tav tm="0">
                                          <p:val>
                                            <p:fltVal val="0"/>
                                          </p:val>
                                        </p:tav>
                                        <p:tav tm="100000">
                                          <p:val>
                                            <p:strVal val="#ppt_h"/>
                                          </p:val>
                                        </p:tav>
                                      </p:tavLst>
                                    </p:anim>
                                    <p:animEffect transition="in" filter="fade">
                                      <p:cBhvr>
                                        <p:cTn id="25" dur="500"/>
                                        <p:tgtEl>
                                          <p:spTgt spid="10"/>
                                        </p:tgtEl>
                                      </p:cBhvr>
                                    </p:animEffect>
                                  </p:childTnLst>
                                </p:cTn>
                              </p:par>
                              <p:par>
                                <p:cTn id="27" presetID="10" presetClass="entr" presetSubtype="0" fill="hold" grpId="0" nodeType="withEffect">
                                  <p:stCondLst>
                                    <p:cond delay="9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30" presetID="53" presetClass="entr" presetSubtype="16" fill="hold" grpId="0" nodeType="withEffect">
                                  <p:stCondLst>
                                    <p:cond delay="1050"/>
                                  </p:stCondLst>
                                  <p:childTnLst>
                                    <p:set>
                                      <p:cBhvr>
                                        <p:cTn id="29"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5" presetID="10" presetClass="entr" presetSubtype="0" fill="hold" grpId="0" nodeType="withEffect">
                                  <p:stCondLst>
                                    <p:cond delay="12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40"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3" presetID="10" presetClass="entr" presetSubtype="0" fill="hold" grpId="0" nodeType="withEffect">
                                  <p:stCondLst>
                                    <p:cond delay="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6" presetID="10" presetClass="entr" presetSubtype="0" fill="hold" grpId="0" nodeType="withEffect">
                                  <p:stCondLst>
                                    <p:cond delay="1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9" presetID="10" presetClass="entr" presetSubtype="0" fill="hold" grpId="0" nodeType="withEffect">
                                  <p:stCondLst>
                                    <p:cond delay="150"/>
                                  </p:stCondLst>
                                  <p:childTnLst>
                                    <p:set>
                                      <p:cBhvr>
                                        <p:cTn id="48"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2" presetID="10" presetClass="entr" presetSubtype="0" fill="hold" grpId="0" nodeType="withEffect">
                                  <p:stCondLst>
                                    <p:cond delay="2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5" presetID="10" presetClass="entr" presetSubtype="0" fill="hold" grpId="0" nodeType="withEffect">
                                  <p:stCondLst>
                                    <p:cond delay="2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8" presetID="10" presetClass="entr" presetSubtype="0" fill="hold" grpId="0" nodeType="withEffect">
                                  <p:stCondLst>
                                    <p:cond delay="3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1" presetID="53" presetClass="entr" presetSubtype="16" fill="hold" grpId="0" nodeType="withEffect">
                                  <p:stCondLst>
                                    <p:cond delay="450"/>
                                  </p:stCondLst>
                                  <p:childTnLst>
                                    <p:set>
                                      <p:cBhvr>
                                        <p:cTn id="60" dur="1" fill="hold">
                                          <p:stCondLst>
                                            <p:cond delay="0"/>
                                          </p:stCondLst>
                                        </p:cTn>
                                        <p:tgtEl>
                                          <p:spTgt spid="22"/>
                                        </p:tgtEl>
                                        <p:attrNameLst>
                                          <p:attrName>style.visibility</p:attrName>
                                        </p:attrNameLst>
                                      </p:cBhvr>
                                      <p:to>
                                        <p:strVal val="visible"/>
                                      </p:to>
                                    </p:set>
                                    <p:anim calcmode="lin" valueType="num">
                                      <p:cBhvr>
                                        <p:cTn id="62" dur="500" fill="hold"/>
                                        <p:tgtEl>
                                          <p:spTgt spid="22"/>
                                        </p:tgtEl>
                                        <p:attrNameLst>
                                          <p:attrName>ppt_w</p:attrName>
                                        </p:attrNameLst>
                                      </p:cBhvr>
                                      <p:tavLst>
                                        <p:tav tm="0">
                                          <p:val>
                                            <p:fltVal val="0"/>
                                          </p:val>
                                        </p:tav>
                                        <p:tav tm="100000">
                                          <p:val>
                                            <p:strVal val="#ppt_w"/>
                                          </p:val>
                                        </p:tav>
                                      </p:tavLst>
                                    </p:anim>
                                    <p:anim calcmode="lin" valueType="num">
                                      <p:cBhvr>
                                        <p:cTn id="63" dur="500" fill="hold"/>
                                        <p:tgtEl>
                                          <p:spTgt spid="22"/>
                                        </p:tgtEl>
                                        <p:attrNameLst>
                                          <p:attrName>ppt_h</p:attrName>
                                        </p:attrNameLst>
                                      </p:cBhvr>
                                      <p:tavLst>
                                        <p:tav tm="0">
                                          <p:val>
                                            <p:fltVal val="0"/>
                                          </p:val>
                                        </p:tav>
                                        <p:tav tm="100000">
                                          <p:val>
                                            <p:strVal val="#ppt_h"/>
                                          </p:val>
                                        </p:tav>
                                      </p:tavLst>
                                    </p:anim>
                                    <p:animEffect transition="in" filter="fade">
                                      <p:cBhvr>
                                        <p:cTn id="64" dur="500"/>
                                        <p:tgtEl>
                                          <p:spTgt spid="22"/>
                                        </p:tgtEl>
                                      </p:cBhvr>
                                    </p:animEffect>
                                  </p:childTnLst>
                                </p:cTn>
                              </p:par>
                              <p:par>
                                <p:cTn id="66" presetID="10" presetClass="entr" presetSubtype="0" fill="hold" grpId="0" nodeType="withEffect">
                                  <p:stCondLst>
                                    <p:cond delay="550"/>
                                  </p:stCondLst>
                                  <p:childTnLst>
                                    <p:set>
                                      <p:cBhvr>
                                        <p:cTn id="65"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1" presetID="10"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4" presetID="10" presetClass="entr" presetSubtype="0" fill="hold" grpId="0" nodeType="withEffect">
                                  <p:stCondLst>
                                    <p:cond delay="50"/>
                                  </p:stCondLst>
                                  <p:childTnLst>
                                    <p:set>
                                      <p:cBhvr>
                                        <p:cTn id="73"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7" presetID="10" presetClass="entr" presetSubtype="0" fill="hold" grpId="0" nodeType="withEffect">
                                  <p:stCondLst>
                                    <p:cond delay="100"/>
                                  </p:stCondLst>
                                  <p:childTnLst>
                                    <p:set>
                                      <p:cBhvr>
                                        <p:cTn id="76"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80" presetID="10" presetClass="entr" presetSubtype="0" fill="hold" grpId="0" nodeType="withEffect">
                                  <p:stCondLst>
                                    <p:cond delay="150"/>
                                  </p:stCondLst>
                                  <p:childTnLst>
                                    <p:set>
                                      <p:cBhvr>
                                        <p:cTn id="79"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3" presetID="10" presetClass="entr" presetSubtype="0" fill="hold" grpId="0" nodeType="with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6" presetID="10" presetClass="entr" presetSubtype="0" fill="hold" grpId="0" nodeType="withEffect">
                                  <p:stCondLst>
                                    <p:cond delay="250"/>
                                  </p:stCondLst>
                                  <p:childTnLst>
                                    <p:set>
                                      <p:cBhvr>
                                        <p:cTn id="85"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9" presetID="10" presetClass="entr" presetSubtype="0" fill="hold" grpId="0" nodeType="withEffect">
                                  <p:stCondLst>
                                    <p:cond delay="300"/>
                                  </p:stCondLst>
                                  <p:childTnLst>
                                    <p:set>
                                      <p:cBhvr>
                                        <p:cTn id="88"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2" presetID="10" presetClass="entr" presetSubtype="0" fill="hold" grpId="0" nodeType="withEffect">
                                  <p:stCondLst>
                                    <p:cond delay="350"/>
                                  </p:stCondLst>
                                  <p:childTnLst>
                                    <p:set>
                                      <p:cBhvr>
                                        <p:cTn id="91"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5" presetID="53" presetClass="entr" presetSubtype="16" fill="hold" grpId="0" nodeType="withEffect">
                                  <p:stCondLst>
                                    <p:cond delay="450"/>
                                  </p:stCondLst>
                                  <p:childTnLst>
                                    <p:set>
                                      <p:cBhvr>
                                        <p:cTn id="94" dur="1" fill="hold">
                                          <p:stCondLst>
                                            <p:cond delay="0"/>
                                          </p:stCondLst>
                                        </p:cTn>
                                        <p:tgtEl>
                                          <p:spTgt spid="32"/>
                                        </p:tgtEl>
                                        <p:attrNameLst>
                                          <p:attrName>style.visibility</p:attrName>
                                        </p:attrNameLst>
                                      </p:cBhvr>
                                      <p:to>
                                        <p:strVal val="visible"/>
                                      </p:to>
                                    </p:set>
                                    <p:anim calcmode="lin" valueType="num">
                                      <p:cBhvr>
                                        <p:cTn id="96" dur="500" fill="hold"/>
                                        <p:tgtEl>
                                          <p:spTgt spid="32"/>
                                        </p:tgtEl>
                                        <p:attrNameLst>
                                          <p:attrName>ppt_w</p:attrName>
                                        </p:attrNameLst>
                                      </p:cBhvr>
                                      <p:tavLst>
                                        <p:tav tm="0">
                                          <p:val>
                                            <p:fltVal val="0"/>
                                          </p:val>
                                        </p:tav>
                                        <p:tav tm="100000">
                                          <p:val>
                                            <p:strVal val="#ppt_w"/>
                                          </p:val>
                                        </p:tav>
                                      </p:tavLst>
                                    </p:anim>
                                    <p:anim calcmode="lin" valueType="num">
                                      <p:cBhvr>
                                        <p:cTn id="97" dur="500" fill="hold"/>
                                        <p:tgtEl>
                                          <p:spTgt spid="32"/>
                                        </p:tgtEl>
                                        <p:attrNameLst>
                                          <p:attrName>ppt_h</p:attrName>
                                        </p:attrNameLst>
                                      </p:cBhvr>
                                      <p:tavLst>
                                        <p:tav tm="0">
                                          <p:val>
                                            <p:fltVal val="0"/>
                                          </p:val>
                                        </p:tav>
                                        <p:tav tm="100000">
                                          <p:val>
                                            <p:strVal val="#ppt_h"/>
                                          </p:val>
                                        </p:tav>
                                      </p:tavLst>
                                    </p:anim>
                                    <p:animEffect transition="in" filter="fade">
                                      <p:cBhvr>
                                        <p:cTn id="98" dur="500"/>
                                        <p:tgtEl>
                                          <p:spTgt spid="32"/>
                                        </p:tgtEl>
                                      </p:cBhvr>
                                    </p:animEffect>
                                  </p:childTnLst>
                                </p:cTn>
                              </p:par>
                              <p:par>
                                <p:cTn id="100" presetID="10" presetClass="entr" presetSubtype="0" fill="hold" grpId="0" nodeType="withEffect">
                                  <p:stCondLst>
                                    <p:cond delay="55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par>
                    <p:cTn id="102" fill="hold">
                      <p:stCondLst>
                        <p:cond delay="indefinite"/>
                      </p:stCondLst>
                      <p:childTnLst>
                        <p:par>
                          <p:cTn id="103" fill="hold">
                            <p:stCondLst>
                              <p:cond delay="0"/>
                            </p:stCondLst>
                            <p:childTnLst>
                              <p:par>
                                <p:cTn id="105" presetID="10" presetClass="entr" presetSubtype="0" fill="hold" grpId="0" nodeType="click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6" dur="500"/>
                                        <p:tgtEl>
                                          <p:spTgt spid="34"/>
                                        </p:tgtEl>
                                      </p:cBhvr>
                                    </p:animEffect>
                                  </p:childTnLst>
                                </p:cTn>
                              </p:par>
                              <p:par>
                                <p:cTn id="108" presetID="10" presetClass="entr" presetSubtype="0" fill="hold" grpId="0" nodeType="withEffect">
                                  <p:stCondLst>
                                    <p:cond delay="5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9" dur="500"/>
                                        <p:tgtEl>
                                          <p:spTgt spid="35"/>
                                        </p:tgtEl>
                                      </p:cBhvr>
                                    </p:animEffect>
                                  </p:childTnLst>
                                </p:cTn>
                              </p:par>
                              <p:par>
                                <p:cTn id="111" presetID="10" presetClass="entr" presetSubtype="0" fill="hold" grpId="0" nodeType="withEffect">
                                  <p:stCondLst>
                                    <p:cond delay="10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2" dur="500"/>
                                        <p:tgtEl>
                                          <p:spTgt spid="36"/>
                                        </p:tgtEl>
                                      </p:cBhvr>
                                    </p:animEffect>
                                  </p:childTnLst>
                                </p:cTn>
                              </p:par>
                              <p:par>
                                <p:cTn id="114" presetID="10" presetClass="entr" presetSubtype="0" fill="hold" grpId="0" nodeType="withEffect">
                                  <p:stCondLst>
                                    <p:cond delay="15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5" dur="500"/>
                                        <p:tgtEl>
                                          <p:spTgt spid="37"/>
                                        </p:tgtEl>
                                      </p:cBhvr>
                                    </p:animEffect>
                                  </p:childTnLst>
                                </p:cTn>
                              </p:par>
                              <p:par>
                                <p:cTn id="117" presetID="10" presetClass="entr" presetSubtype="0" fill="hold" grpId="0" nodeType="withEffect">
                                  <p:stCondLst>
                                    <p:cond delay="20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8" dur="500"/>
                                        <p:tgtEl>
                                          <p:spTgt spid="38"/>
                                        </p:tgtEl>
                                      </p:cBhvr>
                                    </p:animEffect>
                                  </p:childTnLst>
                                </p:cTn>
                              </p:par>
                              <p:par>
                                <p:cTn id="120" presetID="10" presetClass="entr" presetSubtype="0" fill="hold" grpId="0" nodeType="withEffect">
                                  <p:stCondLst>
                                    <p:cond delay="25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childTnLst>
                                </p:cTn>
                              </p:par>
                              <p:par>
                                <p:cTn id="123" presetID="10" presetClass="entr" presetSubtype="0" fill="hold" grpId="0" nodeType="withEffect">
                                  <p:stCondLst>
                                    <p:cond delay="30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childTnLst>
                                </p:cTn>
                              </p:par>
                              <p:par>
                                <p:cTn id="126" presetID="10" presetClass="entr" presetSubtype="0" fill="hold" grpId="0" nodeType="withEffect">
                                  <p:stCondLst>
                                    <p:cond delay="35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7" dur="500"/>
                                        <p:tgtEl>
                                          <p:spTgt spid="41"/>
                                        </p:tgtEl>
                                      </p:cBhvr>
                                    </p:animEffect>
                                  </p:childTnLst>
                                </p:cTn>
                              </p:par>
                              <p:par>
                                <p:cTn id="129" presetID="10" presetClass="entr" presetSubtype="0" fill="hold" grpId="0" nodeType="withEffect">
                                  <p:stCondLst>
                                    <p:cond delay="40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2" presetID="53" presetClass="entr" presetSubtype="16" fill="hold" grpId="0" nodeType="withEffect">
                                  <p:stCondLst>
                                    <p:cond delay="450"/>
                                  </p:stCondLst>
                                  <p:childTnLst>
                                    <p:set>
                                      <p:cBhvr>
                                        <p:cTn id="131" dur="1" fill="hold">
                                          <p:stCondLst>
                                            <p:cond delay="0"/>
                                          </p:stCondLst>
                                        </p:cTn>
                                        <p:tgtEl>
                                          <p:spTgt spid="43"/>
                                        </p:tgtEl>
                                        <p:attrNameLst>
                                          <p:attrName>style.visibility</p:attrName>
                                        </p:attrNameLst>
                                      </p:cBhvr>
                                      <p:to>
                                        <p:strVal val="visible"/>
                                      </p:to>
                                    </p:set>
                                    <p:anim calcmode="lin" valueType="num">
                                      <p:cBhvr>
                                        <p:cTn id="133" dur="500" fill="hold"/>
                                        <p:tgtEl>
                                          <p:spTgt spid="43"/>
                                        </p:tgtEl>
                                        <p:attrNameLst>
                                          <p:attrName>ppt_w</p:attrName>
                                        </p:attrNameLst>
                                      </p:cBhvr>
                                      <p:tavLst>
                                        <p:tav tm="0">
                                          <p:val>
                                            <p:fltVal val="0"/>
                                          </p:val>
                                        </p:tav>
                                        <p:tav tm="100000">
                                          <p:val>
                                            <p:strVal val="#ppt_w"/>
                                          </p:val>
                                        </p:tav>
                                      </p:tavLst>
                                    </p:anim>
                                    <p:anim calcmode="lin" valueType="num">
                                      <p:cBhvr>
                                        <p:cTn id="134" dur="500" fill="hold"/>
                                        <p:tgtEl>
                                          <p:spTgt spid="43"/>
                                        </p:tgtEl>
                                        <p:attrNameLst>
                                          <p:attrName>ppt_h</p:attrName>
                                        </p:attrNameLst>
                                      </p:cBhvr>
                                      <p:tavLst>
                                        <p:tav tm="0">
                                          <p:val>
                                            <p:fltVal val="0"/>
                                          </p:val>
                                        </p:tav>
                                        <p:tav tm="100000">
                                          <p:val>
                                            <p:strVal val="#ppt_h"/>
                                          </p:val>
                                        </p:tav>
                                      </p:tavLst>
                                    </p:anim>
                                    <p:animEffect transition="in" filter="fade">
                                      <p:cBhvr>
                                        <p:cTn id="135" dur="500"/>
                                        <p:tgtEl>
                                          <p:spTgt spid="43"/>
                                        </p:tgtEl>
                                      </p:cBhvr>
                                    </p:animEffect>
                                  </p:childTnLst>
                                </p:cTn>
                              </p:par>
                              <p:par>
                                <p:cTn id="137" presetID="10" presetClass="entr" presetSubtype="0" fill="hold" grpId="0" nodeType="withEffect">
                                  <p:stCondLst>
                                    <p:cond delay="550"/>
                                  </p:stCondLst>
                                  <p:childTnLst>
                                    <p:set>
                                      <p:cBhvr>
                                        <p:cTn id="136" dur="1" fill="hold">
                                          <p:stCondLst>
                                            <p:cond delay="0"/>
                                          </p:stCondLst>
                                        </p:cTn>
                                        <p:tgtEl>
                                          <p:spTgt spid="44"/>
                                        </p:tgtEl>
                                        <p:attrNameLst>
                                          <p:attrName>style.visibility</p:attrName>
                                        </p:attrNameLst>
                                      </p:cBhvr>
                                      <p:to>
                                        <p:strVal val="visible"/>
                                      </p:to>
                                    </p:set>
                                    <p:animEffect transition="in" filter="fade">
                                      <p:cBhvr>
                                        <p:cTn id="138" dur="500"/>
                                        <p:tgtEl>
                                          <p:spTgt spid="44"/>
                                        </p:tgtEl>
                                      </p:cBhvr>
                                    </p:animEffect>
                                  </p:childTnLst>
                                </p:cTn>
                              </p:par>
                              <p:par>
                                <p:cTn id="140" presetID="53" presetClass="entr" presetSubtype="16" fill="hold" grpId="0" nodeType="withEffect">
                                  <p:stCondLst>
                                    <p:cond delay="800"/>
                                  </p:stCondLst>
                                  <p:childTnLst>
                                    <p:set>
                                      <p:cBhvr>
                                        <p:cTn id="139" dur="1" fill="hold">
                                          <p:stCondLst>
                                            <p:cond delay="0"/>
                                          </p:stCondLst>
                                        </p:cTn>
                                        <p:tgtEl>
                                          <p:spTgt spid="45"/>
                                        </p:tgtEl>
                                        <p:attrNameLst>
                                          <p:attrName>style.visibility</p:attrName>
                                        </p:attrNameLst>
                                      </p:cBhvr>
                                      <p:to>
                                        <p:strVal val="visible"/>
                                      </p:to>
                                    </p:set>
                                    <p:anim calcmode="lin" valueType="num">
                                      <p:cBhvr>
                                        <p:cTn id="141" dur="500" fill="hold"/>
                                        <p:tgtEl>
                                          <p:spTgt spid="45"/>
                                        </p:tgtEl>
                                        <p:attrNameLst>
                                          <p:attrName>ppt_w</p:attrName>
                                        </p:attrNameLst>
                                      </p:cBhvr>
                                      <p:tavLst>
                                        <p:tav tm="0">
                                          <p:val>
                                            <p:fltVal val="0"/>
                                          </p:val>
                                        </p:tav>
                                        <p:tav tm="100000">
                                          <p:val>
                                            <p:strVal val="#ppt_w"/>
                                          </p:val>
                                        </p:tav>
                                      </p:tavLst>
                                    </p:anim>
                                    <p:anim calcmode="lin" valueType="num">
                                      <p:cBhvr>
                                        <p:cTn id="142" dur="500" fill="hold"/>
                                        <p:tgtEl>
                                          <p:spTgt spid="45"/>
                                        </p:tgtEl>
                                        <p:attrNameLst>
                                          <p:attrName>ppt_h</p:attrName>
                                        </p:attrNameLst>
                                      </p:cBhvr>
                                      <p:tavLst>
                                        <p:tav tm="0">
                                          <p:val>
                                            <p:fltVal val="0"/>
                                          </p:val>
                                        </p:tav>
                                        <p:tav tm="100000">
                                          <p:val>
                                            <p:strVal val="#ppt_h"/>
                                          </p:val>
                                        </p:tav>
                                      </p:tavLst>
                                    </p:anim>
                                    <p:animEffect transition="in" filter="fade">
                                      <p:cBhvr>
                                        <p:cTn id="143" dur="500"/>
                                        <p:tgtEl>
                                          <p:spTgt spid="45"/>
                                        </p:tgtEl>
                                      </p:cBhvr>
                                    </p:animEffect>
                                  </p:childTnLst>
                                </p:cTn>
                              </p:par>
                            </p:childTnLst>
                          </p:cTn>
                        </p:par>
                      </p:childTnLst>
                    </p:cTn>
                  </p:par>
                  <p:par>
                    <p:cTn id="144" fill="hold">
                      <p:stCondLst>
                        <p:cond delay="indefinite"/>
                      </p:stCondLst>
                      <p:childTnLst>
                        <p:par>
                          <p:cTn id="145" fill="hold">
                            <p:stCondLst>
                              <p:cond delay="0"/>
                            </p:stCondLst>
                            <p:childTnLst>
                              <p:par>
                                <p:cTn id="147" presetID="42" presetClass="entr" presetSubtype="0" fill="hold" grpId="0" nodeType="click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fade">
                                      <p:cBhvr>
                                        <p:cTn id="148" dur="500"/>
                                        <p:tgtEl>
                                          <p:spTgt spid="46"/>
                                        </p:tgtEl>
                                      </p:cBhvr>
                                    </p:animEffect>
                                    <p:anim calcmode="lin" valueType="num">
                                      <p:cBhvr>
                                        <p:cTn id="149" dur="500" fill="hold"/>
                                        <p:tgtEl>
                                          <p:spTgt spid="46"/>
                                        </p:tgtEl>
                                        <p:attrNameLst>
                                          <p:attrName>ppt_x</p:attrName>
                                        </p:attrNameLst>
                                      </p:cBhvr>
                                      <p:tavLst>
                                        <p:tav tm="0">
                                          <p:val>
                                            <p:strVal val="#ppt_x"/>
                                          </p:val>
                                        </p:tav>
                                        <p:tav tm="100000">
                                          <p:val>
                                            <p:strVal val="#ppt_x"/>
                                          </p:val>
                                        </p:tav>
                                      </p:tavLst>
                                    </p:anim>
                                    <p:anim calcmode="lin" valueType="num">
                                      <p:cBhvr>
                                        <p:cTn id="150" dur="500" fill="hold"/>
                                        <p:tgtEl>
                                          <p:spTgt spid="46"/>
                                        </p:tgtEl>
                                        <p:attrNameLst>
                                          <p:attrName>ppt_y</p:attrName>
                                        </p:attrNameLst>
                                      </p:cBhvr>
                                      <p:tavLst>
                                        <p:tav tm="0">
                                          <p:val>
                                            <p:strVal val="#ppt_y+0.06"/>
                                          </p:val>
                                        </p:tav>
                                        <p:tav tm="100000">
                                          <p:val>
                                            <p:strVal val="#ppt_y"/>
                                          </p:val>
                                        </p:tav>
                                      </p:tavLst>
                                    </p:anim>
                                  </p:childTnLst>
                                </p:cTn>
                              </p:par>
                              <p:par>
                                <p:cTn id="152" presetID="42" presetClass="entr" presetSubtype="0" fill="hold" grpId="0" nodeType="withEffect">
                                  <p:stCondLst>
                                    <p:cond delay="200"/>
                                  </p:stCondLst>
                                  <p:childTnLst>
                                    <p:set>
                                      <p:cBhvr>
                                        <p:cTn id="151" dur="1" fill="hold">
                                          <p:stCondLst>
                                            <p:cond delay="0"/>
                                          </p:stCondLst>
                                        </p:cTn>
                                        <p:tgtEl>
                                          <p:spTgt spid="47"/>
                                        </p:tgtEl>
                                        <p:attrNameLst>
                                          <p:attrName>style.visibility</p:attrName>
                                        </p:attrNameLst>
                                      </p:cBhvr>
                                      <p:to>
                                        <p:strVal val="visible"/>
                                      </p:to>
                                    </p:set>
                                    <p:animEffect transition="in" filter="fade">
                                      <p:cBhvr>
                                        <p:cTn id="153" dur="500"/>
                                        <p:tgtEl>
                                          <p:spTgt spid="47"/>
                                        </p:tgtEl>
                                      </p:cBhvr>
                                    </p:animEffect>
                                    <p:anim calcmode="lin" valueType="num">
                                      <p:cBhvr>
                                        <p:cTn id="154" dur="500" fill="hold"/>
                                        <p:tgtEl>
                                          <p:spTgt spid="47"/>
                                        </p:tgtEl>
                                        <p:attrNameLst>
                                          <p:attrName>ppt_x</p:attrName>
                                        </p:attrNameLst>
                                      </p:cBhvr>
                                      <p:tavLst>
                                        <p:tav tm="0">
                                          <p:val>
                                            <p:strVal val="#ppt_x"/>
                                          </p:val>
                                        </p:tav>
                                        <p:tav tm="100000">
                                          <p:val>
                                            <p:strVal val="#ppt_x"/>
                                          </p:val>
                                        </p:tav>
                                      </p:tavLst>
                                    </p:anim>
                                    <p:anim calcmode="lin" valueType="num">
                                      <p:cBhvr>
                                        <p:cTn id="155" dur="500" fill="hold"/>
                                        <p:tgtEl>
                                          <p:spTgt spid="4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7C3AED"/>
                </a:solidFill>
                <a:latin typeface="Inter" pitchFamily="34" charset="0"/>
                <a:ea typeface="Inter" pitchFamily="34" charset="-122"/>
                <a:cs typeface="Inter" pitchFamily="34" charset="-120"/>
              </a:rPr>
              <a:t>19 · TRAINING VS. INFERENCE</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Training vs. inference</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Same model, same mask — but training checks every position at once, while generation must go one step at a time.</a:t>
            </a:r>
            <a:endParaRPr lang="en-US" sz="1300" dirty="0"/>
          </a:p>
        </p:txBody>
      </p:sp>
      <p:sp>
        <p:nvSpPr>
          <p:cNvPr id="5" name="Shape 3"/>
          <p:cNvSpPr/>
          <p:nvPr/>
        </p:nvSpPr>
        <p:spPr>
          <a:xfrm>
            <a:off x="548640" y="1691640"/>
            <a:ext cx="5486400" cy="3246120"/>
          </a:xfrm>
          <a:prstGeom prst="roundRect">
            <a:avLst>
              <a:gd name="adj" fmla="val 2817"/>
            </a:avLst>
          </a:prstGeom>
          <a:solidFill>
            <a:srgbClr val="F8FAFC"/>
          </a:solidFill>
          <a:ln w="12700">
            <a:solidFill>
              <a:srgbClr val="CBD5E1"/>
            </a:solidFill>
            <a:prstDash val="solid"/>
          </a:ln>
        </p:spPr>
      </p:sp>
      <p:sp>
        <p:nvSpPr>
          <p:cNvPr id="6" name="Text 4"/>
          <p:cNvSpPr txBox="1"/>
          <p:nvPr/>
        </p:nvSpPr>
        <p:spPr>
          <a:xfrm>
            <a:off x="777240" y="1828800"/>
            <a:ext cx="5029200" cy="274320"/>
          </a:xfrm>
          <a:prstGeom prst="rect">
            <a:avLst/>
          </a:prstGeom>
          <a:noFill/>
          <a:ln/>
        </p:spPr>
        <p:txBody>
          <a:bodyPr wrap="square" lIns="0" tIns="0" rIns="0" bIns="0" rtlCol="0" anchor="t"/>
          <a:lstStyle/>
          <a:p>
            <a:pPr indent="0" marL="0">
              <a:buNone/>
            </a:pPr>
            <a:r>
              <a:rPr lang="en-US" sz="1300" b="1" dirty="0">
                <a:solidFill>
                  <a:srgbClr val="7C3AED"/>
                </a:solidFill>
                <a:latin typeface="Inter" pitchFamily="34" charset="0"/>
                <a:ea typeface="Inter" pitchFamily="34" charset="-122"/>
                <a:cs typeface="Inter" pitchFamily="34" charset="-120"/>
              </a:rPr>
              <a:t>Training · all positions in parallel</a:t>
            </a:r>
            <a:endParaRPr lang="en-US" sz="1300" dirty="0"/>
          </a:p>
        </p:txBody>
      </p:sp>
      <p:sp>
        <p:nvSpPr>
          <p:cNvPr id="7" name="Text 5"/>
          <p:cNvSpPr txBox="1"/>
          <p:nvPr/>
        </p:nvSpPr>
        <p:spPr>
          <a:xfrm>
            <a:off x="777240" y="2103120"/>
            <a:ext cx="5029200" cy="237744"/>
          </a:xfrm>
          <a:prstGeom prst="rect">
            <a:avLst/>
          </a:prstGeom>
          <a:noFill/>
          <a:ln/>
        </p:spPr>
        <p:txBody>
          <a:bodyPr wrap="square" lIns="0" tIns="0" rIns="0" bIns="0" rtlCol="0" anchor="t"/>
          <a:lstStyle/>
          <a:p>
            <a:pPr indent="0" marL="0">
              <a:buNone/>
            </a:pPr>
            <a:r>
              <a:rPr lang="en-US" sz="1000" dirty="0">
                <a:solidFill>
                  <a:srgbClr val="64748B"/>
                </a:solidFill>
                <a:latin typeface="Inter" pitchFamily="34" charset="0"/>
                <a:ea typeface="Inter" pitchFamily="34" charset="-122"/>
                <a:cs typeface="Inter" pitchFamily="34" charset="-120"/>
              </a:rPr>
              <a:t>“teacher forcing”: always feed the real text</a:t>
            </a:r>
            <a:endParaRPr lang="en-US" sz="1000" dirty="0"/>
          </a:p>
        </p:txBody>
      </p:sp>
      <p:sp>
        <p:nvSpPr>
          <p:cNvPr id="8" name="anim-2-fade-0-1082"/>
          <p:cNvSpPr txBox="1"/>
          <p:nvPr/>
        </p:nvSpPr>
        <p:spPr>
          <a:xfrm>
            <a:off x="822960" y="2414016"/>
            <a:ext cx="3657600" cy="182880"/>
          </a:xfrm>
          <a:prstGeom prst="rect">
            <a:avLst/>
          </a:prstGeom>
          <a:noFill/>
          <a:ln/>
        </p:spPr>
        <p:txBody>
          <a:bodyPr wrap="square" lIns="0" tIns="0" rIns="0" bIns="0" rtlCol="0" anchor="t"/>
          <a:lstStyle/>
          <a:p>
            <a:pPr indent="0" marL="0">
              <a:buNone/>
            </a:pPr>
            <a:r>
              <a:rPr lang="en-US" sz="900" b="1" dirty="0">
                <a:solidFill>
                  <a:srgbClr val="E11D48"/>
                </a:solidFill>
                <a:latin typeface="Inter" pitchFamily="34" charset="0"/>
                <a:ea typeface="Inter" pitchFamily="34" charset="-122"/>
                <a:cs typeface="Inter" pitchFamily="34" charset="-120"/>
              </a:rPr>
              <a:t>targets (the true next token)</a:t>
            </a:r>
            <a:endParaRPr lang="en-US" sz="900" dirty="0"/>
          </a:p>
        </p:txBody>
      </p:sp>
      <p:sp>
        <p:nvSpPr>
          <p:cNvPr id="9" name="anim-2-zoom-200-1083"/>
          <p:cNvSpPr/>
          <p:nvPr/>
        </p:nvSpPr>
        <p:spPr>
          <a:xfrm>
            <a:off x="822960"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cat</a:t>
            </a:r>
            <a:endParaRPr lang="en-US" sz="1200" dirty="0"/>
          </a:p>
        </p:txBody>
      </p:sp>
      <p:sp>
        <p:nvSpPr>
          <p:cNvPr id="10" name="anim-2-fade-0-1084"/>
          <p:cNvSpPr/>
          <p:nvPr/>
        </p:nvSpPr>
        <p:spPr>
          <a:xfrm flipV="1">
            <a:off x="1179576" y="3044952"/>
            <a:ext cx="0" cy="265176"/>
          </a:xfrm>
          <a:prstGeom prst="line">
            <a:avLst/>
          </a:prstGeom>
          <a:noFill/>
          <a:ln w="19050">
            <a:solidFill>
              <a:srgbClr val="E11D48"/>
            </a:solidFill>
            <a:prstDash val="solid"/>
            <a:tailEnd type="triangle"/>
          </a:ln>
        </p:spPr>
      </p:sp>
      <p:sp>
        <p:nvSpPr>
          <p:cNvPr id="11" name="anim-1-rise-0-1085"/>
          <p:cNvSpPr/>
          <p:nvPr/>
        </p:nvSpPr>
        <p:spPr>
          <a:xfrm>
            <a:off x="822960"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The</a:t>
            </a:r>
            <a:endParaRPr lang="en-US" sz="1200" dirty="0"/>
          </a:p>
        </p:txBody>
      </p:sp>
      <p:sp>
        <p:nvSpPr>
          <p:cNvPr id="12" name="anim-2-zoom-200-1086"/>
          <p:cNvSpPr/>
          <p:nvPr/>
        </p:nvSpPr>
        <p:spPr>
          <a:xfrm>
            <a:off x="1664208"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sat</a:t>
            </a:r>
            <a:endParaRPr lang="en-US" sz="1200" dirty="0"/>
          </a:p>
        </p:txBody>
      </p:sp>
      <p:sp>
        <p:nvSpPr>
          <p:cNvPr id="13" name="anim-2-fade-0-1087"/>
          <p:cNvSpPr/>
          <p:nvPr/>
        </p:nvSpPr>
        <p:spPr>
          <a:xfrm flipV="1">
            <a:off x="2020824" y="3044952"/>
            <a:ext cx="0" cy="265176"/>
          </a:xfrm>
          <a:prstGeom prst="line">
            <a:avLst/>
          </a:prstGeom>
          <a:noFill/>
          <a:ln w="19050">
            <a:solidFill>
              <a:srgbClr val="E11D48"/>
            </a:solidFill>
            <a:prstDash val="solid"/>
            <a:tailEnd type="triangle"/>
          </a:ln>
        </p:spPr>
      </p:sp>
      <p:sp>
        <p:nvSpPr>
          <p:cNvPr id="14" name="anim-1-rise-80-1088"/>
          <p:cNvSpPr/>
          <p:nvPr/>
        </p:nvSpPr>
        <p:spPr>
          <a:xfrm>
            <a:off x="1664208"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cat</a:t>
            </a:r>
            <a:endParaRPr lang="en-US" sz="1200" dirty="0"/>
          </a:p>
        </p:txBody>
      </p:sp>
      <p:sp>
        <p:nvSpPr>
          <p:cNvPr id="15" name="anim-2-zoom-200-1089"/>
          <p:cNvSpPr/>
          <p:nvPr/>
        </p:nvSpPr>
        <p:spPr>
          <a:xfrm>
            <a:off x="2505456"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on</a:t>
            </a:r>
            <a:endParaRPr lang="en-US" sz="1200" dirty="0"/>
          </a:p>
        </p:txBody>
      </p:sp>
      <p:sp>
        <p:nvSpPr>
          <p:cNvPr id="16" name="anim-2-fade-0-1090"/>
          <p:cNvSpPr/>
          <p:nvPr/>
        </p:nvSpPr>
        <p:spPr>
          <a:xfrm flipV="1">
            <a:off x="2862072" y="3044952"/>
            <a:ext cx="0" cy="265176"/>
          </a:xfrm>
          <a:prstGeom prst="line">
            <a:avLst/>
          </a:prstGeom>
          <a:noFill/>
          <a:ln w="19050">
            <a:solidFill>
              <a:srgbClr val="E11D48"/>
            </a:solidFill>
            <a:prstDash val="solid"/>
            <a:tailEnd type="triangle"/>
          </a:ln>
        </p:spPr>
      </p:sp>
      <p:sp>
        <p:nvSpPr>
          <p:cNvPr id="17" name="anim-1-rise-160-1091"/>
          <p:cNvSpPr/>
          <p:nvPr/>
        </p:nvSpPr>
        <p:spPr>
          <a:xfrm>
            <a:off x="2505456"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sat</a:t>
            </a:r>
            <a:endParaRPr lang="en-US" sz="1200" dirty="0"/>
          </a:p>
        </p:txBody>
      </p:sp>
      <p:sp>
        <p:nvSpPr>
          <p:cNvPr id="18" name="anim-2-zoom-200-1092"/>
          <p:cNvSpPr/>
          <p:nvPr/>
        </p:nvSpPr>
        <p:spPr>
          <a:xfrm>
            <a:off x="3346704"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the</a:t>
            </a:r>
            <a:endParaRPr lang="en-US" sz="1200" dirty="0"/>
          </a:p>
        </p:txBody>
      </p:sp>
      <p:sp>
        <p:nvSpPr>
          <p:cNvPr id="19" name="anim-2-fade-0-1093"/>
          <p:cNvSpPr/>
          <p:nvPr/>
        </p:nvSpPr>
        <p:spPr>
          <a:xfrm flipV="1">
            <a:off x="3703320" y="3044952"/>
            <a:ext cx="0" cy="265176"/>
          </a:xfrm>
          <a:prstGeom prst="line">
            <a:avLst/>
          </a:prstGeom>
          <a:noFill/>
          <a:ln w="19050">
            <a:solidFill>
              <a:srgbClr val="E11D48"/>
            </a:solidFill>
            <a:prstDash val="solid"/>
            <a:tailEnd type="triangle"/>
          </a:ln>
        </p:spPr>
      </p:sp>
      <p:sp>
        <p:nvSpPr>
          <p:cNvPr id="20" name="anim-1-rise-240-1094"/>
          <p:cNvSpPr/>
          <p:nvPr/>
        </p:nvSpPr>
        <p:spPr>
          <a:xfrm>
            <a:off x="3346704"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on</a:t>
            </a:r>
            <a:endParaRPr lang="en-US" sz="1200" dirty="0"/>
          </a:p>
        </p:txBody>
      </p:sp>
      <p:sp>
        <p:nvSpPr>
          <p:cNvPr id="21" name="anim-2-zoom-200-1095"/>
          <p:cNvSpPr/>
          <p:nvPr/>
        </p:nvSpPr>
        <p:spPr>
          <a:xfrm>
            <a:off x="4187952"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mat</a:t>
            </a:r>
            <a:endParaRPr lang="en-US" sz="1200" dirty="0"/>
          </a:p>
        </p:txBody>
      </p:sp>
      <p:sp>
        <p:nvSpPr>
          <p:cNvPr id="22" name="anim-2-fade-0-1096"/>
          <p:cNvSpPr/>
          <p:nvPr/>
        </p:nvSpPr>
        <p:spPr>
          <a:xfrm flipV="1">
            <a:off x="4544568" y="3044952"/>
            <a:ext cx="0" cy="265176"/>
          </a:xfrm>
          <a:prstGeom prst="line">
            <a:avLst/>
          </a:prstGeom>
          <a:noFill/>
          <a:ln w="19050">
            <a:solidFill>
              <a:srgbClr val="E11D48"/>
            </a:solidFill>
            <a:prstDash val="solid"/>
            <a:tailEnd type="triangle"/>
          </a:ln>
        </p:spPr>
      </p:sp>
      <p:sp>
        <p:nvSpPr>
          <p:cNvPr id="23" name="anim-1-rise-320-1097"/>
          <p:cNvSpPr/>
          <p:nvPr/>
        </p:nvSpPr>
        <p:spPr>
          <a:xfrm>
            <a:off x="4187952"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the</a:t>
            </a:r>
            <a:endParaRPr lang="en-US" sz="1200" dirty="0"/>
          </a:p>
        </p:txBody>
      </p:sp>
      <p:sp>
        <p:nvSpPr>
          <p:cNvPr id="24" name="anim-2-zoom-200-1098"/>
          <p:cNvSpPr/>
          <p:nvPr/>
        </p:nvSpPr>
        <p:spPr>
          <a:xfrm>
            <a:off x="5029200" y="2633472"/>
            <a:ext cx="713232" cy="384048"/>
          </a:xfrm>
          <a:prstGeom prst="roundRect">
            <a:avLst>
              <a:gd name="adj" fmla="val 16667"/>
            </a:avLst>
          </a:prstGeom>
          <a:solidFill>
            <a:srgbClr val="FFE4E6"/>
          </a:solidFill>
          <a:ln w="12700">
            <a:solidFill>
              <a:srgbClr val="E11D48"/>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a:t>
            </a:r>
            <a:endParaRPr lang="en-US" sz="1200" dirty="0"/>
          </a:p>
        </p:txBody>
      </p:sp>
      <p:sp>
        <p:nvSpPr>
          <p:cNvPr id="25" name="anim-2-fade-0-1099"/>
          <p:cNvSpPr/>
          <p:nvPr/>
        </p:nvSpPr>
        <p:spPr>
          <a:xfrm flipV="1">
            <a:off x="5385816" y="3044952"/>
            <a:ext cx="0" cy="265176"/>
          </a:xfrm>
          <a:prstGeom prst="line">
            <a:avLst/>
          </a:prstGeom>
          <a:noFill/>
          <a:ln w="19050">
            <a:solidFill>
              <a:srgbClr val="E11D48"/>
            </a:solidFill>
            <a:prstDash val="solid"/>
            <a:tailEnd type="triangle"/>
          </a:ln>
        </p:spPr>
      </p:sp>
      <p:sp>
        <p:nvSpPr>
          <p:cNvPr id="26" name="anim-1-rise-400-1100"/>
          <p:cNvSpPr/>
          <p:nvPr/>
        </p:nvSpPr>
        <p:spPr>
          <a:xfrm>
            <a:off x="5029200" y="3337560"/>
            <a:ext cx="713232" cy="384048"/>
          </a:xfrm>
          <a:prstGeom prst="roundRect">
            <a:avLst>
              <a:gd name="adj" fmla="val 16667"/>
            </a:avLst>
          </a:prstGeom>
          <a:solidFill>
            <a:srgbClr val="FFFFFF"/>
          </a:solidFill>
          <a:ln w="12700">
            <a:solidFill>
              <a:srgbClr val="CBD5E1"/>
            </a:solidFill>
          </a:ln>
        </p:spPr>
        <p:txBody>
          <a:bodyPr wrap="square" lIns="0" tIns="0" rIns="0" bIns="0" rtlCol="0" anchor="ctr"/>
          <a:lstStyle/>
          <a:p>
            <a:pPr algn="ctr" indent="0" marL="0">
              <a:buNone/>
            </a:pPr>
            <a:r>
              <a:rPr lang="en-US" sz="1200" b="1" dirty="0">
                <a:solidFill>
                  <a:srgbClr val="0F172A"/>
                </a:solidFill>
                <a:latin typeface="Inter" pitchFamily="34" charset="0"/>
                <a:ea typeface="Inter" pitchFamily="34" charset="-122"/>
                <a:cs typeface="Inter" pitchFamily="34" charset="-120"/>
              </a:rPr>
              <a:t>mat</a:t>
            </a:r>
            <a:endParaRPr lang="en-US" sz="1200" dirty="0"/>
          </a:p>
        </p:txBody>
      </p:sp>
      <p:sp>
        <p:nvSpPr>
          <p:cNvPr id="27" name="anim-1-fade-0-1101"/>
          <p:cNvSpPr txBox="1"/>
          <p:nvPr/>
        </p:nvSpPr>
        <p:spPr>
          <a:xfrm>
            <a:off x="822960" y="3767328"/>
            <a:ext cx="3657600" cy="182880"/>
          </a:xfrm>
          <a:prstGeom prst="rect">
            <a:avLst/>
          </a:prstGeom>
          <a:noFill/>
          <a:ln/>
        </p:spPr>
        <p:txBody>
          <a:bodyPr wrap="square" lIns="0" tIns="0" rIns="0" bIns="0" rtlCol="0" anchor="t"/>
          <a:lstStyle/>
          <a:p>
            <a:pPr indent="0" marL="0">
              <a:buNone/>
            </a:pPr>
            <a:r>
              <a:rPr lang="en-US" sz="900" b="1" dirty="0">
                <a:solidFill>
                  <a:srgbClr val="64748B"/>
                </a:solidFill>
                <a:latin typeface="Inter" pitchFamily="34" charset="0"/>
                <a:ea typeface="Inter" pitchFamily="34" charset="-122"/>
                <a:cs typeface="Inter" pitchFamily="34" charset="-120"/>
              </a:rPr>
              <a:t>input (the true text)</a:t>
            </a:r>
            <a:endParaRPr lang="en-US" sz="900" dirty="0"/>
          </a:p>
        </p:txBody>
      </p:sp>
      <p:sp>
        <p:nvSpPr>
          <p:cNvPr id="28" name="anim-2-fade-400-1102"/>
          <p:cNvSpPr txBox="1"/>
          <p:nvPr/>
        </p:nvSpPr>
        <p:spPr>
          <a:xfrm>
            <a:off x="777240" y="4069080"/>
            <a:ext cx="5029200" cy="73152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One forward pass → 6 predictions → 6 errors averaged into one loss. Even if the model guesses “floor”, the next position still gets the true “mat”.</a:t>
            </a:r>
            <a:endParaRPr lang="en-US" sz="1050" dirty="0"/>
          </a:p>
        </p:txBody>
      </p:sp>
      <p:sp>
        <p:nvSpPr>
          <p:cNvPr id="29" name="Shape 27"/>
          <p:cNvSpPr/>
          <p:nvPr/>
        </p:nvSpPr>
        <p:spPr>
          <a:xfrm>
            <a:off x="6263640" y="1691640"/>
            <a:ext cx="5349240" cy="3246120"/>
          </a:xfrm>
          <a:prstGeom prst="roundRect">
            <a:avLst>
              <a:gd name="adj" fmla="val 2817"/>
            </a:avLst>
          </a:prstGeom>
          <a:solidFill>
            <a:srgbClr val="F8FAFC"/>
          </a:solidFill>
          <a:ln w="12700">
            <a:solidFill>
              <a:srgbClr val="CBD5E1"/>
            </a:solidFill>
            <a:prstDash val="solid"/>
          </a:ln>
        </p:spPr>
      </p:sp>
      <p:sp>
        <p:nvSpPr>
          <p:cNvPr id="30" name="Text 28"/>
          <p:cNvSpPr txBox="1"/>
          <p:nvPr/>
        </p:nvSpPr>
        <p:spPr>
          <a:xfrm>
            <a:off x="6492240" y="1828800"/>
            <a:ext cx="4937760" cy="274320"/>
          </a:xfrm>
          <a:prstGeom prst="rect">
            <a:avLst/>
          </a:prstGeom>
          <a:noFill/>
          <a:ln/>
        </p:spPr>
        <p:txBody>
          <a:bodyPr wrap="square" lIns="0" tIns="0" rIns="0" bIns="0" rtlCol="0" anchor="t"/>
          <a:lstStyle/>
          <a:p>
            <a:pPr indent="0" marL="0">
              <a:buNone/>
            </a:pPr>
            <a:r>
              <a:rPr lang="en-US" sz="1300" b="1" dirty="0">
                <a:solidFill>
                  <a:srgbClr val="E11D48"/>
                </a:solidFill>
                <a:latin typeface="Inter" pitchFamily="34" charset="0"/>
                <a:ea typeface="Inter" pitchFamily="34" charset="-122"/>
                <a:cs typeface="Inter" pitchFamily="34" charset="-120"/>
              </a:rPr>
              <a:t>Inference · one token per pass</a:t>
            </a:r>
            <a:endParaRPr lang="en-US" sz="1300" dirty="0"/>
          </a:p>
        </p:txBody>
      </p:sp>
      <p:sp>
        <p:nvSpPr>
          <p:cNvPr id="31" name="Text 29"/>
          <p:cNvSpPr txBox="1"/>
          <p:nvPr/>
        </p:nvSpPr>
        <p:spPr>
          <a:xfrm>
            <a:off x="6492240" y="2103120"/>
            <a:ext cx="4937760" cy="237744"/>
          </a:xfrm>
          <a:prstGeom prst="rect">
            <a:avLst/>
          </a:prstGeom>
          <a:noFill/>
          <a:ln/>
        </p:spPr>
        <p:txBody>
          <a:bodyPr wrap="square" lIns="0" tIns="0" rIns="0" bIns="0" rtlCol="0" anchor="t"/>
          <a:lstStyle/>
          <a:p>
            <a:pPr indent="0" marL="0">
              <a:buNone/>
            </a:pPr>
            <a:r>
              <a:rPr lang="en-US" sz="1000" dirty="0">
                <a:solidFill>
                  <a:srgbClr val="64748B"/>
                </a:solidFill>
                <a:latin typeface="Inter" pitchFamily="34" charset="0"/>
                <a:ea typeface="Inter" pitchFamily="34" charset="-122"/>
                <a:cs typeface="Inter" pitchFamily="34" charset="-120"/>
              </a:rPr>
              <a:t>the model feeds on its own predictions</a:t>
            </a:r>
            <a:endParaRPr lang="en-US" sz="1000" dirty="0"/>
          </a:p>
        </p:txBody>
      </p:sp>
      <p:sp>
        <p:nvSpPr>
          <p:cNvPr id="32" name="anim-3-fade-40-1103"/>
          <p:cNvSpPr/>
          <p:nvPr/>
        </p:nvSpPr>
        <p:spPr>
          <a:xfrm>
            <a:off x="6492240" y="251460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33" name="anim-3-fade-80-1104"/>
          <p:cNvSpPr/>
          <p:nvPr/>
        </p:nvSpPr>
        <p:spPr>
          <a:xfrm>
            <a:off x="7035394" y="251460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cat</a:t>
            </a:r>
            <a:endParaRPr lang="en-US" sz="1000" dirty="0"/>
          </a:p>
        </p:txBody>
      </p:sp>
      <p:sp>
        <p:nvSpPr>
          <p:cNvPr id="34" name="anim-3-fade-120-1105"/>
          <p:cNvSpPr/>
          <p:nvPr/>
        </p:nvSpPr>
        <p:spPr>
          <a:xfrm>
            <a:off x="7578547" y="251460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sat</a:t>
            </a:r>
            <a:endParaRPr lang="en-US" sz="1000" dirty="0"/>
          </a:p>
        </p:txBody>
      </p:sp>
      <p:sp>
        <p:nvSpPr>
          <p:cNvPr id="35" name="anim-3-fade-160-1106"/>
          <p:cNvSpPr/>
          <p:nvPr/>
        </p:nvSpPr>
        <p:spPr>
          <a:xfrm>
            <a:off x="8121701" y="2514600"/>
            <a:ext cx="416966"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on</a:t>
            </a:r>
            <a:endParaRPr lang="en-US" sz="1000" dirty="0"/>
          </a:p>
        </p:txBody>
      </p:sp>
      <p:sp>
        <p:nvSpPr>
          <p:cNvPr id="36" name="anim-3-fade-200-1107"/>
          <p:cNvSpPr/>
          <p:nvPr/>
        </p:nvSpPr>
        <p:spPr>
          <a:xfrm>
            <a:off x="8584387" y="251460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37" name="anim-3-fade-240-1108"/>
          <p:cNvSpPr/>
          <p:nvPr/>
        </p:nvSpPr>
        <p:spPr>
          <a:xfrm>
            <a:off x="9164117" y="2688336"/>
            <a:ext cx="347472" cy="0"/>
          </a:xfrm>
          <a:prstGeom prst="line">
            <a:avLst/>
          </a:prstGeom>
          <a:noFill/>
          <a:ln w="22225">
            <a:solidFill>
              <a:srgbClr val="E11D48"/>
            </a:solidFill>
            <a:prstDash val="solid"/>
            <a:tailEnd type="triangle"/>
          </a:ln>
        </p:spPr>
      </p:sp>
      <p:sp>
        <p:nvSpPr>
          <p:cNvPr id="38" name="anim-3-zoom-450-1109"/>
          <p:cNvSpPr/>
          <p:nvPr/>
        </p:nvSpPr>
        <p:spPr>
          <a:xfrm>
            <a:off x="9584741" y="2514600"/>
            <a:ext cx="497434" cy="347472"/>
          </a:xfrm>
          <a:prstGeom prst="roundRect">
            <a:avLst>
              <a:gd name="adj" fmla="val 18421"/>
            </a:avLst>
          </a:prstGeom>
          <a:solidFill>
            <a:srgbClr val="E11D48"/>
          </a:solidFill>
          <a:ln w="12700">
            <a:solidFill>
              <a:srgbClr val="E11D48"/>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mat</a:t>
            </a:r>
            <a:endParaRPr lang="en-US" sz="1000" dirty="0"/>
          </a:p>
        </p:txBody>
      </p:sp>
      <p:sp>
        <p:nvSpPr>
          <p:cNvPr id="39" name="anim-3-fade-740-1110"/>
          <p:cNvSpPr/>
          <p:nvPr/>
        </p:nvSpPr>
        <p:spPr>
          <a:xfrm>
            <a:off x="6492240" y="301752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40" name="anim-3-fade-780-1111"/>
          <p:cNvSpPr/>
          <p:nvPr/>
        </p:nvSpPr>
        <p:spPr>
          <a:xfrm>
            <a:off x="7035394" y="301752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cat</a:t>
            </a:r>
            <a:endParaRPr lang="en-US" sz="1000" dirty="0"/>
          </a:p>
        </p:txBody>
      </p:sp>
      <p:sp>
        <p:nvSpPr>
          <p:cNvPr id="41" name="anim-3-fade-820-1112"/>
          <p:cNvSpPr/>
          <p:nvPr/>
        </p:nvSpPr>
        <p:spPr>
          <a:xfrm>
            <a:off x="7578547" y="301752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sat</a:t>
            </a:r>
            <a:endParaRPr lang="en-US" sz="1000" dirty="0"/>
          </a:p>
        </p:txBody>
      </p:sp>
      <p:sp>
        <p:nvSpPr>
          <p:cNvPr id="42" name="anim-3-fade-860-1113"/>
          <p:cNvSpPr/>
          <p:nvPr/>
        </p:nvSpPr>
        <p:spPr>
          <a:xfrm>
            <a:off x="8121701" y="3017520"/>
            <a:ext cx="416966"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on</a:t>
            </a:r>
            <a:endParaRPr lang="en-US" sz="1000" dirty="0"/>
          </a:p>
        </p:txBody>
      </p:sp>
      <p:sp>
        <p:nvSpPr>
          <p:cNvPr id="43" name="anim-3-fade-900-1114"/>
          <p:cNvSpPr/>
          <p:nvPr/>
        </p:nvSpPr>
        <p:spPr>
          <a:xfrm>
            <a:off x="8584387" y="301752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44" name="anim-3-fade-940-1115"/>
          <p:cNvSpPr/>
          <p:nvPr/>
        </p:nvSpPr>
        <p:spPr>
          <a:xfrm>
            <a:off x="9127541" y="3017520"/>
            <a:ext cx="497434" cy="347472"/>
          </a:xfrm>
          <a:prstGeom prst="roundRect">
            <a:avLst>
              <a:gd name="adj" fmla="val 18421"/>
            </a:avLst>
          </a:prstGeom>
          <a:solidFill>
            <a:srgbClr val="FFE4E6"/>
          </a:solidFill>
          <a:ln w="12700">
            <a:solidFill>
              <a:srgbClr val="E11D48"/>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mat</a:t>
            </a:r>
            <a:endParaRPr lang="en-US" sz="1000" dirty="0"/>
          </a:p>
        </p:txBody>
      </p:sp>
      <p:sp>
        <p:nvSpPr>
          <p:cNvPr id="45" name="anim-3-fade-980-1116"/>
          <p:cNvSpPr/>
          <p:nvPr/>
        </p:nvSpPr>
        <p:spPr>
          <a:xfrm>
            <a:off x="9707270" y="3191256"/>
            <a:ext cx="347472" cy="0"/>
          </a:xfrm>
          <a:prstGeom prst="line">
            <a:avLst/>
          </a:prstGeom>
          <a:noFill/>
          <a:ln w="22225">
            <a:solidFill>
              <a:srgbClr val="E11D48"/>
            </a:solidFill>
            <a:prstDash val="solid"/>
            <a:tailEnd type="triangle"/>
          </a:ln>
        </p:spPr>
      </p:sp>
      <p:sp>
        <p:nvSpPr>
          <p:cNvPr id="46" name="anim-3-zoom-1150-1117"/>
          <p:cNvSpPr/>
          <p:nvPr/>
        </p:nvSpPr>
        <p:spPr>
          <a:xfrm>
            <a:off x="10127894" y="3017520"/>
            <a:ext cx="384048" cy="347472"/>
          </a:xfrm>
          <a:prstGeom prst="roundRect">
            <a:avLst>
              <a:gd name="adj" fmla="val 18421"/>
            </a:avLst>
          </a:prstGeom>
          <a:solidFill>
            <a:srgbClr val="E11D48"/>
          </a:solidFill>
          <a:ln w="12700">
            <a:solidFill>
              <a:srgbClr val="E11D48"/>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47" name="anim-3-fade-1440-1118"/>
          <p:cNvSpPr/>
          <p:nvPr/>
        </p:nvSpPr>
        <p:spPr>
          <a:xfrm>
            <a:off x="6492240" y="352044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48" name="anim-3-fade-1480-1119"/>
          <p:cNvSpPr/>
          <p:nvPr/>
        </p:nvSpPr>
        <p:spPr>
          <a:xfrm>
            <a:off x="7035394" y="352044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cat</a:t>
            </a:r>
            <a:endParaRPr lang="en-US" sz="1000" dirty="0"/>
          </a:p>
        </p:txBody>
      </p:sp>
      <p:sp>
        <p:nvSpPr>
          <p:cNvPr id="49" name="anim-3-fade-1520-1120"/>
          <p:cNvSpPr/>
          <p:nvPr/>
        </p:nvSpPr>
        <p:spPr>
          <a:xfrm>
            <a:off x="7578547" y="352044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sat</a:t>
            </a:r>
            <a:endParaRPr lang="en-US" sz="1000" dirty="0"/>
          </a:p>
        </p:txBody>
      </p:sp>
      <p:sp>
        <p:nvSpPr>
          <p:cNvPr id="50" name="anim-3-fade-1560-1121"/>
          <p:cNvSpPr/>
          <p:nvPr/>
        </p:nvSpPr>
        <p:spPr>
          <a:xfrm>
            <a:off x="8121701" y="3520440"/>
            <a:ext cx="416966"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on</a:t>
            </a:r>
            <a:endParaRPr lang="en-US" sz="1000" dirty="0"/>
          </a:p>
        </p:txBody>
      </p:sp>
      <p:sp>
        <p:nvSpPr>
          <p:cNvPr id="51" name="anim-3-fade-1600-1122"/>
          <p:cNvSpPr/>
          <p:nvPr/>
        </p:nvSpPr>
        <p:spPr>
          <a:xfrm>
            <a:off x="8584387" y="3520440"/>
            <a:ext cx="497434" cy="347472"/>
          </a:xfrm>
          <a:prstGeom prst="roundRect">
            <a:avLst>
              <a:gd name="adj" fmla="val 18421"/>
            </a:avLst>
          </a:prstGeom>
          <a:solidFill>
            <a:srgbClr val="FFFFFF"/>
          </a:solidFill>
          <a:ln w="12700">
            <a:solidFill>
              <a:srgbClr val="CBD5E1"/>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the</a:t>
            </a:r>
            <a:endParaRPr lang="en-US" sz="1000" dirty="0"/>
          </a:p>
        </p:txBody>
      </p:sp>
      <p:sp>
        <p:nvSpPr>
          <p:cNvPr id="52" name="anim-3-fade-1640-1123"/>
          <p:cNvSpPr/>
          <p:nvPr/>
        </p:nvSpPr>
        <p:spPr>
          <a:xfrm>
            <a:off x="9127541" y="3520440"/>
            <a:ext cx="497434" cy="347472"/>
          </a:xfrm>
          <a:prstGeom prst="roundRect">
            <a:avLst>
              <a:gd name="adj" fmla="val 18421"/>
            </a:avLst>
          </a:prstGeom>
          <a:solidFill>
            <a:srgbClr val="FFE4E6"/>
          </a:solidFill>
          <a:ln w="12700">
            <a:solidFill>
              <a:srgbClr val="E11D48"/>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mat</a:t>
            </a:r>
            <a:endParaRPr lang="en-US" sz="1000" dirty="0"/>
          </a:p>
        </p:txBody>
      </p:sp>
      <p:sp>
        <p:nvSpPr>
          <p:cNvPr id="53" name="anim-3-fade-1680-1124"/>
          <p:cNvSpPr/>
          <p:nvPr/>
        </p:nvSpPr>
        <p:spPr>
          <a:xfrm>
            <a:off x="9670694" y="3520440"/>
            <a:ext cx="384048" cy="347472"/>
          </a:xfrm>
          <a:prstGeom prst="roundRect">
            <a:avLst>
              <a:gd name="adj" fmla="val 18421"/>
            </a:avLst>
          </a:prstGeom>
          <a:solidFill>
            <a:srgbClr val="FFE4E6"/>
          </a:solidFill>
          <a:ln w="12700">
            <a:solidFill>
              <a:srgbClr val="E11D48"/>
            </a:solidFill>
          </a:ln>
        </p:spPr>
        <p:txBody>
          <a:bodyPr wrap="square" lIns="0" tIns="0" rIns="0" bIns="0" rtlCol="0" anchor="ctr"/>
          <a:lstStyle/>
          <a:p>
            <a:pPr algn="ctr" indent="0" marL="0">
              <a:buNone/>
            </a:pPr>
            <a:r>
              <a:rPr lang="en-US" sz="1000" b="1" dirty="0">
                <a:solidFill>
                  <a:srgbClr val="0F172A"/>
                </a:solidFill>
                <a:latin typeface="Inter" pitchFamily="34" charset="0"/>
                <a:ea typeface="Inter" pitchFamily="34" charset="-122"/>
                <a:cs typeface="Inter" pitchFamily="34" charset="-120"/>
              </a:rPr>
              <a:t>.</a:t>
            </a:r>
            <a:endParaRPr lang="en-US" sz="1000" dirty="0"/>
          </a:p>
        </p:txBody>
      </p:sp>
      <p:sp>
        <p:nvSpPr>
          <p:cNvPr id="54" name="anim-3-fade-1720-1125"/>
          <p:cNvSpPr/>
          <p:nvPr/>
        </p:nvSpPr>
        <p:spPr>
          <a:xfrm>
            <a:off x="10137038" y="3694176"/>
            <a:ext cx="347472" cy="0"/>
          </a:xfrm>
          <a:prstGeom prst="line">
            <a:avLst/>
          </a:prstGeom>
          <a:noFill/>
          <a:ln w="22225">
            <a:solidFill>
              <a:srgbClr val="E11D48"/>
            </a:solidFill>
            <a:prstDash val="solid"/>
            <a:tailEnd type="triangle"/>
          </a:ln>
        </p:spPr>
      </p:sp>
      <p:sp>
        <p:nvSpPr>
          <p:cNvPr id="55" name="anim-3-zoom-1850-1126"/>
          <p:cNvSpPr/>
          <p:nvPr/>
        </p:nvSpPr>
        <p:spPr>
          <a:xfrm>
            <a:off x="10557662" y="3520440"/>
            <a:ext cx="658368" cy="347472"/>
          </a:xfrm>
          <a:prstGeom prst="roundRect">
            <a:avLst>
              <a:gd name="adj" fmla="val 18421"/>
            </a:avLst>
          </a:prstGeom>
          <a:solidFill>
            <a:srgbClr val="E11D48"/>
          </a:solidFill>
          <a:ln w="12700">
            <a:solidFill>
              <a:srgbClr val="E11D48"/>
            </a:solid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&lt;end&gt;</a:t>
            </a:r>
            <a:endParaRPr lang="en-US" sz="1000" dirty="0"/>
          </a:p>
        </p:txBody>
      </p:sp>
      <p:sp>
        <p:nvSpPr>
          <p:cNvPr id="56" name="anim-3-fade-2200-1127"/>
          <p:cNvSpPr txBox="1"/>
          <p:nvPr/>
        </p:nvSpPr>
        <p:spPr>
          <a:xfrm>
            <a:off x="6492240" y="4069080"/>
            <a:ext cx="4937760" cy="731520"/>
          </a:xfrm>
          <a:prstGeom prst="rect">
            <a:avLst/>
          </a:prstGeom>
          <a:noFill/>
          <a:ln/>
        </p:spPr>
        <p:txBody>
          <a:bodyPr wrap="square" lIns="0" tIns="0" rIns="0" bIns="0" rtlCol="0" anchor="t"/>
          <a:lstStyle/>
          <a:p>
            <a:pPr indent="0" marL="0">
              <a:buNone/>
            </a:pPr>
            <a:r>
              <a:rPr lang="en-US" sz="1050" dirty="0">
                <a:solidFill>
                  <a:srgbClr val="334155"/>
                </a:solidFill>
                <a:latin typeface="Inter" pitchFamily="34" charset="0"/>
                <a:ea typeface="Inter" pitchFamily="34" charset="-122"/>
                <a:cs typeface="Inter" pitchFamily="34" charset="-120"/>
              </a:rPr>
              <a:t>Each new token needs another pass. The future can’t be computed in parallel — it doesn’t exist yet.</a:t>
            </a:r>
            <a:endParaRPr lang="en-US" sz="1050" dirty="0"/>
          </a:p>
        </p:txBody>
      </p:sp>
      <p:sp>
        <p:nvSpPr>
          <p:cNvPr id="57" name="anim-4-rise-0-1128"/>
          <p:cNvSpPr/>
          <p:nvPr/>
        </p:nvSpPr>
        <p:spPr>
          <a:xfrm>
            <a:off x="548640" y="5120640"/>
            <a:ext cx="11064240" cy="1051560"/>
          </a:xfrm>
          <a:prstGeom prst="roundRect">
            <a:avLst>
              <a:gd name="adj" fmla="val 8696"/>
            </a:avLst>
          </a:prstGeom>
          <a:solidFill>
            <a:srgbClr val="FFE4E6"/>
          </a:solidFill>
          <a:ln/>
        </p:spPr>
        <p:txBody>
          <a:bodyPr wrap="square" lIns="101600" tIns="203200" rIns="203200" bIns="101600" rtlCol="0" anchor="ctr"/>
          <a:lstStyle/>
          <a:p>
            <a:pPr indent="0" marL="0">
              <a:buNone/>
            </a:pPr>
            <a:r>
              <a:rPr lang="en-US" sz="1300" b="1" dirty="0">
                <a:solidFill>
                  <a:srgbClr val="E11D48"/>
                </a:solidFill>
                <a:latin typeface="Inter" pitchFamily="34" charset="0"/>
                <a:ea typeface="Inter" pitchFamily="34" charset="-122"/>
                <a:cs typeface="Inter" pitchFamily="34" charset="-120"/>
              </a:rPr>
              <a:t>Why the mask matters during training  </a:t>
            </a:r>
            <a:endParaRPr lang="en-US" sz="1300" dirty="0"/>
          </a:p>
          <a:p>
            <a:pPr indent="0" marL="0">
              <a:spcBef>
                <a:spcPts val="400"/>
              </a:spcBef>
              <a:buNone/>
            </a:pPr>
            <a:r>
              <a:rPr lang="en-US" sz="1100" dirty="0">
                <a:solidFill>
                  <a:srgbClr val="334155"/>
                </a:solidFill>
                <a:latin typeface="Inter" pitchFamily="34" charset="0"/>
                <a:ea typeface="Inter" pitchFamily="34" charset="-122"/>
                <a:cs typeface="Inter" pitchFamily="34" charset="-120"/>
              </a:rPr>
              <a:t>In training, the answer is sitting right there in the input: when predicting the token after “on the”, “mat” is one position to the right. Without the causal mask the model would simply copy it — like a test with the answer key stapled on — and learn nothing useful for real generation.</a:t>
            </a:r>
            <a:endParaRPr lang="en-US" sz="13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0.06"/>
                                          </p:val>
                                        </p:tav>
                                        <p:tav tm="100000">
                                          <p:val>
                                            <p:strVal val="#ppt_y"/>
                                          </p:val>
                                        </p:tav>
                                      </p:tavLst>
                                    </p:anim>
                                  </p:childTnLst>
                                </p:cTn>
                              </p:par>
                              <p:par>
                                <p:cTn id="11" presetID="10"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par>
                                <p:cTn id="14" presetID="42" presetClass="entr" presetSubtype="0" fill="hold" grpId="0" nodeType="withEffect">
                                  <p:stCondLst>
                                    <p:cond delay="80"/>
                                  </p:stCondLst>
                                  <p:childTnLst>
                                    <p:set>
                                      <p:cBhvr>
                                        <p:cTn id="13"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anim calcmode="lin" valueType="num">
                                      <p:cBhvr>
                                        <p:cTn id="16" dur="500" fill="hold"/>
                                        <p:tgtEl>
                                          <p:spTgt spid="14"/>
                                        </p:tgtEl>
                                        <p:attrNameLst>
                                          <p:attrName>ppt_x</p:attrName>
                                        </p:attrNameLst>
                                      </p:cBhvr>
                                      <p:tavLst>
                                        <p:tav tm="0">
                                          <p:val>
                                            <p:strVal val="#ppt_x"/>
                                          </p:val>
                                        </p:tav>
                                        <p:tav tm="100000">
                                          <p:val>
                                            <p:strVal val="#ppt_x"/>
                                          </p:val>
                                        </p:tav>
                                      </p:tavLst>
                                    </p:anim>
                                    <p:anim calcmode="lin" valueType="num">
                                      <p:cBhvr>
                                        <p:cTn id="17" dur="500" fill="hold"/>
                                        <p:tgtEl>
                                          <p:spTgt spid="14"/>
                                        </p:tgtEl>
                                        <p:attrNameLst>
                                          <p:attrName>ppt_y</p:attrName>
                                        </p:attrNameLst>
                                      </p:cBhvr>
                                      <p:tavLst>
                                        <p:tav tm="0">
                                          <p:val>
                                            <p:strVal val="#ppt_y+0.06"/>
                                          </p:val>
                                        </p:tav>
                                        <p:tav tm="100000">
                                          <p:val>
                                            <p:strVal val="#ppt_y"/>
                                          </p:val>
                                        </p:tav>
                                      </p:tavLst>
                                    </p:anim>
                                  </p:childTnLst>
                                </p:cTn>
                              </p:par>
                              <p:par>
                                <p:cTn id="19" presetID="42" presetClass="entr" presetSubtype="0" fill="hold" grpId="0" nodeType="withEffect">
                                  <p:stCondLst>
                                    <p:cond delay="160"/>
                                  </p:stCondLst>
                                  <p:childTnLst>
                                    <p:set>
                                      <p:cBhvr>
                                        <p:cTn id="18"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anim calcmode="lin" valueType="num">
                                      <p:cBhvr>
                                        <p:cTn id="21" dur="500" fill="hold"/>
                                        <p:tgtEl>
                                          <p:spTgt spid="17"/>
                                        </p:tgtEl>
                                        <p:attrNameLst>
                                          <p:attrName>ppt_x</p:attrName>
                                        </p:attrNameLst>
                                      </p:cBhvr>
                                      <p:tavLst>
                                        <p:tav tm="0">
                                          <p:val>
                                            <p:strVal val="#ppt_x"/>
                                          </p:val>
                                        </p:tav>
                                        <p:tav tm="100000">
                                          <p:val>
                                            <p:strVal val="#ppt_x"/>
                                          </p:val>
                                        </p:tav>
                                      </p:tavLst>
                                    </p:anim>
                                    <p:anim calcmode="lin" valueType="num">
                                      <p:cBhvr>
                                        <p:cTn id="22" dur="500" fill="hold"/>
                                        <p:tgtEl>
                                          <p:spTgt spid="17"/>
                                        </p:tgtEl>
                                        <p:attrNameLst>
                                          <p:attrName>ppt_y</p:attrName>
                                        </p:attrNameLst>
                                      </p:cBhvr>
                                      <p:tavLst>
                                        <p:tav tm="0">
                                          <p:val>
                                            <p:strVal val="#ppt_y+0.06"/>
                                          </p:val>
                                        </p:tav>
                                        <p:tav tm="100000">
                                          <p:val>
                                            <p:strVal val="#ppt_y"/>
                                          </p:val>
                                        </p:tav>
                                      </p:tavLst>
                                    </p:anim>
                                  </p:childTnLst>
                                </p:cTn>
                              </p:par>
                              <p:par>
                                <p:cTn id="24" presetID="42" presetClass="entr" presetSubtype="0" fill="hold" grpId="0" nodeType="withEffect">
                                  <p:stCondLst>
                                    <p:cond delay="240"/>
                                  </p:stCondLst>
                                  <p:childTnLst>
                                    <p:set>
                                      <p:cBhvr>
                                        <p:cTn id="23"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strVal val="#ppt_x"/>
                                          </p:val>
                                        </p:tav>
                                        <p:tav tm="100000">
                                          <p:val>
                                            <p:strVal val="#ppt_x"/>
                                          </p:val>
                                        </p:tav>
                                      </p:tavLst>
                                    </p:anim>
                                    <p:anim calcmode="lin" valueType="num">
                                      <p:cBhvr>
                                        <p:cTn id="27" dur="500" fill="hold"/>
                                        <p:tgtEl>
                                          <p:spTgt spid="20"/>
                                        </p:tgtEl>
                                        <p:attrNameLst>
                                          <p:attrName>ppt_y</p:attrName>
                                        </p:attrNameLst>
                                      </p:cBhvr>
                                      <p:tavLst>
                                        <p:tav tm="0">
                                          <p:val>
                                            <p:strVal val="#ppt_y+0.06"/>
                                          </p:val>
                                        </p:tav>
                                        <p:tav tm="100000">
                                          <p:val>
                                            <p:strVal val="#ppt_y"/>
                                          </p:val>
                                        </p:tav>
                                      </p:tavLst>
                                    </p:anim>
                                  </p:childTnLst>
                                </p:cTn>
                              </p:par>
                              <p:par>
                                <p:cTn id="29" presetID="42" presetClass="entr" presetSubtype="0" fill="hold" grpId="0" nodeType="withEffect">
                                  <p:stCondLst>
                                    <p:cond delay="320"/>
                                  </p:stCondLst>
                                  <p:childTnLst>
                                    <p:set>
                                      <p:cBhvr>
                                        <p:cTn id="28"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anim calcmode="lin" valueType="num">
                                      <p:cBhvr>
                                        <p:cTn id="31" dur="500" fill="hold"/>
                                        <p:tgtEl>
                                          <p:spTgt spid="23"/>
                                        </p:tgtEl>
                                        <p:attrNameLst>
                                          <p:attrName>ppt_x</p:attrName>
                                        </p:attrNameLst>
                                      </p:cBhvr>
                                      <p:tavLst>
                                        <p:tav tm="0">
                                          <p:val>
                                            <p:strVal val="#ppt_x"/>
                                          </p:val>
                                        </p:tav>
                                        <p:tav tm="100000">
                                          <p:val>
                                            <p:strVal val="#ppt_x"/>
                                          </p:val>
                                        </p:tav>
                                      </p:tavLst>
                                    </p:anim>
                                    <p:anim calcmode="lin" valueType="num">
                                      <p:cBhvr>
                                        <p:cTn id="32" dur="500" fill="hold"/>
                                        <p:tgtEl>
                                          <p:spTgt spid="23"/>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4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anim calcmode="lin" valueType="num">
                                      <p:cBhvr>
                                        <p:cTn id="36" dur="500" fill="hold"/>
                                        <p:tgtEl>
                                          <p:spTgt spid="26"/>
                                        </p:tgtEl>
                                        <p:attrNameLst>
                                          <p:attrName>ppt_x</p:attrName>
                                        </p:attrNameLst>
                                      </p:cBhvr>
                                      <p:tavLst>
                                        <p:tav tm="0">
                                          <p:val>
                                            <p:strVal val="#ppt_x"/>
                                          </p:val>
                                        </p:tav>
                                        <p:tav tm="100000">
                                          <p:val>
                                            <p:strVal val="#ppt_x"/>
                                          </p:val>
                                        </p:tav>
                                      </p:tavLst>
                                    </p:anim>
                                    <p:anim calcmode="lin" valueType="num">
                                      <p:cBhvr>
                                        <p:cTn id="37" dur="500" fill="hold"/>
                                        <p:tgtEl>
                                          <p:spTgt spid="26"/>
                                        </p:tgtEl>
                                        <p:attrNameLst>
                                          <p:attrName>ppt_y</p:attrName>
                                        </p:attrNameLst>
                                      </p:cBhvr>
                                      <p:tavLst>
                                        <p:tav tm="0">
                                          <p:val>
                                            <p:strVal val="#ppt_y+0.06"/>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1" presetID="10"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4"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7"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50"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3"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6"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9"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2" presetID="53" presetClass="entr" presetSubtype="16" fill="hold" grpId="0" nodeType="withEffect">
                                  <p:stCondLst>
                                    <p:cond delay="200"/>
                                  </p:stCondLst>
                                  <p:childTnLst>
                                    <p:set>
                                      <p:cBhvr>
                                        <p:cTn id="61" dur="1" fill="hold">
                                          <p:stCondLst>
                                            <p:cond delay="0"/>
                                          </p:stCondLst>
                                        </p:cTn>
                                        <p:tgtEl>
                                          <p:spTgt spid="9"/>
                                        </p:tgtEl>
                                        <p:attrNameLst>
                                          <p:attrName>style.visibility</p:attrName>
                                        </p:attrNameLst>
                                      </p:cBhvr>
                                      <p:to>
                                        <p:strVal val="visible"/>
                                      </p:to>
                                    </p:set>
                                    <p:anim calcmode="lin" valueType="num">
                                      <p:cBhvr>
                                        <p:cTn id="63" dur="500" fill="hold"/>
                                        <p:tgtEl>
                                          <p:spTgt spid="9"/>
                                        </p:tgtEl>
                                        <p:attrNameLst>
                                          <p:attrName>ppt_w</p:attrName>
                                        </p:attrNameLst>
                                      </p:cBhvr>
                                      <p:tavLst>
                                        <p:tav tm="0">
                                          <p:val>
                                            <p:fltVal val="0"/>
                                          </p:val>
                                        </p:tav>
                                        <p:tav tm="100000">
                                          <p:val>
                                            <p:strVal val="#ppt_w"/>
                                          </p:val>
                                        </p:tav>
                                      </p:tavLst>
                                    </p:anim>
                                    <p:anim calcmode="lin" valueType="num">
                                      <p:cBhvr>
                                        <p:cTn id="64" dur="500" fill="hold"/>
                                        <p:tgtEl>
                                          <p:spTgt spid="9"/>
                                        </p:tgtEl>
                                        <p:attrNameLst>
                                          <p:attrName>ppt_h</p:attrName>
                                        </p:attrNameLst>
                                      </p:cBhvr>
                                      <p:tavLst>
                                        <p:tav tm="0">
                                          <p:val>
                                            <p:fltVal val="0"/>
                                          </p:val>
                                        </p:tav>
                                        <p:tav tm="100000">
                                          <p:val>
                                            <p:strVal val="#ppt_h"/>
                                          </p:val>
                                        </p:tav>
                                      </p:tavLst>
                                    </p:anim>
                                    <p:animEffect transition="in" filter="fade">
                                      <p:cBhvr>
                                        <p:cTn id="65" dur="500"/>
                                        <p:tgtEl>
                                          <p:spTgt spid="9"/>
                                        </p:tgtEl>
                                      </p:cBhvr>
                                    </p:animEffect>
                                  </p:childTnLst>
                                </p:cTn>
                              </p:par>
                              <p:par>
                                <p:cTn id="67" presetID="53" presetClass="entr" presetSubtype="16" fill="hold" grpId="0" nodeType="withEffect">
                                  <p:stCondLst>
                                    <p:cond delay="200"/>
                                  </p:stCondLst>
                                  <p:childTnLst>
                                    <p:set>
                                      <p:cBhvr>
                                        <p:cTn id="66" dur="1" fill="hold">
                                          <p:stCondLst>
                                            <p:cond delay="0"/>
                                          </p:stCondLst>
                                        </p:cTn>
                                        <p:tgtEl>
                                          <p:spTgt spid="12"/>
                                        </p:tgtEl>
                                        <p:attrNameLst>
                                          <p:attrName>style.visibility</p:attrName>
                                        </p:attrNameLst>
                                      </p:cBhvr>
                                      <p:to>
                                        <p:strVal val="visible"/>
                                      </p:to>
                                    </p:set>
                                    <p:anim calcmode="lin" valueType="num">
                                      <p:cBhvr>
                                        <p:cTn id="68" dur="500" fill="hold"/>
                                        <p:tgtEl>
                                          <p:spTgt spid="12"/>
                                        </p:tgtEl>
                                        <p:attrNameLst>
                                          <p:attrName>ppt_w</p:attrName>
                                        </p:attrNameLst>
                                      </p:cBhvr>
                                      <p:tavLst>
                                        <p:tav tm="0">
                                          <p:val>
                                            <p:fltVal val="0"/>
                                          </p:val>
                                        </p:tav>
                                        <p:tav tm="100000">
                                          <p:val>
                                            <p:strVal val="#ppt_w"/>
                                          </p:val>
                                        </p:tav>
                                      </p:tavLst>
                                    </p:anim>
                                    <p:anim calcmode="lin" valueType="num">
                                      <p:cBhvr>
                                        <p:cTn id="69" dur="500" fill="hold"/>
                                        <p:tgtEl>
                                          <p:spTgt spid="12"/>
                                        </p:tgtEl>
                                        <p:attrNameLst>
                                          <p:attrName>ppt_h</p:attrName>
                                        </p:attrNameLst>
                                      </p:cBhvr>
                                      <p:tavLst>
                                        <p:tav tm="0">
                                          <p:val>
                                            <p:fltVal val="0"/>
                                          </p:val>
                                        </p:tav>
                                        <p:tav tm="100000">
                                          <p:val>
                                            <p:strVal val="#ppt_h"/>
                                          </p:val>
                                        </p:tav>
                                      </p:tavLst>
                                    </p:anim>
                                    <p:animEffect transition="in" filter="fade">
                                      <p:cBhvr>
                                        <p:cTn id="70" dur="500"/>
                                        <p:tgtEl>
                                          <p:spTgt spid="12"/>
                                        </p:tgtEl>
                                      </p:cBhvr>
                                    </p:animEffect>
                                  </p:childTnLst>
                                </p:cTn>
                              </p:par>
                              <p:par>
                                <p:cTn id="72" presetID="53" presetClass="entr" presetSubtype="16" fill="hold" grpId="0" nodeType="withEffect">
                                  <p:stCondLst>
                                    <p:cond delay="200"/>
                                  </p:stCondLst>
                                  <p:childTnLst>
                                    <p:set>
                                      <p:cBhvr>
                                        <p:cTn id="71" dur="1" fill="hold">
                                          <p:stCondLst>
                                            <p:cond delay="0"/>
                                          </p:stCondLst>
                                        </p:cTn>
                                        <p:tgtEl>
                                          <p:spTgt spid="15"/>
                                        </p:tgtEl>
                                        <p:attrNameLst>
                                          <p:attrName>style.visibility</p:attrName>
                                        </p:attrNameLst>
                                      </p:cBhvr>
                                      <p:to>
                                        <p:strVal val="visible"/>
                                      </p:to>
                                    </p:set>
                                    <p:anim calcmode="lin" valueType="num">
                                      <p:cBhvr>
                                        <p:cTn id="73" dur="500" fill="hold"/>
                                        <p:tgtEl>
                                          <p:spTgt spid="15"/>
                                        </p:tgtEl>
                                        <p:attrNameLst>
                                          <p:attrName>ppt_w</p:attrName>
                                        </p:attrNameLst>
                                      </p:cBhvr>
                                      <p:tavLst>
                                        <p:tav tm="0">
                                          <p:val>
                                            <p:fltVal val="0"/>
                                          </p:val>
                                        </p:tav>
                                        <p:tav tm="100000">
                                          <p:val>
                                            <p:strVal val="#ppt_w"/>
                                          </p:val>
                                        </p:tav>
                                      </p:tavLst>
                                    </p:anim>
                                    <p:anim calcmode="lin" valueType="num">
                                      <p:cBhvr>
                                        <p:cTn id="74" dur="500" fill="hold"/>
                                        <p:tgtEl>
                                          <p:spTgt spid="15"/>
                                        </p:tgtEl>
                                        <p:attrNameLst>
                                          <p:attrName>ppt_h</p:attrName>
                                        </p:attrNameLst>
                                      </p:cBhvr>
                                      <p:tavLst>
                                        <p:tav tm="0">
                                          <p:val>
                                            <p:fltVal val="0"/>
                                          </p:val>
                                        </p:tav>
                                        <p:tav tm="100000">
                                          <p:val>
                                            <p:strVal val="#ppt_h"/>
                                          </p:val>
                                        </p:tav>
                                      </p:tavLst>
                                    </p:anim>
                                    <p:animEffect transition="in" filter="fade">
                                      <p:cBhvr>
                                        <p:cTn id="75" dur="500"/>
                                        <p:tgtEl>
                                          <p:spTgt spid="15"/>
                                        </p:tgtEl>
                                      </p:cBhvr>
                                    </p:animEffect>
                                  </p:childTnLst>
                                </p:cTn>
                              </p:par>
                              <p:par>
                                <p:cTn id="77" presetID="53" presetClass="entr" presetSubtype="16" fill="hold" grpId="0" nodeType="withEffect">
                                  <p:stCondLst>
                                    <p:cond delay="200"/>
                                  </p:stCondLst>
                                  <p:childTnLst>
                                    <p:set>
                                      <p:cBhvr>
                                        <p:cTn id="76" dur="1" fill="hold">
                                          <p:stCondLst>
                                            <p:cond delay="0"/>
                                          </p:stCondLst>
                                        </p:cTn>
                                        <p:tgtEl>
                                          <p:spTgt spid="18"/>
                                        </p:tgtEl>
                                        <p:attrNameLst>
                                          <p:attrName>style.visibility</p:attrName>
                                        </p:attrNameLst>
                                      </p:cBhvr>
                                      <p:to>
                                        <p:strVal val="visible"/>
                                      </p:to>
                                    </p:set>
                                    <p:anim calcmode="lin" valueType="num">
                                      <p:cBhvr>
                                        <p:cTn id="78" dur="500" fill="hold"/>
                                        <p:tgtEl>
                                          <p:spTgt spid="18"/>
                                        </p:tgtEl>
                                        <p:attrNameLst>
                                          <p:attrName>ppt_w</p:attrName>
                                        </p:attrNameLst>
                                      </p:cBhvr>
                                      <p:tavLst>
                                        <p:tav tm="0">
                                          <p:val>
                                            <p:fltVal val="0"/>
                                          </p:val>
                                        </p:tav>
                                        <p:tav tm="100000">
                                          <p:val>
                                            <p:strVal val="#ppt_w"/>
                                          </p:val>
                                        </p:tav>
                                      </p:tavLst>
                                    </p:anim>
                                    <p:anim calcmode="lin" valueType="num">
                                      <p:cBhvr>
                                        <p:cTn id="79" dur="500" fill="hold"/>
                                        <p:tgtEl>
                                          <p:spTgt spid="18"/>
                                        </p:tgtEl>
                                        <p:attrNameLst>
                                          <p:attrName>ppt_h</p:attrName>
                                        </p:attrNameLst>
                                      </p:cBhvr>
                                      <p:tavLst>
                                        <p:tav tm="0">
                                          <p:val>
                                            <p:fltVal val="0"/>
                                          </p:val>
                                        </p:tav>
                                        <p:tav tm="100000">
                                          <p:val>
                                            <p:strVal val="#ppt_h"/>
                                          </p:val>
                                        </p:tav>
                                      </p:tavLst>
                                    </p:anim>
                                    <p:animEffect transition="in" filter="fade">
                                      <p:cBhvr>
                                        <p:cTn id="80" dur="500"/>
                                        <p:tgtEl>
                                          <p:spTgt spid="18"/>
                                        </p:tgtEl>
                                      </p:cBhvr>
                                    </p:animEffect>
                                  </p:childTnLst>
                                </p:cTn>
                              </p:par>
                              <p:par>
                                <p:cTn id="82" presetID="53" presetClass="entr" presetSubtype="16" fill="hold" grpId="0" nodeType="withEffect">
                                  <p:stCondLst>
                                    <p:cond delay="200"/>
                                  </p:stCondLst>
                                  <p:childTnLst>
                                    <p:set>
                                      <p:cBhvr>
                                        <p:cTn id="81" dur="1" fill="hold">
                                          <p:stCondLst>
                                            <p:cond delay="0"/>
                                          </p:stCondLst>
                                        </p:cTn>
                                        <p:tgtEl>
                                          <p:spTgt spid="21"/>
                                        </p:tgtEl>
                                        <p:attrNameLst>
                                          <p:attrName>style.visibility</p:attrName>
                                        </p:attrNameLst>
                                      </p:cBhvr>
                                      <p:to>
                                        <p:strVal val="visible"/>
                                      </p:to>
                                    </p:set>
                                    <p:anim calcmode="lin" valueType="num">
                                      <p:cBhvr>
                                        <p:cTn id="83" dur="500" fill="hold"/>
                                        <p:tgtEl>
                                          <p:spTgt spid="21"/>
                                        </p:tgtEl>
                                        <p:attrNameLst>
                                          <p:attrName>ppt_w</p:attrName>
                                        </p:attrNameLst>
                                      </p:cBhvr>
                                      <p:tavLst>
                                        <p:tav tm="0">
                                          <p:val>
                                            <p:fltVal val="0"/>
                                          </p:val>
                                        </p:tav>
                                        <p:tav tm="100000">
                                          <p:val>
                                            <p:strVal val="#ppt_w"/>
                                          </p:val>
                                        </p:tav>
                                      </p:tavLst>
                                    </p:anim>
                                    <p:anim calcmode="lin" valueType="num">
                                      <p:cBhvr>
                                        <p:cTn id="84" dur="500" fill="hold"/>
                                        <p:tgtEl>
                                          <p:spTgt spid="21"/>
                                        </p:tgtEl>
                                        <p:attrNameLst>
                                          <p:attrName>ppt_h</p:attrName>
                                        </p:attrNameLst>
                                      </p:cBhvr>
                                      <p:tavLst>
                                        <p:tav tm="0">
                                          <p:val>
                                            <p:fltVal val="0"/>
                                          </p:val>
                                        </p:tav>
                                        <p:tav tm="100000">
                                          <p:val>
                                            <p:strVal val="#ppt_h"/>
                                          </p:val>
                                        </p:tav>
                                      </p:tavLst>
                                    </p:anim>
                                    <p:animEffect transition="in" filter="fade">
                                      <p:cBhvr>
                                        <p:cTn id="85" dur="500"/>
                                        <p:tgtEl>
                                          <p:spTgt spid="21"/>
                                        </p:tgtEl>
                                      </p:cBhvr>
                                    </p:animEffect>
                                  </p:childTnLst>
                                </p:cTn>
                              </p:par>
                              <p:par>
                                <p:cTn id="87" presetID="53" presetClass="entr" presetSubtype="16" fill="hold" grpId="0" nodeType="withEffect">
                                  <p:stCondLst>
                                    <p:cond delay="200"/>
                                  </p:stCondLst>
                                  <p:childTnLst>
                                    <p:set>
                                      <p:cBhvr>
                                        <p:cTn id="86" dur="1" fill="hold">
                                          <p:stCondLst>
                                            <p:cond delay="0"/>
                                          </p:stCondLst>
                                        </p:cTn>
                                        <p:tgtEl>
                                          <p:spTgt spid="24"/>
                                        </p:tgtEl>
                                        <p:attrNameLst>
                                          <p:attrName>style.visibility</p:attrName>
                                        </p:attrNameLst>
                                      </p:cBhvr>
                                      <p:to>
                                        <p:strVal val="visible"/>
                                      </p:to>
                                    </p:set>
                                    <p:anim calcmode="lin" valueType="num">
                                      <p:cBhvr>
                                        <p:cTn id="88" dur="500" fill="hold"/>
                                        <p:tgtEl>
                                          <p:spTgt spid="24"/>
                                        </p:tgtEl>
                                        <p:attrNameLst>
                                          <p:attrName>ppt_w</p:attrName>
                                        </p:attrNameLst>
                                      </p:cBhvr>
                                      <p:tavLst>
                                        <p:tav tm="0">
                                          <p:val>
                                            <p:fltVal val="0"/>
                                          </p:val>
                                        </p:tav>
                                        <p:tav tm="100000">
                                          <p:val>
                                            <p:strVal val="#ppt_w"/>
                                          </p:val>
                                        </p:tav>
                                      </p:tavLst>
                                    </p:anim>
                                    <p:anim calcmode="lin" valueType="num">
                                      <p:cBhvr>
                                        <p:cTn id="89" dur="500" fill="hold"/>
                                        <p:tgtEl>
                                          <p:spTgt spid="24"/>
                                        </p:tgtEl>
                                        <p:attrNameLst>
                                          <p:attrName>ppt_h</p:attrName>
                                        </p:attrNameLst>
                                      </p:cBhvr>
                                      <p:tavLst>
                                        <p:tav tm="0">
                                          <p:val>
                                            <p:fltVal val="0"/>
                                          </p:val>
                                        </p:tav>
                                        <p:tav tm="100000">
                                          <p:val>
                                            <p:strVal val="#ppt_h"/>
                                          </p:val>
                                        </p:tav>
                                      </p:tavLst>
                                    </p:anim>
                                    <p:animEffect transition="in" filter="fade">
                                      <p:cBhvr>
                                        <p:cTn id="90" dur="500"/>
                                        <p:tgtEl>
                                          <p:spTgt spid="24"/>
                                        </p:tgtEl>
                                      </p:cBhvr>
                                    </p:animEffect>
                                  </p:childTnLst>
                                </p:cTn>
                              </p:par>
                              <p:par>
                                <p:cTn id="92" presetID="10" presetClass="entr" presetSubtype="0" fill="hold" grpId="0" nodeType="withEffect">
                                  <p:stCondLst>
                                    <p:cond delay="400"/>
                                  </p:stCondLst>
                                  <p:childTnLst>
                                    <p:set>
                                      <p:cBhvr>
                                        <p:cTn id="91"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childTnLst>
                          </p:cTn>
                        </p:par>
                      </p:childTnLst>
                    </p:cTn>
                  </p:par>
                  <p:par>
                    <p:cTn id="94" fill="hold">
                      <p:stCondLst>
                        <p:cond delay="indefinite"/>
                      </p:stCondLst>
                      <p:childTnLst>
                        <p:par>
                          <p:cTn id="95" fill="hold">
                            <p:stCondLst>
                              <p:cond delay="0"/>
                            </p:stCondLst>
                            <p:childTnLst>
                              <p:par>
                                <p:cTn id="97" presetID="10" presetClass="entr" presetSubtype="0" fill="hold" grpId="0" nodeType="clickEffect">
                                  <p:stCondLst>
                                    <p:cond delay="40"/>
                                  </p:stCondLst>
                                  <p:childTnLst>
                                    <p:set>
                                      <p:cBhvr>
                                        <p:cTn id="96"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100" presetID="10" presetClass="entr" presetSubtype="0" fill="hold" grpId="0" nodeType="withEffect">
                                  <p:stCondLst>
                                    <p:cond delay="8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3" presetID="10" presetClass="entr" presetSubtype="0" fill="hold" grpId="0" nodeType="withEffect">
                                  <p:stCondLst>
                                    <p:cond delay="12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par>
                                <p:cTn id="106" presetID="10" presetClass="entr" presetSubtype="0" fill="hold" grpId="0" nodeType="withEffect">
                                  <p:stCondLst>
                                    <p:cond delay="16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par>
                                <p:cTn id="109" presetID="10" presetClass="entr" presetSubtype="0" fill="hold" grpId="0" nodeType="withEffect">
                                  <p:stCondLst>
                                    <p:cond delay="20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10" dur="500"/>
                                        <p:tgtEl>
                                          <p:spTgt spid="36"/>
                                        </p:tgtEl>
                                      </p:cBhvr>
                                    </p:animEffect>
                                  </p:childTnLst>
                                </p:cTn>
                              </p:par>
                              <p:par>
                                <p:cTn id="112" presetID="10" presetClass="entr" presetSubtype="0" fill="hold" grpId="0" nodeType="withEffect">
                                  <p:stCondLst>
                                    <p:cond delay="24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3" dur="500"/>
                                        <p:tgtEl>
                                          <p:spTgt spid="37"/>
                                        </p:tgtEl>
                                      </p:cBhvr>
                                    </p:animEffect>
                                  </p:childTnLst>
                                </p:cTn>
                              </p:par>
                              <p:par>
                                <p:cTn id="115" presetID="53" presetClass="entr" presetSubtype="16" fill="hold" grpId="0" nodeType="withEffect">
                                  <p:stCondLst>
                                    <p:cond delay="450"/>
                                  </p:stCondLst>
                                  <p:childTnLst>
                                    <p:set>
                                      <p:cBhvr>
                                        <p:cTn id="114" dur="1" fill="hold">
                                          <p:stCondLst>
                                            <p:cond delay="0"/>
                                          </p:stCondLst>
                                        </p:cTn>
                                        <p:tgtEl>
                                          <p:spTgt spid="38"/>
                                        </p:tgtEl>
                                        <p:attrNameLst>
                                          <p:attrName>style.visibility</p:attrName>
                                        </p:attrNameLst>
                                      </p:cBhvr>
                                      <p:to>
                                        <p:strVal val="visible"/>
                                      </p:to>
                                    </p:set>
                                    <p:anim calcmode="lin" valueType="num">
                                      <p:cBhvr>
                                        <p:cTn id="116" dur="500" fill="hold"/>
                                        <p:tgtEl>
                                          <p:spTgt spid="38"/>
                                        </p:tgtEl>
                                        <p:attrNameLst>
                                          <p:attrName>ppt_w</p:attrName>
                                        </p:attrNameLst>
                                      </p:cBhvr>
                                      <p:tavLst>
                                        <p:tav tm="0">
                                          <p:val>
                                            <p:fltVal val="0"/>
                                          </p:val>
                                        </p:tav>
                                        <p:tav tm="100000">
                                          <p:val>
                                            <p:strVal val="#ppt_w"/>
                                          </p:val>
                                        </p:tav>
                                      </p:tavLst>
                                    </p:anim>
                                    <p:anim calcmode="lin" valueType="num">
                                      <p:cBhvr>
                                        <p:cTn id="117" dur="500" fill="hold"/>
                                        <p:tgtEl>
                                          <p:spTgt spid="38"/>
                                        </p:tgtEl>
                                        <p:attrNameLst>
                                          <p:attrName>ppt_h</p:attrName>
                                        </p:attrNameLst>
                                      </p:cBhvr>
                                      <p:tavLst>
                                        <p:tav tm="0">
                                          <p:val>
                                            <p:fltVal val="0"/>
                                          </p:val>
                                        </p:tav>
                                        <p:tav tm="100000">
                                          <p:val>
                                            <p:strVal val="#ppt_h"/>
                                          </p:val>
                                        </p:tav>
                                      </p:tavLst>
                                    </p:anim>
                                    <p:animEffect transition="in" filter="fade">
                                      <p:cBhvr>
                                        <p:cTn id="118" dur="500"/>
                                        <p:tgtEl>
                                          <p:spTgt spid="38"/>
                                        </p:tgtEl>
                                      </p:cBhvr>
                                    </p:animEffect>
                                  </p:childTnLst>
                                </p:cTn>
                              </p:par>
                              <p:par>
                                <p:cTn id="120" presetID="10" presetClass="entr" presetSubtype="0" fill="hold" grpId="0" nodeType="withEffect">
                                  <p:stCondLst>
                                    <p:cond delay="74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childTnLst>
                                </p:cTn>
                              </p:par>
                              <p:par>
                                <p:cTn id="123" presetID="10" presetClass="entr" presetSubtype="0" fill="hold" grpId="0" nodeType="withEffect">
                                  <p:stCondLst>
                                    <p:cond delay="78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childTnLst>
                                </p:cTn>
                              </p:par>
                              <p:par>
                                <p:cTn id="126" presetID="10" presetClass="entr" presetSubtype="0" fill="hold" grpId="0" nodeType="withEffect">
                                  <p:stCondLst>
                                    <p:cond delay="82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7" dur="500"/>
                                        <p:tgtEl>
                                          <p:spTgt spid="41"/>
                                        </p:tgtEl>
                                      </p:cBhvr>
                                    </p:animEffect>
                                  </p:childTnLst>
                                </p:cTn>
                              </p:par>
                              <p:par>
                                <p:cTn id="129" presetID="10" presetClass="entr" presetSubtype="0" fill="hold" grpId="0" nodeType="withEffect">
                                  <p:stCondLst>
                                    <p:cond delay="86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2" presetID="10" presetClass="entr" presetSubtype="0" fill="hold" grpId="0" nodeType="withEffect">
                                  <p:stCondLst>
                                    <p:cond delay="90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par>
                                <p:cTn id="135" presetID="10" presetClass="entr" presetSubtype="0" fill="hold" grpId="0" nodeType="withEffect">
                                  <p:stCondLst>
                                    <p:cond delay="94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6" dur="500"/>
                                        <p:tgtEl>
                                          <p:spTgt spid="44"/>
                                        </p:tgtEl>
                                      </p:cBhvr>
                                    </p:animEffect>
                                  </p:childTnLst>
                                </p:cTn>
                              </p:par>
                              <p:par>
                                <p:cTn id="138" presetID="10" presetClass="entr" presetSubtype="0" fill="hold" grpId="0" nodeType="withEffect">
                                  <p:stCondLst>
                                    <p:cond delay="98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9" dur="500"/>
                                        <p:tgtEl>
                                          <p:spTgt spid="45"/>
                                        </p:tgtEl>
                                      </p:cBhvr>
                                    </p:animEffect>
                                  </p:childTnLst>
                                </p:cTn>
                              </p:par>
                              <p:par>
                                <p:cTn id="141" presetID="53" presetClass="entr" presetSubtype="16" fill="hold" grpId="0" nodeType="withEffect">
                                  <p:stCondLst>
                                    <p:cond delay="1150"/>
                                  </p:stCondLst>
                                  <p:childTnLst>
                                    <p:set>
                                      <p:cBhvr>
                                        <p:cTn id="140" dur="1" fill="hold">
                                          <p:stCondLst>
                                            <p:cond delay="0"/>
                                          </p:stCondLst>
                                        </p:cTn>
                                        <p:tgtEl>
                                          <p:spTgt spid="46"/>
                                        </p:tgtEl>
                                        <p:attrNameLst>
                                          <p:attrName>style.visibility</p:attrName>
                                        </p:attrNameLst>
                                      </p:cBhvr>
                                      <p:to>
                                        <p:strVal val="visible"/>
                                      </p:to>
                                    </p:set>
                                    <p:anim calcmode="lin" valueType="num">
                                      <p:cBhvr>
                                        <p:cTn id="142" dur="500" fill="hold"/>
                                        <p:tgtEl>
                                          <p:spTgt spid="46"/>
                                        </p:tgtEl>
                                        <p:attrNameLst>
                                          <p:attrName>ppt_w</p:attrName>
                                        </p:attrNameLst>
                                      </p:cBhvr>
                                      <p:tavLst>
                                        <p:tav tm="0">
                                          <p:val>
                                            <p:fltVal val="0"/>
                                          </p:val>
                                        </p:tav>
                                        <p:tav tm="100000">
                                          <p:val>
                                            <p:strVal val="#ppt_w"/>
                                          </p:val>
                                        </p:tav>
                                      </p:tavLst>
                                    </p:anim>
                                    <p:anim calcmode="lin" valueType="num">
                                      <p:cBhvr>
                                        <p:cTn id="143" dur="500" fill="hold"/>
                                        <p:tgtEl>
                                          <p:spTgt spid="46"/>
                                        </p:tgtEl>
                                        <p:attrNameLst>
                                          <p:attrName>ppt_h</p:attrName>
                                        </p:attrNameLst>
                                      </p:cBhvr>
                                      <p:tavLst>
                                        <p:tav tm="0">
                                          <p:val>
                                            <p:fltVal val="0"/>
                                          </p:val>
                                        </p:tav>
                                        <p:tav tm="100000">
                                          <p:val>
                                            <p:strVal val="#ppt_h"/>
                                          </p:val>
                                        </p:tav>
                                      </p:tavLst>
                                    </p:anim>
                                    <p:animEffect transition="in" filter="fade">
                                      <p:cBhvr>
                                        <p:cTn id="144" dur="500"/>
                                        <p:tgtEl>
                                          <p:spTgt spid="46"/>
                                        </p:tgtEl>
                                      </p:cBhvr>
                                    </p:animEffect>
                                  </p:childTnLst>
                                </p:cTn>
                              </p:par>
                              <p:par>
                                <p:cTn id="146" presetID="10" presetClass="entr" presetSubtype="0" fill="hold" grpId="0" nodeType="withEffect">
                                  <p:stCondLst>
                                    <p:cond delay="144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7" dur="500"/>
                                        <p:tgtEl>
                                          <p:spTgt spid="47"/>
                                        </p:tgtEl>
                                      </p:cBhvr>
                                    </p:animEffect>
                                  </p:childTnLst>
                                </p:cTn>
                              </p:par>
                              <p:par>
                                <p:cTn id="149" presetID="10" presetClass="entr" presetSubtype="0" fill="hold" grpId="0" nodeType="withEffect">
                                  <p:stCondLst>
                                    <p:cond delay="148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50" dur="500"/>
                                        <p:tgtEl>
                                          <p:spTgt spid="48"/>
                                        </p:tgtEl>
                                      </p:cBhvr>
                                    </p:animEffect>
                                  </p:childTnLst>
                                </p:cTn>
                              </p:par>
                              <p:par>
                                <p:cTn id="152" presetID="10" presetClass="entr" presetSubtype="0" fill="hold" grpId="0" nodeType="withEffect">
                                  <p:stCondLst>
                                    <p:cond delay="1520"/>
                                  </p:stCondLst>
                                  <p:childTnLst>
                                    <p:set>
                                      <p:cBhvr>
                                        <p:cTn id="151" dur="1" fill="hold">
                                          <p:stCondLst>
                                            <p:cond delay="0"/>
                                          </p:stCondLst>
                                        </p:cTn>
                                        <p:tgtEl>
                                          <p:spTgt spid="49"/>
                                        </p:tgtEl>
                                        <p:attrNameLst>
                                          <p:attrName>style.visibility</p:attrName>
                                        </p:attrNameLst>
                                      </p:cBhvr>
                                      <p:to>
                                        <p:strVal val="visible"/>
                                      </p:to>
                                    </p:set>
                                    <p:animEffect transition="in" filter="fade">
                                      <p:cBhvr>
                                        <p:cTn id="153" dur="500"/>
                                        <p:tgtEl>
                                          <p:spTgt spid="49"/>
                                        </p:tgtEl>
                                      </p:cBhvr>
                                    </p:animEffect>
                                  </p:childTnLst>
                                </p:cTn>
                              </p:par>
                              <p:par>
                                <p:cTn id="155" presetID="10" presetClass="entr" presetSubtype="0" fill="hold" grpId="0" nodeType="withEffect">
                                  <p:stCondLst>
                                    <p:cond delay="1560"/>
                                  </p:stCondLst>
                                  <p:childTnLst>
                                    <p:set>
                                      <p:cBhvr>
                                        <p:cTn id="154" dur="1" fill="hold">
                                          <p:stCondLst>
                                            <p:cond delay="0"/>
                                          </p:stCondLst>
                                        </p:cTn>
                                        <p:tgtEl>
                                          <p:spTgt spid="50"/>
                                        </p:tgtEl>
                                        <p:attrNameLst>
                                          <p:attrName>style.visibility</p:attrName>
                                        </p:attrNameLst>
                                      </p:cBhvr>
                                      <p:to>
                                        <p:strVal val="visible"/>
                                      </p:to>
                                    </p:set>
                                    <p:animEffect transition="in" filter="fade">
                                      <p:cBhvr>
                                        <p:cTn id="156" dur="500"/>
                                        <p:tgtEl>
                                          <p:spTgt spid="50"/>
                                        </p:tgtEl>
                                      </p:cBhvr>
                                    </p:animEffect>
                                  </p:childTnLst>
                                </p:cTn>
                              </p:par>
                              <p:par>
                                <p:cTn id="158" presetID="10" presetClass="entr" presetSubtype="0" fill="hold" grpId="0" nodeType="withEffect">
                                  <p:stCondLst>
                                    <p:cond delay="1600"/>
                                  </p:stCondLst>
                                  <p:childTnLst>
                                    <p:set>
                                      <p:cBhvr>
                                        <p:cTn id="157" dur="1" fill="hold">
                                          <p:stCondLst>
                                            <p:cond delay="0"/>
                                          </p:stCondLst>
                                        </p:cTn>
                                        <p:tgtEl>
                                          <p:spTgt spid="51"/>
                                        </p:tgtEl>
                                        <p:attrNameLst>
                                          <p:attrName>style.visibility</p:attrName>
                                        </p:attrNameLst>
                                      </p:cBhvr>
                                      <p:to>
                                        <p:strVal val="visible"/>
                                      </p:to>
                                    </p:set>
                                    <p:animEffect transition="in" filter="fade">
                                      <p:cBhvr>
                                        <p:cTn id="159" dur="500"/>
                                        <p:tgtEl>
                                          <p:spTgt spid="51"/>
                                        </p:tgtEl>
                                      </p:cBhvr>
                                    </p:animEffect>
                                  </p:childTnLst>
                                </p:cTn>
                              </p:par>
                              <p:par>
                                <p:cTn id="161" presetID="10" presetClass="entr" presetSubtype="0" fill="hold" grpId="0" nodeType="withEffect">
                                  <p:stCondLst>
                                    <p:cond delay="1640"/>
                                  </p:stCondLst>
                                  <p:childTnLst>
                                    <p:set>
                                      <p:cBhvr>
                                        <p:cTn id="160" dur="1" fill="hold">
                                          <p:stCondLst>
                                            <p:cond delay="0"/>
                                          </p:stCondLst>
                                        </p:cTn>
                                        <p:tgtEl>
                                          <p:spTgt spid="52"/>
                                        </p:tgtEl>
                                        <p:attrNameLst>
                                          <p:attrName>style.visibility</p:attrName>
                                        </p:attrNameLst>
                                      </p:cBhvr>
                                      <p:to>
                                        <p:strVal val="visible"/>
                                      </p:to>
                                    </p:set>
                                    <p:animEffect transition="in" filter="fade">
                                      <p:cBhvr>
                                        <p:cTn id="162" dur="500"/>
                                        <p:tgtEl>
                                          <p:spTgt spid="52"/>
                                        </p:tgtEl>
                                      </p:cBhvr>
                                    </p:animEffect>
                                  </p:childTnLst>
                                </p:cTn>
                              </p:par>
                              <p:par>
                                <p:cTn id="164" presetID="10" presetClass="entr" presetSubtype="0" fill="hold" grpId="0" nodeType="withEffect">
                                  <p:stCondLst>
                                    <p:cond delay="1680"/>
                                  </p:stCondLst>
                                  <p:childTnLst>
                                    <p:set>
                                      <p:cBhvr>
                                        <p:cTn id="163" dur="1" fill="hold">
                                          <p:stCondLst>
                                            <p:cond delay="0"/>
                                          </p:stCondLst>
                                        </p:cTn>
                                        <p:tgtEl>
                                          <p:spTgt spid="53"/>
                                        </p:tgtEl>
                                        <p:attrNameLst>
                                          <p:attrName>style.visibility</p:attrName>
                                        </p:attrNameLst>
                                      </p:cBhvr>
                                      <p:to>
                                        <p:strVal val="visible"/>
                                      </p:to>
                                    </p:set>
                                    <p:animEffect transition="in" filter="fade">
                                      <p:cBhvr>
                                        <p:cTn id="165" dur="500"/>
                                        <p:tgtEl>
                                          <p:spTgt spid="53"/>
                                        </p:tgtEl>
                                      </p:cBhvr>
                                    </p:animEffect>
                                  </p:childTnLst>
                                </p:cTn>
                              </p:par>
                              <p:par>
                                <p:cTn id="167" presetID="10" presetClass="entr" presetSubtype="0" fill="hold" grpId="0" nodeType="withEffect">
                                  <p:stCondLst>
                                    <p:cond delay="1720"/>
                                  </p:stCondLst>
                                  <p:childTnLst>
                                    <p:set>
                                      <p:cBhvr>
                                        <p:cTn id="166" dur="1" fill="hold">
                                          <p:stCondLst>
                                            <p:cond delay="0"/>
                                          </p:stCondLst>
                                        </p:cTn>
                                        <p:tgtEl>
                                          <p:spTgt spid="54"/>
                                        </p:tgtEl>
                                        <p:attrNameLst>
                                          <p:attrName>style.visibility</p:attrName>
                                        </p:attrNameLst>
                                      </p:cBhvr>
                                      <p:to>
                                        <p:strVal val="visible"/>
                                      </p:to>
                                    </p:set>
                                    <p:animEffect transition="in" filter="fade">
                                      <p:cBhvr>
                                        <p:cTn id="168" dur="500"/>
                                        <p:tgtEl>
                                          <p:spTgt spid="54"/>
                                        </p:tgtEl>
                                      </p:cBhvr>
                                    </p:animEffect>
                                  </p:childTnLst>
                                </p:cTn>
                              </p:par>
                              <p:par>
                                <p:cTn id="170" presetID="53" presetClass="entr" presetSubtype="16" fill="hold" grpId="0" nodeType="withEffect">
                                  <p:stCondLst>
                                    <p:cond delay="1850"/>
                                  </p:stCondLst>
                                  <p:childTnLst>
                                    <p:set>
                                      <p:cBhvr>
                                        <p:cTn id="169" dur="1" fill="hold">
                                          <p:stCondLst>
                                            <p:cond delay="0"/>
                                          </p:stCondLst>
                                        </p:cTn>
                                        <p:tgtEl>
                                          <p:spTgt spid="55"/>
                                        </p:tgtEl>
                                        <p:attrNameLst>
                                          <p:attrName>style.visibility</p:attrName>
                                        </p:attrNameLst>
                                      </p:cBhvr>
                                      <p:to>
                                        <p:strVal val="visible"/>
                                      </p:to>
                                    </p:set>
                                    <p:anim calcmode="lin" valueType="num">
                                      <p:cBhvr>
                                        <p:cTn id="171" dur="500" fill="hold"/>
                                        <p:tgtEl>
                                          <p:spTgt spid="55"/>
                                        </p:tgtEl>
                                        <p:attrNameLst>
                                          <p:attrName>ppt_w</p:attrName>
                                        </p:attrNameLst>
                                      </p:cBhvr>
                                      <p:tavLst>
                                        <p:tav tm="0">
                                          <p:val>
                                            <p:fltVal val="0"/>
                                          </p:val>
                                        </p:tav>
                                        <p:tav tm="100000">
                                          <p:val>
                                            <p:strVal val="#ppt_w"/>
                                          </p:val>
                                        </p:tav>
                                      </p:tavLst>
                                    </p:anim>
                                    <p:anim calcmode="lin" valueType="num">
                                      <p:cBhvr>
                                        <p:cTn id="172" dur="500" fill="hold"/>
                                        <p:tgtEl>
                                          <p:spTgt spid="55"/>
                                        </p:tgtEl>
                                        <p:attrNameLst>
                                          <p:attrName>ppt_h</p:attrName>
                                        </p:attrNameLst>
                                      </p:cBhvr>
                                      <p:tavLst>
                                        <p:tav tm="0">
                                          <p:val>
                                            <p:fltVal val="0"/>
                                          </p:val>
                                        </p:tav>
                                        <p:tav tm="100000">
                                          <p:val>
                                            <p:strVal val="#ppt_h"/>
                                          </p:val>
                                        </p:tav>
                                      </p:tavLst>
                                    </p:anim>
                                    <p:animEffect transition="in" filter="fade">
                                      <p:cBhvr>
                                        <p:cTn id="173" dur="500"/>
                                        <p:tgtEl>
                                          <p:spTgt spid="55"/>
                                        </p:tgtEl>
                                      </p:cBhvr>
                                    </p:animEffect>
                                  </p:childTnLst>
                                </p:cTn>
                              </p:par>
                              <p:par>
                                <p:cTn id="175" presetID="10" presetClass="entr" presetSubtype="0" fill="hold" grpId="0" nodeType="withEffect">
                                  <p:stCondLst>
                                    <p:cond delay="2200"/>
                                  </p:stCondLst>
                                  <p:childTnLst>
                                    <p:set>
                                      <p:cBhvr>
                                        <p:cTn id="174" dur="1" fill="hold">
                                          <p:stCondLst>
                                            <p:cond delay="0"/>
                                          </p:stCondLst>
                                        </p:cTn>
                                        <p:tgtEl>
                                          <p:spTgt spid="56"/>
                                        </p:tgtEl>
                                        <p:attrNameLst>
                                          <p:attrName>style.visibility</p:attrName>
                                        </p:attrNameLst>
                                      </p:cBhvr>
                                      <p:to>
                                        <p:strVal val="visible"/>
                                      </p:to>
                                    </p:set>
                                    <p:animEffect transition="in" filter="fade">
                                      <p:cBhvr>
                                        <p:cTn id="176" dur="500"/>
                                        <p:tgtEl>
                                          <p:spTgt spid="56"/>
                                        </p:tgtEl>
                                      </p:cBhvr>
                                    </p:animEffect>
                                  </p:childTnLst>
                                </p:cTn>
                              </p:par>
                            </p:childTnLst>
                          </p:cTn>
                        </p:par>
                      </p:childTnLst>
                    </p:cTn>
                  </p:par>
                  <p:par>
                    <p:cTn id="177" fill="hold">
                      <p:stCondLst>
                        <p:cond delay="indefinite"/>
                      </p:stCondLst>
                      <p:childTnLst>
                        <p:par>
                          <p:cTn id="178" fill="hold">
                            <p:stCondLst>
                              <p:cond delay="0"/>
                            </p:stCondLst>
                            <p:childTnLst>
                              <p:par>
                                <p:cTn id="180" presetID="42" presetClass="entr" presetSubtype="0" fill="hold" grpId="0" nodeType="clickEffect">
                                  <p:stCondLst>
                                    <p:cond delay="0"/>
                                  </p:stCondLst>
                                  <p:childTnLst>
                                    <p:set>
                                      <p:cBhvr>
                                        <p:cTn id="179" dur="1" fill="hold">
                                          <p:stCondLst>
                                            <p:cond delay="0"/>
                                          </p:stCondLst>
                                        </p:cTn>
                                        <p:tgtEl>
                                          <p:spTgt spid="57"/>
                                        </p:tgtEl>
                                        <p:attrNameLst>
                                          <p:attrName>style.visibility</p:attrName>
                                        </p:attrNameLst>
                                      </p:cBhvr>
                                      <p:to>
                                        <p:strVal val="visible"/>
                                      </p:to>
                                    </p:set>
                                    <p:animEffect transition="in" filter="fade">
                                      <p:cBhvr>
                                        <p:cTn id="181" dur="500"/>
                                        <p:tgtEl>
                                          <p:spTgt spid="57"/>
                                        </p:tgtEl>
                                      </p:cBhvr>
                                    </p:animEffect>
                                    <p:anim calcmode="lin" valueType="num">
                                      <p:cBhvr>
                                        <p:cTn id="182" dur="500" fill="hold"/>
                                        <p:tgtEl>
                                          <p:spTgt spid="57"/>
                                        </p:tgtEl>
                                        <p:attrNameLst>
                                          <p:attrName>ppt_x</p:attrName>
                                        </p:attrNameLst>
                                      </p:cBhvr>
                                      <p:tavLst>
                                        <p:tav tm="0">
                                          <p:val>
                                            <p:strVal val="#ppt_x"/>
                                          </p:val>
                                        </p:tav>
                                        <p:tav tm="100000">
                                          <p:val>
                                            <p:strVal val="#ppt_x"/>
                                          </p:val>
                                        </p:tav>
                                      </p:tavLst>
                                    </p:anim>
                                    <p:anim calcmode="lin" valueType="num">
                                      <p:cBhvr>
                                        <p:cTn id="183" dur="500" fill="hold"/>
                                        <p:tgtEl>
                                          <p:spTgt spid="57"/>
                                        </p:tgtEl>
                                        <p:attrNameLst>
                                          <p:attrName>ppt_y</p:attrName>
                                        </p:attrNameLst>
                                      </p:cBhvr>
                                      <p:tavLst>
                                        <p:tav tm="0">
                                          <p:val>
                                            <p:strVal val="#ppt_y+0.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7315200" cy="219456"/>
          </a:xfrm>
          <a:prstGeom prst="rect">
            <a:avLst/>
          </a:prstGeom>
          <a:noFill/>
          <a:ln/>
        </p:spPr>
        <p:txBody>
          <a:bodyPr wrap="square" lIns="0" tIns="0" rIns="0" bIns="0" rtlCol="0" anchor="t"/>
          <a:lstStyle/>
          <a:p>
            <a:pPr indent="0" marL="0">
              <a:buNone/>
            </a:pPr>
            <a:r>
              <a:rPr lang="en-US" sz="1000" b="1" spc="200" kern="0" dirty="0">
                <a:solidFill>
                  <a:srgbClr val="E11D48"/>
                </a:solidFill>
                <a:latin typeface="Inter" pitchFamily="34" charset="0"/>
                <a:ea typeface="Inter" pitchFamily="34" charset="-122"/>
                <a:cs typeface="Inter" pitchFamily="34" charset="-120"/>
              </a:rPr>
              <a:t>20 · PUTTING IT ALL TOGETHER</a:t>
            </a:r>
            <a:endParaRPr lang="en-US" sz="1000" dirty="0"/>
          </a:p>
        </p:txBody>
      </p:sp>
      <p:sp>
        <p:nvSpPr>
          <p:cNvPr id="3" name="Text 0"/>
          <p:cNvSpPr/>
          <p:nvPr>
            <p:ph idx="100" type="title" hasCustomPrompt="1"/>
          </p:nvPr>
        </p:nvSpPr>
        <p:spPr>
          <a:xfrm>
            <a:off x="548640" y="548640"/>
            <a:ext cx="11064240" cy="502920"/>
          </a:xfrm>
          <a:prstGeom prst="rect">
            <a:avLst/>
          </a:prstGeom>
          <a:noFill/>
          <a:ln/>
        </p:spPr>
        <p:txBody>
          <a:bodyPr wrap="square" lIns="0" tIns="0" rIns="0" bIns="0" rtlCol="0" anchor="t"/>
          <a:lstStyle/>
          <a:p>
            <a:pPr algn="l" indent="0" marL="0">
              <a:buNone/>
            </a:pPr>
            <a:r>
              <a:rPr lang="en-US" sz="2600" b="1" dirty="0">
                <a:solidFill>
                  <a:srgbClr val="0F172A"/>
                </a:solidFill>
                <a:latin typeface="Inter" pitchFamily="34" charset="0"/>
                <a:ea typeface="Inter" pitchFamily="34" charset="-122"/>
                <a:cs typeface="Inter" pitchFamily="34" charset="-120"/>
              </a:rPr>
              <a:t>Putting it all together</a:t>
            </a:r>
            <a:endParaRPr lang="en-US" sz="2600" dirty="0"/>
          </a:p>
        </p:txBody>
      </p:sp>
      <p:sp>
        <p:nvSpPr>
          <p:cNvPr id="4" name="Text 2"/>
          <p:cNvSpPr txBox="1"/>
          <p:nvPr/>
        </p:nvSpPr>
        <p:spPr>
          <a:xfrm>
            <a:off x="548640" y="1097280"/>
            <a:ext cx="11064240" cy="329184"/>
          </a:xfrm>
          <a:prstGeom prst="rect">
            <a:avLst/>
          </a:prstGeom>
          <a:noFill/>
          <a:ln/>
        </p:spPr>
        <p:txBody>
          <a:bodyPr wrap="square" lIns="0" tIns="0" rIns="0" bIns="0" rtlCol="0" anchor="t"/>
          <a:lstStyle/>
          <a:p>
            <a:pPr indent="0" marL="0">
              <a:buNone/>
            </a:pPr>
            <a:r>
              <a:rPr lang="en-US" sz="1300" dirty="0">
                <a:solidFill>
                  <a:srgbClr val="64748B"/>
                </a:solidFill>
                <a:latin typeface="Inter" pitchFamily="34" charset="0"/>
                <a:ea typeface="Inter" pitchFamily="34" charset="-122"/>
                <a:cs typeface="Inter" pitchFamily="34" charset="-120"/>
              </a:rPr>
              <a:t>Tokens → embeddings → decoder blocks → probabilities → next token, then repeat.</a:t>
            </a:r>
            <a:endParaRPr lang="en-US" sz="1300" dirty="0"/>
          </a:p>
        </p:txBody>
      </p:sp>
      <p:sp>
        <p:nvSpPr>
          <p:cNvPr id="5" name="anim-1-rise-0-1129"/>
          <p:cNvSpPr/>
          <p:nvPr/>
        </p:nvSpPr>
        <p:spPr>
          <a:xfrm>
            <a:off x="548640" y="1920240"/>
            <a:ext cx="1280160" cy="1554480"/>
          </a:xfrm>
          <a:prstGeom prst="roundRect">
            <a:avLst>
              <a:gd name="adj" fmla="val 7143"/>
            </a:avLst>
          </a:prstGeom>
          <a:solidFill>
            <a:srgbClr val="F1F5F9"/>
          </a:solidFill>
          <a:ln/>
        </p:spPr>
      </p:sp>
      <p:sp>
        <p:nvSpPr>
          <p:cNvPr id="6" name="anim-1-rise-0-1130"/>
          <p:cNvSpPr txBox="1"/>
          <p:nvPr/>
        </p:nvSpPr>
        <p:spPr>
          <a:xfrm>
            <a:off x="640080" y="2029968"/>
            <a:ext cx="1097280" cy="411480"/>
          </a:xfrm>
          <a:prstGeom prst="rect">
            <a:avLst/>
          </a:prstGeom>
          <a:noFill/>
          <a:ln/>
        </p:spPr>
        <p:txBody>
          <a:bodyPr wrap="square" lIns="0" tIns="0" rIns="0" bIns="0" rtlCol="0" anchor="t"/>
          <a:lstStyle/>
          <a:p>
            <a:pPr algn="ctr" indent="0" marL="0">
              <a:buNone/>
            </a:pPr>
            <a:r>
              <a:rPr lang="en-US" sz="1150" b="1" dirty="0">
                <a:solidFill>
                  <a:srgbClr val="0F172A"/>
                </a:solidFill>
                <a:latin typeface="Inter" pitchFamily="34" charset="0"/>
                <a:ea typeface="Inter" pitchFamily="34" charset="-122"/>
                <a:cs typeface="Inter" pitchFamily="34" charset="-120"/>
              </a:rPr>
              <a:t>Text</a:t>
            </a:r>
            <a:endParaRPr lang="en-US" sz="1150" dirty="0"/>
          </a:p>
        </p:txBody>
      </p:sp>
      <p:sp>
        <p:nvSpPr>
          <p:cNvPr id="7" name="anim-1-rise-0-1131"/>
          <p:cNvSpPr txBox="1"/>
          <p:nvPr/>
        </p:nvSpPr>
        <p:spPr>
          <a:xfrm>
            <a:off x="640080" y="2468880"/>
            <a:ext cx="1097280" cy="548640"/>
          </a:xfrm>
          <a:prstGeom prst="rect">
            <a:avLst/>
          </a:prstGeom>
          <a:noFill/>
          <a:ln/>
        </p:spPr>
        <p:txBody>
          <a:bodyPr wrap="square" lIns="0" tIns="0" rIns="0" bIns="0" rtlCol="0" anchor="t"/>
          <a:lstStyle/>
          <a:p>
            <a:pPr algn="ctr" indent="0" marL="0">
              <a:buNone/>
            </a:pPr>
            <a:r>
              <a:rPr lang="en-US" sz="950" dirty="0">
                <a:solidFill>
                  <a:srgbClr val="334155"/>
                </a:solidFill>
                <a:latin typeface="Inter" pitchFamily="34" charset="0"/>
                <a:ea typeface="Inter" pitchFamily="34" charset="-122"/>
                <a:cs typeface="Inter" pitchFamily="34" charset="-120"/>
              </a:rPr>
              <a:t>“The cat sat on the”</a:t>
            </a:r>
            <a:endParaRPr lang="en-US" sz="950" dirty="0"/>
          </a:p>
        </p:txBody>
      </p:sp>
      <p:sp>
        <p:nvSpPr>
          <p:cNvPr id="8" name="anim-1-rise-0-1132"/>
          <p:cNvSpPr txBox="1"/>
          <p:nvPr/>
        </p:nvSpPr>
        <p:spPr>
          <a:xfrm>
            <a:off x="594360" y="3182112"/>
            <a:ext cx="118872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a string</a:t>
            </a:r>
            <a:endParaRPr lang="en-US" sz="850" dirty="0"/>
          </a:p>
        </p:txBody>
      </p:sp>
      <p:sp>
        <p:nvSpPr>
          <p:cNvPr id="9" name="anim-1-wipe-200-1133"/>
          <p:cNvSpPr/>
          <p:nvPr/>
        </p:nvSpPr>
        <p:spPr>
          <a:xfrm>
            <a:off x="1856232" y="2697480"/>
            <a:ext cx="170688" cy="0"/>
          </a:xfrm>
          <a:prstGeom prst="line">
            <a:avLst/>
          </a:prstGeom>
          <a:noFill/>
          <a:ln w="19050">
            <a:solidFill>
              <a:srgbClr val="94A3B8"/>
            </a:solidFill>
            <a:prstDash val="solid"/>
            <a:tailEnd type="triangle"/>
          </a:ln>
        </p:spPr>
      </p:sp>
      <p:sp>
        <p:nvSpPr>
          <p:cNvPr id="10" name="anim-1-rise-300-1134"/>
          <p:cNvSpPr/>
          <p:nvPr/>
        </p:nvSpPr>
        <p:spPr>
          <a:xfrm>
            <a:off x="2054352" y="1920240"/>
            <a:ext cx="1280160" cy="1554480"/>
          </a:xfrm>
          <a:prstGeom prst="roundRect">
            <a:avLst>
              <a:gd name="adj" fmla="val 7143"/>
            </a:avLst>
          </a:prstGeom>
          <a:solidFill>
            <a:srgbClr val="FEF3C7"/>
          </a:solidFill>
          <a:ln/>
        </p:spPr>
      </p:sp>
      <p:sp>
        <p:nvSpPr>
          <p:cNvPr id="11" name="anim-1-rise-300-1135"/>
          <p:cNvSpPr txBox="1"/>
          <p:nvPr/>
        </p:nvSpPr>
        <p:spPr>
          <a:xfrm>
            <a:off x="2145792" y="2029968"/>
            <a:ext cx="1097280" cy="411480"/>
          </a:xfrm>
          <a:prstGeom prst="rect">
            <a:avLst/>
          </a:prstGeom>
          <a:noFill/>
          <a:ln/>
        </p:spPr>
        <p:txBody>
          <a:bodyPr wrap="square" lIns="0" tIns="0" rIns="0" bIns="0" rtlCol="0" anchor="t"/>
          <a:lstStyle/>
          <a:p>
            <a:pPr algn="ctr" indent="0" marL="0">
              <a:buNone/>
            </a:pPr>
            <a:r>
              <a:rPr lang="en-US" sz="1150" b="1" dirty="0">
                <a:solidFill>
                  <a:srgbClr val="D97706"/>
                </a:solidFill>
                <a:latin typeface="Inter" pitchFamily="34" charset="0"/>
                <a:ea typeface="Inter" pitchFamily="34" charset="-122"/>
                <a:cs typeface="Inter" pitchFamily="34" charset="-120"/>
              </a:rPr>
              <a:t>Tokenizer</a:t>
            </a:r>
            <a:endParaRPr lang="en-US" sz="1150" dirty="0"/>
          </a:p>
        </p:txBody>
      </p:sp>
      <p:sp>
        <p:nvSpPr>
          <p:cNvPr id="12" name="anim-1-rise-300-1136"/>
          <p:cNvSpPr txBox="1"/>
          <p:nvPr/>
        </p:nvSpPr>
        <p:spPr>
          <a:xfrm>
            <a:off x="2145792" y="2468880"/>
            <a:ext cx="1097280" cy="548640"/>
          </a:xfrm>
          <a:prstGeom prst="rect">
            <a:avLst/>
          </a:prstGeom>
          <a:noFill/>
          <a:ln/>
        </p:spPr>
        <p:txBody>
          <a:bodyPr wrap="square" lIns="0" tIns="0" rIns="0" bIns="0" rtlCol="0" anchor="t"/>
          <a:lstStyle/>
          <a:p>
            <a:pPr algn="ctr" indent="0" marL="0">
              <a:buNone/>
            </a:pPr>
            <a:r>
              <a:rPr lang="en-US" sz="950" dirty="0">
                <a:solidFill>
                  <a:srgbClr val="334155"/>
                </a:solidFill>
                <a:latin typeface="Inter" pitchFamily="34" charset="0"/>
                <a:ea typeface="Inter" pitchFamily="34" charset="-122"/>
                <a:cs typeface="Inter" pitchFamily="34" charset="-120"/>
              </a:rPr>
              <a:t>split into pieces, look up IDs</a:t>
            </a:r>
            <a:endParaRPr lang="en-US" sz="950" dirty="0"/>
          </a:p>
        </p:txBody>
      </p:sp>
      <p:sp>
        <p:nvSpPr>
          <p:cNvPr id="13" name="anim-1-rise-300-1137"/>
          <p:cNvSpPr txBox="1"/>
          <p:nvPr/>
        </p:nvSpPr>
        <p:spPr>
          <a:xfrm>
            <a:off x="2100072" y="3182112"/>
            <a:ext cx="118872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5 IDs</a:t>
            </a:r>
            <a:endParaRPr lang="en-US" sz="850" dirty="0"/>
          </a:p>
        </p:txBody>
      </p:sp>
      <p:sp>
        <p:nvSpPr>
          <p:cNvPr id="14" name="anim-1-wipe-500-1138"/>
          <p:cNvSpPr/>
          <p:nvPr/>
        </p:nvSpPr>
        <p:spPr>
          <a:xfrm>
            <a:off x="3361944" y="2697480"/>
            <a:ext cx="170688" cy="0"/>
          </a:xfrm>
          <a:prstGeom prst="line">
            <a:avLst/>
          </a:prstGeom>
          <a:noFill/>
          <a:ln w="19050">
            <a:solidFill>
              <a:srgbClr val="94A3B8"/>
            </a:solidFill>
            <a:prstDash val="solid"/>
            <a:tailEnd type="triangle"/>
          </a:ln>
        </p:spPr>
      </p:sp>
      <p:sp>
        <p:nvSpPr>
          <p:cNvPr id="15" name="anim-1-rise-600-1139"/>
          <p:cNvSpPr/>
          <p:nvPr/>
        </p:nvSpPr>
        <p:spPr>
          <a:xfrm>
            <a:off x="3560064" y="1920240"/>
            <a:ext cx="1371600" cy="1554480"/>
          </a:xfrm>
          <a:prstGeom prst="roundRect">
            <a:avLst>
              <a:gd name="adj" fmla="val 6667"/>
            </a:avLst>
          </a:prstGeom>
          <a:solidFill>
            <a:srgbClr val="FEF3C7"/>
          </a:solidFill>
          <a:ln/>
        </p:spPr>
      </p:sp>
      <p:sp>
        <p:nvSpPr>
          <p:cNvPr id="16" name="anim-1-rise-600-1140"/>
          <p:cNvSpPr txBox="1"/>
          <p:nvPr/>
        </p:nvSpPr>
        <p:spPr>
          <a:xfrm>
            <a:off x="3651504" y="2029968"/>
            <a:ext cx="1188720" cy="411480"/>
          </a:xfrm>
          <a:prstGeom prst="rect">
            <a:avLst/>
          </a:prstGeom>
          <a:noFill/>
          <a:ln/>
        </p:spPr>
        <p:txBody>
          <a:bodyPr wrap="square" lIns="0" tIns="0" rIns="0" bIns="0" rtlCol="0" anchor="t"/>
          <a:lstStyle/>
          <a:p>
            <a:pPr algn="ctr" indent="0" marL="0">
              <a:buNone/>
            </a:pPr>
            <a:r>
              <a:rPr lang="en-US" sz="1150" b="1" dirty="0">
                <a:solidFill>
                  <a:srgbClr val="D97706"/>
                </a:solidFill>
                <a:latin typeface="Inter" pitchFamily="34" charset="0"/>
                <a:ea typeface="Inter" pitchFamily="34" charset="-122"/>
                <a:cs typeface="Inter" pitchFamily="34" charset="-120"/>
              </a:rPr>
              <a:t>Embed + position</a:t>
            </a:r>
            <a:endParaRPr lang="en-US" sz="1150" dirty="0"/>
          </a:p>
        </p:txBody>
      </p:sp>
      <p:sp>
        <p:nvSpPr>
          <p:cNvPr id="17" name="anim-1-rise-600-1141"/>
          <p:cNvSpPr txBox="1"/>
          <p:nvPr/>
        </p:nvSpPr>
        <p:spPr>
          <a:xfrm>
            <a:off x="3651504" y="2468880"/>
            <a:ext cx="1188720" cy="548640"/>
          </a:xfrm>
          <a:prstGeom prst="rect">
            <a:avLst/>
          </a:prstGeom>
          <a:noFill/>
          <a:ln/>
        </p:spPr>
        <p:txBody>
          <a:bodyPr wrap="square" lIns="0" tIns="0" rIns="0" bIns="0" rtlCol="0" anchor="t"/>
          <a:lstStyle/>
          <a:p>
            <a:pPr algn="ctr" indent="0" marL="0">
              <a:buNone/>
            </a:pPr>
            <a:r>
              <a:rPr lang="en-US" sz="950" dirty="0">
                <a:solidFill>
                  <a:srgbClr val="334155"/>
                </a:solidFill>
                <a:latin typeface="Inter" pitchFamily="34" charset="0"/>
                <a:ea typeface="Inter" pitchFamily="34" charset="-122"/>
                <a:cs typeface="Inter" pitchFamily="34" charset="-120"/>
              </a:rPr>
              <a:t>lookup table + word order</a:t>
            </a:r>
            <a:endParaRPr lang="en-US" sz="950" dirty="0"/>
          </a:p>
        </p:txBody>
      </p:sp>
      <p:sp>
        <p:nvSpPr>
          <p:cNvPr id="18" name="anim-1-rise-600-1142"/>
          <p:cNvSpPr txBox="1"/>
          <p:nvPr/>
        </p:nvSpPr>
        <p:spPr>
          <a:xfrm>
            <a:off x="3605784" y="3182112"/>
            <a:ext cx="128016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5 × 768</a:t>
            </a:r>
            <a:endParaRPr lang="en-US" sz="850" dirty="0"/>
          </a:p>
        </p:txBody>
      </p:sp>
      <p:sp>
        <p:nvSpPr>
          <p:cNvPr id="19" name="anim-1-wipe-800-1143"/>
          <p:cNvSpPr/>
          <p:nvPr/>
        </p:nvSpPr>
        <p:spPr>
          <a:xfrm>
            <a:off x="4959096" y="2697480"/>
            <a:ext cx="170688" cy="0"/>
          </a:xfrm>
          <a:prstGeom prst="line">
            <a:avLst/>
          </a:prstGeom>
          <a:noFill/>
          <a:ln w="19050">
            <a:solidFill>
              <a:srgbClr val="94A3B8"/>
            </a:solidFill>
            <a:prstDash val="solid"/>
            <a:tailEnd type="triangle"/>
          </a:ln>
        </p:spPr>
      </p:sp>
      <p:sp>
        <p:nvSpPr>
          <p:cNvPr id="20" name="anim-1-rise-900-1144"/>
          <p:cNvSpPr/>
          <p:nvPr/>
        </p:nvSpPr>
        <p:spPr>
          <a:xfrm>
            <a:off x="5157216" y="1920240"/>
            <a:ext cx="2103120" cy="1554480"/>
          </a:xfrm>
          <a:prstGeom prst="roundRect">
            <a:avLst>
              <a:gd name="adj" fmla="val 5882"/>
            </a:avLst>
          </a:prstGeom>
          <a:solidFill>
            <a:srgbClr val="EDE9FE"/>
          </a:solidFill>
          <a:ln/>
        </p:spPr>
      </p:sp>
      <p:sp>
        <p:nvSpPr>
          <p:cNvPr id="21" name="anim-1-rise-900-1145"/>
          <p:cNvSpPr txBox="1"/>
          <p:nvPr/>
        </p:nvSpPr>
        <p:spPr>
          <a:xfrm>
            <a:off x="5248656" y="2029968"/>
            <a:ext cx="1920240" cy="411480"/>
          </a:xfrm>
          <a:prstGeom prst="rect">
            <a:avLst/>
          </a:prstGeom>
          <a:noFill/>
          <a:ln/>
        </p:spPr>
        <p:txBody>
          <a:bodyPr wrap="square" lIns="0" tIns="0" rIns="0" bIns="0" rtlCol="0" anchor="t"/>
          <a:lstStyle/>
          <a:p>
            <a:pPr algn="ctr" indent="0" marL="0">
              <a:buNone/>
            </a:pPr>
            <a:r>
              <a:rPr lang="en-US" sz="1150" b="1" dirty="0">
                <a:solidFill>
                  <a:srgbClr val="7C3AED"/>
                </a:solidFill>
                <a:latin typeface="Inter" pitchFamily="34" charset="0"/>
                <a:ea typeface="Inter" pitchFamily="34" charset="-122"/>
                <a:cs typeface="Inter" pitchFamily="34" charset="-120"/>
              </a:rPr>
              <a:t>Decoder blocks × N</a:t>
            </a:r>
            <a:endParaRPr lang="en-US" sz="1150" dirty="0"/>
          </a:p>
        </p:txBody>
      </p:sp>
      <p:sp>
        <p:nvSpPr>
          <p:cNvPr id="22" name="anim-1-rise-900-1146"/>
          <p:cNvSpPr/>
          <p:nvPr/>
        </p:nvSpPr>
        <p:spPr>
          <a:xfrm>
            <a:off x="5340096" y="2468880"/>
            <a:ext cx="1737360" cy="310896"/>
          </a:xfrm>
          <a:prstGeom prst="roundRect">
            <a:avLst>
              <a:gd name="adj" fmla="val 29412"/>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Inter" pitchFamily="34" charset="0"/>
                <a:ea typeface="Inter" pitchFamily="34" charset="-122"/>
                <a:cs typeface="Inter" pitchFamily="34" charset="-120"/>
              </a:rPr>
              <a:t>masked attention</a:t>
            </a:r>
            <a:endParaRPr lang="en-US" sz="950" dirty="0"/>
          </a:p>
        </p:txBody>
      </p:sp>
      <p:sp>
        <p:nvSpPr>
          <p:cNvPr id="23" name="anim-1-rise-900-1147"/>
          <p:cNvSpPr/>
          <p:nvPr/>
        </p:nvSpPr>
        <p:spPr>
          <a:xfrm>
            <a:off x="5340096" y="2834640"/>
            <a:ext cx="1737360" cy="310896"/>
          </a:xfrm>
          <a:prstGeom prst="roundRect">
            <a:avLst>
              <a:gd name="adj" fmla="val 29412"/>
            </a:avLst>
          </a:prstGeom>
          <a:solidFill>
            <a:srgbClr val="0D9488"/>
          </a:solidFill>
          <a:ln/>
        </p:spPr>
        <p:txBody>
          <a:bodyPr wrap="square" lIns="0" tIns="0" rIns="0" bIns="0" rtlCol="0" anchor="ctr"/>
          <a:lstStyle/>
          <a:p>
            <a:pPr algn="ctr" indent="0" marL="0">
              <a:buNone/>
            </a:pPr>
            <a:r>
              <a:rPr lang="en-US" sz="950" b="1" dirty="0">
                <a:solidFill>
                  <a:srgbClr val="FFFFFF"/>
                </a:solidFill>
                <a:latin typeface="Inter" pitchFamily="34" charset="0"/>
                <a:ea typeface="Inter" pitchFamily="34" charset="-122"/>
                <a:cs typeface="Inter" pitchFamily="34" charset="-120"/>
              </a:rPr>
              <a:t>feed-forward</a:t>
            </a:r>
            <a:endParaRPr lang="en-US" sz="950" dirty="0"/>
          </a:p>
        </p:txBody>
      </p:sp>
      <p:sp>
        <p:nvSpPr>
          <p:cNvPr id="24" name="anim-1-rise-900-1148"/>
          <p:cNvSpPr txBox="1"/>
          <p:nvPr/>
        </p:nvSpPr>
        <p:spPr>
          <a:xfrm>
            <a:off x="5202936" y="3182112"/>
            <a:ext cx="201168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5 × 768</a:t>
            </a:r>
            <a:endParaRPr lang="en-US" sz="850" dirty="0"/>
          </a:p>
        </p:txBody>
      </p:sp>
      <p:sp>
        <p:nvSpPr>
          <p:cNvPr id="25" name="anim-1-wipe-1100-1149"/>
          <p:cNvSpPr/>
          <p:nvPr/>
        </p:nvSpPr>
        <p:spPr>
          <a:xfrm>
            <a:off x="7287768" y="2697480"/>
            <a:ext cx="170688" cy="0"/>
          </a:xfrm>
          <a:prstGeom prst="line">
            <a:avLst/>
          </a:prstGeom>
          <a:noFill/>
          <a:ln w="19050">
            <a:solidFill>
              <a:srgbClr val="94A3B8"/>
            </a:solidFill>
            <a:prstDash val="solid"/>
            <a:tailEnd type="triangle"/>
          </a:ln>
        </p:spPr>
      </p:sp>
      <p:sp>
        <p:nvSpPr>
          <p:cNvPr id="26" name="anim-1-rise-1200-1150"/>
          <p:cNvSpPr/>
          <p:nvPr/>
        </p:nvSpPr>
        <p:spPr>
          <a:xfrm>
            <a:off x="7485888" y="1920240"/>
            <a:ext cx="1417320" cy="1554480"/>
          </a:xfrm>
          <a:prstGeom prst="roundRect">
            <a:avLst>
              <a:gd name="adj" fmla="val 6452"/>
            </a:avLst>
          </a:prstGeom>
          <a:solidFill>
            <a:srgbClr val="FFE4E6"/>
          </a:solidFill>
          <a:ln/>
        </p:spPr>
      </p:sp>
      <p:sp>
        <p:nvSpPr>
          <p:cNvPr id="27" name="anim-1-rise-1200-1151"/>
          <p:cNvSpPr txBox="1"/>
          <p:nvPr/>
        </p:nvSpPr>
        <p:spPr>
          <a:xfrm>
            <a:off x="7577328" y="2029968"/>
            <a:ext cx="1234440" cy="411480"/>
          </a:xfrm>
          <a:prstGeom prst="rect">
            <a:avLst/>
          </a:prstGeom>
          <a:noFill/>
          <a:ln/>
        </p:spPr>
        <p:txBody>
          <a:bodyPr wrap="square" lIns="0" tIns="0" rIns="0" bIns="0" rtlCol="0" anchor="t"/>
          <a:lstStyle/>
          <a:p>
            <a:pPr algn="ctr" indent="0" marL="0">
              <a:buNone/>
            </a:pPr>
            <a:r>
              <a:rPr lang="en-US" sz="1150" b="1" dirty="0">
                <a:solidFill>
                  <a:srgbClr val="E11D48"/>
                </a:solidFill>
                <a:latin typeface="Inter" pitchFamily="34" charset="0"/>
                <a:ea typeface="Inter" pitchFamily="34" charset="-122"/>
                <a:cs typeface="Inter" pitchFamily="34" charset="-120"/>
              </a:rPr>
              <a:t>Final norm + linear</a:t>
            </a:r>
            <a:endParaRPr lang="en-US" sz="1150" dirty="0"/>
          </a:p>
        </p:txBody>
      </p:sp>
      <p:sp>
        <p:nvSpPr>
          <p:cNvPr id="28" name="anim-1-rise-1200-1152"/>
          <p:cNvSpPr txBox="1"/>
          <p:nvPr/>
        </p:nvSpPr>
        <p:spPr>
          <a:xfrm>
            <a:off x="7577328" y="2468880"/>
            <a:ext cx="1234440" cy="548640"/>
          </a:xfrm>
          <a:prstGeom prst="rect">
            <a:avLst/>
          </a:prstGeom>
          <a:noFill/>
          <a:ln/>
        </p:spPr>
        <p:txBody>
          <a:bodyPr wrap="square" lIns="0" tIns="0" rIns="0" bIns="0" rtlCol="0" anchor="t"/>
          <a:lstStyle/>
          <a:p>
            <a:pPr algn="ctr" indent="0" marL="0">
              <a:buNone/>
            </a:pPr>
            <a:r>
              <a:rPr lang="en-US" sz="950" dirty="0">
                <a:solidFill>
                  <a:srgbClr val="334155"/>
                </a:solidFill>
                <a:latin typeface="Inter" pitchFamily="34" charset="0"/>
                <a:ea typeface="Inter" pitchFamily="34" charset="-122"/>
                <a:cs typeface="Inter" pitchFamily="34" charset="-120"/>
              </a:rPr>
              <a:t>last vector → vocab scores</a:t>
            </a:r>
            <a:endParaRPr lang="en-US" sz="950" dirty="0"/>
          </a:p>
        </p:txBody>
      </p:sp>
      <p:sp>
        <p:nvSpPr>
          <p:cNvPr id="29" name="anim-1-rise-1200-1153"/>
          <p:cNvSpPr txBox="1"/>
          <p:nvPr/>
        </p:nvSpPr>
        <p:spPr>
          <a:xfrm>
            <a:off x="7531608" y="3182112"/>
            <a:ext cx="132588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50,257 logits</a:t>
            </a:r>
            <a:endParaRPr lang="en-US" sz="850" dirty="0"/>
          </a:p>
        </p:txBody>
      </p:sp>
      <p:sp>
        <p:nvSpPr>
          <p:cNvPr id="30" name="anim-1-wipe-1400-1154"/>
          <p:cNvSpPr/>
          <p:nvPr/>
        </p:nvSpPr>
        <p:spPr>
          <a:xfrm>
            <a:off x="8930640" y="2697480"/>
            <a:ext cx="170688" cy="0"/>
          </a:xfrm>
          <a:prstGeom prst="line">
            <a:avLst/>
          </a:prstGeom>
          <a:noFill/>
          <a:ln w="19050">
            <a:solidFill>
              <a:srgbClr val="94A3B8"/>
            </a:solidFill>
            <a:prstDash val="solid"/>
            <a:tailEnd type="triangle"/>
          </a:ln>
        </p:spPr>
      </p:sp>
      <p:sp>
        <p:nvSpPr>
          <p:cNvPr id="31" name="anim-1-rise-1500-1155"/>
          <p:cNvSpPr/>
          <p:nvPr/>
        </p:nvSpPr>
        <p:spPr>
          <a:xfrm>
            <a:off x="9128760" y="1920240"/>
            <a:ext cx="1417320" cy="1554480"/>
          </a:xfrm>
          <a:prstGeom prst="roundRect">
            <a:avLst>
              <a:gd name="adj" fmla="val 6452"/>
            </a:avLst>
          </a:prstGeom>
          <a:solidFill>
            <a:srgbClr val="FFE4E6"/>
          </a:solidFill>
          <a:ln/>
        </p:spPr>
      </p:sp>
      <p:sp>
        <p:nvSpPr>
          <p:cNvPr id="32" name="anim-1-rise-1500-1156"/>
          <p:cNvSpPr txBox="1"/>
          <p:nvPr/>
        </p:nvSpPr>
        <p:spPr>
          <a:xfrm>
            <a:off x="9220200" y="2029968"/>
            <a:ext cx="1234440" cy="411480"/>
          </a:xfrm>
          <a:prstGeom prst="rect">
            <a:avLst/>
          </a:prstGeom>
          <a:noFill/>
          <a:ln/>
        </p:spPr>
        <p:txBody>
          <a:bodyPr wrap="square" lIns="0" tIns="0" rIns="0" bIns="0" rtlCol="0" anchor="t"/>
          <a:lstStyle/>
          <a:p>
            <a:pPr algn="ctr" indent="0" marL="0">
              <a:buNone/>
            </a:pPr>
            <a:r>
              <a:rPr lang="en-US" sz="1150" b="1" dirty="0">
                <a:solidFill>
                  <a:srgbClr val="E11D48"/>
                </a:solidFill>
                <a:latin typeface="Inter" pitchFamily="34" charset="0"/>
                <a:ea typeface="Inter" pitchFamily="34" charset="-122"/>
                <a:cs typeface="Inter" pitchFamily="34" charset="-120"/>
              </a:rPr>
              <a:t>Softmax</a:t>
            </a:r>
            <a:endParaRPr lang="en-US" sz="1150" dirty="0"/>
          </a:p>
        </p:txBody>
      </p:sp>
      <p:sp>
        <p:nvSpPr>
          <p:cNvPr id="33" name="anim-1-rise-1500-1157"/>
          <p:cNvSpPr txBox="1"/>
          <p:nvPr/>
        </p:nvSpPr>
        <p:spPr>
          <a:xfrm>
            <a:off x="9220200" y="2468880"/>
            <a:ext cx="1234440" cy="548640"/>
          </a:xfrm>
          <a:prstGeom prst="rect">
            <a:avLst/>
          </a:prstGeom>
          <a:noFill/>
          <a:ln/>
        </p:spPr>
        <p:txBody>
          <a:bodyPr wrap="square" lIns="0" tIns="0" rIns="0" bIns="0" rtlCol="0" anchor="t"/>
          <a:lstStyle/>
          <a:p>
            <a:pPr algn="ctr" indent="0" marL="0">
              <a:buNone/>
            </a:pPr>
            <a:r>
              <a:rPr lang="en-US" sz="950" dirty="0">
                <a:solidFill>
                  <a:srgbClr val="334155"/>
                </a:solidFill>
                <a:latin typeface="Inter" pitchFamily="34" charset="0"/>
                <a:ea typeface="Inter" pitchFamily="34" charset="-122"/>
                <a:cs typeface="Inter" pitchFamily="34" charset="-120"/>
              </a:rPr>
              <a:t>scores → probabilities</a:t>
            </a:r>
            <a:endParaRPr lang="en-US" sz="950" dirty="0"/>
          </a:p>
        </p:txBody>
      </p:sp>
      <p:sp>
        <p:nvSpPr>
          <p:cNvPr id="34" name="anim-1-rise-1500-1158"/>
          <p:cNvSpPr txBox="1"/>
          <p:nvPr/>
        </p:nvSpPr>
        <p:spPr>
          <a:xfrm>
            <a:off x="9174480" y="3182112"/>
            <a:ext cx="1325880" cy="219456"/>
          </a:xfrm>
          <a:prstGeom prst="rect">
            <a:avLst/>
          </a:prstGeom>
          <a:noFill/>
          <a:ln/>
        </p:spPr>
        <p:txBody>
          <a:bodyPr wrap="square" lIns="0" tIns="0" rIns="0" bIns="0" rtlCol="0" anchor="t"/>
          <a:lstStyle/>
          <a:p>
            <a:pPr algn="ctr" indent="0" marL="0">
              <a:buNone/>
            </a:pPr>
            <a:r>
              <a:rPr lang="en-US" sz="850" dirty="0">
                <a:solidFill>
                  <a:srgbClr val="64748B"/>
                </a:solidFill>
                <a:latin typeface="Inter" pitchFamily="34" charset="0"/>
                <a:ea typeface="Inter" pitchFamily="34" charset="-122"/>
                <a:cs typeface="Inter" pitchFamily="34" charset="-120"/>
              </a:rPr>
              <a:t>mat 41% · floor 14%…</a:t>
            </a:r>
            <a:endParaRPr lang="en-US" sz="850" dirty="0"/>
          </a:p>
        </p:txBody>
      </p:sp>
      <p:sp>
        <p:nvSpPr>
          <p:cNvPr id="35" name="anim-1-wipe-1700-1159"/>
          <p:cNvSpPr/>
          <p:nvPr/>
        </p:nvSpPr>
        <p:spPr>
          <a:xfrm>
            <a:off x="10573512" y="2697480"/>
            <a:ext cx="170688" cy="0"/>
          </a:xfrm>
          <a:prstGeom prst="line">
            <a:avLst/>
          </a:prstGeom>
          <a:noFill/>
          <a:ln w="19050">
            <a:solidFill>
              <a:srgbClr val="94A3B8"/>
            </a:solidFill>
            <a:prstDash val="solid"/>
            <a:tailEnd type="triangle"/>
          </a:ln>
        </p:spPr>
      </p:sp>
      <p:sp>
        <p:nvSpPr>
          <p:cNvPr id="36" name="anim-1-zoom-1800-1160"/>
          <p:cNvSpPr/>
          <p:nvPr/>
        </p:nvSpPr>
        <p:spPr>
          <a:xfrm>
            <a:off x="10771632" y="1920240"/>
            <a:ext cx="868680" cy="1554480"/>
          </a:xfrm>
          <a:prstGeom prst="roundRect">
            <a:avLst>
              <a:gd name="adj" fmla="val 10526"/>
            </a:avLst>
          </a:prstGeom>
          <a:solidFill>
            <a:srgbClr val="E11D48"/>
          </a:solidFill>
          <a:ln/>
        </p:spPr>
        <p:txBody>
          <a:bodyPr wrap="square" lIns="1016" tIns="1016" rIns="1016" bIns="1016" rtlCol="0" anchor="ctr"/>
          <a:lstStyle/>
          <a:p>
            <a:pPr algn="ctr" indent="0" marL="0">
              <a:buNone/>
            </a:pPr>
            <a:r>
              <a:rPr lang="en-US" sz="1000" dirty="0">
                <a:solidFill>
                  <a:srgbClr val="FFE4E6"/>
                </a:solidFill>
                <a:latin typeface="Inter" pitchFamily="34" charset="0"/>
                <a:ea typeface="Inter" pitchFamily="34" charset="-122"/>
                <a:cs typeface="Inter" pitchFamily="34" charset="-120"/>
              </a:rPr>
              <a:t>Pick</a:t>
            </a:r>
            <a:endParaRPr lang="en-US" sz="1200" dirty="0"/>
          </a:p>
          <a:p>
            <a:pPr algn="ctr" indent="0" marL="0">
              <a:buNone/>
            </a:pPr>
            <a:r>
              <a:rPr lang="en-US" sz="1800" b="1" dirty="0">
                <a:solidFill>
                  <a:srgbClr val="FFFFFF"/>
                </a:solidFill>
                <a:latin typeface="Inter" pitchFamily="34" charset="0"/>
                <a:ea typeface="Inter" pitchFamily="34" charset="-122"/>
                <a:cs typeface="Inter" pitchFamily="34" charset="-120"/>
              </a:rPr>
              <a:t>mat</a:t>
            </a:r>
            <a:endParaRPr lang="en-US" sz="1200" dirty="0"/>
          </a:p>
        </p:txBody>
      </p:sp>
      <p:sp>
        <p:nvSpPr>
          <p:cNvPr id="37" name="anim-2-fade-0-1161"/>
          <p:cNvSpPr/>
          <p:nvPr/>
        </p:nvSpPr>
        <p:spPr>
          <a:xfrm>
            <a:off x="11205972" y="3493008"/>
            <a:ext cx="0" cy="484632"/>
          </a:xfrm>
          <a:prstGeom prst="line">
            <a:avLst/>
          </a:prstGeom>
          <a:noFill/>
          <a:ln w="22225">
            <a:solidFill>
              <a:srgbClr val="E11D48"/>
            </a:solidFill>
            <a:prstDash val="dash"/>
          </a:ln>
        </p:spPr>
      </p:sp>
      <p:sp>
        <p:nvSpPr>
          <p:cNvPr id="38" name="anim-2-wipe-200-1162"/>
          <p:cNvSpPr/>
          <p:nvPr/>
        </p:nvSpPr>
        <p:spPr>
          <a:xfrm flipH="1">
            <a:off x="1188720" y="3977640"/>
            <a:ext cx="10017252" cy="0"/>
          </a:xfrm>
          <a:prstGeom prst="line">
            <a:avLst/>
          </a:prstGeom>
          <a:noFill/>
          <a:ln w="22225">
            <a:solidFill>
              <a:srgbClr val="E11D48"/>
            </a:solidFill>
            <a:prstDash val="dash"/>
          </a:ln>
        </p:spPr>
      </p:sp>
      <p:sp>
        <p:nvSpPr>
          <p:cNvPr id="39" name="anim-2-fade-700-1163"/>
          <p:cNvSpPr/>
          <p:nvPr/>
        </p:nvSpPr>
        <p:spPr>
          <a:xfrm flipV="1">
            <a:off x="1188720" y="3511296"/>
            <a:ext cx="0" cy="466344"/>
          </a:xfrm>
          <a:prstGeom prst="line">
            <a:avLst/>
          </a:prstGeom>
          <a:noFill/>
          <a:ln w="22225">
            <a:solidFill>
              <a:srgbClr val="E11D48"/>
            </a:solidFill>
            <a:prstDash val="dash"/>
            <a:tailEnd type="triangle"/>
          </a:ln>
        </p:spPr>
      </p:sp>
      <p:sp>
        <p:nvSpPr>
          <p:cNvPr id="40" name="anim-2-fade-400-1164"/>
          <p:cNvSpPr/>
          <p:nvPr/>
        </p:nvSpPr>
        <p:spPr>
          <a:xfrm>
            <a:off x="4480560" y="3831336"/>
            <a:ext cx="3200400" cy="292608"/>
          </a:xfrm>
          <a:prstGeom prst="roundRect">
            <a:avLst>
              <a:gd name="adj" fmla="val 31250"/>
            </a:avLst>
          </a:prstGeom>
          <a:solidFill>
            <a:srgbClr val="FFFFFF"/>
          </a:solidFill>
          <a:ln/>
        </p:spPr>
        <p:txBody>
          <a:bodyPr wrap="square" lIns="0" tIns="0" rIns="0" bIns="0" rtlCol="0" anchor="ctr"/>
          <a:lstStyle/>
          <a:p>
            <a:pPr algn="ctr" indent="0" marL="0">
              <a:buNone/>
            </a:pPr>
            <a:r>
              <a:rPr lang="en-US" sz="1050" b="1" dirty="0">
                <a:solidFill>
                  <a:srgbClr val="E11D48"/>
                </a:solidFill>
                <a:latin typeface="Inter" pitchFamily="34" charset="0"/>
                <a:ea typeface="Inter" pitchFamily="34" charset="-122"/>
                <a:cs typeface="Inter" pitchFamily="34" charset="-120"/>
              </a:rPr>
              <a:t>append “mat” to the text and run again</a:t>
            </a:r>
            <a:endParaRPr lang="en-US" sz="1050" dirty="0"/>
          </a:p>
        </p:txBody>
      </p:sp>
      <p:sp>
        <p:nvSpPr>
          <p:cNvPr id="41" name="anim-3-rise-0-1165"/>
          <p:cNvSpPr txBox="1"/>
          <p:nvPr/>
        </p:nvSpPr>
        <p:spPr>
          <a:xfrm>
            <a:off x="548640" y="4617720"/>
            <a:ext cx="11064240" cy="548640"/>
          </a:xfrm>
          <a:prstGeom prst="rect">
            <a:avLst/>
          </a:prstGeom>
          <a:noFill/>
          <a:ln/>
        </p:spPr>
        <p:txBody>
          <a:bodyPr wrap="square" lIns="0" tIns="0" rIns="0" bIns="0" rtlCol="0" anchor="ctr"/>
          <a:lstStyle/>
          <a:p>
            <a:pPr algn="ctr" indent="0" marL="0">
              <a:buNone/>
            </a:pPr>
            <a:r>
              <a:rPr lang="en-US" sz="2200" dirty="0">
                <a:solidFill>
                  <a:srgbClr val="64748B"/>
                </a:solidFill>
                <a:latin typeface="Inter" pitchFamily="34" charset="0"/>
                <a:ea typeface="Inter" pitchFamily="34" charset="-122"/>
                <a:cs typeface="Inter" pitchFamily="34" charset="-120"/>
              </a:rPr>
              <a:t>The whole idea: </a:t>
            </a:r>
            <a:pPr algn="ctr" indent="0" marL="0">
              <a:buNone/>
            </a:pPr>
            <a:r>
              <a:rPr lang="en-US" sz="2200" b="1" dirty="0">
                <a:solidFill>
                  <a:srgbClr val="0F172A"/>
                </a:solidFill>
                <a:latin typeface="Inter" pitchFamily="34" charset="0"/>
                <a:ea typeface="Inter" pitchFamily="34" charset="-122"/>
                <a:cs typeface="Inter" pitchFamily="34" charset="-120"/>
              </a:rPr>
              <a:t>context-aware next-token prediction, repeated.</a:t>
            </a:r>
            <a:endParaRPr lang="en-US" sz="2200" dirty="0"/>
          </a:p>
        </p:txBody>
      </p:sp>
      <p:sp>
        <p:nvSpPr>
          <p:cNvPr id="42" name="anim-3-fade-300-1166"/>
          <p:cNvSpPr txBox="1"/>
          <p:nvPr/>
        </p:nvSpPr>
        <p:spPr>
          <a:xfrm>
            <a:off x="548640" y="5257800"/>
            <a:ext cx="11064240" cy="274320"/>
          </a:xfrm>
          <a:prstGeom prst="rect">
            <a:avLst/>
          </a:prstGeom>
          <a:noFill/>
          <a:ln/>
        </p:spPr>
        <p:txBody>
          <a:bodyPr wrap="square" lIns="0" tIns="0" rIns="0" bIns="0" rtlCol="0" anchor="t"/>
          <a:lstStyle/>
          <a:p>
            <a:pPr algn="ctr" indent="0" marL="0">
              <a:buNone/>
            </a:pPr>
            <a:r>
              <a:rPr lang="en-US" sz="1100" dirty="0">
                <a:solidFill>
                  <a:srgbClr val="64748B"/>
                </a:solidFill>
                <a:latin typeface="Inter" pitchFamily="34" charset="0"/>
                <a:ea typeface="Inter" pitchFamily="34" charset="-122"/>
                <a:cs typeface="Inter" pitchFamily="34" charset="-120"/>
              </a:rPr>
              <a:t>Attention gathers context from earlier tokens · feed-forward layers refine it · depth builds meaning · softmax and sampling pick the word</a:t>
            </a:r>
            <a:endParaRPr lang="en-US" sz="11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42"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0.06"/>
                                          </p:val>
                                        </p:tav>
                                        <p:tav tm="100000">
                                          <p:val>
                                            <p:strVal val="#ppt_y"/>
                                          </p:val>
                                        </p:tav>
                                      </p:tavLst>
                                    </p:anim>
                                  </p:childTnLst>
                                </p:cTn>
                              </p:par>
                              <p:par>
                                <p:cTn id="11" presetID="42"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0.06"/>
                                          </p:val>
                                        </p:tav>
                                        <p:tav tm="100000">
                                          <p:val>
                                            <p:strVal val="#ppt_y"/>
                                          </p:val>
                                        </p:tav>
                                      </p:tavLst>
                                    </p:anim>
                                  </p:childTnLst>
                                </p:cTn>
                              </p:par>
                              <p:par>
                                <p:cTn id="16" presetID="42"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0.06"/>
                                          </p:val>
                                        </p:tav>
                                        <p:tav tm="100000">
                                          <p:val>
                                            <p:strVal val="#ppt_y"/>
                                          </p:val>
                                        </p:tav>
                                      </p:tavLst>
                                    </p:anim>
                                  </p:childTnLst>
                                </p:cTn>
                              </p:par>
                              <p:par>
                                <p:cTn id="21" presetID="42"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p:cTn id="23" dur="500" fill="hold"/>
                                        <p:tgtEl>
                                          <p:spTgt spid="8"/>
                                        </p:tgtEl>
                                        <p:attrNameLst>
                                          <p:attrName>ppt_x</p:attrName>
                                        </p:attrNameLst>
                                      </p:cBhvr>
                                      <p:tavLst>
                                        <p:tav tm="0">
                                          <p:val>
                                            <p:strVal val="#ppt_x"/>
                                          </p:val>
                                        </p:tav>
                                        <p:tav tm="100000">
                                          <p:val>
                                            <p:strVal val="#ppt_x"/>
                                          </p:val>
                                        </p:tav>
                                      </p:tavLst>
                                    </p:anim>
                                    <p:anim calcmode="lin" valueType="num">
                                      <p:cBhvr>
                                        <p:cTn id="24" dur="500" fill="hold"/>
                                        <p:tgtEl>
                                          <p:spTgt spid="8"/>
                                        </p:tgtEl>
                                        <p:attrNameLst>
                                          <p:attrName>ppt_y</p:attrName>
                                        </p:attrNameLst>
                                      </p:cBhvr>
                                      <p:tavLst>
                                        <p:tav tm="0">
                                          <p:val>
                                            <p:strVal val="#ppt_y+0.06"/>
                                          </p:val>
                                        </p:tav>
                                        <p:tav tm="100000">
                                          <p:val>
                                            <p:strVal val="#ppt_y"/>
                                          </p:val>
                                        </p:tav>
                                      </p:tavLst>
                                    </p:anim>
                                  </p:childTnLst>
                                </p:cTn>
                              </p:par>
                              <p:par>
                                <p:cTn id="26" presetID="22" presetClass="entr" presetSubtype="8" fill="hold" grpId="0" nodeType="withEffect">
                                  <p:stCondLst>
                                    <p:cond delay="20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7" dur="450"/>
                                        <p:tgtEl>
                                          <p:spTgt spid="9"/>
                                        </p:tgtEl>
                                      </p:cBhvr>
                                    </p:animEffect>
                                  </p:childTnLst>
                                </p:cTn>
                              </p:par>
                              <p:par>
                                <p:cTn id="29" presetID="42" presetClass="entr" presetSubtype="0" fill="hold" grpId="0" nodeType="withEffect">
                                  <p:stCondLst>
                                    <p:cond delay="300"/>
                                  </p:stCondLst>
                                  <p:childTnLst>
                                    <p:set>
                                      <p:cBhvr>
                                        <p:cTn id="28"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p:cTn id="31" dur="500" fill="hold"/>
                                        <p:tgtEl>
                                          <p:spTgt spid="10"/>
                                        </p:tgtEl>
                                        <p:attrNameLst>
                                          <p:attrName>ppt_x</p:attrName>
                                        </p:attrNameLst>
                                      </p:cBhvr>
                                      <p:tavLst>
                                        <p:tav tm="0">
                                          <p:val>
                                            <p:strVal val="#ppt_x"/>
                                          </p:val>
                                        </p:tav>
                                        <p:tav tm="100000">
                                          <p:val>
                                            <p:strVal val="#ppt_x"/>
                                          </p:val>
                                        </p:tav>
                                      </p:tavLst>
                                    </p:anim>
                                    <p:anim calcmode="lin" valueType="num">
                                      <p:cBhvr>
                                        <p:cTn id="32" dur="500" fill="hold"/>
                                        <p:tgtEl>
                                          <p:spTgt spid="10"/>
                                        </p:tgtEl>
                                        <p:attrNameLst>
                                          <p:attrName>ppt_y</p:attrName>
                                        </p:attrNameLst>
                                      </p:cBhvr>
                                      <p:tavLst>
                                        <p:tav tm="0">
                                          <p:val>
                                            <p:strVal val="#ppt_y+0.06"/>
                                          </p:val>
                                        </p:tav>
                                        <p:tav tm="100000">
                                          <p:val>
                                            <p:strVal val="#ppt_y"/>
                                          </p:val>
                                        </p:tav>
                                      </p:tavLst>
                                    </p:anim>
                                  </p:childTnLst>
                                </p:cTn>
                              </p:par>
                              <p:par>
                                <p:cTn id="34" presetID="42" presetClass="entr" presetSubtype="0" fill="hold" grpId="0" nodeType="withEffect">
                                  <p:stCondLst>
                                    <p:cond delay="3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p:cTn id="36" dur="500" fill="hold"/>
                                        <p:tgtEl>
                                          <p:spTgt spid="11"/>
                                        </p:tgtEl>
                                        <p:attrNameLst>
                                          <p:attrName>ppt_x</p:attrName>
                                        </p:attrNameLst>
                                      </p:cBhvr>
                                      <p:tavLst>
                                        <p:tav tm="0">
                                          <p:val>
                                            <p:strVal val="#ppt_x"/>
                                          </p:val>
                                        </p:tav>
                                        <p:tav tm="100000">
                                          <p:val>
                                            <p:strVal val="#ppt_x"/>
                                          </p:val>
                                        </p:tav>
                                      </p:tavLst>
                                    </p:anim>
                                    <p:anim calcmode="lin" valueType="num">
                                      <p:cBhvr>
                                        <p:cTn id="37" dur="500" fill="hold"/>
                                        <p:tgtEl>
                                          <p:spTgt spid="11"/>
                                        </p:tgtEl>
                                        <p:attrNameLst>
                                          <p:attrName>ppt_y</p:attrName>
                                        </p:attrNameLst>
                                      </p:cBhvr>
                                      <p:tavLst>
                                        <p:tav tm="0">
                                          <p:val>
                                            <p:strVal val="#ppt_y+0.06"/>
                                          </p:val>
                                        </p:tav>
                                        <p:tav tm="100000">
                                          <p:val>
                                            <p:strVal val="#ppt_y"/>
                                          </p:val>
                                        </p:tav>
                                      </p:tavLst>
                                    </p:anim>
                                  </p:childTnLst>
                                </p:cTn>
                              </p:par>
                              <p:par>
                                <p:cTn id="39" presetID="42" presetClass="entr" presetSubtype="0" fill="hold" grpId="0" nodeType="withEffect">
                                  <p:stCondLst>
                                    <p:cond delay="300"/>
                                  </p:stCondLst>
                                  <p:childTnLst>
                                    <p:set>
                                      <p:cBhvr>
                                        <p:cTn id="38"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p:cTn id="41" dur="500" fill="hold"/>
                                        <p:tgtEl>
                                          <p:spTgt spid="12"/>
                                        </p:tgtEl>
                                        <p:attrNameLst>
                                          <p:attrName>ppt_x</p:attrName>
                                        </p:attrNameLst>
                                      </p:cBhvr>
                                      <p:tavLst>
                                        <p:tav tm="0">
                                          <p:val>
                                            <p:strVal val="#ppt_x"/>
                                          </p:val>
                                        </p:tav>
                                        <p:tav tm="100000">
                                          <p:val>
                                            <p:strVal val="#ppt_x"/>
                                          </p:val>
                                        </p:tav>
                                      </p:tavLst>
                                    </p:anim>
                                    <p:anim calcmode="lin" valueType="num">
                                      <p:cBhvr>
                                        <p:cTn id="42" dur="500" fill="hold"/>
                                        <p:tgtEl>
                                          <p:spTgt spid="12"/>
                                        </p:tgtEl>
                                        <p:attrNameLst>
                                          <p:attrName>ppt_y</p:attrName>
                                        </p:attrNameLst>
                                      </p:cBhvr>
                                      <p:tavLst>
                                        <p:tav tm="0">
                                          <p:val>
                                            <p:strVal val="#ppt_y+0.06"/>
                                          </p:val>
                                        </p:tav>
                                        <p:tav tm="100000">
                                          <p:val>
                                            <p:strVal val="#ppt_y"/>
                                          </p:val>
                                        </p:tav>
                                      </p:tavLst>
                                    </p:anim>
                                  </p:childTnLst>
                                </p:cTn>
                              </p:par>
                              <p:par>
                                <p:cTn id="44" presetID="42" presetClass="entr" presetSubtype="0" fill="hold" grpId="0" nodeType="withEffect">
                                  <p:stCondLst>
                                    <p:cond delay="3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p:cTn id="46" dur="500" fill="hold"/>
                                        <p:tgtEl>
                                          <p:spTgt spid="13"/>
                                        </p:tgtEl>
                                        <p:attrNameLst>
                                          <p:attrName>ppt_x</p:attrName>
                                        </p:attrNameLst>
                                      </p:cBhvr>
                                      <p:tavLst>
                                        <p:tav tm="0">
                                          <p:val>
                                            <p:strVal val="#ppt_x"/>
                                          </p:val>
                                        </p:tav>
                                        <p:tav tm="100000">
                                          <p:val>
                                            <p:strVal val="#ppt_x"/>
                                          </p:val>
                                        </p:tav>
                                      </p:tavLst>
                                    </p:anim>
                                    <p:anim calcmode="lin" valueType="num">
                                      <p:cBhvr>
                                        <p:cTn id="47" dur="500" fill="hold"/>
                                        <p:tgtEl>
                                          <p:spTgt spid="13"/>
                                        </p:tgtEl>
                                        <p:attrNameLst>
                                          <p:attrName>ppt_y</p:attrName>
                                        </p:attrNameLst>
                                      </p:cBhvr>
                                      <p:tavLst>
                                        <p:tav tm="0">
                                          <p:val>
                                            <p:strVal val="#ppt_y+0.06"/>
                                          </p:val>
                                        </p:tav>
                                        <p:tav tm="100000">
                                          <p:val>
                                            <p:strVal val="#ppt_y"/>
                                          </p:val>
                                        </p:tav>
                                      </p:tavLst>
                                    </p:anim>
                                  </p:childTnLst>
                                </p:cTn>
                              </p:par>
                              <p:par>
                                <p:cTn id="49" presetID="22" presetClass="entr" presetSubtype="8" fill="hold" grpId="0" nodeType="withEffect">
                                  <p:stCondLst>
                                    <p:cond delay="50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50" dur="450"/>
                                        <p:tgtEl>
                                          <p:spTgt spid="14"/>
                                        </p:tgtEl>
                                      </p:cBhvr>
                                    </p:animEffect>
                                  </p:childTnLst>
                                </p:cTn>
                              </p:par>
                              <p:par>
                                <p:cTn id="52" presetID="42" presetClass="entr" presetSubtype="0" fill="hold" grpId="0" nodeType="withEffect">
                                  <p:stCondLst>
                                    <p:cond delay="600"/>
                                  </p:stCondLst>
                                  <p:childTnLst>
                                    <p:set>
                                      <p:cBhvr>
                                        <p:cTn id="51"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p:cTn id="54" dur="500" fill="hold"/>
                                        <p:tgtEl>
                                          <p:spTgt spid="15"/>
                                        </p:tgtEl>
                                        <p:attrNameLst>
                                          <p:attrName>ppt_x</p:attrName>
                                        </p:attrNameLst>
                                      </p:cBhvr>
                                      <p:tavLst>
                                        <p:tav tm="0">
                                          <p:val>
                                            <p:strVal val="#ppt_x"/>
                                          </p:val>
                                        </p:tav>
                                        <p:tav tm="100000">
                                          <p:val>
                                            <p:strVal val="#ppt_x"/>
                                          </p:val>
                                        </p:tav>
                                      </p:tavLst>
                                    </p:anim>
                                    <p:anim calcmode="lin" valueType="num">
                                      <p:cBhvr>
                                        <p:cTn id="55" dur="500" fill="hold"/>
                                        <p:tgtEl>
                                          <p:spTgt spid="15"/>
                                        </p:tgtEl>
                                        <p:attrNameLst>
                                          <p:attrName>ppt_y</p:attrName>
                                        </p:attrNameLst>
                                      </p:cBhvr>
                                      <p:tavLst>
                                        <p:tav tm="0">
                                          <p:val>
                                            <p:strVal val="#ppt_y+0.06"/>
                                          </p:val>
                                        </p:tav>
                                        <p:tav tm="100000">
                                          <p:val>
                                            <p:strVal val="#ppt_y"/>
                                          </p:val>
                                        </p:tav>
                                      </p:tavLst>
                                    </p:anim>
                                  </p:childTnLst>
                                </p:cTn>
                              </p:par>
                              <p:par>
                                <p:cTn id="57" presetID="42" presetClass="entr" presetSubtype="0" fill="hold" grpId="0" nodeType="withEffect">
                                  <p:stCondLst>
                                    <p:cond delay="6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anim calcmode="lin" valueType="num">
                                      <p:cBhvr>
                                        <p:cTn id="59" dur="500" fill="hold"/>
                                        <p:tgtEl>
                                          <p:spTgt spid="16"/>
                                        </p:tgtEl>
                                        <p:attrNameLst>
                                          <p:attrName>ppt_x</p:attrName>
                                        </p:attrNameLst>
                                      </p:cBhvr>
                                      <p:tavLst>
                                        <p:tav tm="0">
                                          <p:val>
                                            <p:strVal val="#ppt_x"/>
                                          </p:val>
                                        </p:tav>
                                        <p:tav tm="100000">
                                          <p:val>
                                            <p:strVal val="#ppt_x"/>
                                          </p:val>
                                        </p:tav>
                                      </p:tavLst>
                                    </p:anim>
                                    <p:anim calcmode="lin" valueType="num">
                                      <p:cBhvr>
                                        <p:cTn id="60" dur="500" fill="hold"/>
                                        <p:tgtEl>
                                          <p:spTgt spid="16"/>
                                        </p:tgtEl>
                                        <p:attrNameLst>
                                          <p:attrName>ppt_y</p:attrName>
                                        </p:attrNameLst>
                                      </p:cBhvr>
                                      <p:tavLst>
                                        <p:tav tm="0">
                                          <p:val>
                                            <p:strVal val="#ppt_y+0.06"/>
                                          </p:val>
                                        </p:tav>
                                        <p:tav tm="100000">
                                          <p:val>
                                            <p:strVal val="#ppt_y"/>
                                          </p:val>
                                        </p:tav>
                                      </p:tavLst>
                                    </p:anim>
                                  </p:childTnLst>
                                </p:cTn>
                              </p:par>
                              <p:par>
                                <p:cTn id="62" presetID="42" presetClass="entr" presetSubtype="0" fill="hold" grpId="0" nodeType="withEffect">
                                  <p:stCondLst>
                                    <p:cond delay="6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p:cTn id="64" dur="500" fill="hold"/>
                                        <p:tgtEl>
                                          <p:spTgt spid="17"/>
                                        </p:tgtEl>
                                        <p:attrNameLst>
                                          <p:attrName>ppt_x</p:attrName>
                                        </p:attrNameLst>
                                      </p:cBhvr>
                                      <p:tavLst>
                                        <p:tav tm="0">
                                          <p:val>
                                            <p:strVal val="#ppt_x"/>
                                          </p:val>
                                        </p:tav>
                                        <p:tav tm="100000">
                                          <p:val>
                                            <p:strVal val="#ppt_x"/>
                                          </p:val>
                                        </p:tav>
                                      </p:tavLst>
                                    </p:anim>
                                    <p:anim calcmode="lin" valueType="num">
                                      <p:cBhvr>
                                        <p:cTn id="65" dur="500" fill="hold"/>
                                        <p:tgtEl>
                                          <p:spTgt spid="17"/>
                                        </p:tgtEl>
                                        <p:attrNameLst>
                                          <p:attrName>ppt_y</p:attrName>
                                        </p:attrNameLst>
                                      </p:cBhvr>
                                      <p:tavLst>
                                        <p:tav tm="0">
                                          <p:val>
                                            <p:strVal val="#ppt_y+0.06"/>
                                          </p:val>
                                        </p:tav>
                                        <p:tav tm="100000">
                                          <p:val>
                                            <p:strVal val="#ppt_y"/>
                                          </p:val>
                                        </p:tav>
                                      </p:tavLst>
                                    </p:anim>
                                  </p:childTnLst>
                                </p:cTn>
                              </p:par>
                              <p:par>
                                <p:cTn id="67" presetID="42" presetClass="entr" presetSubtype="0" fill="hold" grpId="0" nodeType="withEffect">
                                  <p:stCondLst>
                                    <p:cond delay="6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anim calcmode="lin" valueType="num">
                                      <p:cBhvr>
                                        <p:cTn id="69" dur="500" fill="hold"/>
                                        <p:tgtEl>
                                          <p:spTgt spid="18"/>
                                        </p:tgtEl>
                                        <p:attrNameLst>
                                          <p:attrName>ppt_x</p:attrName>
                                        </p:attrNameLst>
                                      </p:cBhvr>
                                      <p:tavLst>
                                        <p:tav tm="0">
                                          <p:val>
                                            <p:strVal val="#ppt_x"/>
                                          </p:val>
                                        </p:tav>
                                        <p:tav tm="100000">
                                          <p:val>
                                            <p:strVal val="#ppt_x"/>
                                          </p:val>
                                        </p:tav>
                                      </p:tavLst>
                                    </p:anim>
                                    <p:anim calcmode="lin" valueType="num">
                                      <p:cBhvr>
                                        <p:cTn id="70" dur="500" fill="hold"/>
                                        <p:tgtEl>
                                          <p:spTgt spid="18"/>
                                        </p:tgtEl>
                                        <p:attrNameLst>
                                          <p:attrName>ppt_y</p:attrName>
                                        </p:attrNameLst>
                                      </p:cBhvr>
                                      <p:tavLst>
                                        <p:tav tm="0">
                                          <p:val>
                                            <p:strVal val="#ppt_y+0.06"/>
                                          </p:val>
                                        </p:tav>
                                        <p:tav tm="100000">
                                          <p:val>
                                            <p:strVal val="#ppt_y"/>
                                          </p:val>
                                        </p:tav>
                                      </p:tavLst>
                                    </p:anim>
                                  </p:childTnLst>
                                </p:cTn>
                              </p:par>
                              <p:par>
                                <p:cTn id="72" presetID="22" presetClass="entr" presetSubtype="8" fill="hold" grpId="0" nodeType="withEffect">
                                  <p:stCondLst>
                                    <p:cond delay="800"/>
                                  </p:stCondLst>
                                  <p:childTnLst>
                                    <p:set>
                                      <p:cBhvr>
                                        <p:cTn id="71" dur="1" fill="hold">
                                          <p:stCondLst>
                                            <p:cond delay="0"/>
                                          </p:stCondLst>
                                        </p:cTn>
                                        <p:tgtEl>
                                          <p:spTgt spid="19"/>
                                        </p:tgtEl>
                                        <p:attrNameLst>
                                          <p:attrName>style.visibility</p:attrName>
                                        </p:attrNameLst>
                                      </p:cBhvr>
                                      <p:to>
                                        <p:strVal val="visible"/>
                                      </p:to>
                                    </p:set>
                                    <p:animEffect transition="in" filter="wipe(left)">
                                      <p:cBhvr>
                                        <p:cTn id="73" dur="450"/>
                                        <p:tgtEl>
                                          <p:spTgt spid="19"/>
                                        </p:tgtEl>
                                      </p:cBhvr>
                                    </p:animEffect>
                                  </p:childTnLst>
                                </p:cTn>
                              </p:par>
                              <p:par>
                                <p:cTn id="75" presetID="42" presetClass="entr" presetSubtype="0" fill="hold" grpId="0" nodeType="withEffect">
                                  <p:stCondLst>
                                    <p:cond delay="900"/>
                                  </p:stCondLst>
                                  <p:childTnLst>
                                    <p:set>
                                      <p:cBhvr>
                                        <p:cTn id="74"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p:cTn id="77" dur="500" fill="hold"/>
                                        <p:tgtEl>
                                          <p:spTgt spid="20"/>
                                        </p:tgtEl>
                                        <p:attrNameLst>
                                          <p:attrName>ppt_x</p:attrName>
                                        </p:attrNameLst>
                                      </p:cBhvr>
                                      <p:tavLst>
                                        <p:tav tm="0">
                                          <p:val>
                                            <p:strVal val="#ppt_x"/>
                                          </p:val>
                                        </p:tav>
                                        <p:tav tm="100000">
                                          <p:val>
                                            <p:strVal val="#ppt_x"/>
                                          </p:val>
                                        </p:tav>
                                      </p:tavLst>
                                    </p:anim>
                                    <p:anim calcmode="lin" valueType="num">
                                      <p:cBhvr>
                                        <p:cTn id="78" dur="500" fill="hold"/>
                                        <p:tgtEl>
                                          <p:spTgt spid="20"/>
                                        </p:tgtEl>
                                        <p:attrNameLst>
                                          <p:attrName>ppt_y</p:attrName>
                                        </p:attrNameLst>
                                      </p:cBhvr>
                                      <p:tavLst>
                                        <p:tav tm="0">
                                          <p:val>
                                            <p:strVal val="#ppt_y+0.06"/>
                                          </p:val>
                                        </p:tav>
                                        <p:tav tm="100000">
                                          <p:val>
                                            <p:strVal val="#ppt_y"/>
                                          </p:val>
                                        </p:tav>
                                      </p:tavLst>
                                    </p:anim>
                                  </p:childTnLst>
                                </p:cTn>
                              </p:par>
                              <p:par>
                                <p:cTn id="80" presetID="42" presetClass="entr" presetSubtype="0" fill="hold" grpId="0" nodeType="withEffect">
                                  <p:stCondLst>
                                    <p:cond delay="900"/>
                                  </p:stCondLst>
                                  <p:childTnLst>
                                    <p:set>
                                      <p:cBhvr>
                                        <p:cTn id="79"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anim calcmode="lin" valueType="num">
                                      <p:cBhvr>
                                        <p:cTn id="82" dur="500" fill="hold"/>
                                        <p:tgtEl>
                                          <p:spTgt spid="21"/>
                                        </p:tgtEl>
                                        <p:attrNameLst>
                                          <p:attrName>ppt_x</p:attrName>
                                        </p:attrNameLst>
                                      </p:cBhvr>
                                      <p:tavLst>
                                        <p:tav tm="0">
                                          <p:val>
                                            <p:strVal val="#ppt_x"/>
                                          </p:val>
                                        </p:tav>
                                        <p:tav tm="100000">
                                          <p:val>
                                            <p:strVal val="#ppt_x"/>
                                          </p:val>
                                        </p:tav>
                                      </p:tavLst>
                                    </p:anim>
                                    <p:anim calcmode="lin" valueType="num">
                                      <p:cBhvr>
                                        <p:cTn id="83" dur="500" fill="hold"/>
                                        <p:tgtEl>
                                          <p:spTgt spid="21"/>
                                        </p:tgtEl>
                                        <p:attrNameLst>
                                          <p:attrName>ppt_y</p:attrName>
                                        </p:attrNameLst>
                                      </p:cBhvr>
                                      <p:tavLst>
                                        <p:tav tm="0">
                                          <p:val>
                                            <p:strVal val="#ppt_y+0.06"/>
                                          </p:val>
                                        </p:tav>
                                        <p:tav tm="100000">
                                          <p:val>
                                            <p:strVal val="#ppt_y"/>
                                          </p:val>
                                        </p:tav>
                                      </p:tavLst>
                                    </p:anim>
                                  </p:childTnLst>
                                </p:cTn>
                              </p:par>
                              <p:par>
                                <p:cTn id="85" presetID="42" presetClass="entr" presetSubtype="0" fill="hold" grpId="0" nodeType="withEffect">
                                  <p:stCondLst>
                                    <p:cond delay="900"/>
                                  </p:stCondLst>
                                  <p:childTnLst>
                                    <p:set>
                                      <p:cBhvr>
                                        <p:cTn id="84"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p:cTn id="87" dur="500" fill="hold"/>
                                        <p:tgtEl>
                                          <p:spTgt spid="22"/>
                                        </p:tgtEl>
                                        <p:attrNameLst>
                                          <p:attrName>ppt_x</p:attrName>
                                        </p:attrNameLst>
                                      </p:cBhvr>
                                      <p:tavLst>
                                        <p:tav tm="0">
                                          <p:val>
                                            <p:strVal val="#ppt_x"/>
                                          </p:val>
                                        </p:tav>
                                        <p:tav tm="100000">
                                          <p:val>
                                            <p:strVal val="#ppt_x"/>
                                          </p:val>
                                        </p:tav>
                                      </p:tavLst>
                                    </p:anim>
                                    <p:anim calcmode="lin" valueType="num">
                                      <p:cBhvr>
                                        <p:cTn id="88" dur="500" fill="hold"/>
                                        <p:tgtEl>
                                          <p:spTgt spid="22"/>
                                        </p:tgtEl>
                                        <p:attrNameLst>
                                          <p:attrName>ppt_y</p:attrName>
                                        </p:attrNameLst>
                                      </p:cBhvr>
                                      <p:tavLst>
                                        <p:tav tm="0">
                                          <p:val>
                                            <p:strVal val="#ppt_y+0.06"/>
                                          </p:val>
                                        </p:tav>
                                        <p:tav tm="100000">
                                          <p:val>
                                            <p:strVal val="#ppt_y"/>
                                          </p:val>
                                        </p:tav>
                                      </p:tavLst>
                                    </p:anim>
                                  </p:childTnLst>
                                </p:cTn>
                              </p:par>
                              <p:par>
                                <p:cTn id="90" presetID="42" presetClass="entr" presetSubtype="0" fill="hold" grpId="0" nodeType="withEffect">
                                  <p:stCondLst>
                                    <p:cond delay="900"/>
                                  </p:stCondLst>
                                  <p:childTnLst>
                                    <p:set>
                                      <p:cBhvr>
                                        <p:cTn id="89"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p:cTn id="92" dur="500" fill="hold"/>
                                        <p:tgtEl>
                                          <p:spTgt spid="23"/>
                                        </p:tgtEl>
                                        <p:attrNameLst>
                                          <p:attrName>ppt_x</p:attrName>
                                        </p:attrNameLst>
                                      </p:cBhvr>
                                      <p:tavLst>
                                        <p:tav tm="0">
                                          <p:val>
                                            <p:strVal val="#ppt_x"/>
                                          </p:val>
                                        </p:tav>
                                        <p:tav tm="100000">
                                          <p:val>
                                            <p:strVal val="#ppt_x"/>
                                          </p:val>
                                        </p:tav>
                                      </p:tavLst>
                                    </p:anim>
                                    <p:anim calcmode="lin" valueType="num">
                                      <p:cBhvr>
                                        <p:cTn id="93" dur="500" fill="hold"/>
                                        <p:tgtEl>
                                          <p:spTgt spid="23"/>
                                        </p:tgtEl>
                                        <p:attrNameLst>
                                          <p:attrName>ppt_y</p:attrName>
                                        </p:attrNameLst>
                                      </p:cBhvr>
                                      <p:tavLst>
                                        <p:tav tm="0">
                                          <p:val>
                                            <p:strVal val="#ppt_y+0.06"/>
                                          </p:val>
                                        </p:tav>
                                        <p:tav tm="100000">
                                          <p:val>
                                            <p:strVal val="#ppt_y"/>
                                          </p:val>
                                        </p:tav>
                                      </p:tavLst>
                                    </p:anim>
                                  </p:childTnLst>
                                </p:cTn>
                              </p:par>
                              <p:par>
                                <p:cTn id="95" presetID="42" presetClass="entr" presetSubtype="0" fill="hold" grpId="0" nodeType="withEffect">
                                  <p:stCondLst>
                                    <p:cond delay="900"/>
                                  </p:stCondLst>
                                  <p:childTnLst>
                                    <p:set>
                                      <p:cBhvr>
                                        <p:cTn id="94"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anim calcmode="lin" valueType="num">
                                      <p:cBhvr>
                                        <p:cTn id="97" dur="500" fill="hold"/>
                                        <p:tgtEl>
                                          <p:spTgt spid="24"/>
                                        </p:tgtEl>
                                        <p:attrNameLst>
                                          <p:attrName>ppt_x</p:attrName>
                                        </p:attrNameLst>
                                      </p:cBhvr>
                                      <p:tavLst>
                                        <p:tav tm="0">
                                          <p:val>
                                            <p:strVal val="#ppt_x"/>
                                          </p:val>
                                        </p:tav>
                                        <p:tav tm="100000">
                                          <p:val>
                                            <p:strVal val="#ppt_x"/>
                                          </p:val>
                                        </p:tav>
                                      </p:tavLst>
                                    </p:anim>
                                    <p:anim calcmode="lin" valueType="num">
                                      <p:cBhvr>
                                        <p:cTn id="98" dur="500" fill="hold"/>
                                        <p:tgtEl>
                                          <p:spTgt spid="24"/>
                                        </p:tgtEl>
                                        <p:attrNameLst>
                                          <p:attrName>ppt_y</p:attrName>
                                        </p:attrNameLst>
                                      </p:cBhvr>
                                      <p:tavLst>
                                        <p:tav tm="0">
                                          <p:val>
                                            <p:strVal val="#ppt_y+0.06"/>
                                          </p:val>
                                        </p:tav>
                                        <p:tav tm="100000">
                                          <p:val>
                                            <p:strVal val="#ppt_y"/>
                                          </p:val>
                                        </p:tav>
                                      </p:tavLst>
                                    </p:anim>
                                  </p:childTnLst>
                                </p:cTn>
                              </p:par>
                              <p:par>
                                <p:cTn id="100" presetID="22" presetClass="entr" presetSubtype="8" fill="hold" grpId="0" nodeType="withEffect">
                                  <p:stCondLst>
                                    <p:cond delay="1100"/>
                                  </p:stCondLst>
                                  <p:childTnLst>
                                    <p:set>
                                      <p:cBhvr>
                                        <p:cTn id="99" dur="1" fill="hold">
                                          <p:stCondLst>
                                            <p:cond delay="0"/>
                                          </p:stCondLst>
                                        </p:cTn>
                                        <p:tgtEl>
                                          <p:spTgt spid="25"/>
                                        </p:tgtEl>
                                        <p:attrNameLst>
                                          <p:attrName>style.visibility</p:attrName>
                                        </p:attrNameLst>
                                      </p:cBhvr>
                                      <p:to>
                                        <p:strVal val="visible"/>
                                      </p:to>
                                    </p:set>
                                    <p:animEffect transition="in" filter="wipe(left)">
                                      <p:cBhvr>
                                        <p:cTn id="101" dur="450"/>
                                        <p:tgtEl>
                                          <p:spTgt spid="25"/>
                                        </p:tgtEl>
                                      </p:cBhvr>
                                    </p:animEffect>
                                  </p:childTnLst>
                                </p:cTn>
                              </p:par>
                              <p:par>
                                <p:cTn id="103" presetID="42" presetClass="entr" presetSubtype="0" fill="hold" grpId="0" nodeType="withEffect">
                                  <p:stCondLst>
                                    <p:cond delay="120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4" dur="500"/>
                                        <p:tgtEl>
                                          <p:spTgt spid="26"/>
                                        </p:tgtEl>
                                      </p:cBhvr>
                                    </p:animEffect>
                                    <p:anim calcmode="lin" valueType="num">
                                      <p:cBhvr>
                                        <p:cTn id="105" dur="500" fill="hold"/>
                                        <p:tgtEl>
                                          <p:spTgt spid="26"/>
                                        </p:tgtEl>
                                        <p:attrNameLst>
                                          <p:attrName>ppt_x</p:attrName>
                                        </p:attrNameLst>
                                      </p:cBhvr>
                                      <p:tavLst>
                                        <p:tav tm="0">
                                          <p:val>
                                            <p:strVal val="#ppt_x"/>
                                          </p:val>
                                        </p:tav>
                                        <p:tav tm="100000">
                                          <p:val>
                                            <p:strVal val="#ppt_x"/>
                                          </p:val>
                                        </p:tav>
                                      </p:tavLst>
                                    </p:anim>
                                    <p:anim calcmode="lin" valueType="num">
                                      <p:cBhvr>
                                        <p:cTn id="106" dur="500" fill="hold"/>
                                        <p:tgtEl>
                                          <p:spTgt spid="26"/>
                                        </p:tgtEl>
                                        <p:attrNameLst>
                                          <p:attrName>ppt_y</p:attrName>
                                        </p:attrNameLst>
                                      </p:cBhvr>
                                      <p:tavLst>
                                        <p:tav tm="0">
                                          <p:val>
                                            <p:strVal val="#ppt_y+0.06"/>
                                          </p:val>
                                        </p:tav>
                                        <p:tav tm="100000">
                                          <p:val>
                                            <p:strVal val="#ppt_y"/>
                                          </p:val>
                                        </p:tav>
                                      </p:tavLst>
                                    </p:anim>
                                  </p:childTnLst>
                                </p:cTn>
                              </p:par>
                              <p:par>
                                <p:cTn id="108" presetID="42" presetClass="entr" presetSubtype="0" fill="hold" grpId="0" nodeType="withEffect">
                                  <p:stCondLst>
                                    <p:cond delay="120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9" dur="500"/>
                                        <p:tgtEl>
                                          <p:spTgt spid="27"/>
                                        </p:tgtEl>
                                      </p:cBhvr>
                                    </p:animEffect>
                                    <p:anim calcmode="lin" valueType="num">
                                      <p:cBhvr>
                                        <p:cTn id="110" dur="500" fill="hold"/>
                                        <p:tgtEl>
                                          <p:spTgt spid="27"/>
                                        </p:tgtEl>
                                        <p:attrNameLst>
                                          <p:attrName>ppt_x</p:attrName>
                                        </p:attrNameLst>
                                      </p:cBhvr>
                                      <p:tavLst>
                                        <p:tav tm="0">
                                          <p:val>
                                            <p:strVal val="#ppt_x"/>
                                          </p:val>
                                        </p:tav>
                                        <p:tav tm="100000">
                                          <p:val>
                                            <p:strVal val="#ppt_x"/>
                                          </p:val>
                                        </p:tav>
                                      </p:tavLst>
                                    </p:anim>
                                    <p:anim calcmode="lin" valueType="num">
                                      <p:cBhvr>
                                        <p:cTn id="111" dur="500" fill="hold"/>
                                        <p:tgtEl>
                                          <p:spTgt spid="27"/>
                                        </p:tgtEl>
                                        <p:attrNameLst>
                                          <p:attrName>ppt_y</p:attrName>
                                        </p:attrNameLst>
                                      </p:cBhvr>
                                      <p:tavLst>
                                        <p:tav tm="0">
                                          <p:val>
                                            <p:strVal val="#ppt_y+0.06"/>
                                          </p:val>
                                        </p:tav>
                                        <p:tav tm="100000">
                                          <p:val>
                                            <p:strVal val="#ppt_y"/>
                                          </p:val>
                                        </p:tav>
                                      </p:tavLst>
                                    </p:anim>
                                  </p:childTnLst>
                                </p:cTn>
                              </p:par>
                              <p:par>
                                <p:cTn id="113" presetID="42" presetClass="entr" presetSubtype="0" fill="hold" grpId="0" nodeType="withEffect">
                                  <p:stCondLst>
                                    <p:cond delay="120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p:cTn id="115" dur="500" fill="hold"/>
                                        <p:tgtEl>
                                          <p:spTgt spid="28"/>
                                        </p:tgtEl>
                                        <p:attrNameLst>
                                          <p:attrName>ppt_x</p:attrName>
                                        </p:attrNameLst>
                                      </p:cBhvr>
                                      <p:tavLst>
                                        <p:tav tm="0">
                                          <p:val>
                                            <p:strVal val="#ppt_x"/>
                                          </p:val>
                                        </p:tav>
                                        <p:tav tm="100000">
                                          <p:val>
                                            <p:strVal val="#ppt_x"/>
                                          </p:val>
                                        </p:tav>
                                      </p:tavLst>
                                    </p:anim>
                                    <p:anim calcmode="lin" valueType="num">
                                      <p:cBhvr>
                                        <p:cTn id="116" dur="500" fill="hold"/>
                                        <p:tgtEl>
                                          <p:spTgt spid="28"/>
                                        </p:tgtEl>
                                        <p:attrNameLst>
                                          <p:attrName>ppt_y</p:attrName>
                                        </p:attrNameLst>
                                      </p:cBhvr>
                                      <p:tavLst>
                                        <p:tav tm="0">
                                          <p:val>
                                            <p:strVal val="#ppt_y+0.06"/>
                                          </p:val>
                                        </p:tav>
                                        <p:tav tm="100000">
                                          <p:val>
                                            <p:strVal val="#ppt_y"/>
                                          </p:val>
                                        </p:tav>
                                      </p:tavLst>
                                    </p:anim>
                                  </p:childTnLst>
                                </p:cTn>
                              </p:par>
                              <p:par>
                                <p:cTn id="118" presetID="42" presetClass="entr" presetSubtype="0" fill="hold" grpId="0" nodeType="withEffect">
                                  <p:stCondLst>
                                    <p:cond delay="120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p:cTn id="120" dur="500" fill="hold"/>
                                        <p:tgtEl>
                                          <p:spTgt spid="29"/>
                                        </p:tgtEl>
                                        <p:attrNameLst>
                                          <p:attrName>ppt_x</p:attrName>
                                        </p:attrNameLst>
                                      </p:cBhvr>
                                      <p:tavLst>
                                        <p:tav tm="0">
                                          <p:val>
                                            <p:strVal val="#ppt_x"/>
                                          </p:val>
                                        </p:tav>
                                        <p:tav tm="100000">
                                          <p:val>
                                            <p:strVal val="#ppt_x"/>
                                          </p:val>
                                        </p:tav>
                                      </p:tavLst>
                                    </p:anim>
                                    <p:anim calcmode="lin" valueType="num">
                                      <p:cBhvr>
                                        <p:cTn id="121" dur="500" fill="hold"/>
                                        <p:tgtEl>
                                          <p:spTgt spid="29"/>
                                        </p:tgtEl>
                                        <p:attrNameLst>
                                          <p:attrName>ppt_y</p:attrName>
                                        </p:attrNameLst>
                                      </p:cBhvr>
                                      <p:tavLst>
                                        <p:tav tm="0">
                                          <p:val>
                                            <p:strVal val="#ppt_y+0.06"/>
                                          </p:val>
                                        </p:tav>
                                        <p:tav tm="100000">
                                          <p:val>
                                            <p:strVal val="#ppt_y"/>
                                          </p:val>
                                        </p:tav>
                                      </p:tavLst>
                                    </p:anim>
                                  </p:childTnLst>
                                </p:cTn>
                              </p:par>
                              <p:par>
                                <p:cTn id="123" presetID="22" presetClass="entr" presetSubtype="8" fill="hold" grpId="0" nodeType="withEffect">
                                  <p:stCondLst>
                                    <p:cond delay="1400"/>
                                  </p:stCondLst>
                                  <p:childTnLst>
                                    <p:set>
                                      <p:cBhvr>
                                        <p:cTn id="122" dur="1" fill="hold">
                                          <p:stCondLst>
                                            <p:cond delay="0"/>
                                          </p:stCondLst>
                                        </p:cTn>
                                        <p:tgtEl>
                                          <p:spTgt spid="30"/>
                                        </p:tgtEl>
                                        <p:attrNameLst>
                                          <p:attrName>style.visibility</p:attrName>
                                        </p:attrNameLst>
                                      </p:cBhvr>
                                      <p:to>
                                        <p:strVal val="visible"/>
                                      </p:to>
                                    </p:set>
                                    <p:animEffect transition="in" filter="wipe(left)">
                                      <p:cBhvr>
                                        <p:cTn id="124" dur="450"/>
                                        <p:tgtEl>
                                          <p:spTgt spid="30"/>
                                        </p:tgtEl>
                                      </p:cBhvr>
                                    </p:animEffect>
                                  </p:childTnLst>
                                </p:cTn>
                              </p:par>
                              <p:par>
                                <p:cTn id="126" presetID="42" presetClass="entr" presetSubtype="0" fill="hold" grpId="0" nodeType="withEffect">
                                  <p:stCondLst>
                                    <p:cond delay="150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anim calcmode="lin" valueType="num">
                                      <p:cBhvr>
                                        <p:cTn id="128" dur="500" fill="hold"/>
                                        <p:tgtEl>
                                          <p:spTgt spid="31"/>
                                        </p:tgtEl>
                                        <p:attrNameLst>
                                          <p:attrName>ppt_x</p:attrName>
                                        </p:attrNameLst>
                                      </p:cBhvr>
                                      <p:tavLst>
                                        <p:tav tm="0">
                                          <p:val>
                                            <p:strVal val="#ppt_x"/>
                                          </p:val>
                                        </p:tav>
                                        <p:tav tm="100000">
                                          <p:val>
                                            <p:strVal val="#ppt_x"/>
                                          </p:val>
                                        </p:tav>
                                      </p:tavLst>
                                    </p:anim>
                                    <p:anim calcmode="lin" valueType="num">
                                      <p:cBhvr>
                                        <p:cTn id="129" dur="500" fill="hold"/>
                                        <p:tgtEl>
                                          <p:spTgt spid="31"/>
                                        </p:tgtEl>
                                        <p:attrNameLst>
                                          <p:attrName>ppt_y</p:attrName>
                                        </p:attrNameLst>
                                      </p:cBhvr>
                                      <p:tavLst>
                                        <p:tav tm="0">
                                          <p:val>
                                            <p:strVal val="#ppt_y+0.06"/>
                                          </p:val>
                                        </p:tav>
                                        <p:tav tm="100000">
                                          <p:val>
                                            <p:strVal val="#ppt_y"/>
                                          </p:val>
                                        </p:tav>
                                      </p:tavLst>
                                    </p:anim>
                                  </p:childTnLst>
                                </p:cTn>
                              </p:par>
                              <p:par>
                                <p:cTn id="131" presetID="42" presetClass="entr" presetSubtype="0" fill="hold" grpId="0" nodeType="withEffect">
                                  <p:stCondLst>
                                    <p:cond delay="150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2" dur="500"/>
                                        <p:tgtEl>
                                          <p:spTgt spid="32"/>
                                        </p:tgtEl>
                                      </p:cBhvr>
                                    </p:animEffect>
                                    <p:anim calcmode="lin" valueType="num">
                                      <p:cBhvr>
                                        <p:cTn id="133" dur="500" fill="hold"/>
                                        <p:tgtEl>
                                          <p:spTgt spid="32"/>
                                        </p:tgtEl>
                                        <p:attrNameLst>
                                          <p:attrName>ppt_x</p:attrName>
                                        </p:attrNameLst>
                                      </p:cBhvr>
                                      <p:tavLst>
                                        <p:tav tm="0">
                                          <p:val>
                                            <p:strVal val="#ppt_x"/>
                                          </p:val>
                                        </p:tav>
                                        <p:tav tm="100000">
                                          <p:val>
                                            <p:strVal val="#ppt_x"/>
                                          </p:val>
                                        </p:tav>
                                      </p:tavLst>
                                    </p:anim>
                                    <p:anim calcmode="lin" valueType="num">
                                      <p:cBhvr>
                                        <p:cTn id="134" dur="500" fill="hold"/>
                                        <p:tgtEl>
                                          <p:spTgt spid="32"/>
                                        </p:tgtEl>
                                        <p:attrNameLst>
                                          <p:attrName>ppt_y</p:attrName>
                                        </p:attrNameLst>
                                      </p:cBhvr>
                                      <p:tavLst>
                                        <p:tav tm="0">
                                          <p:val>
                                            <p:strVal val="#ppt_y+0.06"/>
                                          </p:val>
                                        </p:tav>
                                        <p:tav tm="100000">
                                          <p:val>
                                            <p:strVal val="#ppt_y"/>
                                          </p:val>
                                        </p:tav>
                                      </p:tavLst>
                                    </p:anim>
                                  </p:childTnLst>
                                </p:cTn>
                              </p:par>
                              <p:par>
                                <p:cTn id="136" presetID="42" presetClass="entr" presetSubtype="0" fill="hold" grpId="0" nodeType="withEffect">
                                  <p:stCondLst>
                                    <p:cond delay="150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7" dur="500"/>
                                        <p:tgtEl>
                                          <p:spTgt spid="33"/>
                                        </p:tgtEl>
                                      </p:cBhvr>
                                    </p:animEffect>
                                    <p:anim calcmode="lin" valueType="num">
                                      <p:cBhvr>
                                        <p:cTn id="138" dur="500" fill="hold"/>
                                        <p:tgtEl>
                                          <p:spTgt spid="33"/>
                                        </p:tgtEl>
                                        <p:attrNameLst>
                                          <p:attrName>ppt_x</p:attrName>
                                        </p:attrNameLst>
                                      </p:cBhvr>
                                      <p:tavLst>
                                        <p:tav tm="0">
                                          <p:val>
                                            <p:strVal val="#ppt_x"/>
                                          </p:val>
                                        </p:tav>
                                        <p:tav tm="100000">
                                          <p:val>
                                            <p:strVal val="#ppt_x"/>
                                          </p:val>
                                        </p:tav>
                                      </p:tavLst>
                                    </p:anim>
                                    <p:anim calcmode="lin" valueType="num">
                                      <p:cBhvr>
                                        <p:cTn id="139" dur="500" fill="hold"/>
                                        <p:tgtEl>
                                          <p:spTgt spid="33"/>
                                        </p:tgtEl>
                                        <p:attrNameLst>
                                          <p:attrName>ppt_y</p:attrName>
                                        </p:attrNameLst>
                                      </p:cBhvr>
                                      <p:tavLst>
                                        <p:tav tm="0">
                                          <p:val>
                                            <p:strVal val="#ppt_y+0.06"/>
                                          </p:val>
                                        </p:tav>
                                        <p:tav tm="100000">
                                          <p:val>
                                            <p:strVal val="#ppt_y"/>
                                          </p:val>
                                        </p:tav>
                                      </p:tavLst>
                                    </p:anim>
                                  </p:childTnLst>
                                </p:cTn>
                              </p:par>
                              <p:par>
                                <p:cTn id="141" presetID="42" presetClass="entr" presetSubtype="0" fill="hold" grpId="0" nodeType="withEffect">
                                  <p:stCondLst>
                                    <p:cond delay="150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2" dur="500"/>
                                        <p:tgtEl>
                                          <p:spTgt spid="34"/>
                                        </p:tgtEl>
                                      </p:cBhvr>
                                    </p:animEffect>
                                    <p:anim calcmode="lin" valueType="num">
                                      <p:cBhvr>
                                        <p:cTn id="143" dur="500" fill="hold"/>
                                        <p:tgtEl>
                                          <p:spTgt spid="34"/>
                                        </p:tgtEl>
                                        <p:attrNameLst>
                                          <p:attrName>ppt_x</p:attrName>
                                        </p:attrNameLst>
                                      </p:cBhvr>
                                      <p:tavLst>
                                        <p:tav tm="0">
                                          <p:val>
                                            <p:strVal val="#ppt_x"/>
                                          </p:val>
                                        </p:tav>
                                        <p:tav tm="100000">
                                          <p:val>
                                            <p:strVal val="#ppt_x"/>
                                          </p:val>
                                        </p:tav>
                                      </p:tavLst>
                                    </p:anim>
                                    <p:anim calcmode="lin" valueType="num">
                                      <p:cBhvr>
                                        <p:cTn id="144" dur="500" fill="hold"/>
                                        <p:tgtEl>
                                          <p:spTgt spid="34"/>
                                        </p:tgtEl>
                                        <p:attrNameLst>
                                          <p:attrName>ppt_y</p:attrName>
                                        </p:attrNameLst>
                                      </p:cBhvr>
                                      <p:tavLst>
                                        <p:tav tm="0">
                                          <p:val>
                                            <p:strVal val="#ppt_y+0.06"/>
                                          </p:val>
                                        </p:tav>
                                        <p:tav tm="100000">
                                          <p:val>
                                            <p:strVal val="#ppt_y"/>
                                          </p:val>
                                        </p:tav>
                                      </p:tavLst>
                                    </p:anim>
                                  </p:childTnLst>
                                </p:cTn>
                              </p:par>
                              <p:par>
                                <p:cTn id="146" presetID="22" presetClass="entr" presetSubtype="8" fill="hold" grpId="0" nodeType="withEffect">
                                  <p:stCondLst>
                                    <p:cond delay="1700"/>
                                  </p:stCondLst>
                                  <p:childTnLst>
                                    <p:set>
                                      <p:cBhvr>
                                        <p:cTn id="145" dur="1" fill="hold">
                                          <p:stCondLst>
                                            <p:cond delay="0"/>
                                          </p:stCondLst>
                                        </p:cTn>
                                        <p:tgtEl>
                                          <p:spTgt spid="35"/>
                                        </p:tgtEl>
                                        <p:attrNameLst>
                                          <p:attrName>style.visibility</p:attrName>
                                        </p:attrNameLst>
                                      </p:cBhvr>
                                      <p:to>
                                        <p:strVal val="visible"/>
                                      </p:to>
                                    </p:set>
                                    <p:animEffect transition="in" filter="wipe(left)">
                                      <p:cBhvr>
                                        <p:cTn id="147" dur="450"/>
                                        <p:tgtEl>
                                          <p:spTgt spid="35"/>
                                        </p:tgtEl>
                                      </p:cBhvr>
                                    </p:animEffect>
                                  </p:childTnLst>
                                </p:cTn>
                              </p:par>
                              <p:par>
                                <p:cTn id="149" presetID="53" presetClass="entr" presetSubtype="16" fill="hold" grpId="0" nodeType="withEffect">
                                  <p:stCondLst>
                                    <p:cond delay="1800"/>
                                  </p:stCondLst>
                                  <p:childTnLst>
                                    <p:set>
                                      <p:cBhvr>
                                        <p:cTn id="148" dur="1" fill="hold">
                                          <p:stCondLst>
                                            <p:cond delay="0"/>
                                          </p:stCondLst>
                                        </p:cTn>
                                        <p:tgtEl>
                                          <p:spTgt spid="36"/>
                                        </p:tgtEl>
                                        <p:attrNameLst>
                                          <p:attrName>style.visibility</p:attrName>
                                        </p:attrNameLst>
                                      </p:cBhvr>
                                      <p:to>
                                        <p:strVal val="visible"/>
                                      </p:to>
                                    </p:set>
                                    <p:anim calcmode="lin" valueType="num">
                                      <p:cBhvr>
                                        <p:cTn id="150" dur="500" fill="hold"/>
                                        <p:tgtEl>
                                          <p:spTgt spid="36"/>
                                        </p:tgtEl>
                                        <p:attrNameLst>
                                          <p:attrName>ppt_w</p:attrName>
                                        </p:attrNameLst>
                                      </p:cBhvr>
                                      <p:tavLst>
                                        <p:tav tm="0">
                                          <p:val>
                                            <p:fltVal val="0"/>
                                          </p:val>
                                        </p:tav>
                                        <p:tav tm="100000">
                                          <p:val>
                                            <p:strVal val="#ppt_w"/>
                                          </p:val>
                                        </p:tav>
                                      </p:tavLst>
                                    </p:anim>
                                    <p:anim calcmode="lin" valueType="num">
                                      <p:cBhvr>
                                        <p:cTn id="151" dur="500" fill="hold"/>
                                        <p:tgtEl>
                                          <p:spTgt spid="36"/>
                                        </p:tgtEl>
                                        <p:attrNameLst>
                                          <p:attrName>ppt_h</p:attrName>
                                        </p:attrNameLst>
                                      </p:cBhvr>
                                      <p:tavLst>
                                        <p:tav tm="0">
                                          <p:val>
                                            <p:fltVal val="0"/>
                                          </p:val>
                                        </p:tav>
                                        <p:tav tm="100000">
                                          <p:val>
                                            <p:strVal val="#ppt_h"/>
                                          </p:val>
                                        </p:tav>
                                      </p:tavLst>
                                    </p:anim>
                                    <p:animEffect transition="in" filter="fade">
                                      <p:cBhvr>
                                        <p:cTn id="152" dur="500"/>
                                        <p:tgtEl>
                                          <p:spTgt spid="36"/>
                                        </p:tgtEl>
                                      </p:cBhvr>
                                    </p:animEffect>
                                  </p:childTnLst>
                                </p:cTn>
                              </p:par>
                            </p:childTnLst>
                          </p:cTn>
                        </p:par>
                      </p:childTnLst>
                    </p:cTn>
                  </p:par>
                  <p:par>
                    <p:cTn id="153" fill="hold">
                      <p:stCondLst>
                        <p:cond delay="indefinite"/>
                      </p:stCondLst>
                      <p:childTnLst>
                        <p:par>
                          <p:cTn id="154" fill="hold">
                            <p:stCondLst>
                              <p:cond delay="0"/>
                            </p:stCondLst>
                            <p:childTnLst>
                              <p:par>
                                <p:cTn id="156" presetID="10" presetClass="entr" presetSubtype="0" fill="hold" grpId="0" nodeType="clickEffect">
                                  <p:stCondLst>
                                    <p:cond delay="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7" dur="500"/>
                                        <p:tgtEl>
                                          <p:spTgt spid="37"/>
                                        </p:tgtEl>
                                      </p:cBhvr>
                                    </p:animEffect>
                                  </p:childTnLst>
                                </p:cTn>
                              </p:par>
                              <p:par>
                                <p:cTn id="159" presetID="22" presetClass="entr" presetSubtype="8" fill="hold" grpId="0" nodeType="withEffect">
                                  <p:stCondLst>
                                    <p:cond delay="200"/>
                                  </p:stCondLst>
                                  <p:childTnLst>
                                    <p:set>
                                      <p:cBhvr>
                                        <p:cTn id="158" dur="1" fill="hold">
                                          <p:stCondLst>
                                            <p:cond delay="0"/>
                                          </p:stCondLst>
                                        </p:cTn>
                                        <p:tgtEl>
                                          <p:spTgt spid="38"/>
                                        </p:tgtEl>
                                        <p:attrNameLst>
                                          <p:attrName>style.visibility</p:attrName>
                                        </p:attrNameLst>
                                      </p:cBhvr>
                                      <p:to>
                                        <p:strVal val="visible"/>
                                      </p:to>
                                    </p:set>
                                    <p:animEffect transition="in" filter="wipe(left)">
                                      <p:cBhvr>
                                        <p:cTn id="160" dur="450"/>
                                        <p:tgtEl>
                                          <p:spTgt spid="38"/>
                                        </p:tgtEl>
                                      </p:cBhvr>
                                    </p:animEffect>
                                  </p:childTnLst>
                                </p:cTn>
                              </p:par>
                              <p:par>
                                <p:cTn id="162" presetID="10" presetClass="entr" presetSubtype="0" fill="hold" grpId="0" nodeType="withEffect">
                                  <p:stCondLst>
                                    <p:cond delay="400"/>
                                  </p:stCondLst>
                                  <p:childTnLst>
                                    <p:set>
                                      <p:cBhvr>
                                        <p:cTn id="161" dur="1" fill="hold">
                                          <p:stCondLst>
                                            <p:cond delay="0"/>
                                          </p:stCondLst>
                                        </p:cTn>
                                        <p:tgtEl>
                                          <p:spTgt spid="40"/>
                                        </p:tgtEl>
                                        <p:attrNameLst>
                                          <p:attrName>style.visibility</p:attrName>
                                        </p:attrNameLst>
                                      </p:cBhvr>
                                      <p:to>
                                        <p:strVal val="visible"/>
                                      </p:to>
                                    </p:set>
                                    <p:animEffect transition="in" filter="fade">
                                      <p:cBhvr>
                                        <p:cTn id="163" dur="500"/>
                                        <p:tgtEl>
                                          <p:spTgt spid="40"/>
                                        </p:tgtEl>
                                      </p:cBhvr>
                                    </p:animEffect>
                                  </p:childTnLst>
                                </p:cTn>
                              </p:par>
                              <p:par>
                                <p:cTn id="165" presetID="10" presetClass="entr" presetSubtype="0" fill="hold" grpId="0" nodeType="withEffect">
                                  <p:stCondLst>
                                    <p:cond delay="700"/>
                                  </p:stCondLst>
                                  <p:childTnLst>
                                    <p:set>
                                      <p:cBhvr>
                                        <p:cTn id="164" dur="1" fill="hold">
                                          <p:stCondLst>
                                            <p:cond delay="0"/>
                                          </p:stCondLst>
                                        </p:cTn>
                                        <p:tgtEl>
                                          <p:spTgt spid="39"/>
                                        </p:tgtEl>
                                        <p:attrNameLst>
                                          <p:attrName>style.visibility</p:attrName>
                                        </p:attrNameLst>
                                      </p:cBhvr>
                                      <p:to>
                                        <p:strVal val="visible"/>
                                      </p:to>
                                    </p:set>
                                    <p:animEffect transition="in" filter="fade">
                                      <p:cBhvr>
                                        <p:cTn id="166" dur="500"/>
                                        <p:tgtEl>
                                          <p:spTgt spid="39"/>
                                        </p:tgtEl>
                                      </p:cBhvr>
                                    </p:animEffect>
                                  </p:childTnLst>
                                </p:cTn>
                              </p:par>
                            </p:childTnLst>
                          </p:cTn>
                        </p:par>
                      </p:childTnLst>
                    </p:cTn>
                  </p:par>
                  <p:par>
                    <p:cTn id="167" fill="hold">
                      <p:stCondLst>
                        <p:cond delay="indefinite"/>
                      </p:stCondLst>
                      <p:childTnLst>
                        <p:par>
                          <p:cTn id="168" fill="hold">
                            <p:stCondLst>
                              <p:cond delay="0"/>
                            </p:stCondLst>
                            <p:childTnLst>
                              <p:par>
                                <p:cTn id="170" presetID="42" presetClass="entr" presetSubtype="0" fill="hold" grpId="0" nodeType="clickEffect">
                                  <p:stCondLst>
                                    <p:cond delay="0"/>
                                  </p:stCondLst>
                                  <p:childTnLst>
                                    <p:set>
                                      <p:cBhvr>
                                        <p:cTn id="169" dur="1" fill="hold">
                                          <p:stCondLst>
                                            <p:cond delay="0"/>
                                          </p:stCondLst>
                                        </p:cTn>
                                        <p:tgtEl>
                                          <p:spTgt spid="41"/>
                                        </p:tgtEl>
                                        <p:attrNameLst>
                                          <p:attrName>style.visibility</p:attrName>
                                        </p:attrNameLst>
                                      </p:cBhvr>
                                      <p:to>
                                        <p:strVal val="visible"/>
                                      </p:to>
                                    </p:set>
                                    <p:animEffect transition="in" filter="fade">
                                      <p:cBhvr>
                                        <p:cTn id="171" dur="500"/>
                                        <p:tgtEl>
                                          <p:spTgt spid="41"/>
                                        </p:tgtEl>
                                      </p:cBhvr>
                                    </p:animEffect>
                                    <p:anim calcmode="lin" valueType="num">
                                      <p:cBhvr>
                                        <p:cTn id="172" dur="500" fill="hold"/>
                                        <p:tgtEl>
                                          <p:spTgt spid="41"/>
                                        </p:tgtEl>
                                        <p:attrNameLst>
                                          <p:attrName>ppt_x</p:attrName>
                                        </p:attrNameLst>
                                      </p:cBhvr>
                                      <p:tavLst>
                                        <p:tav tm="0">
                                          <p:val>
                                            <p:strVal val="#ppt_x"/>
                                          </p:val>
                                        </p:tav>
                                        <p:tav tm="100000">
                                          <p:val>
                                            <p:strVal val="#ppt_x"/>
                                          </p:val>
                                        </p:tav>
                                      </p:tavLst>
                                    </p:anim>
                                    <p:anim calcmode="lin" valueType="num">
                                      <p:cBhvr>
                                        <p:cTn id="173" dur="500" fill="hold"/>
                                        <p:tgtEl>
                                          <p:spTgt spid="41"/>
                                        </p:tgtEl>
                                        <p:attrNameLst>
                                          <p:attrName>ppt_y</p:attrName>
                                        </p:attrNameLst>
                                      </p:cBhvr>
                                      <p:tavLst>
                                        <p:tav tm="0">
                                          <p:val>
                                            <p:strVal val="#ppt_y+0.06"/>
                                          </p:val>
                                        </p:tav>
                                        <p:tav tm="100000">
                                          <p:val>
                                            <p:strVal val="#ppt_y"/>
                                          </p:val>
                                        </p:tav>
                                      </p:tavLst>
                                    </p:anim>
                                  </p:childTnLst>
                                </p:cTn>
                              </p:par>
                              <p:par>
                                <p:cTn id="175" presetID="10" presetClass="entr" presetSubtype="0" fill="hold" grpId="0" nodeType="withEffect">
                                  <p:stCondLst>
                                    <p:cond delay="300"/>
                                  </p:stCondLst>
                                  <p:childTnLst>
                                    <p:set>
                                      <p:cBhvr>
                                        <p:cTn id="174" dur="1" fill="hold">
                                          <p:stCondLst>
                                            <p:cond delay="0"/>
                                          </p:stCondLst>
                                        </p:cTn>
                                        <p:tgtEl>
                                          <p:spTgt spid="42"/>
                                        </p:tgtEl>
                                        <p:attrNameLst>
                                          <p:attrName>style.visibility</p:attrName>
                                        </p:attrNameLst>
                                      </p:cBhvr>
                                      <p:to>
                                        <p:strVal val="visible"/>
                                      </p:to>
                                    </p:set>
                                    <p:animEffect transition="in" filter="fade">
                                      <p:cBhvr>
                                        <p:cTn id="17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7315200" cy="237744"/>
          </a:xfrm>
          <a:prstGeom prst="rect">
            <a:avLst/>
          </a:prstGeom>
          <a:noFill/>
          <a:ln/>
        </p:spPr>
        <p:txBody>
          <a:bodyPr wrap="square" lIns="0" tIns="0" rIns="0" bIns="0" rtlCol="0" anchor="t"/>
          <a:lstStyle/>
          <a:p>
            <a:pPr indent="0" marL="0">
              <a:buNone/>
            </a:pPr>
            <a:r>
              <a:rPr lang="en-US" sz="1000" b="1" spc="200" kern="0" dirty="0">
                <a:solidFill>
                  <a:srgbClr val="FBBF24"/>
                </a:solidFill>
                <a:latin typeface="Inter" pitchFamily="34" charset="0"/>
                <a:ea typeface="Inter" pitchFamily="34" charset="-122"/>
                <a:cs typeface="Inter" pitchFamily="34" charset="-120"/>
              </a:rPr>
              <a:t>21 · KEY TAKEAWAYS</a:t>
            </a:r>
            <a:endParaRPr lang="en-US" sz="1000" dirty="0"/>
          </a:p>
        </p:txBody>
      </p:sp>
      <p:sp>
        <p:nvSpPr>
          <p:cNvPr id="3" name="Text 1"/>
          <p:cNvSpPr txBox="1"/>
          <p:nvPr/>
        </p:nvSpPr>
        <p:spPr>
          <a:xfrm>
            <a:off x="731520" y="777240"/>
            <a:ext cx="10058400" cy="548640"/>
          </a:xfrm>
          <a:prstGeom prst="rect">
            <a:avLst/>
          </a:prstGeom>
          <a:noFill/>
          <a:ln/>
        </p:spPr>
        <p:txBody>
          <a:bodyPr wrap="square" lIns="0" tIns="0" rIns="0" bIns="0" rtlCol="0" anchor="ctr"/>
          <a:lstStyle/>
          <a:p>
            <a:pPr indent="0" marL="0">
              <a:buNone/>
            </a:pPr>
            <a:r>
              <a:rPr lang="en-US" sz="2800" b="1" dirty="0">
                <a:solidFill>
                  <a:srgbClr val="FFFFFF"/>
                </a:solidFill>
                <a:latin typeface="Inter" pitchFamily="34" charset="0"/>
                <a:ea typeface="Inter" pitchFamily="34" charset="-122"/>
                <a:cs typeface="Inter" pitchFamily="34" charset="-120"/>
              </a:rPr>
              <a:t>Five things to remember</a:t>
            </a:r>
            <a:endParaRPr lang="en-US" sz="2800" dirty="0"/>
          </a:p>
        </p:txBody>
      </p:sp>
      <p:sp>
        <p:nvSpPr>
          <p:cNvPr id="4" name="anim-1-zoom-0-1167"/>
          <p:cNvSpPr/>
          <p:nvPr/>
        </p:nvSpPr>
        <p:spPr>
          <a:xfrm>
            <a:off x="731520" y="1764792"/>
            <a:ext cx="512064" cy="512064"/>
          </a:xfrm>
          <a:prstGeom prst="ellipse">
            <a:avLst>
              <a:gd name="adj" fmla="val 17857"/>
            </a:avLst>
          </a:prstGeom>
          <a:solidFill>
            <a:srgbClr val="64748B"/>
          </a:solid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1</a:t>
            </a:r>
            <a:endParaRPr lang="en-US" sz="1500" dirty="0"/>
          </a:p>
        </p:txBody>
      </p:sp>
      <p:sp>
        <p:nvSpPr>
          <p:cNvPr id="5" name="anim-1-rise-100-1168"/>
          <p:cNvSpPr txBox="1"/>
          <p:nvPr/>
        </p:nvSpPr>
        <p:spPr>
          <a:xfrm>
            <a:off x="1463040" y="1783080"/>
            <a:ext cx="3931920" cy="45720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The decoder is causal</a:t>
            </a:r>
            <a:endParaRPr lang="en-US" sz="1500" dirty="0"/>
          </a:p>
        </p:txBody>
      </p:sp>
      <p:sp>
        <p:nvSpPr>
          <p:cNvPr id="6" name="anim-1-rise-200-1169"/>
          <p:cNvSpPr txBox="1"/>
          <p:nvPr/>
        </p:nvSpPr>
        <p:spPr>
          <a:xfrm>
            <a:off x="5486400" y="1746504"/>
            <a:ext cx="5943600" cy="548640"/>
          </a:xfrm>
          <a:prstGeom prst="rect">
            <a:avLst/>
          </a:prstGeom>
          <a:noFill/>
          <a:ln/>
        </p:spPr>
        <p:txBody>
          <a:bodyPr wrap="square" lIns="0" tIns="0" rIns="0" bIns="0" rtlCol="0" anchor="ctr"/>
          <a:lstStyle/>
          <a:p>
            <a:pPr indent="0" marL="0">
              <a:buNone/>
            </a:pPr>
            <a:r>
              <a:rPr lang="en-US" sz="1200" dirty="0">
                <a:solidFill>
                  <a:srgbClr val="C7D2FE"/>
                </a:solidFill>
                <a:latin typeface="Inter" pitchFamily="34" charset="0"/>
                <a:ea typeface="Inter" pitchFamily="34" charset="-122"/>
                <a:cs typeface="Inter" pitchFamily="34" charset="-120"/>
              </a:rPr>
              <a:t>Each token sees only the past. The mask enforces this in training and in generation.</a:t>
            </a:r>
            <a:endParaRPr lang="en-US" sz="1200" dirty="0"/>
          </a:p>
        </p:txBody>
      </p:sp>
      <p:sp>
        <p:nvSpPr>
          <p:cNvPr id="7" name="anim-2-zoom-0-1170"/>
          <p:cNvSpPr/>
          <p:nvPr/>
        </p:nvSpPr>
        <p:spPr>
          <a:xfrm>
            <a:off x="731520" y="2587752"/>
            <a:ext cx="512064" cy="512064"/>
          </a:xfrm>
          <a:prstGeom prst="ellipse">
            <a:avLst>
              <a:gd name="adj" fmla="val 17857"/>
            </a:avLst>
          </a:prstGeom>
          <a:solidFill>
            <a:srgbClr val="7C3AED"/>
          </a:solid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2</a:t>
            </a:r>
            <a:endParaRPr lang="en-US" sz="1500" dirty="0"/>
          </a:p>
        </p:txBody>
      </p:sp>
      <p:sp>
        <p:nvSpPr>
          <p:cNvPr id="8" name="anim-2-rise-100-1171"/>
          <p:cNvSpPr txBox="1"/>
          <p:nvPr/>
        </p:nvSpPr>
        <p:spPr>
          <a:xfrm>
            <a:off x="1463040" y="2606040"/>
            <a:ext cx="3931920" cy="45720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Self-attention builds context</a:t>
            </a:r>
            <a:endParaRPr lang="en-US" sz="1500" dirty="0"/>
          </a:p>
        </p:txBody>
      </p:sp>
      <p:sp>
        <p:nvSpPr>
          <p:cNvPr id="9" name="anim-2-rise-200-1172"/>
          <p:cNvSpPr txBox="1"/>
          <p:nvPr/>
        </p:nvSpPr>
        <p:spPr>
          <a:xfrm>
            <a:off x="5486400" y="2569464"/>
            <a:ext cx="5943600" cy="548640"/>
          </a:xfrm>
          <a:prstGeom prst="rect">
            <a:avLst/>
          </a:prstGeom>
          <a:noFill/>
          <a:ln/>
        </p:spPr>
        <p:txBody>
          <a:bodyPr wrap="square" lIns="0" tIns="0" rIns="0" bIns="0" rtlCol="0" anchor="ctr"/>
          <a:lstStyle/>
          <a:p>
            <a:pPr indent="0" marL="0">
              <a:buNone/>
            </a:pPr>
            <a:r>
              <a:rPr lang="en-US" sz="1200" dirty="0">
                <a:solidFill>
                  <a:srgbClr val="C7D2FE"/>
                </a:solidFill>
                <a:latin typeface="Inter" pitchFamily="34" charset="0"/>
                <a:ea typeface="Inter" pitchFamily="34" charset="-122"/>
                <a:cs typeface="Inter" pitchFamily="34" charset="-120"/>
              </a:rPr>
              <a:t>Q·K decides who to listen to; V carries what gets passed along. “sat” learns about “cat”.</a:t>
            </a:r>
            <a:endParaRPr lang="en-US" sz="1200" dirty="0"/>
          </a:p>
        </p:txBody>
      </p:sp>
      <p:sp>
        <p:nvSpPr>
          <p:cNvPr id="10" name="anim-3-zoom-0-1173"/>
          <p:cNvSpPr/>
          <p:nvPr/>
        </p:nvSpPr>
        <p:spPr>
          <a:xfrm>
            <a:off x="731520" y="3410712"/>
            <a:ext cx="512064" cy="512064"/>
          </a:xfrm>
          <a:prstGeom prst="ellipse">
            <a:avLst>
              <a:gd name="adj" fmla="val 17857"/>
            </a:avLst>
          </a:prstGeom>
          <a:solidFill>
            <a:srgbClr val="0D9488"/>
          </a:solid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3</a:t>
            </a:r>
            <a:endParaRPr lang="en-US" sz="1500" dirty="0"/>
          </a:p>
        </p:txBody>
      </p:sp>
      <p:sp>
        <p:nvSpPr>
          <p:cNvPr id="11" name="anim-3-rise-100-1174"/>
          <p:cNvSpPr txBox="1"/>
          <p:nvPr/>
        </p:nvSpPr>
        <p:spPr>
          <a:xfrm>
            <a:off x="1463040" y="3429000"/>
            <a:ext cx="3931920" cy="45720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Feed-forward layers refine</a:t>
            </a:r>
            <a:endParaRPr lang="en-US" sz="1500" dirty="0"/>
          </a:p>
        </p:txBody>
      </p:sp>
      <p:sp>
        <p:nvSpPr>
          <p:cNvPr id="12" name="anim-3-rise-200-1175"/>
          <p:cNvSpPr txBox="1"/>
          <p:nvPr/>
        </p:nvSpPr>
        <p:spPr>
          <a:xfrm>
            <a:off x="5486400" y="3392424"/>
            <a:ext cx="5943600" cy="548640"/>
          </a:xfrm>
          <a:prstGeom prst="rect">
            <a:avLst/>
          </a:prstGeom>
          <a:noFill/>
          <a:ln/>
        </p:spPr>
        <p:txBody>
          <a:bodyPr wrap="square" lIns="0" tIns="0" rIns="0" bIns="0" rtlCol="0" anchor="ctr"/>
          <a:lstStyle/>
          <a:p>
            <a:pPr indent="0" marL="0">
              <a:buNone/>
            </a:pPr>
            <a:r>
              <a:rPr lang="en-US" sz="1200" dirty="0">
                <a:solidFill>
                  <a:srgbClr val="C7D2FE"/>
                </a:solidFill>
                <a:latin typeface="Inter" pitchFamily="34" charset="0"/>
                <a:ea typeface="Inter" pitchFamily="34" charset="-122"/>
                <a:cs typeface="Inter" pitchFamily="34" charset="-120"/>
              </a:rPr>
              <a:t>Attention mixes information across tokens; the feed-forward network transforms each token on its own.</a:t>
            </a:r>
            <a:endParaRPr lang="en-US" sz="1200" dirty="0"/>
          </a:p>
        </p:txBody>
      </p:sp>
      <p:sp>
        <p:nvSpPr>
          <p:cNvPr id="13" name="anim-4-zoom-0-1176"/>
          <p:cNvSpPr/>
          <p:nvPr/>
        </p:nvSpPr>
        <p:spPr>
          <a:xfrm>
            <a:off x="731520" y="4233672"/>
            <a:ext cx="512064" cy="512064"/>
          </a:xfrm>
          <a:prstGeom prst="ellipse">
            <a:avLst>
              <a:gd name="adj" fmla="val 17857"/>
            </a:avLst>
          </a:prstGeom>
          <a:solidFill>
            <a:srgbClr val="D97706"/>
          </a:solid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4</a:t>
            </a:r>
            <a:endParaRPr lang="en-US" sz="1500" dirty="0"/>
          </a:p>
        </p:txBody>
      </p:sp>
      <p:sp>
        <p:nvSpPr>
          <p:cNvPr id="14" name="anim-4-rise-100-1177"/>
          <p:cNvSpPr txBox="1"/>
          <p:nvPr/>
        </p:nvSpPr>
        <p:spPr>
          <a:xfrm>
            <a:off x="1463040" y="4251960"/>
            <a:ext cx="3931920" cy="45720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Repeated blocks build power</a:t>
            </a:r>
            <a:endParaRPr lang="en-US" sz="1500" dirty="0"/>
          </a:p>
        </p:txBody>
      </p:sp>
      <p:sp>
        <p:nvSpPr>
          <p:cNvPr id="15" name="anim-4-rise-200-1178"/>
          <p:cNvSpPr txBox="1"/>
          <p:nvPr/>
        </p:nvSpPr>
        <p:spPr>
          <a:xfrm>
            <a:off x="5486400" y="4215384"/>
            <a:ext cx="5943600" cy="548640"/>
          </a:xfrm>
          <a:prstGeom prst="rect">
            <a:avLst/>
          </a:prstGeom>
          <a:noFill/>
          <a:ln/>
        </p:spPr>
        <p:txBody>
          <a:bodyPr wrap="square" lIns="0" tIns="0" rIns="0" bIns="0" rtlCol="0" anchor="ctr"/>
          <a:lstStyle/>
          <a:p>
            <a:pPr indent="0" marL="0">
              <a:buNone/>
            </a:pPr>
            <a:r>
              <a:rPr lang="en-US" sz="1200" dirty="0">
                <a:solidFill>
                  <a:srgbClr val="C7D2FE"/>
                </a:solidFill>
                <a:latin typeface="Inter" pitchFamily="34" charset="0"/>
                <a:ea typeface="Inter" pitchFamily="34" charset="-122"/>
                <a:cs typeface="Inter" pitchFamily="34" charset="-120"/>
              </a:rPr>
              <a:t>Stack the same block dozens of times: from spelling, to grammar, to meaning.</a:t>
            </a:r>
            <a:endParaRPr lang="en-US" sz="1200" dirty="0"/>
          </a:p>
        </p:txBody>
      </p:sp>
      <p:sp>
        <p:nvSpPr>
          <p:cNvPr id="16" name="anim-5-zoom-0-1179"/>
          <p:cNvSpPr/>
          <p:nvPr/>
        </p:nvSpPr>
        <p:spPr>
          <a:xfrm>
            <a:off x="731520" y="5056632"/>
            <a:ext cx="512064" cy="512064"/>
          </a:xfrm>
          <a:prstGeom prst="ellipse">
            <a:avLst>
              <a:gd name="adj" fmla="val 17857"/>
            </a:avLst>
          </a:prstGeom>
          <a:solidFill>
            <a:srgbClr val="E11D48"/>
          </a:solidFill>
          <a:ln/>
        </p:spPr>
        <p:txBody>
          <a:bodyPr wrap="square" lIns="0" tIns="0" rIns="0" bIns="0"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5</a:t>
            </a:r>
            <a:endParaRPr lang="en-US" sz="1500" dirty="0"/>
          </a:p>
        </p:txBody>
      </p:sp>
      <p:sp>
        <p:nvSpPr>
          <p:cNvPr id="17" name="anim-5-rise-100-1180"/>
          <p:cNvSpPr txBox="1"/>
          <p:nvPr/>
        </p:nvSpPr>
        <p:spPr>
          <a:xfrm>
            <a:off x="1463040" y="5074920"/>
            <a:ext cx="3931920" cy="457200"/>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Generation is one token at a time</a:t>
            </a:r>
            <a:endParaRPr lang="en-US" sz="1500" dirty="0"/>
          </a:p>
        </p:txBody>
      </p:sp>
      <p:sp>
        <p:nvSpPr>
          <p:cNvPr id="18" name="anim-5-rise-200-1181"/>
          <p:cNvSpPr txBox="1"/>
          <p:nvPr/>
        </p:nvSpPr>
        <p:spPr>
          <a:xfrm>
            <a:off x="5486400" y="5038344"/>
            <a:ext cx="5943600" cy="548640"/>
          </a:xfrm>
          <a:prstGeom prst="rect">
            <a:avLst/>
          </a:prstGeom>
          <a:noFill/>
          <a:ln/>
        </p:spPr>
        <p:txBody>
          <a:bodyPr wrap="square" lIns="0" tIns="0" rIns="0" bIns="0" rtlCol="0" anchor="ctr"/>
          <a:lstStyle/>
          <a:p>
            <a:pPr indent="0" marL="0">
              <a:buNone/>
            </a:pPr>
            <a:r>
              <a:rPr lang="en-US" sz="1200" dirty="0">
                <a:solidFill>
                  <a:srgbClr val="C7D2FE"/>
                </a:solidFill>
                <a:latin typeface="Inter" pitchFamily="34" charset="0"/>
                <a:ea typeface="Inter" pitchFamily="34" charset="-122"/>
                <a:cs typeface="Inter" pitchFamily="34" charset="-120"/>
              </a:rPr>
              <a:t>Predict → pick → append → repeat. “The cat sat on the” → “mat”.</a:t>
            </a:r>
            <a:endParaRPr lang="en-US" sz="1200" dirty="0"/>
          </a:p>
        </p:txBody>
      </p:sp>
      <p:sp>
        <p:nvSpPr>
          <p:cNvPr id="19" name="anim-6-fade-0-1182"/>
          <p:cNvSpPr txBox="1"/>
          <p:nvPr/>
        </p:nvSpPr>
        <p:spPr>
          <a:xfrm>
            <a:off x="731520" y="5989320"/>
            <a:ext cx="10058400" cy="292608"/>
          </a:xfrm>
          <a:prstGeom prst="rect">
            <a:avLst/>
          </a:prstGeom>
          <a:noFill/>
          <a:ln/>
        </p:spPr>
        <p:txBody>
          <a:bodyPr wrap="square" lIns="0" tIns="0" rIns="0" bIns="0" rtlCol="0" anchor="t"/>
          <a:lstStyle/>
          <a:p>
            <a:pPr indent="0" marL="0">
              <a:buNone/>
            </a:pPr>
            <a:r>
              <a:rPr lang="en-US" sz="1200" i="1" dirty="0">
                <a:solidFill>
                  <a:srgbClr val="FBBF24"/>
                </a:solidFill>
                <a:latin typeface="Inter" pitchFamily="34" charset="0"/>
                <a:ea typeface="Inter" pitchFamily="34" charset="-122"/>
                <a:cs typeface="Inter" pitchFamily="34" charset="-120"/>
              </a:rPr>
              <a:t>The cat sat on the mat — one token at a time.</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53" presetClass="entr" presetSubtype="16"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1" presetID="42" presetClass="entr" presetSubtype="0" fill="hold" grpId="0" nodeType="withEffect">
                                  <p:stCondLst>
                                    <p:cond delay="100"/>
                                  </p:stCondLst>
                                  <p:childTnLst>
                                    <p:set>
                                      <p:cBhvr>
                                        <p:cTn id="10"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0.06"/>
                                          </p:val>
                                        </p:tav>
                                        <p:tav tm="100000">
                                          <p:val>
                                            <p:strVal val="#ppt_y"/>
                                          </p:val>
                                        </p:tav>
                                      </p:tavLst>
                                    </p:anim>
                                  </p:childTnLst>
                                </p:cTn>
                              </p:par>
                              <p:par>
                                <p:cTn id="16" presetID="42" presetClass="entr" presetSubtype="0"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0.06"/>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3" presetID="53"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par>
                                <p:cTn id="28" presetID="42" presetClass="entr" presetSubtype="0" fill="hold" grpId="0" nodeType="withEffect">
                                  <p:stCondLst>
                                    <p:cond delay="100"/>
                                  </p:stCondLst>
                                  <p:childTnLst>
                                    <p:set>
                                      <p:cBhvr>
                                        <p:cTn id="27"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fill="hold"/>
                                        <p:tgtEl>
                                          <p:spTgt spid="8"/>
                                        </p:tgtEl>
                                        <p:attrNameLst>
                                          <p:attrName>ppt_x</p:attrName>
                                        </p:attrNameLst>
                                      </p:cBhvr>
                                      <p:tavLst>
                                        <p:tav tm="0">
                                          <p:val>
                                            <p:strVal val="#ppt_x"/>
                                          </p:val>
                                        </p:tav>
                                        <p:tav tm="100000">
                                          <p:val>
                                            <p:strVal val="#ppt_x"/>
                                          </p:val>
                                        </p:tav>
                                      </p:tavLst>
                                    </p:anim>
                                    <p:anim calcmode="lin" valueType="num">
                                      <p:cBhvr>
                                        <p:cTn id="31" dur="500" fill="hold"/>
                                        <p:tgtEl>
                                          <p:spTgt spid="8"/>
                                        </p:tgtEl>
                                        <p:attrNameLst>
                                          <p:attrName>ppt_y</p:attrName>
                                        </p:attrNameLst>
                                      </p:cBhvr>
                                      <p:tavLst>
                                        <p:tav tm="0">
                                          <p:val>
                                            <p:strVal val="#ppt_y+0.06"/>
                                          </p:val>
                                        </p:tav>
                                        <p:tav tm="100000">
                                          <p:val>
                                            <p:strVal val="#ppt_y"/>
                                          </p:val>
                                        </p:tav>
                                      </p:tavLst>
                                    </p:anim>
                                  </p:childTnLst>
                                </p:cTn>
                              </p:par>
                              <p:par>
                                <p:cTn id="33" presetID="42" presetClass="entr" presetSubtype="0" fill="hold" grpId="0" nodeType="withEffect">
                                  <p:stCondLst>
                                    <p:cond delay="200"/>
                                  </p:stCondLst>
                                  <p:childTnLst>
                                    <p:set>
                                      <p:cBhvr>
                                        <p:cTn id="32"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anim calcmode="lin" valueType="num">
                                      <p:cBhvr>
                                        <p:cTn id="35" dur="500" fill="hold"/>
                                        <p:tgtEl>
                                          <p:spTgt spid="9"/>
                                        </p:tgtEl>
                                        <p:attrNameLst>
                                          <p:attrName>ppt_x</p:attrName>
                                        </p:attrNameLst>
                                      </p:cBhvr>
                                      <p:tavLst>
                                        <p:tav tm="0">
                                          <p:val>
                                            <p:strVal val="#ppt_x"/>
                                          </p:val>
                                        </p:tav>
                                        <p:tav tm="100000">
                                          <p:val>
                                            <p:strVal val="#ppt_x"/>
                                          </p:val>
                                        </p:tav>
                                      </p:tavLst>
                                    </p:anim>
                                    <p:anim calcmode="lin" valueType="num">
                                      <p:cBhvr>
                                        <p:cTn id="36" dur="500" fill="hold"/>
                                        <p:tgtEl>
                                          <p:spTgt spid="9"/>
                                        </p:tgtEl>
                                        <p:attrNameLst>
                                          <p:attrName>ppt_y</p:attrName>
                                        </p:attrNameLst>
                                      </p:cBhvr>
                                      <p:tavLst>
                                        <p:tav tm="0">
                                          <p:val>
                                            <p:strVal val="#ppt_y+0.06"/>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40" presetID="53" presetClass="entr" presetSubtype="16"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par>
                                <p:cTn id="45" presetID="42" presetClass="entr" presetSubtype="0" fill="hold" grpId="0" nodeType="withEffect">
                                  <p:stCondLst>
                                    <p:cond delay="1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anim calcmode="lin" valueType="num">
                                      <p:cBhvr>
                                        <p:cTn id="47" dur="500" fill="hold"/>
                                        <p:tgtEl>
                                          <p:spTgt spid="11"/>
                                        </p:tgtEl>
                                        <p:attrNameLst>
                                          <p:attrName>ppt_x</p:attrName>
                                        </p:attrNameLst>
                                      </p:cBhvr>
                                      <p:tavLst>
                                        <p:tav tm="0">
                                          <p:val>
                                            <p:strVal val="#ppt_x"/>
                                          </p:val>
                                        </p:tav>
                                        <p:tav tm="100000">
                                          <p:val>
                                            <p:strVal val="#ppt_x"/>
                                          </p:val>
                                        </p:tav>
                                      </p:tavLst>
                                    </p:anim>
                                    <p:anim calcmode="lin" valueType="num">
                                      <p:cBhvr>
                                        <p:cTn id="48" dur="500" fill="hold"/>
                                        <p:tgtEl>
                                          <p:spTgt spid="11"/>
                                        </p:tgtEl>
                                        <p:attrNameLst>
                                          <p:attrName>ppt_y</p:attrName>
                                        </p:attrNameLst>
                                      </p:cBhvr>
                                      <p:tavLst>
                                        <p:tav tm="0">
                                          <p:val>
                                            <p:strVal val="#ppt_y+0.06"/>
                                          </p:val>
                                        </p:tav>
                                        <p:tav tm="100000">
                                          <p:val>
                                            <p:strVal val="#ppt_y"/>
                                          </p:val>
                                        </p:tav>
                                      </p:tavLst>
                                    </p:anim>
                                  </p:childTnLst>
                                </p:cTn>
                              </p:par>
                              <p:par>
                                <p:cTn id="50" presetID="42" presetClass="entr" presetSubtype="0" fill="hold" grpId="0" nodeType="withEffect">
                                  <p:stCondLst>
                                    <p:cond delay="200"/>
                                  </p:stCondLst>
                                  <p:childTnLst>
                                    <p:set>
                                      <p:cBhvr>
                                        <p:cTn id="49"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anim calcmode="lin" valueType="num">
                                      <p:cBhvr>
                                        <p:cTn id="52" dur="500" fill="hold"/>
                                        <p:tgtEl>
                                          <p:spTgt spid="12"/>
                                        </p:tgtEl>
                                        <p:attrNameLst>
                                          <p:attrName>ppt_x</p:attrName>
                                        </p:attrNameLst>
                                      </p:cBhvr>
                                      <p:tavLst>
                                        <p:tav tm="0">
                                          <p:val>
                                            <p:strVal val="#ppt_x"/>
                                          </p:val>
                                        </p:tav>
                                        <p:tav tm="100000">
                                          <p:val>
                                            <p:strVal val="#ppt_x"/>
                                          </p:val>
                                        </p:tav>
                                      </p:tavLst>
                                    </p:anim>
                                    <p:anim calcmode="lin" valueType="num">
                                      <p:cBhvr>
                                        <p:cTn id="53" dur="500" fill="hold"/>
                                        <p:tgtEl>
                                          <p:spTgt spid="12"/>
                                        </p:tgtEl>
                                        <p:attrNameLst>
                                          <p:attrName>ppt_y</p:attrName>
                                        </p:attrNameLst>
                                      </p:cBhvr>
                                      <p:tavLst>
                                        <p:tav tm="0">
                                          <p:val>
                                            <p:strVal val="#ppt_y+0.06"/>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7" presetID="53" presetClass="entr" presetSubtype="16"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p:cTn id="58" dur="500" fill="hold"/>
                                        <p:tgtEl>
                                          <p:spTgt spid="13"/>
                                        </p:tgtEl>
                                        <p:attrNameLst>
                                          <p:attrName>ppt_w</p:attrName>
                                        </p:attrNameLst>
                                      </p:cBhvr>
                                      <p:tavLst>
                                        <p:tav tm="0">
                                          <p:val>
                                            <p:fltVal val="0"/>
                                          </p:val>
                                        </p:tav>
                                        <p:tav tm="100000">
                                          <p:val>
                                            <p:strVal val="#ppt_w"/>
                                          </p:val>
                                        </p:tav>
                                      </p:tavLst>
                                    </p:anim>
                                    <p:anim calcmode="lin" valueType="num">
                                      <p:cBhvr>
                                        <p:cTn id="59" dur="500" fill="hold"/>
                                        <p:tgtEl>
                                          <p:spTgt spid="13"/>
                                        </p:tgtEl>
                                        <p:attrNameLst>
                                          <p:attrName>ppt_h</p:attrName>
                                        </p:attrNameLst>
                                      </p:cBhvr>
                                      <p:tavLst>
                                        <p:tav tm="0">
                                          <p:val>
                                            <p:fltVal val="0"/>
                                          </p:val>
                                        </p:tav>
                                        <p:tav tm="100000">
                                          <p:val>
                                            <p:strVal val="#ppt_h"/>
                                          </p:val>
                                        </p:tav>
                                      </p:tavLst>
                                    </p:anim>
                                    <p:animEffect transition="in" filter="fade">
                                      <p:cBhvr>
                                        <p:cTn id="60" dur="500"/>
                                        <p:tgtEl>
                                          <p:spTgt spid="13"/>
                                        </p:tgtEl>
                                      </p:cBhvr>
                                    </p:animEffect>
                                  </p:childTnLst>
                                </p:cTn>
                              </p:par>
                              <p:par>
                                <p:cTn id="62" presetID="42" presetClass="entr" presetSubtype="0" fill="hold" grpId="0" nodeType="withEffect">
                                  <p:stCondLst>
                                    <p:cond delay="100"/>
                                  </p:stCondLst>
                                  <p:childTnLst>
                                    <p:set>
                                      <p:cBhvr>
                                        <p:cTn id="61"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anim calcmode="lin" valueType="num">
                                      <p:cBhvr>
                                        <p:cTn id="64" dur="500" fill="hold"/>
                                        <p:tgtEl>
                                          <p:spTgt spid="14"/>
                                        </p:tgtEl>
                                        <p:attrNameLst>
                                          <p:attrName>ppt_x</p:attrName>
                                        </p:attrNameLst>
                                      </p:cBhvr>
                                      <p:tavLst>
                                        <p:tav tm="0">
                                          <p:val>
                                            <p:strVal val="#ppt_x"/>
                                          </p:val>
                                        </p:tav>
                                        <p:tav tm="100000">
                                          <p:val>
                                            <p:strVal val="#ppt_x"/>
                                          </p:val>
                                        </p:tav>
                                      </p:tavLst>
                                    </p:anim>
                                    <p:anim calcmode="lin" valueType="num">
                                      <p:cBhvr>
                                        <p:cTn id="65" dur="500" fill="hold"/>
                                        <p:tgtEl>
                                          <p:spTgt spid="14"/>
                                        </p:tgtEl>
                                        <p:attrNameLst>
                                          <p:attrName>ppt_y</p:attrName>
                                        </p:attrNameLst>
                                      </p:cBhvr>
                                      <p:tavLst>
                                        <p:tav tm="0">
                                          <p:val>
                                            <p:strVal val="#ppt_y+0.06"/>
                                          </p:val>
                                        </p:tav>
                                        <p:tav tm="100000">
                                          <p:val>
                                            <p:strVal val="#ppt_y"/>
                                          </p:val>
                                        </p:tav>
                                      </p:tavLst>
                                    </p:anim>
                                  </p:childTnLst>
                                </p:cTn>
                              </p:par>
                              <p:par>
                                <p:cTn id="67" presetID="42" presetClass="entr" presetSubtype="0" fill="hold" grpId="0" nodeType="withEffect">
                                  <p:stCondLst>
                                    <p:cond delay="2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anim calcmode="lin" valueType="num">
                                      <p:cBhvr>
                                        <p:cTn id="69" dur="500" fill="hold"/>
                                        <p:tgtEl>
                                          <p:spTgt spid="15"/>
                                        </p:tgtEl>
                                        <p:attrNameLst>
                                          <p:attrName>ppt_x</p:attrName>
                                        </p:attrNameLst>
                                      </p:cBhvr>
                                      <p:tavLst>
                                        <p:tav tm="0">
                                          <p:val>
                                            <p:strVal val="#ppt_x"/>
                                          </p:val>
                                        </p:tav>
                                        <p:tav tm="100000">
                                          <p:val>
                                            <p:strVal val="#ppt_x"/>
                                          </p:val>
                                        </p:tav>
                                      </p:tavLst>
                                    </p:anim>
                                    <p:anim calcmode="lin" valueType="num">
                                      <p:cBhvr>
                                        <p:cTn id="70" dur="500" fill="hold"/>
                                        <p:tgtEl>
                                          <p:spTgt spid="15"/>
                                        </p:tgtEl>
                                        <p:attrNameLst>
                                          <p:attrName>ppt_y</p:attrName>
                                        </p:attrNameLst>
                                      </p:cBhvr>
                                      <p:tavLst>
                                        <p:tav tm="0">
                                          <p:val>
                                            <p:strVal val="#ppt_y+0.06"/>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4" presetID="53" presetClass="entr" presetSubtype="16" fill="hold" grpId="0" nodeType="clickEffect">
                                  <p:stCondLst>
                                    <p:cond delay="0"/>
                                  </p:stCondLst>
                                  <p:childTnLst>
                                    <p:set>
                                      <p:cBhvr>
                                        <p:cTn id="73" dur="1" fill="hold">
                                          <p:stCondLst>
                                            <p:cond delay="0"/>
                                          </p:stCondLst>
                                        </p:cTn>
                                        <p:tgtEl>
                                          <p:spTgt spid="16"/>
                                        </p:tgtEl>
                                        <p:attrNameLst>
                                          <p:attrName>style.visibility</p:attrName>
                                        </p:attrNameLst>
                                      </p:cBhvr>
                                      <p:to>
                                        <p:strVal val="visible"/>
                                      </p:to>
                                    </p:set>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fltVal val="0"/>
                                          </p:val>
                                        </p:tav>
                                        <p:tav tm="100000">
                                          <p:val>
                                            <p:strVal val="#ppt_h"/>
                                          </p:val>
                                        </p:tav>
                                      </p:tavLst>
                                    </p:anim>
                                    <p:animEffect transition="in" filter="fade">
                                      <p:cBhvr>
                                        <p:cTn id="77" dur="500"/>
                                        <p:tgtEl>
                                          <p:spTgt spid="16"/>
                                        </p:tgtEl>
                                      </p:cBhvr>
                                    </p:animEffect>
                                  </p:childTnLst>
                                </p:cTn>
                              </p:par>
                              <p:par>
                                <p:cTn id="79" presetID="42" presetClass="entr" presetSubtype="0" fill="hold" grpId="0" nodeType="withEffect">
                                  <p:stCondLst>
                                    <p:cond delay="100"/>
                                  </p:stCondLst>
                                  <p:childTnLst>
                                    <p:set>
                                      <p:cBhvr>
                                        <p:cTn id="78"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anim calcmode="lin" valueType="num">
                                      <p:cBhvr>
                                        <p:cTn id="81" dur="500" fill="hold"/>
                                        <p:tgtEl>
                                          <p:spTgt spid="17"/>
                                        </p:tgtEl>
                                        <p:attrNameLst>
                                          <p:attrName>ppt_x</p:attrName>
                                        </p:attrNameLst>
                                      </p:cBhvr>
                                      <p:tavLst>
                                        <p:tav tm="0">
                                          <p:val>
                                            <p:strVal val="#ppt_x"/>
                                          </p:val>
                                        </p:tav>
                                        <p:tav tm="100000">
                                          <p:val>
                                            <p:strVal val="#ppt_x"/>
                                          </p:val>
                                        </p:tav>
                                      </p:tavLst>
                                    </p:anim>
                                    <p:anim calcmode="lin" valueType="num">
                                      <p:cBhvr>
                                        <p:cTn id="82" dur="500" fill="hold"/>
                                        <p:tgtEl>
                                          <p:spTgt spid="17"/>
                                        </p:tgtEl>
                                        <p:attrNameLst>
                                          <p:attrName>ppt_y</p:attrName>
                                        </p:attrNameLst>
                                      </p:cBhvr>
                                      <p:tavLst>
                                        <p:tav tm="0">
                                          <p:val>
                                            <p:strVal val="#ppt_y+0.06"/>
                                          </p:val>
                                        </p:tav>
                                        <p:tav tm="100000">
                                          <p:val>
                                            <p:strVal val="#ppt_y"/>
                                          </p:val>
                                        </p:tav>
                                      </p:tavLst>
                                    </p:anim>
                                  </p:childTnLst>
                                </p:cTn>
                              </p:par>
                              <p:par>
                                <p:cTn id="84" presetID="42" presetClass="entr" presetSubtype="0"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anim calcmode="lin" valueType="num">
                                      <p:cBhvr>
                                        <p:cTn id="86" dur="500" fill="hold"/>
                                        <p:tgtEl>
                                          <p:spTgt spid="18"/>
                                        </p:tgtEl>
                                        <p:attrNameLst>
                                          <p:attrName>ppt_x</p:attrName>
                                        </p:attrNameLst>
                                      </p:cBhvr>
                                      <p:tavLst>
                                        <p:tav tm="0">
                                          <p:val>
                                            <p:strVal val="#ppt_x"/>
                                          </p:val>
                                        </p:tav>
                                        <p:tav tm="100000">
                                          <p:val>
                                            <p:strVal val="#ppt_x"/>
                                          </p:val>
                                        </p:tav>
                                      </p:tavLst>
                                    </p:anim>
                                    <p:anim calcmode="lin" valueType="num">
                                      <p:cBhvr>
                                        <p:cTn id="87" dur="500" fill="hold"/>
                                        <p:tgtEl>
                                          <p:spTgt spid="18"/>
                                        </p:tgtEl>
                                        <p:attrNameLst>
                                          <p:attrName>ppt_y</p:attrName>
                                        </p:attrNameLst>
                                      </p:cBhvr>
                                      <p:tavLst>
                                        <p:tav tm="0">
                                          <p:val>
                                            <p:strVal val="#ppt_y+0.06"/>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1" presetID="10"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Decoder Explained">
  <a:themeElements>
    <a:clrScheme name="Decoder Explained">
      <a:dk1>
        <a:srgbClr val="0F172A"/>
      </a:dk1>
      <a:lt1>
        <a:srgbClr val="FFFFFF"/>
      </a:lt1>
      <a:dk2>
        <a:srgbClr val="1E1B4B"/>
      </a:dk2>
      <a:lt2>
        <a:srgbClr val="F1F5F9"/>
      </a:lt2>
      <a:accent1>
        <a:srgbClr val="7C3AED"/>
      </a:accent1>
      <a:accent2>
        <a:srgbClr val="0D9488"/>
      </a:accent2>
      <a:accent3>
        <a:srgbClr val="D97706"/>
      </a:accent3>
      <a:accent4>
        <a:srgbClr val="E11D48"/>
      </a:accent4>
      <a:accent5>
        <a:srgbClr val="2563EB"/>
      </a:accent5>
      <a:accent6>
        <a:srgbClr val="475569"/>
      </a:accent6>
      <a:hlink>
        <a:srgbClr val="2563EB"/>
      </a:hlink>
      <a:folHlink>
        <a:srgbClr val="7C3AED"/>
      </a:folHlink>
    </a:clrScheme>
    <a:fontScheme name="Decoder Explained">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Transformer Decoder, Explained</dc:title>
  <dc:subject>PptxGenJS Presentation</dc:subject>
  <dc:creator>Transformer explainer</dc:creator>
  <cp:lastModifiedBy>Transformer explainer</cp:lastModifiedBy>
  <cp:revision>1</cp:revision>
  <dcterms:created xsi:type="dcterms:W3CDTF">2026-10-13T16:41:44Z</dcterms:created>
  <dcterms:modified xsi:type="dcterms:W3CDTF">2026-10-13T16:41:44Z</dcterms:modified>
</cp:coreProperties>
</file>