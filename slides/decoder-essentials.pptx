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slide is the whole transformer decoder — the engine inside GPT-style models. We'll follow one sentence: “The cat sat on the”, and watch the model produce “mat”.
[CLICK] ① Tokenize. The text is split into tokens — words or pieces of words — and each is swapped for its ID in a fixed vocabulary. These are GPT-2's real IDs.
[CLICK] ② Embed and add position. Each ID looks up a row in a big learned table: a vector, a list of numbers capturing what the token tends to mean. We add a position vector so the model knows word order. (GPT-2 uses 768 numbers per token; we show 7.)
[CLICK] ③ Masked self-attention. Every token looks back at itself and the tokens before it and pulls in what's relevant. “sat” pays most attention to “cat” — who is sitting? The grey cells are the future: blocked, so the model can never peek ahead.
[CLICK] ④ Feed-forward network, or MLP. Each token's vector is processed on its own: expanded into a wide layer, a few feature-neurons switch on, then compressed back. Attention MIXES information between tokens; the MLP TRANSFORMS each one.
Steps 3 and 4 together form one decoder block, and the block is stacked many times — 12 in GPT-2, 96 in GPT-3. Each pass makes the vectors richer.
[CLICK] ⑤ Output layer. Only the LAST token's final vector is used. A linear layer turns it into a score for every one of ~50,000 vocabulary words, and softmax turns scores into probabilities: mat 41%, floor 14%, sofa 11%…
[CLICK] ⑥ Pick a token — the top one, or a weighted random draw controlled by temperature and top-p.
[CLICK] Then append “mat” to the text and run the whole thing again for the next token. That loop is how every chatbot answer is written, one token at a time.
[CLICK] If you remember one sentence: context-aware next-token prediction,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transformers, the basic idea of deep learning: a neural network that learns from examples, then gets used.
The network is layers of simple units — the circles — connected by weights — the lines. Each weight is a dial: how strongly one unit influences the next. Our toy network answers "will the cat sit here?" from three facts: is the spot soft, warm, wet.
[CLICK] Training starts with an example where we KNOW the answer: a mat — soft, warm, dry — and the cat sat on it. The inputs become numbers: 1, 1, 0.
[CLICK] ① Forward pass: the numbers flow left to right. Each unit multiplies its inputs by the weights, adds them up, applies a bend (a non-linearity), and passes the result on. The weights start random, so the guess is poor: sit 30%.
[CLICK] ② Compare with the right answer — the cat did sit, so it should be 100%. The gap is measured as one number: the error, or loss.
[CLICK] ③ Backward pass, called backpropagation: going right to left, calculus works out how much each weight contributed to the error and which way to turn it. Every weight gets a tiny nudge.
[CLICK] ④ Repeat over thousands of examples — mats, puddles, sofas, rocks. The weights settle into a useful pattern. Green lines push toward "sit", red toward "leave", thickness is strength. Nobody programmed "cats like warm soft places" — it's stored in the weights.
[CLICK] Inference. Now the weights are frozen. A brand-new spot — a sofa — goes forward once: sit 92%. No right answer needed, no error, no learning. This is what runs every time you use a trained model.
[CLICK] An LLM is exactly this recipe at enormous scale: inputs are token vectors instead of three facts, the output is a probability for every possible next token, and there are billions of weights instead of twenty.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Transformer Decoder, Explained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PICTURE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transformer decoder, end to end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example: “The cat sat on the” → “mat”. Each click adds one stage of the journey.</a:t>
            </a:r>
            <a:endParaRPr lang="en-US" sz="1300" dirty="0"/>
          </a:p>
        </p:txBody>
      </p:sp>
      <p:sp>
        <p:nvSpPr>
          <p:cNvPr id="5" name="anim-3-fade-0-0"/>
          <p:cNvSpPr/>
          <p:nvPr/>
        </p:nvSpPr>
        <p:spPr>
          <a:xfrm>
            <a:off x="4227576" y="1700784"/>
            <a:ext cx="3733800" cy="3657600"/>
          </a:xfrm>
          <a:prstGeom prst="roundRect">
            <a:avLst>
              <a:gd name="adj" fmla="val 2500"/>
            </a:avLst>
          </a:prstGeom>
          <a:solidFill>
            <a:srgbClr val="FAF8FF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6" name="anim-3-fade-0-1"/>
          <p:cNvSpPr txBox="1"/>
          <p:nvPr/>
        </p:nvSpPr>
        <p:spPr>
          <a:xfrm>
            <a:off x="4319016" y="1764792"/>
            <a:ext cx="355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decoder block · repeated N× (12 in GPT-2, 96 in GPT-3)</a:t>
            </a:r>
            <a:endParaRPr lang="en-US" sz="900" dirty="0"/>
          </a:p>
        </p:txBody>
      </p:sp>
      <p:sp>
        <p:nvSpPr>
          <p:cNvPr id="7" name="anim-1-rise-0-2"/>
          <p:cNvSpPr/>
          <p:nvPr/>
        </p:nvSpPr>
        <p:spPr>
          <a:xfrm>
            <a:off x="548640" y="2103120"/>
            <a:ext cx="1665732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Tokenize</a:t>
            </a:r>
            <a:endParaRPr lang="en-US" sz="1100" dirty="0"/>
          </a:p>
        </p:txBody>
      </p:sp>
      <p:sp>
        <p:nvSpPr>
          <p:cNvPr id="8" name="anim-2-wipe-0-3"/>
          <p:cNvSpPr/>
          <p:nvPr/>
        </p:nvSpPr>
        <p:spPr>
          <a:xfrm>
            <a:off x="2241804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anim-1-fade-700-4"/>
          <p:cNvSpPr txBox="1"/>
          <p:nvPr/>
        </p:nvSpPr>
        <p:spPr>
          <a:xfrm>
            <a:off x="585216" y="4681728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text into tokens and look up each one’s ID.</a:t>
            </a:r>
            <a:endParaRPr lang="en-US" sz="950" dirty="0"/>
          </a:p>
        </p:txBody>
      </p:sp>
      <p:sp>
        <p:nvSpPr>
          <p:cNvPr id="10" name="anim-2-rise-0-5"/>
          <p:cNvSpPr/>
          <p:nvPr/>
        </p:nvSpPr>
        <p:spPr>
          <a:xfrm>
            <a:off x="2433828" y="2103120"/>
            <a:ext cx="1665732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Embed + position</a:t>
            </a:r>
            <a:endParaRPr lang="en-US" sz="1100" dirty="0"/>
          </a:p>
        </p:txBody>
      </p:sp>
      <p:sp>
        <p:nvSpPr>
          <p:cNvPr id="11" name="anim-3-wipe-0-6"/>
          <p:cNvSpPr/>
          <p:nvPr/>
        </p:nvSpPr>
        <p:spPr>
          <a:xfrm>
            <a:off x="4126992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anim-2-fade-700-7"/>
          <p:cNvSpPr txBox="1"/>
          <p:nvPr/>
        </p:nvSpPr>
        <p:spPr>
          <a:xfrm>
            <a:off x="2470404" y="4681728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ID becomes a learned vector, plus where it sits in the sentence.</a:t>
            </a:r>
            <a:endParaRPr lang="en-US" sz="950" dirty="0"/>
          </a:p>
        </p:txBody>
      </p:sp>
      <p:sp>
        <p:nvSpPr>
          <p:cNvPr id="13" name="anim-3-rise-0-8"/>
          <p:cNvSpPr/>
          <p:nvPr/>
        </p:nvSpPr>
        <p:spPr>
          <a:xfrm>
            <a:off x="4319016" y="2103120"/>
            <a:ext cx="1665732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Masked attention</a:t>
            </a:r>
            <a:endParaRPr lang="en-US" sz="1100" dirty="0"/>
          </a:p>
        </p:txBody>
      </p:sp>
      <p:sp>
        <p:nvSpPr>
          <p:cNvPr id="14" name="anim-4-wipe-0-9"/>
          <p:cNvSpPr/>
          <p:nvPr/>
        </p:nvSpPr>
        <p:spPr>
          <a:xfrm>
            <a:off x="6012180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anim-3-fade-700-10"/>
          <p:cNvSpPr txBox="1"/>
          <p:nvPr/>
        </p:nvSpPr>
        <p:spPr>
          <a:xfrm>
            <a:off x="4355592" y="4681728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token gathers context from itself and earlier tokens only.</a:t>
            </a:r>
            <a:endParaRPr lang="en-US" sz="950" dirty="0"/>
          </a:p>
        </p:txBody>
      </p:sp>
      <p:sp>
        <p:nvSpPr>
          <p:cNvPr id="16" name="anim-4-rise-0-11"/>
          <p:cNvSpPr/>
          <p:nvPr/>
        </p:nvSpPr>
        <p:spPr>
          <a:xfrm>
            <a:off x="6204204" y="2103120"/>
            <a:ext cx="1665732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Feed-forward (MLP)</a:t>
            </a:r>
            <a:endParaRPr lang="en-US" sz="1100" dirty="0"/>
          </a:p>
        </p:txBody>
      </p:sp>
      <p:sp>
        <p:nvSpPr>
          <p:cNvPr id="17" name="anim-5-wipe-0-12"/>
          <p:cNvSpPr/>
          <p:nvPr/>
        </p:nvSpPr>
        <p:spPr>
          <a:xfrm>
            <a:off x="7897368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anim-4-fade-700-13"/>
          <p:cNvSpPr txBox="1"/>
          <p:nvPr/>
        </p:nvSpPr>
        <p:spPr>
          <a:xfrm>
            <a:off x="6240780" y="4681728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token’s vector is refined on its own: expand, switch on features, shrink.</a:t>
            </a:r>
            <a:endParaRPr lang="en-US" sz="950" dirty="0"/>
          </a:p>
        </p:txBody>
      </p:sp>
      <p:sp>
        <p:nvSpPr>
          <p:cNvPr id="19" name="anim-5-rise-0-14"/>
          <p:cNvSpPr/>
          <p:nvPr/>
        </p:nvSpPr>
        <p:spPr>
          <a:xfrm>
            <a:off x="8089392" y="2103120"/>
            <a:ext cx="1665732" cy="4572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Output layer</a:t>
            </a:r>
            <a:endParaRPr lang="en-US" sz="1100" dirty="0"/>
          </a:p>
        </p:txBody>
      </p:sp>
      <p:sp>
        <p:nvSpPr>
          <p:cNvPr id="20" name="anim-6-wipe-0-15"/>
          <p:cNvSpPr/>
          <p:nvPr/>
        </p:nvSpPr>
        <p:spPr>
          <a:xfrm>
            <a:off x="9782556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anim-5-fade-700-16"/>
          <p:cNvSpPr txBox="1"/>
          <p:nvPr/>
        </p:nvSpPr>
        <p:spPr>
          <a:xfrm>
            <a:off x="8125968" y="4681728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 token’s vector → a score for every word → softmax.</a:t>
            </a:r>
            <a:endParaRPr lang="en-US" sz="950" dirty="0"/>
          </a:p>
        </p:txBody>
      </p:sp>
      <p:sp>
        <p:nvSpPr>
          <p:cNvPr id="22" name="anim-6-rise-0-17"/>
          <p:cNvSpPr/>
          <p:nvPr/>
        </p:nvSpPr>
        <p:spPr>
          <a:xfrm>
            <a:off x="9974580" y="2103120"/>
            <a:ext cx="1665732" cy="4572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⑥ Pick &amp; repeat</a:t>
            </a:r>
            <a:endParaRPr lang="en-US" sz="1100" dirty="0"/>
          </a:p>
        </p:txBody>
      </p:sp>
      <p:sp>
        <p:nvSpPr>
          <p:cNvPr id="23" name="anim-6-fade-700-18"/>
          <p:cNvSpPr txBox="1"/>
          <p:nvPr/>
        </p:nvSpPr>
        <p:spPr>
          <a:xfrm>
            <a:off x="10011156" y="4681728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token, append it to the text, run again.</a:t>
            </a:r>
            <a:endParaRPr lang="en-US" sz="950" dirty="0"/>
          </a:p>
        </p:txBody>
      </p:sp>
      <p:sp>
        <p:nvSpPr>
          <p:cNvPr id="24" name="anim-1-fade-150-19"/>
          <p:cNvSpPr/>
          <p:nvPr/>
        </p:nvSpPr>
        <p:spPr>
          <a:xfrm>
            <a:off x="658368" y="2743200"/>
            <a:ext cx="621792" cy="292608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000" dirty="0"/>
          </a:p>
        </p:txBody>
      </p:sp>
      <p:sp>
        <p:nvSpPr>
          <p:cNvPr id="25" name="anim-1-fade-250-20"/>
          <p:cNvSpPr txBox="1"/>
          <p:nvPr/>
        </p:nvSpPr>
        <p:spPr>
          <a:xfrm>
            <a:off x="1353312" y="27889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464</a:t>
            </a:r>
            <a:endParaRPr lang="en-US" sz="950" dirty="0"/>
          </a:p>
        </p:txBody>
      </p:sp>
      <p:sp>
        <p:nvSpPr>
          <p:cNvPr id="26" name="anim-1-fade-240-21"/>
          <p:cNvSpPr/>
          <p:nvPr/>
        </p:nvSpPr>
        <p:spPr>
          <a:xfrm>
            <a:off x="658368" y="3108960"/>
            <a:ext cx="621792" cy="292608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endParaRPr lang="en-US" sz="1000" dirty="0"/>
          </a:p>
        </p:txBody>
      </p:sp>
      <p:sp>
        <p:nvSpPr>
          <p:cNvPr id="27" name="anim-1-fade-340-22"/>
          <p:cNvSpPr txBox="1"/>
          <p:nvPr/>
        </p:nvSpPr>
        <p:spPr>
          <a:xfrm>
            <a:off x="1353312" y="31546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3797</a:t>
            </a:r>
            <a:endParaRPr lang="en-US" sz="950" dirty="0"/>
          </a:p>
        </p:txBody>
      </p:sp>
      <p:sp>
        <p:nvSpPr>
          <p:cNvPr id="28" name="anim-1-fade-330-23"/>
          <p:cNvSpPr/>
          <p:nvPr/>
        </p:nvSpPr>
        <p:spPr>
          <a:xfrm>
            <a:off x="658368" y="3474720"/>
            <a:ext cx="621792" cy="292608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</a:t>
            </a:r>
            <a:endParaRPr lang="en-US" sz="1000" dirty="0"/>
          </a:p>
        </p:txBody>
      </p:sp>
      <p:sp>
        <p:nvSpPr>
          <p:cNvPr id="29" name="anim-1-fade-430-24"/>
          <p:cNvSpPr txBox="1"/>
          <p:nvPr/>
        </p:nvSpPr>
        <p:spPr>
          <a:xfrm>
            <a:off x="1353312" y="35204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3332</a:t>
            </a:r>
            <a:endParaRPr lang="en-US" sz="950" dirty="0"/>
          </a:p>
        </p:txBody>
      </p:sp>
      <p:sp>
        <p:nvSpPr>
          <p:cNvPr id="30" name="anim-1-fade-420-25"/>
          <p:cNvSpPr/>
          <p:nvPr/>
        </p:nvSpPr>
        <p:spPr>
          <a:xfrm>
            <a:off x="658368" y="3840480"/>
            <a:ext cx="621792" cy="292608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</a:t>
            </a:r>
            <a:endParaRPr lang="en-US" sz="1000" dirty="0"/>
          </a:p>
        </p:txBody>
      </p:sp>
      <p:sp>
        <p:nvSpPr>
          <p:cNvPr id="31" name="anim-1-fade-520-26"/>
          <p:cNvSpPr txBox="1"/>
          <p:nvPr/>
        </p:nvSpPr>
        <p:spPr>
          <a:xfrm>
            <a:off x="1353312" y="3886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319</a:t>
            </a:r>
            <a:endParaRPr lang="en-US" sz="950" dirty="0"/>
          </a:p>
        </p:txBody>
      </p:sp>
      <p:sp>
        <p:nvSpPr>
          <p:cNvPr id="32" name="anim-1-fade-510-27"/>
          <p:cNvSpPr/>
          <p:nvPr/>
        </p:nvSpPr>
        <p:spPr>
          <a:xfrm>
            <a:off x="658368" y="4206240"/>
            <a:ext cx="621792" cy="292608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000" dirty="0"/>
          </a:p>
        </p:txBody>
      </p:sp>
      <p:sp>
        <p:nvSpPr>
          <p:cNvPr id="33" name="anim-1-fade-610-28"/>
          <p:cNvSpPr txBox="1"/>
          <p:nvPr/>
        </p:nvSpPr>
        <p:spPr>
          <a:xfrm>
            <a:off x="1353312" y="4251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262</a:t>
            </a:r>
            <a:endParaRPr lang="en-US" sz="950" dirty="0"/>
          </a:p>
        </p:txBody>
      </p:sp>
      <p:sp>
        <p:nvSpPr>
          <p:cNvPr id="34" name="anim-2-fade-100-29"/>
          <p:cNvSpPr txBox="1"/>
          <p:nvPr/>
        </p:nvSpPr>
        <p:spPr>
          <a:xfrm>
            <a:off x="2479548" y="27889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850" dirty="0"/>
          </a:p>
        </p:txBody>
      </p:sp>
      <p:sp>
        <p:nvSpPr>
          <p:cNvPr id="35" name="anim-2-fade-150-30"/>
          <p:cNvSpPr/>
          <p:nvPr/>
        </p:nvSpPr>
        <p:spPr>
          <a:xfrm>
            <a:off x="2936748" y="2770632"/>
            <a:ext cx="137160" cy="237744"/>
          </a:xfrm>
          <a:prstGeom prst="rect">
            <a:avLst/>
          </a:prstGeom>
          <a:solidFill>
            <a:srgbClr val="819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anim-2-fade-150-31"/>
          <p:cNvSpPr/>
          <p:nvPr/>
        </p:nvSpPr>
        <p:spPr>
          <a:xfrm>
            <a:off x="3092196" y="2770632"/>
            <a:ext cx="137160" cy="237744"/>
          </a:xfrm>
          <a:prstGeom prst="rect">
            <a:avLst/>
          </a:prstGeom>
          <a:solidFill>
            <a:srgbClr val="D7CA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anim-2-fade-150-32"/>
          <p:cNvSpPr/>
          <p:nvPr/>
        </p:nvSpPr>
        <p:spPr>
          <a:xfrm>
            <a:off x="3247644" y="2770632"/>
            <a:ext cx="137160" cy="237744"/>
          </a:xfrm>
          <a:prstGeom prst="rect">
            <a:avLst/>
          </a:prstGeom>
          <a:solidFill>
            <a:srgbClr val="E4E9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anim-2-fade-150-33"/>
          <p:cNvSpPr/>
          <p:nvPr/>
        </p:nvSpPr>
        <p:spPr>
          <a:xfrm>
            <a:off x="3403092" y="2770632"/>
            <a:ext cx="137160" cy="237744"/>
          </a:xfrm>
          <a:prstGeom prst="rect">
            <a:avLst/>
          </a:prstGeom>
          <a:solidFill>
            <a:srgbClr val="8A9C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anim-2-fade-150-34"/>
          <p:cNvSpPr/>
          <p:nvPr/>
        </p:nvSpPr>
        <p:spPr>
          <a:xfrm>
            <a:off x="3558540" y="2770632"/>
            <a:ext cx="137160" cy="237744"/>
          </a:xfrm>
          <a:prstGeom prst="rect">
            <a:avLst/>
          </a:prstGeom>
          <a:solidFill>
            <a:srgbClr val="819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anim-2-fade-150-35"/>
          <p:cNvSpPr/>
          <p:nvPr/>
        </p:nvSpPr>
        <p:spPr>
          <a:xfrm>
            <a:off x="3713988" y="2770632"/>
            <a:ext cx="137160" cy="237744"/>
          </a:xfrm>
          <a:prstGeom prst="rect">
            <a:avLst/>
          </a:prstGeom>
          <a:solidFill>
            <a:srgbClr val="B49A8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anim-2-fade-150-36"/>
          <p:cNvSpPr/>
          <p:nvPr/>
        </p:nvSpPr>
        <p:spPr>
          <a:xfrm>
            <a:off x="3869436" y="2770632"/>
            <a:ext cx="137160" cy="237744"/>
          </a:xfrm>
          <a:prstGeom prst="rect">
            <a:avLst/>
          </a:prstGeom>
          <a:solidFill>
            <a:srgbClr val="A483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anim-2-fade-190-37"/>
          <p:cNvSpPr txBox="1"/>
          <p:nvPr/>
        </p:nvSpPr>
        <p:spPr>
          <a:xfrm>
            <a:off x="2479548" y="31546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endParaRPr lang="en-US" sz="850" dirty="0"/>
          </a:p>
        </p:txBody>
      </p:sp>
      <p:sp>
        <p:nvSpPr>
          <p:cNvPr id="43" name="anim-2-fade-240-38"/>
          <p:cNvSpPr/>
          <p:nvPr/>
        </p:nvSpPr>
        <p:spPr>
          <a:xfrm>
            <a:off x="2936748" y="3136392"/>
            <a:ext cx="137160" cy="237744"/>
          </a:xfrm>
          <a:prstGeom prst="rect">
            <a:avLst/>
          </a:prstGeom>
          <a:solidFill>
            <a:srgbClr val="97A5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anim-2-fade-240-39"/>
          <p:cNvSpPr/>
          <p:nvPr/>
        </p:nvSpPr>
        <p:spPr>
          <a:xfrm>
            <a:off x="3092196" y="3136392"/>
            <a:ext cx="137160" cy="237744"/>
          </a:xfrm>
          <a:prstGeom prst="rect">
            <a:avLst/>
          </a:prstGeom>
          <a:solidFill>
            <a:srgbClr val="ACB6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anim-2-fade-240-40"/>
          <p:cNvSpPr/>
          <p:nvPr/>
        </p:nvSpPr>
        <p:spPr>
          <a:xfrm>
            <a:off x="3247644" y="3136392"/>
            <a:ext cx="137160" cy="237744"/>
          </a:xfrm>
          <a:prstGeom prst="rect">
            <a:avLst/>
          </a:prstGeom>
          <a:solidFill>
            <a:srgbClr val="B0BC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anim-2-fade-240-41"/>
          <p:cNvSpPr/>
          <p:nvPr/>
        </p:nvSpPr>
        <p:spPr>
          <a:xfrm>
            <a:off x="3403092" y="3136392"/>
            <a:ext cx="137160" cy="237744"/>
          </a:xfrm>
          <a:prstGeom prst="rect">
            <a:avLst/>
          </a:prstGeom>
          <a:solidFill>
            <a:srgbClr val="9786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anim-2-fade-240-42"/>
          <p:cNvSpPr/>
          <p:nvPr/>
        </p:nvSpPr>
        <p:spPr>
          <a:xfrm>
            <a:off x="3558540" y="3136392"/>
            <a:ext cx="137160" cy="237744"/>
          </a:xfrm>
          <a:prstGeom prst="rect">
            <a:avLst/>
          </a:prstGeom>
          <a:solidFill>
            <a:srgbClr val="949B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anim-2-fade-240-43"/>
          <p:cNvSpPr/>
          <p:nvPr/>
        </p:nvSpPr>
        <p:spPr>
          <a:xfrm>
            <a:off x="3713988" y="3136392"/>
            <a:ext cx="137160" cy="237744"/>
          </a:xfrm>
          <a:prstGeom prst="rect">
            <a:avLst/>
          </a:prstGeom>
          <a:solidFill>
            <a:srgbClr val="9EB0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anim-2-fade-240-44"/>
          <p:cNvSpPr/>
          <p:nvPr/>
        </p:nvSpPr>
        <p:spPr>
          <a:xfrm>
            <a:off x="3869436" y="3136392"/>
            <a:ext cx="137160" cy="237744"/>
          </a:xfrm>
          <a:prstGeom prst="rect">
            <a:avLst/>
          </a:prstGeom>
          <a:solidFill>
            <a:srgbClr val="ACB5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anim-2-fade-280-45"/>
          <p:cNvSpPr txBox="1"/>
          <p:nvPr/>
        </p:nvSpPr>
        <p:spPr>
          <a:xfrm>
            <a:off x="2479548" y="35204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</a:t>
            </a:r>
            <a:endParaRPr lang="en-US" sz="850" dirty="0"/>
          </a:p>
        </p:txBody>
      </p:sp>
      <p:sp>
        <p:nvSpPr>
          <p:cNvPr id="51" name="anim-2-fade-330-46"/>
          <p:cNvSpPr/>
          <p:nvPr/>
        </p:nvSpPr>
        <p:spPr>
          <a:xfrm>
            <a:off x="2936748" y="3502152"/>
            <a:ext cx="137160" cy="237744"/>
          </a:xfrm>
          <a:prstGeom prst="rect">
            <a:avLst/>
          </a:prstGeom>
          <a:solidFill>
            <a:srgbClr val="6982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anim-2-fade-330-47"/>
          <p:cNvSpPr/>
          <p:nvPr/>
        </p:nvSpPr>
        <p:spPr>
          <a:xfrm>
            <a:off x="3092196" y="3502152"/>
            <a:ext cx="137160" cy="237744"/>
          </a:xfrm>
          <a:prstGeom prst="rect">
            <a:avLst/>
          </a:prstGeom>
          <a:solidFill>
            <a:srgbClr val="88A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anim-2-fade-330-48"/>
          <p:cNvSpPr/>
          <p:nvPr/>
        </p:nvSpPr>
        <p:spPr>
          <a:xfrm>
            <a:off x="3247644" y="3502152"/>
            <a:ext cx="137160" cy="237744"/>
          </a:xfrm>
          <a:prstGeom prst="rect">
            <a:avLst/>
          </a:prstGeom>
          <a:solidFill>
            <a:srgbClr val="566D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anim-2-fade-330-49"/>
          <p:cNvSpPr/>
          <p:nvPr/>
        </p:nvSpPr>
        <p:spPr>
          <a:xfrm>
            <a:off x="3403092" y="3502152"/>
            <a:ext cx="137160" cy="237744"/>
          </a:xfrm>
          <a:prstGeom prst="rect">
            <a:avLst/>
          </a:prstGeom>
          <a:solidFill>
            <a:srgbClr val="C99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anim-2-fade-330-50"/>
          <p:cNvSpPr/>
          <p:nvPr/>
        </p:nvSpPr>
        <p:spPr>
          <a:xfrm>
            <a:off x="3558540" y="3502152"/>
            <a:ext cx="137160" cy="237744"/>
          </a:xfrm>
          <a:prstGeom prst="rect">
            <a:avLst/>
          </a:prstGeom>
          <a:solidFill>
            <a:srgbClr val="C2A2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anim-2-fade-330-51"/>
          <p:cNvSpPr/>
          <p:nvPr/>
        </p:nvSpPr>
        <p:spPr>
          <a:xfrm>
            <a:off x="3713988" y="3502152"/>
            <a:ext cx="137160" cy="237744"/>
          </a:xfrm>
          <a:prstGeom prst="rect">
            <a:avLst/>
          </a:prstGeom>
          <a:solidFill>
            <a:srgbClr val="B2AC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anim-2-fade-330-52"/>
          <p:cNvSpPr/>
          <p:nvPr/>
        </p:nvSpPr>
        <p:spPr>
          <a:xfrm>
            <a:off x="3869436" y="3502152"/>
            <a:ext cx="137160" cy="237744"/>
          </a:xfrm>
          <a:prstGeom prst="rect">
            <a:avLst/>
          </a:prstGeom>
          <a:solidFill>
            <a:srgbClr val="8EA7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anim-2-fade-370-53"/>
          <p:cNvSpPr txBox="1"/>
          <p:nvPr/>
        </p:nvSpPr>
        <p:spPr>
          <a:xfrm>
            <a:off x="2479548" y="38862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</a:t>
            </a:r>
            <a:endParaRPr lang="en-US" sz="850" dirty="0"/>
          </a:p>
        </p:txBody>
      </p:sp>
      <p:sp>
        <p:nvSpPr>
          <p:cNvPr id="59" name="anim-2-fade-420-54"/>
          <p:cNvSpPr/>
          <p:nvPr/>
        </p:nvSpPr>
        <p:spPr>
          <a:xfrm>
            <a:off x="2936748" y="3867912"/>
            <a:ext cx="137160" cy="237744"/>
          </a:xfrm>
          <a:prstGeom prst="rect">
            <a:avLst/>
          </a:prstGeom>
          <a:solidFill>
            <a:srgbClr val="556D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anim-2-fade-420-55"/>
          <p:cNvSpPr/>
          <p:nvPr/>
        </p:nvSpPr>
        <p:spPr>
          <a:xfrm>
            <a:off x="3092196" y="3867912"/>
            <a:ext cx="137160" cy="237744"/>
          </a:xfrm>
          <a:prstGeom prst="rect">
            <a:avLst/>
          </a:prstGeom>
          <a:solidFill>
            <a:srgbClr val="6D83F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anim-2-fade-420-56"/>
          <p:cNvSpPr/>
          <p:nvPr/>
        </p:nvSpPr>
        <p:spPr>
          <a:xfrm>
            <a:off x="3247644" y="3867912"/>
            <a:ext cx="137160" cy="237744"/>
          </a:xfrm>
          <a:prstGeom prst="rect">
            <a:avLst/>
          </a:prstGeom>
          <a:solidFill>
            <a:srgbClr val="E7E1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anim-2-fade-420-57"/>
          <p:cNvSpPr/>
          <p:nvPr/>
        </p:nvSpPr>
        <p:spPr>
          <a:xfrm>
            <a:off x="3403092" y="3867912"/>
            <a:ext cx="137160" cy="237744"/>
          </a:xfrm>
          <a:prstGeom prst="rect">
            <a:avLst/>
          </a:prstGeom>
          <a:solidFill>
            <a:srgbClr val="E9E1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anim-2-fade-420-58"/>
          <p:cNvSpPr/>
          <p:nvPr/>
        </p:nvSpPr>
        <p:spPr>
          <a:xfrm>
            <a:off x="3558540" y="3867912"/>
            <a:ext cx="137160" cy="237744"/>
          </a:xfrm>
          <a:prstGeom prst="rect">
            <a:avLst/>
          </a:prstGeom>
          <a:solidFill>
            <a:srgbClr val="95A6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anim-2-fade-420-59"/>
          <p:cNvSpPr/>
          <p:nvPr/>
        </p:nvSpPr>
        <p:spPr>
          <a:xfrm>
            <a:off x="3713988" y="3867912"/>
            <a:ext cx="137160" cy="237744"/>
          </a:xfrm>
          <a:prstGeom prst="rect">
            <a:avLst/>
          </a:prstGeom>
          <a:solidFill>
            <a:srgbClr val="F0E1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anim-2-fade-420-60"/>
          <p:cNvSpPr/>
          <p:nvPr/>
        </p:nvSpPr>
        <p:spPr>
          <a:xfrm>
            <a:off x="3869436" y="3867912"/>
            <a:ext cx="137160" cy="237744"/>
          </a:xfrm>
          <a:prstGeom prst="rect">
            <a:avLst/>
          </a:prstGeom>
          <a:solidFill>
            <a:srgbClr val="8093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anim-2-fade-460-61"/>
          <p:cNvSpPr txBox="1"/>
          <p:nvPr/>
        </p:nvSpPr>
        <p:spPr>
          <a:xfrm>
            <a:off x="2479548" y="42519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850" dirty="0"/>
          </a:p>
        </p:txBody>
      </p:sp>
      <p:sp>
        <p:nvSpPr>
          <p:cNvPr id="67" name="anim-2-fade-510-62"/>
          <p:cNvSpPr/>
          <p:nvPr/>
        </p:nvSpPr>
        <p:spPr>
          <a:xfrm>
            <a:off x="2936748" y="4233672"/>
            <a:ext cx="137160" cy="237744"/>
          </a:xfrm>
          <a:prstGeom prst="rect">
            <a:avLst/>
          </a:prstGeom>
          <a:solidFill>
            <a:srgbClr val="8E96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anim-2-fade-510-63"/>
          <p:cNvSpPr/>
          <p:nvPr/>
        </p:nvSpPr>
        <p:spPr>
          <a:xfrm>
            <a:off x="3092196" y="4233672"/>
            <a:ext cx="137160" cy="237744"/>
          </a:xfrm>
          <a:prstGeom prst="rect">
            <a:avLst/>
          </a:prstGeom>
          <a:solidFill>
            <a:srgbClr val="CFCB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anim-2-fade-510-64"/>
          <p:cNvSpPr/>
          <p:nvPr/>
        </p:nvSpPr>
        <p:spPr>
          <a:xfrm>
            <a:off x="3247644" y="4233672"/>
            <a:ext cx="137160" cy="237744"/>
          </a:xfrm>
          <a:prstGeom prst="rect">
            <a:avLst/>
          </a:prstGeom>
          <a:solidFill>
            <a:srgbClr val="989E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anim-2-fade-510-65"/>
          <p:cNvSpPr/>
          <p:nvPr/>
        </p:nvSpPr>
        <p:spPr>
          <a:xfrm>
            <a:off x="3403092" y="4233672"/>
            <a:ext cx="137160" cy="237744"/>
          </a:xfrm>
          <a:prstGeom prst="rect">
            <a:avLst/>
          </a:prstGeom>
          <a:solidFill>
            <a:srgbClr val="D6DA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anim-2-fade-510-66"/>
          <p:cNvSpPr/>
          <p:nvPr/>
        </p:nvSpPr>
        <p:spPr>
          <a:xfrm>
            <a:off x="3558540" y="4233672"/>
            <a:ext cx="137160" cy="237744"/>
          </a:xfrm>
          <a:prstGeom prst="rect">
            <a:avLst/>
          </a:prstGeom>
          <a:solidFill>
            <a:srgbClr val="CBC2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anim-2-fade-510-67"/>
          <p:cNvSpPr/>
          <p:nvPr/>
        </p:nvSpPr>
        <p:spPr>
          <a:xfrm>
            <a:off x="3713988" y="4233672"/>
            <a:ext cx="137160" cy="237744"/>
          </a:xfrm>
          <a:prstGeom prst="rect">
            <a:avLst/>
          </a:prstGeom>
          <a:solidFill>
            <a:srgbClr val="B3BD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anim-2-fade-510-68"/>
          <p:cNvSpPr/>
          <p:nvPr/>
        </p:nvSpPr>
        <p:spPr>
          <a:xfrm>
            <a:off x="3869436" y="4233672"/>
            <a:ext cx="137160" cy="237744"/>
          </a:xfrm>
          <a:prstGeom prst="rect">
            <a:avLst/>
          </a:prstGeom>
          <a:solidFill>
            <a:srgbClr val="C7D5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anim-3-fade-200-69"/>
          <p:cNvSpPr txBox="1"/>
          <p:nvPr/>
        </p:nvSpPr>
        <p:spPr>
          <a:xfrm>
            <a:off x="4337304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800" dirty="0"/>
          </a:p>
        </p:txBody>
      </p:sp>
      <p:sp>
        <p:nvSpPr>
          <p:cNvPr id="75" name="anim-3-fade-250-70"/>
          <p:cNvSpPr/>
          <p:nvPr/>
        </p:nvSpPr>
        <p:spPr>
          <a:xfrm>
            <a:off x="4776216" y="2743200"/>
            <a:ext cx="22860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6" name="anim-3-fade-250-71"/>
          <p:cNvSpPr/>
          <p:nvPr/>
        </p:nvSpPr>
        <p:spPr>
          <a:xfrm>
            <a:off x="5023104" y="2743200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anim-3-fade-250-72"/>
          <p:cNvSpPr/>
          <p:nvPr/>
        </p:nvSpPr>
        <p:spPr>
          <a:xfrm>
            <a:off x="5269992" y="2743200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anim-3-fade-250-73"/>
          <p:cNvSpPr/>
          <p:nvPr/>
        </p:nvSpPr>
        <p:spPr>
          <a:xfrm>
            <a:off x="5516880" y="2743200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anim-3-fade-250-74"/>
          <p:cNvSpPr/>
          <p:nvPr/>
        </p:nvSpPr>
        <p:spPr>
          <a:xfrm>
            <a:off x="5763768" y="2743200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anim-3-fade-200-75"/>
          <p:cNvSpPr txBox="1"/>
          <p:nvPr/>
        </p:nvSpPr>
        <p:spPr>
          <a:xfrm>
            <a:off x="4337304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endParaRPr lang="en-US" sz="800" dirty="0"/>
          </a:p>
        </p:txBody>
      </p:sp>
      <p:sp>
        <p:nvSpPr>
          <p:cNvPr id="81" name="anim-3-fade-370-76"/>
          <p:cNvSpPr/>
          <p:nvPr/>
        </p:nvSpPr>
        <p:spPr>
          <a:xfrm>
            <a:off x="4776216" y="3044952"/>
            <a:ext cx="228600" cy="274320"/>
          </a:xfrm>
          <a:prstGeom prst="rect">
            <a:avLst/>
          </a:prstGeom>
          <a:solidFill>
            <a:srgbClr val="BC9CF7"/>
          </a:solidFill>
          <a:ln/>
        </p:spPr>
      </p:sp>
      <p:sp>
        <p:nvSpPr>
          <p:cNvPr id="82" name="anim-3-fade-370-77"/>
          <p:cNvSpPr/>
          <p:nvPr/>
        </p:nvSpPr>
        <p:spPr>
          <a:xfrm>
            <a:off x="5023104" y="3044952"/>
            <a:ext cx="228600" cy="274320"/>
          </a:xfrm>
          <a:prstGeom prst="rect">
            <a:avLst/>
          </a:prstGeom>
          <a:solidFill>
            <a:srgbClr val="9865F1"/>
          </a:solidFill>
          <a:ln/>
        </p:spPr>
      </p:sp>
      <p:sp>
        <p:nvSpPr>
          <p:cNvPr id="83" name="anim-3-fade-370-78"/>
          <p:cNvSpPr/>
          <p:nvPr/>
        </p:nvSpPr>
        <p:spPr>
          <a:xfrm>
            <a:off x="5269992" y="3044952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anim-3-fade-370-79"/>
          <p:cNvSpPr/>
          <p:nvPr/>
        </p:nvSpPr>
        <p:spPr>
          <a:xfrm>
            <a:off x="5516880" y="3044952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anim-3-fade-370-80"/>
          <p:cNvSpPr/>
          <p:nvPr/>
        </p:nvSpPr>
        <p:spPr>
          <a:xfrm>
            <a:off x="5763768" y="3044952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anim-3-fade-200-81"/>
          <p:cNvSpPr txBox="1"/>
          <p:nvPr/>
        </p:nvSpPr>
        <p:spPr>
          <a:xfrm>
            <a:off x="4337304" y="33924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</a:t>
            </a:r>
            <a:endParaRPr lang="en-US" sz="800" dirty="0"/>
          </a:p>
        </p:txBody>
      </p:sp>
      <p:sp>
        <p:nvSpPr>
          <p:cNvPr id="87" name="anim-3-fade-490-82"/>
          <p:cNvSpPr/>
          <p:nvPr/>
        </p:nvSpPr>
        <p:spPr>
          <a:xfrm>
            <a:off x="4776216" y="3346704"/>
            <a:ext cx="228600" cy="274320"/>
          </a:xfrm>
          <a:prstGeom prst="rect">
            <a:avLst/>
          </a:prstGeom>
          <a:solidFill>
            <a:srgbClr val="E2D5FC"/>
          </a:solidFill>
          <a:ln/>
        </p:spPr>
      </p:sp>
      <p:sp>
        <p:nvSpPr>
          <p:cNvPr id="88" name="anim-3-fade-490-83"/>
          <p:cNvSpPr/>
          <p:nvPr/>
        </p:nvSpPr>
        <p:spPr>
          <a:xfrm>
            <a:off x="5023104" y="3346704"/>
            <a:ext cx="228600" cy="274320"/>
          </a:xfrm>
          <a:prstGeom prst="rect">
            <a:avLst/>
          </a:prstGeom>
          <a:solidFill>
            <a:srgbClr val="7E3EED"/>
          </a:solidFill>
          <a:ln/>
        </p:spPr>
      </p:sp>
      <p:sp>
        <p:nvSpPr>
          <p:cNvPr id="89" name="anim-3-fade-490-84"/>
          <p:cNvSpPr/>
          <p:nvPr/>
        </p:nvSpPr>
        <p:spPr>
          <a:xfrm>
            <a:off x="5269992" y="3346704"/>
            <a:ext cx="228600" cy="274320"/>
          </a:xfrm>
          <a:prstGeom prst="rect">
            <a:avLst/>
          </a:prstGeom>
          <a:solidFill>
            <a:srgbClr val="DACAFB"/>
          </a:solidFill>
          <a:ln/>
        </p:spPr>
      </p:sp>
      <p:sp>
        <p:nvSpPr>
          <p:cNvPr id="90" name="anim-3-fade-490-85"/>
          <p:cNvSpPr/>
          <p:nvPr/>
        </p:nvSpPr>
        <p:spPr>
          <a:xfrm>
            <a:off x="5516880" y="3346704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1" name="anim-3-fade-490-86"/>
          <p:cNvSpPr/>
          <p:nvPr/>
        </p:nvSpPr>
        <p:spPr>
          <a:xfrm>
            <a:off x="5763768" y="3346704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anim-3-fade-200-87"/>
          <p:cNvSpPr txBox="1"/>
          <p:nvPr/>
        </p:nvSpPr>
        <p:spPr>
          <a:xfrm>
            <a:off x="4337304" y="36941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</a:t>
            </a:r>
            <a:endParaRPr lang="en-US" sz="800" dirty="0"/>
          </a:p>
        </p:txBody>
      </p:sp>
      <p:sp>
        <p:nvSpPr>
          <p:cNvPr id="93" name="anim-3-fade-610-88"/>
          <p:cNvSpPr/>
          <p:nvPr/>
        </p:nvSpPr>
        <p:spPr>
          <a:xfrm>
            <a:off x="4776216" y="3648456"/>
            <a:ext cx="228600" cy="274320"/>
          </a:xfrm>
          <a:prstGeom prst="rect">
            <a:avLst/>
          </a:prstGeom>
          <a:solidFill>
            <a:srgbClr val="E0D4FC"/>
          </a:solidFill>
          <a:ln/>
        </p:spPr>
      </p:sp>
      <p:sp>
        <p:nvSpPr>
          <p:cNvPr id="94" name="anim-3-fade-610-89"/>
          <p:cNvSpPr/>
          <p:nvPr/>
        </p:nvSpPr>
        <p:spPr>
          <a:xfrm>
            <a:off x="5023104" y="3648456"/>
            <a:ext cx="228600" cy="274320"/>
          </a:xfrm>
          <a:prstGeom prst="rect">
            <a:avLst/>
          </a:prstGeom>
          <a:solidFill>
            <a:srgbClr val="CEB8F9"/>
          </a:solidFill>
          <a:ln/>
        </p:spPr>
      </p:sp>
      <p:sp>
        <p:nvSpPr>
          <p:cNvPr id="95" name="anim-3-fade-610-90"/>
          <p:cNvSpPr/>
          <p:nvPr/>
        </p:nvSpPr>
        <p:spPr>
          <a:xfrm>
            <a:off x="5269992" y="3648456"/>
            <a:ext cx="228600" cy="274320"/>
          </a:xfrm>
          <a:prstGeom prst="rect">
            <a:avLst/>
          </a:prstGeom>
          <a:solidFill>
            <a:srgbClr val="A477F3"/>
          </a:solidFill>
          <a:ln/>
        </p:spPr>
      </p:sp>
      <p:sp>
        <p:nvSpPr>
          <p:cNvPr id="96" name="anim-3-fade-610-91"/>
          <p:cNvSpPr/>
          <p:nvPr/>
        </p:nvSpPr>
        <p:spPr>
          <a:xfrm>
            <a:off x="5516880" y="3648456"/>
            <a:ext cx="228600" cy="274320"/>
          </a:xfrm>
          <a:prstGeom prst="rect">
            <a:avLst/>
          </a:prstGeom>
          <a:solidFill>
            <a:srgbClr val="CEB8F9"/>
          </a:solidFill>
          <a:ln/>
        </p:spPr>
      </p:sp>
      <p:sp>
        <p:nvSpPr>
          <p:cNvPr id="97" name="anim-3-fade-610-92"/>
          <p:cNvSpPr/>
          <p:nvPr/>
        </p:nvSpPr>
        <p:spPr>
          <a:xfrm>
            <a:off x="5763768" y="3648456"/>
            <a:ext cx="228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anim-3-fade-200-93"/>
          <p:cNvSpPr txBox="1"/>
          <p:nvPr/>
        </p:nvSpPr>
        <p:spPr>
          <a:xfrm>
            <a:off x="4337304" y="39959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800" dirty="0"/>
          </a:p>
        </p:txBody>
      </p:sp>
      <p:sp>
        <p:nvSpPr>
          <p:cNvPr id="99" name="anim-3-fade-730-94"/>
          <p:cNvSpPr/>
          <p:nvPr/>
        </p:nvSpPr>
        <p:spPr>
          <a:xfrm>
            <a:off x="4776216" y="3950208"/>
            <a:ext cx="228600" cy="274320"/>
          </a:xfrm>
          <a:prstGeom prst="rect">
            <a:avLst/>
          </a:prstGeom>
          <a:solidFill>
            <a:srgbClr val="DACAFB"/>
          </a:solidFill>
          <a:ln/>
        </p:spPr>
      </p:sp>
      <p:sp>
        <p:nvSpPr>
          <p:cNvPr id="100" name="anim-3-fade-730-95"/>
          <p:cNvSpPr/>
          <p:nvPr/>
        </p:nvSpPr>
        <p:spPr>
          <a:xfrm>
            <a:off x="5023104" y="3950208"/>
            <a:ext cx="228600" cy="274320"/>
          </a:xfrm>
          <a:prstGeom prst="rect">
            <a:avLst/>
          </a:prstGeom>
          <a:solidFill>
            <a:srgbClr val="DDCEFB"/>
          </a:solidFill>
          <a:ln/>
        </p:spPr>
      </p:sp>
      <p:sp>
        <p:nvSpPr>
          <p:cNvPr id="101" name="anim-3-fade-730-96"/>
          <p:cNvSpPr/>
          <p:nvPr/>
        </p:nvSpPr>
        <p:spPr>
          <a:xfrm>
            <a:off x="5269992" y="3950208"/>
            <a:ext cx="228600" cy="274320"/>
          </a:xfrm>
          <a:prstGeom prst="rect">
            <a:avLst/>
          </a:prstGeom>
          <a:solidFill>
            <a:srgbClr val="D8C7FB"/>
          </a:solidFill>
          <a:ln/>
        </p:spPr>
      </p:sp>
      <p:sp>
        <p:nvSpPr>
          <p:cNvPr id="102" name="anim-3-fade-730-97"/>
          <p:cNvSpPr/>
          <p:nvPr/>
        </p:nvSpPr>
        <p:spPr>
          <a:xfrm>
            <a:off x="5516880" y="3950208"/>
            <a:ext cx="228600" cy="274320"/>
          </a:xfrm>
          <a:prstGeom prst="rect">
            <a:avLst/>
          </a:prstGeom>
          <a:solidFill>
            <a:srgbClr val="AA80F4"/>
          </a:solidFill>
          <a:ln/>
        </p:spPr>
      </p:sp>
      <p:sp>
        <p:nvSpPr>
          <p:cNvPr id="103" name="anim-3-fade-730-98"/>
          <p:cNvSpPr/>
          <p:nvPr/>
        </p:nvSpPr>
        <p:spPr>
          <a:xfrm>
            <a:off x="5763768" y="3950208"/>
            <a:ext cx="228600" cy="274320"/>
          </a:xfrm>
          <a:prstGeom prst="rect">
            <a:avLst/>
          </a:prstGeom>
          <a:solidFill>
            <a:srgbClr val="CEB8F9"/>
          </a:solidFill>
          <a:ln/>
        </p:spPr>
      </p:sp>
      <p:sp>
        <p:nvSpPr>
          <p:cNvPr id="104" name="anim-3-fade-900-99"/>
          <p:cNvSpPr txBox="1"/>
          <p:nvPr/>
        </p:nvSpPr>
        <p:spPr>
          <a:xfrm>
            <a:off x="4319016" y="4297680"/>
            <a:ext cx="16657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= future, blocked</a:t>
            </a:r>
            <a:endParaRPr lang="en-US" sz="850" dirty="0"/>
          </a:p>
        </p:txBody>
      </p:sp>
      <p:sp>
        <p:nvSpPr>
          <p:cNvPr id="105" name="anim-4-fade-100-100"/>
          <p:cNvSpPr/>
          <p:nvPr/>
        </p:nvSpPr>
        <p:spPr>
          <a:xfrm>
            <a:off x="6387084" y="3017520"/>
            <a:ext cx="164592" cy="201168"/>
          </a:xfrm>
          <a:prstGeom prst="rect">
            <a:avLst/>
          </a:prstGeom>
          <a:solidFill>
            <a:srgbClr val="A97D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anim-4-fade-100-101"/>
          <p:cNvSpPr/>
          <p:nvPr/>
        </p:nvSpPr>
        <p:spPr>
          <a:xfrm>
            <a:off x="6387084" y="3236976"/>
            <a:ext cx="164592" cy="201168"/>
          </a:xfrm>
          <a:prstGeom prst="rect">
            <a:avLst/>
          </a:prstGeom>
          <a:solidFill>
            <a:srgbClr val="F0C8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anim-4-fade-100-102"/>
          <p:cNvSpPr/>
          <p:nvPr/>
        </p:nvSpPr>
        <p:spPr>
          <a:xfrm>
            <a:off x="6387084" y="3456432"/>
            <a:ext cx="164592" cy="201168"/>
          </a:xfrm>
          <a:prstGeom prst="rect">
            <a:avLst/>
          </a:prstGeom>
          <a:solidFill>
            <a:srgbClr val="925B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anim-4-fade-100-103"/>
          <p:cNvSpPr/>
          <p:nvPr/>
        </p:nvSpPr>
        <p:spPr>
          <a:xfrm>
            <a:off x="6387084" y="3675888"/>
            <a:ext cx="164592" cy="201168"/>
          </a:xfrm>
          <a:prstGeom prst="rect">
            <a:avLst/>
          </a:prstGeom>
          <a:solidFill>
            <a:srgbClr val="D5C0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anim-4-fade-100-104"/>
          <p:cNvSpPr/>
          <p:nvPr/>
        </p:nvSpPr>
        <p:spPr>
          <a:xfrm>
            <a:off x="6387084" y="3895344"/>
            <a:ext cx="164592" cy="201168"/>
          </a:xfrm>
          <a:prstGeom prst="rect">
            <a:avLst/>
          </a:prstGeom>
          <a:solidFill>
            <a:srgbClr val="E6A55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anim-4-fade-200-105"/>
          <p:cNvSpPr/>
          <p:nvPr/>
        </p:nvSpPr>
        <p:spPr>
          <a:xfrm flipV="1">
            <a:off x="6569964" y="2788920"/>
            <a:ext cx="457200" cy="22860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</p:sp>
      <p:sp>
        <p:nvSpPr>
          <p:cNvPr id="111" name="anim-4-fade-200-106"/>
          <p:cNvSpPr/>
          <p:nvPr/>
        </p:nvSpPr>
        <p:spPr>
          <a:xfrm>
            <a:off x="6569964" y="4096512"/>
            <a:ext cx="457200" cy="22860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</p:sp>
      <p:sp>
        <p:nvSpPr>
          <p:cNvPr id="112" name="anim-4-fade-300-107"/>
          <p:cNvSpPr/>
          <p:nvPr/>
        </p:nvSpPr>
        <p:spPr>
          <a:xfrm>
            <a:off x="7045452" y="2788920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3" name="anim-4-fade-340-108"/>
          <p:cNvSpPr/>
          <p:nvPr/>
        </p:nvSpPr>
        <p:spPr>
          <a:xfrm>
            <a:off x="7045452" y="2944368"/>
            <a:ext cx="118872" cy="118872"/>
          </a:xfrm>
          <a:prstGeom prst="ellipse">
            <a:avLst/>
          </a:prstGeom>
          <a:solidFill>
            <a:srgbClr val="0D948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4" name="anim-4-fade-380-109"/>
          <p:cNvSpPr/>
          <p:nvPr/>
        </p:nvSpPr>
        <p:spPr>
          <a:xfrm>
            <a:off x="7045452" y="309981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5" name="anim-4-fade-420-110"/>
          <p:cNvSpPr/>
          <p:nvPr/>
        </p:nvSpPr>
        <p:spPr>
          <a:xfrm>
            <a:off x="7045452" y="3255264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6" name="anim-4-fade-460-111"/>
          <p:cNvSpPr/>
          <p:nvPr/>
        </p:nvSpPr>
        <p:spPr>
          <a:xfrm>
            <a:off x="7045452" y="3410712"/>
            <a:ext cx="118872" cy="118872"/>
          </a:xfrm>
          <a:prstGeom prst="ellipse">
            <a:avLst/>
          </a:prstGeom>
          <a:solidFill>
            <a:srgbClr val="0D948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7" name="anim-4-fade-500-112"/>
          <p:cNvSpPr/>
          <p:nvPr/>
        </p:nvSpPr>
        <p:spPr>
          <a:xfrm>
            <a:off x="7045452" y="3566160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8" name="anim-4-fade-540-113"/>
          <p:cNvSpPr/>
          <p:nvPr/>
        </p:nvSpPr>
        <p:spPr>
          <a:xfrm>
            <a:off x="7045452" y="372160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9" name="anim-4-fade-580-114"/>
          <p:cNvSpPr/>
          <p:nvPr/>
        </p:nvSpPr>
        <p:spPr>
          <a:xfrm>
            <a:off x="7045452" y="3877056"/>
            <a:ext cx="118872" cy="118872"/>
          </a:xfrm>
          <a:prstGeom prst="ellipse">
            <a:avLst/>
          </a:prstGeom>
          <a:solidFill>
            <a:srgbClr val="0D948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0" name="anim-4-fade-620-115"/>
          <p:cNvSpPr/>
          <p:nvPr/>
        </p:nvSpPr>
        <p:spPr>
          <a:xfrm>
            <a:off x="7045452" y="4032504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1" name="anim-4-fade-660-116"/>
          <p:cNvSpPr/>
          <p:nvPr/>
        </p:nvSpPr>
        <p:spPr>
          <a:xfrm>
            <a:off x="7045452" y="418795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2" name="anim-4-fade-700-117"/>
          <p:cNvSpPr/>
          <p:nvPr/>
        </p:nvSpPr>
        <p:spPr>
          <a:xfrm>
            <a:off x="7182612" y="2788920"/>
            <a:ext cx="457200" cy="22860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</p:sp>
      <p:sp>
        <p:nvSpPr>
          <p:cNvPr id="123" name="anim-4-fade-700-118"/>
          <p:cNvSpPr/>
          <p:nvPr/>
        </p:nvSpPr>
        <p:spPr>
          <a:xfrm flipV="1">
            <a:off x="7182612" y="4096512"/>
            <a:ext cx="457200" cy="22860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</p:sp>
      <p:sp>
        <p:nvSpPr>
          <p:cNvPr id="124" name="anim-4-fade-800-119"/>
          <p:cNvSpPr/>
          <p:nvPr/>
        </p:nvSpPr>
        <p:spPr>
          <a:xfrm>
            <a:off x="7658100" y="3017520"/>
            <a:ext cx="164592" cy="201168"/>
          </a:xfrm>
          <a:prstGeom prst="rect">
            <a:avLst/>
          </a:prstGeom>
          <a:solidFill>
            <a:srgbClr val="4BAF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anim-4-fade-800-120"/>
          <p:cNvSpPr/>
          <p:nvPr/>
        </p:nvSpPr>
        <p:spPr>
          <a:xfrm>
            <a:off x="7658100" y="3236976"/>
            <a:ext cx="164592" cy="201168"/>
          </a:xfrm>
          <a:prstGeom prst="rect">
            <a:avLst/>
          </a:prstGeom>
          <a:solidFill>
            <a:srgbClr val="C6E6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anim-4-fade-800-121"/>
          <p:cNvSpPr/>
          <p:nvPr/>
        </p:nvSpPr>
        <p:spPr>
          <a:xfrm>
            <a:off x="7658100" y="3456432"/>
            <a:ext cx="164592" cy="201168"/>
          </a:xfrm>
          <a:prstGeom prst="rect">
            <a:avLst/>
          </a:prstGeom>
          <a:solidFill>
            <a:srgbClr val="229D9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anim-4-fade-800-122"/>
          <p:cNvSpPr/>
          <p:nvPr/>
        </p:nvSpPr>
        <p:spPr>
          <a:xfrm>
            <a:off x="7658100" y="3675888"/>
            <a:ext cx="164592" cy="201168"/>
          </a:xfrm>
          <a:prstGeom prst="rect">
            <a:avLst/>
          </a:prstGeom>
          <a:solidFill>
            <a:srgbClr val="F3D3A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anim-4-fade-800-123"/>
          <p:cNvSpPr/>
          <p:nvPr/>
        </p:nvSpPr>
        <p:spPr>
          <a:xfrm>
            <a:off x="7658100" y="3895344"/>
            <a:ext cx="164592" cy="201168"/>
          </a:xfrm>
          <a:prstGeom prst="rect">
            <a:avLst/>
          </a:prstGeom>
          <a:solidFill>
            <a:srgbClr val="74C1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anim-4-fade-900-124"/>
          <p:cNvSpPr txBox="1"/>
          <p:nvPr/>
        </p:nvSpPr>
        <p:spPr>
          <a:xfrm>
            <a:off x="6204204" y="4297680"/>
            <a:ext cx="16657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MLP for every token</a:t>
            </a:r>
            <a:endParaRPr lang="en-US" sz="850" dirty="0"/>
          </a:p>
        </p:txBody>
      </p:sp>
      <p:sp>
        <p:nvSpPr>
          <p:cNvPr id="130" name="anim-5-fade-0-125"/>
          <p:cNvSpPr txBox="1"/>
          <p:nvPr/>
        </p:nvSpPr>
        <p:spPr>
          <a:xfrm>
            <a:off x="8135112" y="2724912"/>
            <a:ext cx="15742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token “the” →</a:t>
            </a:r>
            <a:endParaRPr lang="en-US" sz="900" dirty="0"/>
          </a:p>
        </p:txBody>
      </p:sp>
      <p:sp>
        <p:nvSpPr>
          <p:cNvPr id="131" name="anim-5-fade-150-126"/>
          <p:cNvSpPr txBox="1"/>
          <p:nvPr/>
        </p:nvSpPr>
        <p:spPr>
          <a:xfrm>
            <a:off x="8135112" y="3017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</a:t>
            </a:r>
            <a:endParaRPr lang="en-US" sz="950" dirty="0"/>
          </a:p>
        </p:txBody>
      </p:sp>
      <p:sp>
        <p:nvSpPr>
          <p:cNvPr id="132" name="anim-5-wipe-200-127"/>
          <p:cNvSpPr/>
          <p:nvPr/>
        </p:nvSpPr>
        <p:spPr>
          <a:xfrm>
            <a:off x="8656320" y="3054096"/>
            <a:ext cx="749808" cy="14630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3" name="anim-5-fade-300-128"/>
          <p:cNvSpPr txBox="1"/>
          <p:nvPr/>
        </p:nvSpPr>
        <p:spPr>
          <a:xfrm>
            <a:off x="9442704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41%</a:t>
            </a:r>
            <a:endParaRPr lang="en-US" sz="850" dirty="0"/>
          </a:p>
        </p:txBody>
      </p:sp>
      <p:sp>
        <p:nvSpPr>
          <p:cNvPr id="134" name="anim-5-fade-250-129"/>
          <p:cNvSpPr txBox="1"/>
          <p:nvPr/>
        </p:nvSpPr>
        <p:spPr>
          <a:xfrm>
            <a:off x="8135112" y="32918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</a:t>
            </a:r>
            <a:endParaRPr lang="en-US" sz="950" dirty="0"/>
          </a:p>
        </p:txBody>
      </p:sp>
      <p:sp>
        <p:nvSpPr>
          <p:cNvPr id="135" name="anim-5-wipe-300-130"/>
          <p:cNvSpPr/>
          <p:nvPr/>
        </p:nvSpPr>
        <p:spPr>
          <a:xfrm>
            <a:off x="8656320" y="3328416"/>
            <a:ext cx="256032" cy="146304"/>
          </a:xfrm>
          <a:prstGeom prst="rect">
            <a:avLst/>
          </a:prstGeom>
          <a:solidFill>
            <a:srgbClr val="FDA4AF"/>
          </a:solidFill>
          <a:ln/>
        </p:spPr>
      </p:sp>
      <p:sp>
        <p:nvSpPr>
          <p:cNvPr id="136" name="anim-5-fade-400-131"/>
          <p:cNvSpPr txBox="1"/>
          <p:nvPr/>
        </p:nvSpPr>
        <p:spPr>
          <a:xfrm>
            <a:off x="8948928" y="32918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14%</a:t>
            </a:r>
            <a:endParaRPr lang="en-US" sz="850" dirty="0"/>
          </a:p>
        </p:txBody>
      </p:sp>
      <p:sp>
        <p:nvSpPr>
          <p:cNvPr id="137" name="anim-5-fade-350-132"/>
          <p:cNvSpPr txBox="1"/>
          <p:nvPr/>
        </p:nvSpPr>
        <p:spPr>
          <a:xfrm>
            <a:off x="8135112" y="3566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sofa</a:t>
            </a:r>
            <a:endParaRPr lang="en-US" sz="950" dirty="0"/>
          </a:p>
        </p:txBody>
      </p:sp>
      <p:sp>
        <p:nvSpPr>
          <p:cNvPr id="138" name="anim-5-wipe-400-133"/>
          <p:cNvSpPr/>
          <p:nvPr/>
        </p:nvSpPr>
        <p:spPr>
          <a:xfrm>
            <a:off x="8656320" y="3602736"/>
            <a:ext cx="201168" cy="146304"/>
          </a:xfrm>
          <a:prstGeom prst="rect">
            <a:avLst/>
          </a:prstGeom>
          <a:solidFill>
            <a:srgbClr val="FDA4AF"/>
          </a:solidFill>
          <a:ln/>
        </p:spPr>
      </p:sp>
      <p:sp>
        <p:nvSpPr>
          <p:cNvPr id="139" name="anim-5-fade-500-134"/>
          <p:cNvSpPr txBox="1"/>
          <p:nvPr/>
        </p:nvSpPr>
        <p:spPr>
          <a:xfrm>
            <a:off x="8894064" y="35661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11%</a:t>
            </a:r>
            <a:endParaRPr lang="en-US" sz="850" dirty="0"/>
          </a:p>
        </p:txBody>
      </p:sp>
      <p:sp>
        <p:nvSpPr>
          <p:cNvPr id="140" name="anim-5-fade-450-135"/>
          <p:cNvSpPr txBox="1"/>
          <p:nvPr/>
        </p:nvSpPr>
        <p:spPr>
          <a:xfrm>
            <a:off x="8135112" y="3840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</a:t>
            </a:r>
            <a:endParaRPr lang="en-US" sz="950" dirty="0"/>
          </a:p>
        </p:txBody>
      </p:sp>
      <p:sp>
        <p:nvSpPr>
          <p:cNvPr id="141" name="anim-5-wipe-500-136"/>
          <p:cNvSpPr/>
          <p:nvPr/>
        </p:nvSpPr>
        <p:spPr>
          <a:xfrm>
            <a:off x="8656320" y="3877056"/>
            <a:ext cx="146304" cy="146304"/>
          </a:xfrm>
          <a:prstGeom prst="rect">
            <a:avLst/>
          </a:prstGeom>
          <a:solidFill>
            <a:srgbClr val="FDA4AF"/>
          </a:solidFill>
          <a:ln/>
        </p:spPr>
      </p:sp>
      <p:sp>
        <p:nvSpPr>
          <p:cNvPr id="142" name="anim-5-fade-600-137"/>
          <p:cNvSpPr txBox="1"/>
          <p:nvPr/>
        </p:nvSpPr>
        <p:spPr>
          <a:xfrm>
            <a:off x="8839200" y="38404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850" dirty="0"/>
          </a:p>
        </p:txBody>
      </p:sp>
      <p:sp>
        <p:nvSpPr>
          <p:cNvPr id="143" name="anim-5-fade-550-138"/>
          <p:cNvSpPr txBox="1"/>
          <p:nvPr/>
        </p:nvSpPr>
        <p:spPr>
          <a:xfrm>
            <a:off x="8135112" y="4114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950" dirty="0"/>
          </a:p>
        </p:txBody>
      </p:sp>
      <p:sp>
        <p:nvSpPr>
          <p:cNvPr id="144" name="anim-5-wipe-600-139"/>
          <p:cNvSpPr/>
          <p:nvPr/>
        </p:nvSpPr>
        <p:spPr>
          <a:xfrm>
            <a:off x="8656320" y="4151376"/>
            <a:ext cx="475488" cy="14630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5" name="anim-5-fade-700-140"/>
          <p:cNvSpPr txBox="1"/>
          <p:nvPr/>
        </p:nvSpPr>
        <p:spPr>
          <a:xfrm>
            <a:off x="9168384" y="41148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</a:t>
            </a:r>
            <a:endParaRPr lang="en-US" sz="850" dirty="0"/>
          </a:p>
        </p:txBody>
      </p:sp>
      <p:sp>
        <p:nvSpPr>
          <p:cNvPr id="146" name="anim-6-zoom-200-141"/>
          <p:cNvSpPr/>
          <p:nvPr/>
        </p:nvSpPr>
        <p:spPr>
          <a:xfrm>
            <a:off x="10304526" y="2971800"/>
            <a:ext cx="1005840" cy="566928"/>
          </a:xfrm>
          <a:prstGeom prst="roundRect">
            <a:avLst>
              <a:gd name="adj" fmla="val 11290"/>
            </a:avLst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</a:t>
            </a:r>
            <a:endParaRPr lang="en-US" sz="1800" dirty="0"/>
          </a:p>
        </p:txBody>
      </p:sp>
      <p:sp>
        <p:nvSpPr>
          <p:cNvPr id="147" name="anim-6-fade-500-142"/>
          <p:cNvSpPr txBox="1"/>
          <p:nvPr/>
        </p:nvSpPr>
        <p:spPr>
          <a:xfrm>
            <a:off x="10020300" y="365760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greedy, or sampled with temperature / top-p</a:t>
            </a:r>
            <a:endParaRPr lang="en-US" sz="900" dirty="0"/>
          </a:p>
        </p:txBody>
      </p:sp>
      <p:sp>
        <p:nvSpPr>
          <p:cNvPr id="148" name="anim-7-fade-0-143"/>
          <p:cNvSpPr/>
          <p:nvPr/>
        </p:nvSpPr>
        <p:spPr>
          <a:xfrm>
            <a:off x="10807446" y="5340096"/>
            <a:ext cx="0" cy="237744"/>
          </a:xfrm>
          <a:prstGeom prst="line">
            <a:avLst/>
          </a:prstGeom>
          <a:noFill/>
          <a:ln w="22225">
            <a:solidFill>
              <a:srgbClr val="E11D48"/>
            </a:solidFill>
            <a:prstDash val="dash"/>
          </a:ln>
        </p:spPr>
      </p:sp>
      <p:sp>
        <p:nvSpPr>
          <p:cNvPr id="149" name="anim-7-wiper-150-144"/>
          <p:cNvSpPr/>
          <p:nvPr/>
        </p:nvSpPr>
        <p:spPr>
          <a:xfrm flipH="1">
            <a:off x="1381506" y="5577840"/>
            <a:ext cx="9425940" cy="0"/>
          </a:xfrm>
          <a:prstGeom prst="line">
            <a:avLst/>
          </a:prstGeom>
          <a:noFill/>
          <a:ln w="22225">
            <a:solidFill>
              <a:srgbClr val="E11D48"/>
            </a:solidFill>
            <a:prstDash val="dash"/>
          </a:ln>
        </p:spPr>
      </p:sp>
      <p:sp>
        <p:nvSpPr>
          <p:cNvPr id="150" name="anim-7-fade-600-145"/>
          <p:cNvSpPr/>
          <p:nvPr/>
        </p:nvSpPr>
        <p:spPr>
          <a:xfrm flipV="1">
            <a:off x="1381506" y="5340096"/>
            <a:ext cx="0" cy="237744"/>
          </a:xfrm>
          <a:prstGeom prst="line">
            <a:avLst/>
          </a:prstGeom>
          <a:noFill/>
          <a:ln w="22225">
            <a:solidFill>
              <a:srgbClr val="E11D48"/>
            </a:solidFill>
            <a:prstDash val="dash"/>
            <a:tailEnd type="triangle"/>
          </a:ln>
        </p:spPr>
      </p:sp>
      <p:sp>
        <p:nvSpPr>
          <p:cNvPr id="151" name="anim-7-fade-400-146"/>
          <p:cNvSpPr/>
          <p:nvPr/>
        </p:nvSpPr>
        <p:spPr>
          <a:xfrm>
            <a:off x="2468880" y="5422392"/>
            <a:ext cx="72237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 “mat” → “The cat sat on the mat” → run the whole thing again for the next token</a:t>
            </a:r>
            <a:endParaRPr lang="en-US" sz="1050" dirty="0"/>
          </a:p>
        </p:txBody>
      </p:sp>
      <p:sp>
        <p:nvSpPr>
          <p:cNvPr id="152" name="anim-8-rise-0-14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idea: context-aware next-token prediction, repeated.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4" dur="4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3" dur="4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2" dur="4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4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0" dur="4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5" dur="4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BASICS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learning: a neural network learns, then answers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neural network is layers of simple units joined by weights. Training tunes the weights; inference uses them.</a:t>
            </a:r>
            <a:endParaRPr lang="en-US" sz="1300" dirty="0"/>
          </a:p>
        </p:txBody>
      </p:sp>
      <p:sp>
        <p:nvSpPr>
          <p:cNvPr id="5" name="anim-1-rise-0-148"/>
          <p:cNvSpPr/>
          <p:nvPr/>
        </p:nvSpPr>
        <p:spPr>
          <a:xfrm>
            <a:off x="548640" y="1627632"/>
            <a:ext cx="6492240" cy="402336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/>
        </p:spPr>
        <p:txBody>
          <a:bodyPr wrap="square" lIns="152400" tIns="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EXAMPLE 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mat: soft ✓  warm ✓  wet ✗   →   the cat sat on it</a:t>
            </a:r>
            <a:endParaRPr lang="en-US" sz="1100" dirty="0"/>
          </a:p>
        </p:txBody>
      </p:sp>
      <p:sp>
        <p:nvSpPr>
          <p:cNvPr id="6" name="anim-6-fade-0-149"/>
          <p:cNvSpPr/>
          <p:nvPr/>
        </p:nvSpPr>
        <p:spPr>
          <a:xfrm>
            <a:off x="548640" y="1627632"/>
            <a:ext cx="6492240" cy="402336"/>
          </a:xfrm>
          <a:prstGeom prst="roundRect">
            <a:avLst>
              <a:gd name="adj" fmla="val 22727"/>
            </a:avLst>
          </a:prstGeom>
          <a:solidFill>
            <a:srgbClr val="FFE4E6"/>
          </a:solidFill>
          <a:ln/>
        </p:spPr>
        <p:txBody>
          <a:bodyPr wrap="square" lIns="152400" tIns="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INPUT 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sofa: soft ✓  warm ✓  wet ✗   →   will the cat sit?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30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130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LAYER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130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V="1">
            <a:off x="1874520" y="2514600"/>
            <a:ext cx="1828800" cy="320040"/>
          </a:xfrm>
          <a:prstGeom prst="line">
            <a:avLst/>
          </a:prstGeom>
          <a:noFill/>
          <a:ln w="25397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834640"/>
            <a:ext cx="1828800" cy="320040"/>
          </a:xfrm>
          <a:prstGeom prst="line">
            <a:avLst/>
          </a:prstGeom>
          <a:noFill/>
          <a:ln w="112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834640"/>
            <a:ext cx="1828800" cy="960120"/>
          </a:xfrm>
          <a:prstGeom prst="line">
            <a:avLst/>
          </a:prstGeom>
          <a:noFill/>
          <a:ln w="1550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2834640"/>
            <a:ext cx="1828800" cy="1600200"/>
          </a:xfrm>
          <a:prstGeom prst="line">
            <a:avLst/>
          </a:prstGeom>
          <a:noFill/>
          <a:ln w="23966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874520" y="2514600"/>
            <a:ext cx="1828800" cy="960120"/>
          </a:xfrm>
          <a:prstGeom prst="line">
            <a:avLst/>
          </a:prstGeom>
          <a:noFill/>
          <a:ln w="20969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874520" y="3154680"/>
            <a:ext cx="1828800" cy="320040"/>
          </a:xfrm>
          <a:prstGeom prst="line">
            <a:avLst/>
          </a:prstGeom>
          <a:noFill/>
          <a:ln w="12429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474720"/>
            <a:ext cx="1828800" cy="320040"/>
          </a:xfrm>
          <a:prstGeom prst="line">
            <a:avLst/>
          </a:prstGeom>
          <a:noFill/>
          <a:ln w="1008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3474720"/>
            <a:ext cx="1828800" cy="960120"/>
          </a:xfrm>
          <a:prstGeom prst="line">
            <a:avLst/>
          </a:prstGeom>
          <a:noFill/>
          <a:ln w="10556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874520" y="2514600"/>
            <a:ext cx="1828800" cy="1600200"/>
          </a:xfrm>
          <a:prstGeom prst="line">
            <a:avLst/>
          </a:prstGeom>
          <a:noFill/>
          <a:ln w="10406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874520" y="3154680"/>
            <a:ext cx="1828800" cy="960120"/>
          </a:xfrm>
          <a:prstGeom prst="line">
            <a:avLst/>
          </a:prstGeom>
          <a:noFill/>
          <a:ln w="16459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874520" y="3794760"/>
            <a:ext cx="1828800" cy="320040"/>
          </a:xfrm>
          <a:prstGeom prst="line">
            <a:avLst/>
          </a:prstGeom>
          <a:noFill/>
          <a:ln w="18462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4114800"/>
            <a:ext cx="1828800" cy="320040"/>
          </a:xfrm>
          <a:prstGeom prst="line">
            <a:avLst/>
          </a:prstGeom>
          <a:noFill/>
          <a:ln w="16306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2514600"/>
            <a:ext cx="1828800" cy="640080"/>
          </a:xfrm>
          <a:prstGeom prst="line">
            <a:avLst/>
          </a:prstGeom>
          <a:noFill/>
          <a:ln w="2093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2514600"/>
            <a:ext cx="1828800" cy="1280160"/>
          </a:xfrm>
          <a:prstGeom prst="line">
            <a:avLst/>
          </a:prstGeom>
          <a:noFill/>
          <a:ln w="13326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3154680"/>
            <a:ext cx="1828800" cy="0"/>
          </a:xfrm>
          <a:prstGeom prst="line">
            <a:avLst/>
          </a:prstGeom>
          <a:noFill/>
          <a:ln w="12321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3154680"/>
            <a:ext cx="1828800" cy="640080"/>
          </a:xfrm>
          <a:prstGeom prst="line">
            <a:avLst/>
          </a:prstGeom>
          <a:noFill/>
          <a:ln w="19898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703320" y="3154680"/>
            <a:ext cx="1828800" cy="640080"/>
          </a:xfrm>
          <a:prstGeom prst="line">
            <a:avLst/>
          </a:prstGeom>
          <a:noFill/>
          <a:ln w="13251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3794760"/>
            <a:ext cx="1828800" cy="0"/>
          </a:xfrm>
          <a:prstGeom prst="line">
            <a:avLst/>
          </a:prstGeom>
          <a:noFill/>
          <a:ln w="22711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703320" y="3154680"/>
            <a:ext cx="1828800" cy="1280160"/>
          </a:xfrm>
          <a:prstGeom prst="line">
            <a:avLst/>
          </a:prstGeom>
          <a:noFill/>
          <a:ln w="18492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703320" y="3794760"/>
            <a:ext cx="1828800" cy="640080"/>
          </a:xfrm>
          <a:prstGeom prst="line">
            <a:avLst/>
          </a:prstGeom>
          <a:noFill/>
          <a:ln w="16995">
            <a:solidFill>
              <a:srgbClr val="CBD5E1"/>
            </a:solidFill>
            <a:prstDash val="solid"/>
          </a:ln>
        </p:spPr>
      </p:sp>
      <p:sp>
        <p:nvSpPr>
          <p:cNvPr id="30" name="anim-5-fade-0-150"/>
          <p:cNvSpPr/>
          <p:nvPr/>
        </p:nvSpPr>
        <p:spPr>
          <a:xfrm flipV="1">
            <a:off x="1874520" y="2514600"/>
            <a:ext cx="1828800" cy="320040"/>
          </a:xfrm>
          <a:prstGeom prst="line">
            <a:avLst/>
          </a:prstGeom>
          <a:noFill/>
          <a:ln w="31876">
            <a:solidFill>
              <a:srgbClr val="0D9488"/>
            </a:solidFill>
            <a:prstDash val="solid"/>
          </a:ln>
        </p:spPr>
      </p:sp>
      <p:sp>
        <p:nvSpPr>
          <p:cNvPr id="31" name="anim-5-fade-40-151"/>
          <p:cNvSpPr/>
          <p:nvPr/>
        </p:nvSpPr>
        <p:spPr>
          <a:xfrm>
            <a:off x="1874520" y="2834640"/>
            <a:ext cx="1828800" cy="320040"/>
          </a:xfrm>
          <a:prstGeom prst="line">
            <a:avLst/>
          </a:prstGeom>
          <a:noFill/>
          <a:ln w="11942">
            <a:solidFill>
              <a:srgbClr val="0D9488"/>
            </a:solidFill>
            <a:prstDash val="solid"/>
          </a:ln>
        </p:spPr>
      </p:sp>
      <p:sp>
        <p:nvSpPr>
          <p:cNvPr id="32" name="anim-5-fade-80-152"/>
          <p:cNvSpPr/>
          <p:nvPr/>
        </p:nvSpPr>
        <p:spPr>
          <a:xfrm>
            <a:off x="1874520" y="2834640"/>
            <a:ext cx="1828800" cy="960120"/>
          </a:xfrm>
          <a:prstGeom prst="line">
            <a:avLst/>
          </a:prstGeom>
          <a:noFill/>
          <a:ln w="39328">
            <a:solidFill>
              <a:srgbClr val="E11D48"/>
            </a:solidFill>
            <a:prstDash val="solid"/>
          </a:ln>
        </p:spPr>
      </p:sp>
      <p:sp>
        <p:nvSpPr>
          <p:cNvPr id="33" name="anim-5-fade-120-153"/>
          <p:cNvSpPr/>
          <p:nvPr/>
        </p:nvSpPr>
        <p:spPr>
          <a:xfrm>
            <a:off x="1874520" y="2834640"/>
            <a:ext cx="1828800" cy="1600200"/>
          </a:xfrm>
          <a:prstGeom prst="line">
            <a:avLst/>
          </a:prstGeom>
          <a:noFill/>
          <a:ln w="44703">
            <a:solidFill>
              <a:srgbClr val="0D9488"/>
            </a:solidFill>
            <a:prstDash val="solid"/>
          </a:ln>
        </p:spPr>
      </p:sp>
      <p:sp>
        <p:nvSpPr>
          <p:cNvPr id="34" name="anim-5-fade-160-154"/>
          <p:cNvSpPr/>
          <p:nvPr/>
        </p:nvSpPr>
        <p:spPr>
          <a:xfrm flipV="1">
            <a:off x="1874520" y="2514600"/>
            <a:ext cx="1828800" cy="960120"/>
          </a:xfrm>
          <a:prstGeom prst="line">
            <a:avLst/>
          </a:prstGeom>
          <a:noFill/>
          <a:ln w="24479">
            <a:solidFill>
              <a:srgbClr val="E11D48"/>
            </a:solidFill>
            <a:prstDash val="solid"/>
          </a:ln>
        </p:spPr>
      </p:sp>
      <p:sp>
        <p:nvSpPr>
          <p:cNvPr id="35" name="anim-5-fade-200-155"/>
          <p:cNvSpPr/>
          <p:nvPr/>
        </p:nvSpPr>
        <p:spPr>
          <a:xfrm flipV="1">
            <a:off x="1874520" y="3154680"/>
            <a:ext cx="1828800" cy="320040"/>
          </a:xfrm>
          <a:prstGeom prst="line">
            <a:avLst/>
          </a:prstGeom>
          <a:noFill/>
          <a:ln w="20544">
            <a:solidFill>
              <a:srgbClr val="E11D48"/>
            </a:solidFill>
            <a:prstDash val="solid"/>
          </a:ln>
        </p:spPr>
      </p:sp>
      <p:sp>
        <p:nvSpPr>
          <p:cNvPr id="36" name="anim-5-fade-240-156"/>
          <p:cNvSpPr/>
          <p:nvPr/>
        </p:nvSpPr>
        <p:spPr>
          <a:xfrm>
            <a:off x="1874520" y="3474720"/>
            <a:ext cx="1828800" cy="320040"/>
          </a:xfrm>
          <a:prstGeom prst="line">
            <a:avLst/>
          </a:prstGeom>
          <a:noFill/>
          <a:ln w="43394">
            <a:solidFill>
              <a:srgbClr val="0D9488"/>
            </a:solidFill>
            <a:prstDash val="solid"/>
          </a:ln>
        </p:spPr>
      </p:sp>
      <p:sp>
        <p:nvSpPr>
          <p:cNvPr id="37" name="anim-5-fade-280-157"/>
          <p:cNvSpPr/>
          <p:nvPr/>
        </p:nvSpPr>
        <p:spPr>
          <a:xfrm>
            <a:off x="1874520" y="3474720"/>
            <a:ext cx="1828800" cy="960120"/>
          </a:xfrm>
          <a:prstGeom prst="line">
            <a:avLst/>
          </a:prstGeom>
          <a:noFill/>
          <a:ln w="41519">
            <a:solidFill>
              <a:srgbClr val="E11D48"/>
            </a:solidFill>
            <a:prstDash val="solid"/>
          </a:ln>
        </p:spPr>
      </p:sp>
      <p:sp>
        <p:nvSpPr>
          <p:cNvPr id="38" name="anim-5-fade-320-158"/>
          <p:cNvSpPr/>
          <p:nvPr/>
        </p:nvSpPr>
        <p:spPr>
          <a:xfrm flipV="1">
            <a:off x="1874520" y="2514600"/>
            <a:ext cx="1828800" cy="1600200"/>
          </a:xfrm>
          <a:prstGeom prst="line">
            <a:avLst/>
          </a:prstGeom>
          <a:noFill/>
          <a:ln w="16170">
            <a:solidFill>
              <a:srgbClr val="0D9488"/>
            </a:solidFill>
            <a:prstDash val="solid"/>
          </a:ln>
        </p:spPr>
      </p:sp>
      <p:sp>
        <p:nvSpPr>
          <p:cNvPr id="39" name="anim-5-fade-360-159"/>
          <p:cNvSpPr/>
          <p:nvPr/>
        </p:nvSpPr>
        <p:spPr>
          <a:xfrm flipV="1">
            <a:off x="1874520" y="3154680"/>
            <a:ext cx="1828800" cy="960120"/>
          </a:xfrm>
          <a:prstGeom prst="line">
            <a:avLst/>
          </a:prstGeom>
          <a:noFill/>
          <a:ln w="28433">
            <a:solidFill>
              <a:srgbClr val="0D9488"/>
            </a:solidFill>
            <a:prstDash val="solid"/>
          </a:ln>
        </p:spPr>
      </p:sp>
      <p:sp>
        <p:nvSpPr>
          <p:cNvPr id="40" name="anim-5-fade-400-160"/>
          <p:cNvSpPr/>
          <p:nvPr/>
        </p:nvSpPr>
        <p:spPr>
          <a:xfrm flipV="1">
            <a:off x="1874520" y="3794760"/>
            <a:ext cx="1828800" cy="320040"/>
          </a:xfrm>
          <a:prstGeom prst="line">
            <a:avLst/>
          </a:prstGeom>
          <a:noFill/>
          <a:ln w="45597">
            <a:solidFill>
              <a:srgbClr val="E11D48"/>
            </a:solidFill>
            <a:prstDash val="solid"/>
          </a:ln>
        </p:spPr>
      </p:sp>
      <p:sp>
        <p:nvSpPr>
          <p:cNvPr id="41" name="anim-5-fade-440-161"/>
          <p:cNvSpPr/>
          <p:nvPr/>
        </p:nvSpPr>
        <p:spPr>
          <a:xfrm>
            <a:off x="1874520" y="4114800"/>
            <a:ext cx="1828800" cy="320040"/>
          </a:xfrm>
          <a:prstGeom prst="line">
            <a:avLst/>
          </a:prstGeom>
          <a:noFill/>
          <a:ln w="36566">
            <a:solidFill>
              <a:srgbClr val="0D9488"/>
            </a:solidFill>
            <a:prstDash val="solid"/>
          </a:ln>
        </p:spPr>
      </p:sp>
      <p:sp>
        <p:nvSpPr>
          <p:cNvPr id="42" name="anim-5-fade-480-162"/>
          <p:cNvSpPr/>
          <p:nvPr/>
        </p:nvSpPr>
        <p:spPr>
          <a:xfrm>
            <a:off x="3703320" y="2514600"/>
            <a:ext cx="1828800" cy="640080"/>
          </a:xfrm>
          <a:prstGeom prst="line">
            <a:avLst/>
          </a:prstGeom>
          <a:noFill/>
          <a:ln w="7367">
            <a:solidFill>
              <a:srgbClr val="E11D48"/>
            </a:solidFill>
            <a:prstDash val="solid"/>
          </a:ln>
        </p:spPr>
      </p:sp>
      <p:sp>
        <p:nvSpPr>
          <p:cNvPr id="43" name="anim-5-fade-520-163"/>
          <p:cNvSpPr/>
          <p:nvPr/>
        </p:nvSpPr>
        <p:spPr>
          <a:xfrm>
            <a:off x="3703320" y="2514600"/>
            <a:ext cx="1828800" cy="1280160"/>
          </a:xfrm>
          <a:prstGeom prst="line">
            <a:avLst/>
          </a:prstGeom>
          <a:noFill/>
          <a:ln w="35211">
            <a:solidFill>
              <a:srgbClr val="E11D48"/>
            </a:solidFill>
            <a:prstDash val="solid"/>
          </a:ln>
        </p:spPr>
      </p:sp>
      <p:sp>
        <p:nvSpPr>
          <p:cNvPr id="44" name="anim-5-fade-560-164"/>
          <p:cNvSpPr/>
          <p:nvPr/>
        </p:nvSpPr>
        <p:spPr>
          <a:xfrm>
            <a:off x="3703320" y="3154680"/>
            <a:ext cx="1828800" cy="0"/>
          </a:xfrm>
          <a:prstGeom prst="line">
            <a:avLst/>
          </a:prstGeom>
          <a:noFill/>
          <a:ln w="45825">
            <a:solidFill>
              <a:srgbClr val="0D9488"/>
            </a:solidFill>
            <a:prstDash val="solid"/>
          </a:ln>
        </p:spPr>
      </p:sp>
      <p:sp>
        <p:nvSpPr>
          <p:cNvPr id="45" name="anim-5-fade-600-165"/>
          <p:cNvSpPr/>
          <p:nvPr/>
        </p:nvSpPr>
        <p:spPr>
          <a:xfrm>
            <a:off x="3703320" y="3154680"/>
            <a:ext cx="1828800" cy="640080"/>
          </a:xfrm>
          <a:prstGeom prst="line">
            <a:avLst/>
          </a:prstGeom>
          <a:noFill/>
          <a:ln w="30092">
            <a:solidFill>
              <a:srgbClr val="E11D48"/>
            </a:solidFill>
            <a:prstDash val="solid"/>
          </a:ln>
        </p:spPr>
      </p:sp>
      <p:sp>
        <p:nvSpPr>
          <p:cNvPr id="46" name="anim-5-fade-640-166"/>
          <p:cNvSpPr/>
          <p:nvPr/>
        </p:nvSpPr>
        <p:spPr>
          <a:xfrm flipV="1">
            <a:off x="3703320" y="3154680"/>
            <a:ext cx="1828800" cy="640080"/>
          </a:xfrm>
          <a:prstGeom prst="line">
            <a:avLst/>
          </a:prstGeom>
          <a:noFill/>
          <a:ln w="14188">
            <a:solidFill>
              <a:srgbClr val="E11D48"/>
            </a:solidFill>
            <a:prstDash val="solid"/>
          </a:ln>
        </p:spPr>
      </p:sp>
      <p:sp>
        <p:nvSpPr>
          <p:cNvPr id="47" name="anim-5-fade-680-167"/>
          <p:cNvSpPr/>
          <p:nvPr/>
        </p:nvSpPr>
        <p:spPr>
          <a:xfrm>
            <a:off x="3703320" y="3794760"/>
            <a:ext cx="1828800" cy="0"/>
          </a:xfrm>
          <a:prstGeom prst="line">
            <a:avLst/>
          </a:prstGeom>
          <a:noFill/>
          <a:ln w="40536">
            <a:solidFill>
              <a:srgbClr val="0D9488"/>
            </a:solidFill>
            <a:prstDash val="solid"/>
          </a:ln>
        </p:spPr>
      </p:sp>
      <p:sp>
        <p:nvSpPr>
          <p:cNvPr id="48" name="anim-5-fade-720-168"/>
          <p:cNvSpPr/>
          <p:nvPr/>
        </p:nvSpPr>
        <p:spPr>
          <a:xfrm flipV="1">
            <a:off x="3703320" y="3154680"/>
            <a:ext cx="1828800" cy="1280160"/>
          </a:xfrm>
          <a:prstGeom prst="line">
            <a:avLst/>
          </a:prstGeom>
          <a:noFill/>
          <a:ln w="44067">
            <a:solidFill>
              <a:srgbClr val="E11D48"/>
            </a:solidFill>
            <a:prstDash val="solid"/>
          </a:ln>
        </p:spPr>
      </p:sp>
      <p:sp>
        <p:nvSpPr>
          <p:cNvPr id="49" name="anim-5-fade-760-169"/>
          <p:cNvSpPr/>
          <p:nvPr/>
        </p:nvSpPr>
        <p:spPr>
          <a:xfrm flipV="1">
            <a:off x="3703320" y="3794760"/>
            <a:ext cx="1828800" cy="640080"/>
          </a:xfrm>
          <a:prstGeom prst="line">
            <a:avLst/>
          </a:prstGeom>
          <a:noFill/>
          <a:ln w="22424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0" y="2606040"/>
            <a:ext cx="457200" cy="457200"/>
          </a:xfrm>
          <a:prstGeom prst="ellipse">
            <a:avLst>
              <a:gd name="adj" fmla="val 20000"/>
            </a:avLst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45920" y="3246120"/>
            <a:ext cx="457200" cy="457200"/>
          </a:xfrm>
          <a:prstGeom prst="ellipse">
            <a:avLst>
              <a:gd name="adj" fmla="val 20000"/>
            </a:avLst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645920" y="3886200"/>
            <a:ext cx="457200" cy="457200"/>
          </a:xfrm>
          <a:prstGeom prst="ellipse">
            <a:avLst>
              <a:gd name="adj" fmla="val 20000"/>
            </a:avLst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74720" y="2286000"/>
            <a:ext cx="457200" cy="457200"/>
          </a:xfrm>
          <a:prstGeom prst="ellipse">
            <a:avLst>
              <a:gd name="adj" fmla="val 20000"/>
            </a:avLst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474720" y="2926080"/>
            <a:ext cx="457200" cy="457200"/>
          </a:xfrm>
          <a:prstGeom prst="ellipse">
            <a:avLst>
              <a:gd name="adj" fmla="val 20000"/>
            </a:avLst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74720" y="3566160"/>
            <a:ext cx="457200" cy="457200"/>
          </a:xfrm>
          <a:prstGeom prst="ellipse">
            <a:avLst>
              <a:gd name="adj" fmla="val 20000"/>
            </a:avLst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474720" y="4206240"/>
            <a:ext cx="457200" cy="457200"/>
          </a:xfrm>
          <a:prstGeom prst="ellipse">
            <a:avLst>
              <a:gd name="adj" fmla="val 20000"/>
            </a:avLst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03520" y="2926080"/>
            <a:ext cx="457200" cy="457200"/>
          </a:xfrm>
          <a:prstGeom prst="ellipse">
            <a:avLst>
              <a:gd name="adj" fmla="val 20000"/>
            </a:avLst>
          </a:prstGeom>
          <a:solidFill>
            <a:srgbClr val="E11D4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0" y="3566160"/>
            <a:ext cx="457200" cy="457200"/>
          </a:xfrm>
          <a:prstGeom prst="ellipse">
            <a:avLst>
              <a:gd name="adj" fmla="val 20000"/>
            </a:avLst>
          </a:prstGeom>
          <a:solidFill>
            <a:srgbClr val="E11D4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27157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soft?</a:t>
            </a:r>
            <a:endParaRPr lang="en-US" sz="1100" dirty="0"/>
          </a:p>
        </p:txBody>
      </p:sp>
      <p:sp>
        <p:nvSpPr>
          <p:cNvPr id="60" name="anim-1-zoom-300-170"/>
          <p:cNvSpPr txBox="1"/>
          <p:nvPr/>
        </p:nvSpPr>
        <p:spPr>
          <a:xfrm>
            <a:off x="1645920" y="27157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3355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warm?</a:t>
            </a:r>
            <a:endParaRPr lang="en-US" sz="1100" dirty="0"/>
          </a:p>
        </p:txBody>
      </p:sp>
      <p:sp>
        <p:nvSpPr>
          <p:cNvPr id="62" name="anim-1-zoom-420-171"/>
          <p:cNvSpPr txBox="1"/>
          <p:nvPr/>
        </p:nvSpPr>
        <p:spPr>
          <a:xfrm>
            <a:off x="1645920" y="3355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3995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wet?</a:t>
            </a:r>
            <a:endParaRPr lang="en-US" sz="1100" dirty="0"/>
          </a:p>
        </p:txBody>
      </p:sp>
      <p:sp>
        <p:nvSpPr>
          <p:cNvPr id="64" name="anim-1-zoom-540-172"/>
          <p:cNvSpPr txBox="1"/>
          <p:nvPr/>
        </p:nvSpPr>
        <p:spPr>
          <a:xfrm>
            <a:off x="1645920" y="39959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2194560" y="47365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line is a weight: a dial that can be turned</a:t>
            </a:r>
            <a:endParaRPr lang="en-US" sz="900" dirty="0"/>
          </a:p>
        </p:txBody>
      </p:sp>
      <p:sp>
        <p:nvSpPr>
          <p:cNvPr id="66" name="anim-2-fade-700-173"/>
          <p:cNvSpPr txBox="1"/>
          <p:nvPr/>
        </p:nvSpPr>
        <p:spPr>
          <a:xfrm>
            <a:off x="5833872" y="29260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  30%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 70%</a:t>
            </a:r>
            <a:endParaRPr lang="en-US" sz="1100" dirty="0"/>
          </a:p>
        </p:txBody>
      </p:sp>
      <p:sp>
        <p:nvSpPr>
          <p:cNvPr id="67" name="anim-6-zoom-900-174"/>
          <p:cNvSpPr txBox="1"/>
          <p:nvPr/>
        </p:nvSpPr>
        <p:spPr>
          <a:xfrm>
            <a:off x="5833872" y="2926080"/>
            <a:ext cx="12344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  92%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 8%</a:t>
            </a:r>
            <a:endParaRPr lang="en-US" sz="1100" dirty="0"/>
          </a:p>
        </p:txBody>
      </p:sp>
      <p:sp>
        <p:nvSpPr>
          <p:cNvPr id="68" name="anim-2-wipe-0-175"/>
          <p:cNvSpPr/>
          <p:nvPr/>
        </p:nvSpPr>
        <p:spPr>
          <a:xfrm>
            <a:off x="1645920" y="5120640"/>
            <a:ext cx="43891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9" name="anim-2-fade-300-176"/>
          <p:cNvSpPr/>
          <p:nvPr/>
        </p:nvSpPr>
        <p:spPr>
          <a:xfrm>
            <a:off x="2240280" y="5001768"/>
            <a:ext cx="3200400" cy="237744"/>
          </a:xfrm>
          <a:prstGeom prst="roundRect">
            <a:avLst>
              <a:gd name="adj" fmla="val 38462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forward pass: inputs → weights → a guess</a:t>
            </a:r>
            <a:endParaRPr lang="en-US" sz="950" dirty="0"/>
          </a:p>
        </p:txBody>
      </p:sp>
      <p:sp>
        <p:nvSpPr>
          <p:cNvPr id="70" name="anim-3-zoom-0-177"/>
          <p:cNvSpPr/>
          <p:nvPr/>
        </p:nvSpPr>
        <p:spPr>
          <a:xfrm>
            <a:off x="5074920" y="4160520"/>
            <a:ext cx="1965960" cy="566928"/>
          </a:xfrm>
          <a:prstGeom prst="roundRect">
            <a:avLst>
              <a:gd name="adj" fmla="val 16129"/>
            </a:avLst>
          </a:prstGeom>
          <a:solidFill>
            <a:srgbClr val="FFE4E6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compare: should be sit 100%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(loss) = 1.2</a:t>
            </a:r>
            <a:endParaRPr lang="en-US" sz="950" dirty="0"/>
          </a:p>
        </p:txBody>
      </p:sp>
      <p:sp>
        <p:nvSpPr>
          <p:cNvPr id="71" name="anim-4-wiper-0-178"/>
          <p:cNvSpPr/>
          <p:nvPr/>
        </p:nvSpPr>
        <p:spPr>
          <a:xfrm flipH="1">
            <a:off x="1645920" y="5468112"/>
            <a:ext cx="4389120" cy="0"/>
          </a:xfrm>
          <a:prstGeom prst="line">
            <a:avLst/>
          </a:prstGeom>
          <a:noFill/>
          <a:ln w="317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72" name="anim-4-fade-300-179"/>
          <p:cNvSpPr/>
          <p:nvPr/>
        </p:nvSpPr>
        <p:spPr>
          <a:xfrm>
            <a:off x="2194560" y="5349240"/>
            <a:ext cx="3291840" cy="237744"/>
          </a:xfrm>
          <a:prstGeom prst="roundRect">
            <a:avLst>
              <a:gd name="adj" fmla="val 38462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backward pass: work out how to turn every weight</a:t>
            </a:r>
            <a:endParaRPr lang="en-US" sz="950" dirty="0"/>
          </a:p>
        </p:txBody>
      </p:sp>
      <p:sp>
        <p:nvSpPr>
          <p:cNvPr id="73" name="anim-5-rise-600-180"/>
          <p:cNvSpPr/>
          <p:nvPr/>
        </p:nvSpPr>
        <p:spPr>
          <a:xfrm>
            <a:off x="548640" y="5742432"/>
            <a:ext cx="6492240" cy="384048"/>
          </a:xfrm>
          <a:prstGeom prst="roundRect">
            <a:avLst>
              <a:gd name="adj" fmla="val 23810"/>
            </a:avLst>
          </a:prstGeom>
          <a:solidFill>
            <a:srgbClr val="F1F5F9"/>
          </a:solidFill>
          <a:ln/>
        </p:spPr>
        <p:txBody>
          <a:bodyPr wrap="square" lIns="152400" tIns="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repeat over thousands of examples → the weights settle.  </a:t>
            </a:r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pushes toward “sit”, red toward “leave”, thick = strong.</a:t>
            </a:r>
            <a:endParaRPr lang="en-US" sz="950" dirty="0"/>
          </a:p>
        </p:txBody>
      </p:sp>
      <p:sp>
        <p:nvSpPr>
          <p:cNvPr id="74" name="anim-6-zoom-300-181"/>
          <p:cNvSpPr/>
          <p:nvPr/>
        </p:nvSpPr>
        <p:spPr>
          <a:xfrm>
            <a:off x="5623560" y="169164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FROZEN</a:t>
            </a:r>
            <a:endParaRPr lang="en-US" sz="850" dirty="0"/>
          </a:p>
        </p:txBody>
      </p:sp>
      <p:sp>
        <p:nvSpPr>
          <p:cNvPr id="75" name="anim-1-rise-400-182"/>
          <p:cNvSpPr/>
          <p:nvPr/>
        </p:nvSpPr>
        <p:spPr>
          <a:xfrm>
            <a:off x="7360920" y="1627632"/>
            <a:ext cx="4251960" cy="2194560"/>
          </a:xfrm>
          <a:prstGeom prst="roundRect">
            <a:avLst>
              <a:gd name="adj" fmla="val 4167"/>
            </a:avLst>
          </a:prstGeom>
          <a:solidFill>
            <a:srgbClr val="DBEAFE"/>
          </a:solidFill>
          <a:ln/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· learn the weights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Forward: run an example through the network to get a guess.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Compare the guess with the right answer → error (loss).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Backward: backpropagation works out how each weight contributed.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Nudge every weight a little to shrink the error. Repeat, many times.</a:t>
            </a:r>
            <a:endParaRPr lang="en-US" sz="1250" dirty="0"/>
          </a:p>
        </p:txBody>
      </p:sp>
      <p:sp>
        <p:nvSpPr>
          <p:cNvPr id="76" name="anim-6-rise-600-183"/>
          <p:cNvSpPr/>
          <p:nvPr/>
        </p:nvSpPr>
        <p:spPr>
          <a:xfrm>
            <a:off x="7360920" y="3959352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E4E6"/>
          </a:solidFill>
          <a:ln/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· use the weights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are frozen. A new input goes forward once → an answer.</a:t>
            </a:r>
            <a:endParaRPr lang="en-US" sz="12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right answer needed, no error, no learning.</a:t>
            </a:r>
            <a:endParaRPr lang="en-US" sz="1250" dirty="0"/>
          </a:p>
        </p:txBody>
      </p:sp>
      <p:sp>
        <p:nvSpPr>
          <p:cNvPr id="77" name="anim-7-rise-0-184"/>
          <p:cNvSpPr/>
          <p:nvPr/>
        </p:nvSpPr>
        <p:spPr>
          <a:xfrm>
            <a:off x="7360920" y="5330952"/>
            <a:ext cx="4251960" cy="795528"/>
          </a:xfrm>
          <a:prstGeom prst="roundRect">
            <a:avLst>
              <a:gd name="adj" fmla="val 11494"/>
            </a:avLst>
          </a:prstGeom>
          <a:solidFill>
            <a:srgbClr val="EDE9FE"/>
          </a:solidFill>
          <a:ln/>
        </p:spPr>
        <p:txBody>
          <a:bodyPr wrap="square" lIns="152400" tIns="50800" rIns="1270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LLM is the same recipe at huge scale: </a:t>
            </a:r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are token vectors, the output is a probability for every possible next token, and there are billions of weights.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0" grpId="0" animBg="1"/>
      <p:bldP spid="62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theme/theme1.xml><?xml version="1.0" encoding="utf-8"?>
<a:theme xmlns:a="http://schemas.openxmlformats.org/drawingml/2006/main" name="Decoder Explained">
  <a:themeElements>
    <a:clrScheme name="Decoder Explained">
      <a:dk1>
        <a:srgbClr val="0F172A"/>
      </a:dk1>
      <a:lt1>
        <a:srgbClr val="FFFFFF"/>
      </a:lt1>
      <a:dk2>
        <a:srgbClr val="1E1B4B"/>
      </a:dk2>
      <a:lt2>
        <a:srgbClr val="F1F5F9"/>
      </a:lt2>
      <a:accent1>
        <a:srgbClr val="7C3AED"/>
      </a:accent1>
      <a:accent2>
        <a:srgbClr val="0D9488"/>
      </a:accent2>
      <a:accent3>
        <a:srgbClr val="D97706"/>
      </a:accent3>
      <a:accent4>
        <a:srgbClr val="E11D48"/>
      </a:accent4>
      <a:accent5>
        <a:srgbClr val="2563EB"/>
      </a:accent5>
      <a:accent6>
        <a:srgbClr val="475569"/>
      </a:accent6>
      <a:hlink>
        <a:srgbClr val="2563EB"/>
      </a:hlink>
      <a:folHlink>
        <a:srgbClr val="7C3AED"/>
      </a:folHlink>
    </a:clrScheme>
    <a:fontScheme name="Decoder Explained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Transformer Decoder, Explained</dc:title>
  <dc:subject>PptxGenJS Presentation</dc:subject>
  <dc:creator>Transformer explainer</dc:creator>
  <cp:lastModifiedBy>Transformer explainer</cp:lastModifiedBy>
  <cp:revision>1</cp:revision>
  <dcterms:created xsi:type="dcterms:W3CDTF">2026-10-13T17:02:27Z</dcterms:created>
  <dcterms:modified xsi:type="dcterms:W3CDTF">2026-10-13T17:02:27Z</dcterms:modified>
</cp:coreProperties>
</file>